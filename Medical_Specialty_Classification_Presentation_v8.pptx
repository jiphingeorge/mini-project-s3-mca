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63" r:id="rId9"/>
    <p:sldId id="264" r:id="rId10"/>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2 of 19</a:t>
            </a:r>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768096" y="1837944"/>
            <a:ext cx="566928" cy="566928"/>
          </a:xfrm>
          <a:prstGeom prst="ellipse">
            <a:avLst/>
          </a:prstGeom>
          <a:solidFill>
            <a:srgbClr val="6C4AB6"/>
          </a:solidFill>
          <a:ln/>
        </p:spPr>
        <p:txBody>
          <a:bodyPr/>
          <a:p/>
        </p:txBody>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6345936" y="1837944"/>
            <a:ext cx="566928" cy="566928"/>
          </a:xfrm>
          <a:prstGeom prst="ellipse">
            <a:avLst/>
          </a:prstGeom>
          <a:solidFill>
            <a:srgbClr val="0E7C86"/>
          </a:solidFill>
          <a:ln/>
        </p:spPr>
        <p:txBody>
          <a:bodyPr/>
          <a:p/>
        </p:txBody>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0" name="Shape 18"/>
          <p:cNvSpPr/>
          <p:nvPr/>
        </p:nvSpPr>
        <p:spPr>
          <a:xfrm>
            <a:off x="1577340" y="4430268"/>
            <a:ext cx="502920" cy="502920"/>
          </a:xfrm>
          <a:prstGeom prst="ellipse">
            <a:avLst/>
          </a:prstGeom>
          <a:solidFill>
            <a:srgbClr val="6C4AB6"/>
          </a:solidFill>
          <a:ln/>
        </p:spPr>
        <p:txBody>
          <a:bodyPr/>
          <a:p/>
        </p:txBody>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5" name="Shape 23"/>
          <p:cNvSpPr/>
          <p:nvPr/>
        </p:nvSpPr>
        <p:spPr>
          <a:xfrm>
            <a:off x="4457700" y="4430268"/>
            <a:ext cx="502920" cy="502920"/>
          </a:xfrm>
          <a:prstGeom prst="ellipse">
            <a:avLst/>
          </a:prstGeom>
          <a:solidFill>
            <a:srgbClr val="0E7C86"/>
          </a:solidFill>
          <a:ln/>
        </p:spPr>
        <p:txBody>
          <a:bodyPr/>
          <a:p/>
        </p:txBody>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0" name="Shape 28"/>
          <p:cNvSpPr/>
          <p:nvPr/>
        </p:nvSpPr>
        <p:spPr>
          <a:xfrm>
            <a:off x="7338060" y="4430268"/>
            <a:ext cx="502920" cy="502920"/>
          </a:xfrm>
          <a:prstGeom prst="ellipse">
            <a:avLst/>
          </a:prstGeom>
          <a:solidFill>
            <a:srgbClr val="13294B"/>
          </a:solidFill>
          <a:ln/>
        </p:spPr>
        <p:txBody>
          <a:bodyPr/>
          <a:p/>
        </p:txBody>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10218420" y="4430268"/>
            <a:ext cx="502920" cy="502920"/>
          </a:xfrm>
          <a:prstGeom prst="ellipse">
            <a:avLst/>
          </a:prstGeom>
          <a:solidFill>
            <a:srgbClr val="6C4AB6"/>
          </a:solidFill>
          <a:ln/>
        </p:spPr>
        <p:txBody>
          <a:bodyPr/>
          <a:p/>
        </p:txBody>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LITERATURE REVIEW</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Literature Review: Background &amp; Research Landscape</a:t>
            </a:r>
          </a:p>
        </p:txBody>
      </p:sp>
      <p:sp>
        <p:nvSpPr>
          <p:cNvPr id="4" name="Rounded Rectangle 3"/>
          <p:cNvSpPr/>
          <p:nvPr/>
        </p:nvSpPr>
        <p:spPr>
          <a:xfrm>
            <a:off x="457200" y="1371600"/>
            <a:ext cx="2651760" cy="685800"/>
          </a:xfrm>
          <a:prstGeom prst="roundRect">
            <a:avLst/>
          </a:prstGeom>
          <a:solidFill>
            <a:srgbClr val="F0FDFA"/>
          </a:solidFill>
          <a:ln w="1524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0E7C86"/>
                </a:solidFill>
                <a:latin typeface="Calibri"/>
              </a:defRPr>
            </a:pPr>
            <a:r>
              <a:t>1. Prior Literature</a:t>
            </a:r>
          </a:p>
          <a:p>
            <a:pPr>
              <a:defRPr sz="900">
                <a:solidFill>
                  <a:srgbClr val="334155"/>
                </a:solidFill>
                <a:latin typeface="Calibri"/>
              </a:defRPr>
            </a:pPr>
            <a:r>
              <a:t>Validation of ML for clinical text</a:t>
            </a:r>
          </a:p>
        </p:txBody>
      </p:sp>
      <p:sp>
        <p:nvSpPr>
          <p:cNvPr id="5" name="Rounded Rectangle 4"/>
          <p:cNvSpPr/>
          <p:nvPr/>
        </p:nvSpPr>
        <p:spPr>
          <a:xfrm>
            <a:off x="3319272" y="1371600"/>
            <a:ext cx="2651760" cy="6858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2563EB"/>
                </a:solidFill>
                <a:latin typeface="Calibri"/>
              </a:defRPr>
            </a:pPr>
            <a:r>
              <a:t>2. Key Methodologies</a:t>
            </a:r>
          </a:p>
          <a:p>
            <a:pPr>
              <a:defRPr sz="900">
                <a:solidFill>
                  <a:srgbClr val="334155"/>
                </a:solidFill>
                <a:latin typeface="Calibri"/>
              </a:defRPr>
            </a:pPr>
            <a:r>
              <a:t>TF-IDF vectorization &amp; linear classifiers</a:t>
            </a:r>
          </a:p>
        </p:txBody>
      </p:sp>
      <p:sp>
        <p:nvSpPr>
          <p:cNvPr id="6" name="Rounded Rectangle 5"/>
          <p:cNvSpPr/>
          <p:nvPr/>
        </p:nvSpPr>
        <p:spPr>
          <a:xfrm>
            <a:off x="6181344" y="1371600"/>
            <a:ext cx="2651760" cy="685800"/>
          </a:xfrm>
          <a:prstGeom prst="roundRect">
            <a:avLst/>
          </a:prstGeom>
          <a:solidFill>
            <a:srgbClr val="FAF5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9333EA"/>
                </a:solidFill>
                <a:latin typeface="Calibri"/>
              </a:defRPr>
            </a:pPr>
            <a:r>
              <a:t>3. Identified Gap</a:t>
            </a:r>
          </a:p>
          <a:p>
            <a:pPr>
              <a:defRPr sz="900">
                <a:solidFill>
                  <a:srgbClr val="334155"/>
                </a:solidFill>
                <a:latin typeface="Calibri"/>
              </a:defRPr>
            </a:pPr>
            <a:r>
              <a:t>High compute requirements &amp; model variance</a:t>
            </a:r>
          </a:p>
        </p:txBody>
      </p:sp>
      <p:sp>
        <p:nvSpPr>
          <p:cNvPr id="7" name="Rounded Rectangle 6"/>
          <p:cNvSpPr/>
          <p:nvPr/>
        </p:nvSpPr>
        <p:spPr>
          <a:xfrm>
            <a:off x="9043416" y="1371600"/>
            <a:ext cx="2651760" cy="6858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16A34A"/>
                </a:solidFill>
                <a:latin typeface="Calibri"/>
              </a:defRPr>
            </a:pPr>
            <a:r>
              <a:t>4. Proposed Architecture</a:t>
            </a:r>
          </a:p>
          <a:p>
            <a:pPr>
              <a:defRPr sz="900">
                <a:solidFill>
                  <a:srgbClr val="334155"/>
                </a:solidFill>
                <a:latin typeface="Calibri"/>
              </a:defRPr>
            </a:pPr>
            <a:r>
              <a:t>Lightweight soft voting ensemble on web</a:t>
            </a:r>
          </a:p>
        </p:txBody>
      </p:sp>
      <p:sp>
        <p:nvSpPr>
          <p:cNvPr id="8" name="Rounded Rectangle 7"/>
          <p:cNvSpPr/>
          <p:nvPr/>
        </p:nvSpPr>
        <p:spPr>
          <a:xfrm>
            <a:off x="457200" y="2194560"/>
            <a:ext cx="5440680" cy="20116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0E7C86"/>
                </a:solidFill>
                <a:latin typeface="Calibri"/>
              </a:defRPr>
            </a:pPr>
            <a:r>
              <a:t>Clinical NLP &amp; Preprocessing</a:t>
            </a:r>
          </a:p>
          <a:p>
            <a:pPr>
              <a:spcAft>
                <a:spcPts val="200"/>
              </a:spcAft>
            </a:pPr>
            <a:r>
              <a:rPr sz="950" b="1">
                <a:solidFill>
                  <a:srgbClr val="0E7C86"/>
                </a:solidFill>
                <a:latin typeface="Calibri"/>
              </a:rPr>
              <a:t>• </a:t>
            </a:r>
            <a:r>
              <a:rPr sz="900">
                <a:solidFill>
                  <a:srgbClr val="334155"/>
                </a:solidFill>
                <a:latin typeface="Calibri"/>
              </a:rPr>
              <a:t>Clinical narratives contain non-standard doctor shorthand, abbreviations, and punctuation noise.</a:t>
            </a:r>
          </a:p>
          <a:p>
            <a:pPr>
              <a:spcAft>
                <a:spcPts val="200"/>
              </a:spcAft>
            </a:pPr>
            <a:r>
              <a:rPr sz="950" b="1">
                <a:solidFill>
                  <a:srgbClr val="0E7C86"/>
                </a:solidFill>
                <a:latin typeface="Calibri"/>
              </a:rPr>
              <a:t>• </a:t>
            </a:r>
            <a:r>
              <a:rPr sz="900">
                <a:solidFill>
                  <a:srgbClr val="334155"/>
                </a:solidFill>
                <a:latin typeface="Calibri"/>
              </a:rPr>
              <a:t>Implements a 5-step sequence: Cleaning, Lowercasing, Tokenization, Stop-word removal, and Lemmatization.</a:t>
            </a:r>
          </a:p>
          <a:p>
            <a:pPr>
              <a:spcAft>
                <a:spcPts val="200"/>
              </a:spcAft>
            </a:pPr>
            <a:r>
              <a:rPr sz="950" b="1">
                <a:solidFill>
                  <a:srgbClr val="0E7C86"/>
                </a:solidFill>
                <a:latin typeface="Calibri"/>
              </a:rPr>
              <a:t>• </a:t>
            </a:r>
            <a:r>
              <a:rPr sz="900">
                <a:solidFill>
                  <a:srgbClr val="334155"/>
                </a:solidFill>
                <a:latin typeface="Calibri"/>
              </a:rPr>
              <a:t>Morphological lemmatization normalizes inflected clinical terms while preserving diagnostic root semantics.</a:t>
            </a:r>
          </a:p>
        </p:txBody>
      </p:sp>
      <p:sp>
        <p:nvSpPr>
          <p:cNvPr id="9" name="Rounded Rectangle 8"/>
          <p:cNvSpPr/>
          <p:nvPr/>
        </p:nvSpPr>
        <p:spPr>
          <a:xfrm>
            <a:off x="6263640" y="2194560"/>
            <a:ext cx="544068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2563EB"/>
                </a:solidFill>
                <a:latin typeface="Calibri"/>
              </a:defRPr>
            </a:pPr>
            <a:r>
              <a:t>TF-IDF Feature Representation</a:t>
            </a:r>
          </a:p>
          <a:p>
            <a:pPr>
              <a:spcAft>
                <a:spcPts val="200"/>
              </a:spcAft>
            </a:pPr>
            <a:r>
              <a:rPr sz="950" b="1">
                <a:solidFill>
                  <a:srgbClr val="2563EB"/>
                </a:solidFill>
                <a:latin typeface="Calibri"/>
              </a:rPr>
              <a:t>• </a:t>
            </a:r>
            <a:r>
              <a:rPr sz="900">
                <a:solidFill>
                  <a:srgbClr val="334155"/>
                </a:solidFill>
                <a:latin typeface="Calibri"/>
              </a:rPr>
              <a:t>Converts unstructured medical text into standardized, high-dimensional sparse numerical feature vectors.</a:t>
            </a:r>
          </a:p>
          <a:p>
            <a:pPr>
              <a:spcAft>
                <a:spcPts val="200"/>
              </a:spcAft>
            </a:pPr>
            <a:r>
              <a:rPr sz="950" b="1">
                <a:solidFill>
                  <a:srgbClr val="2563EB"/>
                </a:solidFill>
                <a:latin typeface="Calibri"/>
              </a:rPr>
              <a:t>• </a:t>
            </a:r>
            <a:r>
              <a:rPr sz="900">
                <a:solidFill>
                  <a:srgbClr val="334155"/>
                </a:solidFill>
                <a:latin typeface="Calibri"/>
              </a:rPr>
              <a:t>Sublinear scaling (1 + log(TF)) dampens repetitive non-informative terms while highlighting discriminative tokens.</a:t>
            </a:r>
          </a:p>
          <a:p>
            <a:pPr>
              <a:spcAft>
                <a:spcPts val="200"/>
              </a:spcAft>
            </a:pPr>
            <a:r>
              <a:rPr sz="950" b="1">
                <a:solidFill>
                  <a:srgbClr val="2563EB"/>
                </a:solidFill>
                <a:latin typeface="Calibri"/>
              </a:rPr>
              <a:t>• </a:t>
            </a:r>
            <a:r>
              <a:rPr sz="900">
                <a:solidFill>
                  <a:srgbClr val="334155"/>
                </a:solidFill>
                <a:latin typeface="Calibri"/>
              </a:rPr>
              <a:t>Computationally lightweight; enables rapid CPU-based real-time inference on web platforms.</a:t>
            </a:r>
          </a:p>
        </p:txBody>
      </p:sp>
      <p:sp>
        <p:nvSpPr>
          <p:cNvPr id="10" name="Rounded Rectangle 9"/>
          <p:cNvSpPr/>
          <p:nvPr/>
        </p:nvSpPr>
        <p:spPr>
          <a:xfrm>
            <a:off x="457200" y="4343400"/>
            <a:ext cx="544068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16A34A"/>
                </a:solidFill>
                <a:latin typeface="Calibri"/>
              </a:defRPr>
            </a:pPr>
            <a:r>
              <a:t>Supervised ML Classifiers</a:t>
            </a:r>
          </a:p>
          <a:p>
            <a:pPr>
              <a:spcAft>
                <a:spcPts val="200"/>
              </a:spcAft>
            </a:pPr>
            <a:r>
              <a:rPr sz="950" b="1">
                <a:solidFill>
                  <a:srgbClr val="16A34A"/>
                </a:solidFill>
                <a:latin typeface="Calibri"/>
              </a:rPr>
              <a:t>• </a:t>
            </a:r>
            <a:r>
              <a:rPr sz="900">
                <a:solidFill>
                  <a:srgbClr val="334155"/>
                </a:solidFill>
                <a:latin typeface="Calibri"/>
              </a:rPr>
              <a:t>Linear models (SVM, Logistic Regression) excel on high-dimensional sparse text representations.</a:t>
            </a:r>
          </a:p>
          <a:p>
            <a:pPr>
              <a:spcAft>
                <a:spcPts val="200"/>
              </a:spcAft>
            </a:pPr>
            <a:r>
              <a:rPr sz="950" b="1">
                <a:solidFill>
                  <a:srgbClr val="16A34A"/>
                </a:solidFill>
                <a:latin typeface="Calibri"/>
              </a:rPr>
              <a:t>• </a:t>
            </a:r>
            <a:r>
              <a:rPr sz="900">
                <a:solidFill>
                  <a:srgbClr val="334155"/>
                </a:solidFill>
                <a:latin typeface="Calibri"/>
              </a:rPr>
              <a:t>Random Forest introduces non-linear decision partitioning and bagging variance reduction.</a:t>
            </a:r>
          </a:p>
          <a:p>
            <a:pPr>
              <a:spcAft>
                <a:spcPts val="200"/>
              </a:spcAft>
            </a:pPr>
            <a:r>
              <a:rPr sz="950" b="1">
                <a:solidFill>
                  <a:srgbClr val="16A34A"/>
                </a:solidFill>
                <a:latin typeface="Calibri"/>
              </a:rPr>
              <a:t>• </a:t>
            </a:r>
            <a:r>
              <a:rPr sz="900">
                <a:solidFill>
                  <a:srgbClr val="334155"/>
                </a:solidFill>
                <a:latin typeface="Calibri"/>
              </a:rPr>
              <a:t>Multinomial Naive Bayes provides fast, effective probabilistic likelihood estimation for text vectors.</a:t>
            </a:r>
          </a:p>
        </p:txBody>
      </p:sp>
      <p:sp>
        <p:nvSpPr>
          <p:cNvPr id="11" name="Rounded Rectangle 10"/>
          <p:cNvSpPr/>
          <p:nvPr/>
        </p:nvSpPr>
        <p:spPr>
          <a:xfrm>
            <a:off x="6263640" y="4343400"/>
            <a:ext cx="5440680"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9333EA"/>
                </a:solidFill>
                <a:latin typeface="Calibri"/>
              </a:defRPr>
            </a:pPr>
            <a:r>
              <a:t>Ensemble Learning &amp; Research Gap</a:t>
            </a:r>
          </a:p>
          <a:p>
            <a:pPr>
              <a:spcAft>
                <a:spcPts val="200"/>
              </a:spcAft>
            </a:pPr>
            <a:r>
              <a:rPr sz="950" b="1">
                <a:solidFill>
                  <a:srgbClr val="9333EA"/>
                </a:solidFill>
                <a:latin typeface="Calibri"/>
              </a:rPr>
              <a:t>• </a:t>
            </a:r>
            <a:r>
              <a:rPr sz="900">
                <a:solidFill>
                  <a:srgbClr val="334155"/>
                </a:solidFill>
                <a:latin typeface="Calibri"/>
              </a:rPr>
              <a:t>Identified Gap: Many deep learning approaches demand heavy GPU resources; single models show variance on rare classes.</a:t>
            </a:r>
          </a:p>
          <a:p>
            <a:pPr>
              <a:spcAft>
                <a:spcPts val="200"/>
              </a:spcAft>
            </a:pPr>
            <a:r>
              <a:rPr sz="950" b="1">
                <a:solidFill>
                  <a:srgbClr val="9333EA"/>
                </a:solidFill>
                <a:latin typeface="Calibri"/>
              </a:rPr>
              <a:t>• </a:t>
            </a:r>
            <a:r>
              <a:rPr sz="900">
                <a:solidFill>
                  <a:srgbClr val="334155"/>
                </a:solidFill>
                <a:latin typeface="Calibri"/>
              </a:rPr>
              <a:t>Proposed Solution: An accessible Soft Voting Ensemble combining calibrated base models for balanced classification.</a:t>
            </a:r>
          </a:p>
          <a:p>
            <a:pPr>
              <a:spcAft>
                <a:spcPts val="200"/>
              </a:spcAft>
            </a:pPr>
            <a:r>
              <a:rPr sz="950" b="1">
                <a:solidFill>
                  <a:srgbClr val="9333EA"/>
                </a:solidFill>
                <a:latin typeface="Calibri"/>
              </a:rPr>
              <a:t>• </a:t>
            </a:r>
            <a:r>
              <a:rPr sz="900">
                <a:solidFill>
                  <a:srgbClr val="334155"/>
                </a:solidFill>
                <a:latin typeface="Calibri"/>
              </a:rPr>
              <a:t>Practical Outcome: Achieves robust multi-class accuracy across all 40 specialties on standard CPU hardware.</a:t>
            </a:r>
          </a:p>
        </p:txBody>
      </p:sp>
      <p:sp>
        <p:nvSpPr>
          <p:cNvPr id="12" name="TextBox 11"/>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13" name="TextBox 12"/>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14" name="TextBox 13"/>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3 of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defRPr sz="1050" b="1">
                <a:solidFill>
                  <a:srgbClr val="FFFFFF"/>
                </a:solidFill>
                <a:latin typeface="Calibri"/>
              </a:defRPr>
            </a:pPr>
            <a:r>
              <a:t>MCA MINI PROJECT | LITERATURE REVIEW</a:t>
            </a:r>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defRPr sz="2600" b="1">
                <a:solidFill>
                  <a:srgbClr val="0B1F3A"/>
                </a:solidFill>
                <a:latin typeface="Cambria"/>
              </a:defRPr>
            </a:pPr>
            <a:r>
              <a:t>Summary of Key Research Papers</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4 of 19</a:t>
            </a:r>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85800" y="1764792"/>
            <a:ext cx="3218688" cy="292608"/>
          </a:xfrm>
          <a:prstGeom prst="roundRect">
            <a:avLst>
              <a:gd name="adj" fmla="val 50000"/>
            </a:avLst>
          </a:prstGeom>
          <a:solidFill>
            <a:srgbClr val="0E7C86"/>
          </a:solidFill>
          <a:ln/>
        </p:spPr>
        <p:txBody>
          <a:bodyPr/>
          <a:p/>
        </p:txBody>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4480560" y="1764792"/>
            <a:ext cx="3218688" cy="292608"/>
          </a:xfrm>
          <a:prstGeom prst="roundRect">
            <a:avLst>
              <a:gd name="adj" fmla="val 50000"/>
            </a:avLst>
          </a:prstGeom>
          <a:solidFill>
            <a:srgbClr val="6C4AB6"/>
          </a:solidFill>
          <a:ln/>
        </p:spPr>
        <p:txBody>
          <a:bodyPr/>
          <a:p/>
        </p:txBody>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8275320" y="1764792"/>
            <a:ext cx="3218688" cy="292608"/>
          </a:xfrm>
          <a:prstGeom prst="roundRect">
            <a:avLst>
              <a:gd name="adj" fmla="val 50000"/>
            </a:avLst>
          </a:prstGeom>
          <a:solidFill>
            <a:srgbClr val="13294B"/>
          </a:solidFill>
          <a:ln/>
        </p:spPr>
        <p:txBody>
          <a:bodyPr/>
          <a:p/>
        </p:txBody>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5 of 19</a:t>
            </a:r>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txBody>
          <a:bodyPr/>
          <a:p/>
        </p:txBody>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txBody>
          <a:bodyPr/>
          <a:p/>
        </p:txBody>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txBody>
          <a:bodyPr/>
          <a:p/>
        </p:txBody>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6675120" y="3493008"/>
            <a:ext cx="457200" cy="457200"/>
          </a:xfrm>
          <a:prstGeom prst="ellipse">
            <a:avLst/>
          </a:prstGeom>
          <a:solidFill>
            <a:srgbClr val="0E7C86"/>
          </a:solidFill>
          <a:ln/>
        </p:spPr>
        <p:txBody>
          <a:bodyPr/>
          <a:p/>
        </p:txBody>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0" name="Shape 38"/>
          <p:cNvSpPr/>
          <p:nvPr/>
        </p:nvSpPr>
        <p:spPr>
          <a:xfrm>
            <a:off x="6675120" y="4663440"/>
            <a:ext cx="457200" cy="457200"/>
          </a:xfrm>
          <a:prstGeom prst="ellipse">
            <a:avLst/>
          </a:prstGeom>
          <a:solidFill>
            <a:srgbClr val="6C4AB6"/>
          </a:solidFill>
          <a:ln/>
        </p:spPr>
        <p:txBody>
          <a:bodyPr/>
          <a:p/>
        </p:txBody>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6 of 19</a:t>
            </a:r>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txBody>
          <a:bodyPr/>
          <a:p/>
        </p:txBody>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txBody>
          <a:bodyPr/>
          <a:p/>
        </p:txBody>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txBody>
          <a:bodyPr/>
          <a:p/>
        </p:txBody>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txBody>
          <a:bodyPr/>
          <a:p/>
        </p:txBody>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txBody>
          <a:bodyPr/>
          <a:p/>
        </p:txBody>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txBody>
          <a:bodyPr/>
          <a:p/>
        </p:txBody>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txBody>
          <a:bodyPr/>
          <a:p/>
        </p:txBody>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txBody>
          <a:bodyPr/>
          <a:p/>
        </p:txBody>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txBody>
          <a:bodyPr/>
          <a:p/>
        </p:txBody>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txBody>
          <a:bodyPr/>
          <a:p/>
        </p:txBody>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txBody>
          <a:bodyPr/>
          <a:p/>
        </p:txBody>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7 of 19</a:t>
            </a:r>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8 of 19</a:t>
            </a:r>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9 of 19</a:t>
            </a:r>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10 of 19</a:t>
            </a:r>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40080" y="1755648"/>
            <a:ext cx="548640" cy="548640"/>
          </a:xfrm>
          <a:prstGeom prst="ellipse">
            <a:avLst/>
          </a:prstGeom>
          <a:solidFill>
            <a:srgbClr val="6C4AB6"/>
          </a:solidFill>
          <a:ln/>
        </p:spPr>
        <p:txBody>
          <a:bodyPr/>
          <a:p/>
        </p:txBody>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416552" y="1755648"/>
            <a:ext cx="548640" cy="548640"/>
          </a:xfrm>
          <a:prstGeom prst="ellipse">
            <a:avLst/>
          </a:prstGeom>
          <a:solidFill>
            <a:srgbClr val="0E7C86"/>
          </a:solidFill>
          <a:ln/>
        </p:spPr>
        <p:txBody>
          <a:bodyPr/>
          <a:p/>
        </p:txBody>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8193024" y="1755648"/>
            <a:ext cx="548640" cy="548640"/>
          </a:xfrm>
          <a:prstGeom prst="ellipse">
            <a:avLst/>
          </a:prstGeom>
          <a:solidFill>
            <a:srgbClr val="13294B"/>
          </a:solidFill>
          <a:ln/>
        </p:spPr>
        <p:txBody>
          <a:bodyPr/>
          <a:p/>
        </p:txBody>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640080" y="4041648"/>
            <a:ext cx="548640" cy="548640"/>
          </a:xfrm>
          <a:prstGeom prst="ellipse">
            <a:avLst/>
          </a:prstGeom>
          <a:solidFill>
            <a:srgbClr val="6C4AB6"/>
          </a:solidFill>
          <a:ln/>
        </p:spPr>
        <p:txBody>
          <a:bodyPr/>
          <a:p/>
        </p:txBody>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4416552" y="4041648"/>
            <a:ext cx="548640" cy="548640"/>
          </a:xfrm>
          <a:prstGeom prst="ellipse">
            <a:avLst/>
          </a:prstGeom>
          <a:solidFill>
            <a:srgbClr val="0E7C86"/>
          </a:solidFill>
          <a:ln/>
        </p:spPr>
        <p:txBody>
          <a:bodyPr/>
          <a:p/>
        </p:txBody>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4" name="Shape 32"/>
          <p:cNvSpPr/>
          <p:nvPr/>
        </p:nvSpPr>
        <p:spPr>
          <a:xfrm>
            <a:off x="8193024" y="4041648"/>
            <a:ext cx="548640" cy="548640"/>
          </a:xfrm>
          <a:prstGeom prst="ellipse">
            <a:avLst/>
          </a:prstGeom>
          <a:solidFill>
            <a:srgbClr val="13294B"/>
          </a:solidFill>
          <a:ln/>
        </p:spPr>
        <p:txBody>
          <a:bodyPr/>
          <a:p/>
        </p:txBody>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11 of 19</a:t>
            </a:r>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txBody>
          <a:bodyPr/>
          <a:p/>
        </p:txBody>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txBody>
          <a:bodyPr/>
          <a:p/>
        </p:txBody>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txBody>
          <a:bodyPr/>
          <a:p/>
        </p:txBody>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12 of 19</a:t>
            </a:r>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297680"/>
            <a:ext cx="2103120" cy="1371600"/>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297680"/>
            <a:ext cx="2103120" cy="137160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297680"/>
            <a:ext cx="5760720" cy="1371600"/>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297680"/>
            <a:ext cx="5760720" cy="137160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297680"/>
            <a:ext cx="2587752" cy="1371600"/>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297680"/>
            <a:ext cx="2587752" cy="137160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13 of 19</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19</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19</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16 of 19</a:t>
            </a:r>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17 of 19</a:t>
            </a:r>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18 of 19</a:t>
            </a:r>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4790" y="1234440"/>
            <a:ext cx="9601200" cy="438912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365760" bIns="274320" lIns="365760" rIns="365760"/>
          <a:lstStyle/>
          <a:p>
            <a:pPr algn="ctr">
              <a:spcAft>
                <a:spcPts val="800"/>
              </a:spcAft>
              <a:defRPr sz="4600" b="1">
                <a:solidFill>
                  <a:srgbClr val="FFFFFF"/>
                </a:solidFill>
                <a:latin typeface="Cambria"/>
              </a:defRPr>
            </a:pPr>
            <a:r>
              <a:t>THANK YOU!</a:t>
            </a:r>
          </a:p>
          <a:p>
            <a:pPr algn="ctr">
              <a:spcAft>
                <a:spcPts val="1800"/>
              </a:spcAft>
              <a:defRPr sz="2000" b="1">
                <a:solidFill>
                  <a:srgbClr val="38BDF8"/>
                </a:solidFill>
                <a:latin typeface="Calibri"/>
              </a:defRPr>
            </a:pPr>
            <a:r>
              <a:t>Questions, Suggestions &amp; Discussion</a:t>
            </a:r>
          </a:p>
          <a:p>
            <a:pPr algn="ctr">
              <a:spcAft>
                <a:spcPts val="2000"/>
              </a:spcAft>
              <a:defRPr sz="1700" b="1">
                <a:solidFill>
                  <a:srgbClr val="F1F5F9"/>
                </a:solidFill>
                <a:latin typeface="Cambria"/>
              </a:defRPr>
            </a:pPr>
            <a:r>
              <a:t>Medical Specialty Classification Using TF-IDF</a:t>
            </a:r>
            <a:br/>
            <a:r>
              <a:t>and Ensemble Machine Learning</a:t>
            </a:r>
          </a:p>
          <a:p>
            <a:pPr algn="ctr">
              <a:spcAft>
                <a:spcPts val="400"/>
              </a:spcAft>
              <a:defRPr sz="1350" b="1">
                <a:solidFill>
                  <a:srgbClr val="4ADE80"/>
                </a:solidFill>
                <a:latin typeface="Calibri"/>
              </a:defRPr>
            </a:pPr>
            <a:r>
              <a:t>Presented by: Jiphin George (Register No: MAC25MCA-2033)</a:t>
            </a:r>
          </a:p>
          <a:p>
            <a:pPr algn="ctr">
              <a:spcAft>
                <a:spcPts val="400"/>
              </a:spcAft>
              <a:defRPr sz="1250" b="0">
                <a:solidFill>
                  <a:srgbClr val="E2E8F0"/>
                </a:solidFill>
                <a:latin typeface="Calibri"/>
              </a:defRPr>
            </a:pPr>
            <a:r>
              <a:t>Project Guide: Prof. Biju Skaria  |  Department of Computer Applications</a:t>
            </a:r>
          </a:p>
          <a:p>
            <a:pPr algn="ctr">
              <a:defRPr sz="1150" b="0">
                <a:solidFill>
                  <a:srgbClr val="94A3B8"/>
                </a:solidFill>
                <a:latin typeface="Calibri"/>
              </a:defRPr>
            </a:pPr>
            <a:r>
              <a:t>Mar Athanasius College of Engineering, Kothamangalam  |  MCA Mini Project (Semester 3)</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19 of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