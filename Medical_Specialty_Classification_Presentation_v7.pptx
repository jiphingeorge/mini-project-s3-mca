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6" r:id="rId27"/>
    <p:sldId id="258" r:id="rId4"/>
    <p:sldId id="259" r:id="rId5"/>
    <p:sldId id="260" r:id="rId6"/>
    <p:sldId id="261" r:id="rId7"/>
    <p:sldId id="262" r:id="rId8"/>
    <p:sldId id="263" r:id="rId9"/>
    <p:sldId id="264" r:id="rId10"/>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 afternoon. My project is titled Medical Specialty Classification Using TF-IDF and Ensemble Machine Learning, presented as my MCA Mini Project's first review from the Department of Computer Applications, Mar Athanasius College of Engineering, Kothamangalam. In this presentation I will walk through the literature I reviewed, the exploratory analysis I performed on the clinical transcription dataset, my proposed preprocessing and TF-IDF feature extraction approach, the ensemble machine learning algorithms I plan to use, the overall project pipeline, and a proposed GUI for deployment. Let's begin with the problem this project addresses.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Manual sorting of clinical transcription reports into specialties like Cardiology or Orthopedic is time-consuming and inconsistent between reviewers. My objective is to automate this using NLP and ensemble machine learning. On the left is the problem, on the right the objective. Below I list four concrete project objectives: exploring the dataset, building a text preprocessing pipeline, extracting TF-IDF features, and finally combining four classifiers using a voting ensemble, which will be deployed through a Flask web application so a clinician could paste in a report and get a predicted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reviewed three key papers. Omar and colleagues compared classical and neural text representations and found Word2Vec with k-NN gave the best accuracy at 92 percent, but distance-based k-NN is slow at scale; their 4-phase pipeline of preprocessing, vectorization, feature reduction, and classification inspired my own workflow. Zhang and colleagues used synthetic data augmentation and BERT on a smaller 18-class version of the same MTSamples dataset, gaining 14.9 percent, but needing GPU infrastructure. Blanchard and colleagues showed that keyword-weighted features help rare classes, which supports using TF-IDF n-grams instead of manually curated keyword dictionaries. Together, these gaps motivate my lightweight, CPU-friendly TF-IDF plus ensemble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the Kaggle Medical Transcriptions or MTSamples dataset, containing 4,999 real clinical dictation reports spread across 40 medical specialties. It has six columns: an index, a short description, the target medical_specialty label, a sample name, the main transcription narrative, and extracted keywords. The transcription column is my primary input feature since it holds the full clinical narrative, and medical_specialty is the target I am predicting. The dataset is nearly complete for the target label with zero missing values, while the transcription field has only 33 missing records out of 4,999, which is under one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statistical analysis I used pandas and numpy. I applied dataset exploration functions such as shape, info(), dtypes, describe(), head(), and columns to understand the structure. The table on the right is a representative info()-style summary: it confirms 4,999 rows and 6 columns with no structural corruption. The key findings box on the left summarizes what this told me: the target column medical_specialty has zero missing values, which is great for supervised learning, transcription is 99.3 percent complete, and keywords is missing over a thousand records, so I exclude it from the primary feature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quality was checked using pandas' isnull().sum() and duplicated() functions, visualized here with matplotlib and seaborn. The chart shows that transcription, my primary input, is missing only 33 out of 4,999 records — well under one percent. The keywords column is missing 1,068 records, so I am excluding it from primary modeling since it is too sparse to rely on. The target column, medical_specialty, has zero missing values, which is ideal since a supervised classifier needs every training example labeled. I also verified there are no duplicate clinical reports in the corpus.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built with matplotlib and seaborn, shows the full class distribution across all 40 medical specialties. Surgery dominates with 1,103 records, while specialties like Autopsy and Executive Evaluation have only 2 records each. This is a textbook case of severe class imbalance. It directly affects my modeling choices: I plan to use stratified 80:20 train-test splitting so every specialty is proportionally represented in both sets, and a soft-voting ensemble so no single classifier's bias toward the majority class dominates the final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the text itself: the left chart shows transcription length is right-skewed, with most reports between 200 and 600 words but some extending to nearly 3,000 words. The word cloud on the right, generated with the WordCloud library, shows the most frequent terms across the whole corpus — words like placed, noted, used, and removed. These are generic documentation words that appear in almost every specialty, not distinguishing vocabulary. This is exactly why TF-IDF is useful: its inverse-document-frequency term automatically down-weights these common words and up-weights rarer, more specialty-specific medical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the exploratory analysis: the dataset has severe class imbalance, highly variable transcription length, a very high-dimensional and noisy vocabulary dominated by generic clinical documentation words, a keywords field too sparse to use directly, and it demands multi-metric evaluation rather than relying on plain accuracy. Every one of these findings directly shapes a design decision later in the project — from stratified splitting, to TF-IDF weighting, to choosing an ensemble of diverse classifiers, to the evaluation metrics I will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distinguishes what I have already done from what is proposed. On the left is the currently explored and cleaned dataset: after dropping the 33 missing-transcription records, the shape becomes 4,966 rows by 6 columns, spanning the same 40 target classes, with dtypes as shown. On the right is the proposed fully preprocessed output once the 8-step text-cleaning pipeline I described earlier is executed — lowercase, punctuation-free, lemmatized narrative text ready for TF-IDF. I want to be transparent that this full text-cleaning execution is a planned next step, not a completed result, and I will verify it using head, shape, info and describe once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propose four base classifiers on top of the TF-IDF features: Support Vector Machine, which handles sparse high-dimensional text very well; Random Forest, which captures non-linear keyword interactions; Logistic Regression, a highly interpretable probabilistic baseline; and Multinomial Naive Bayes, a fast count-based model. The strip below makes the pipeline explicit: TF-IDF handles feature extraction, these four models handle classification, and a Voting Classifier handles the final ensemble decision. One important technical note: since I plan to use soft voting, every classifier must output probability estimates, and because Linear SVM does not natively provide those, its scores will need probability calibration before joining the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training workflow, designed carefully to avoid data leakage. Starting from the full 4,999-record dataset, I first do initial cleaning and a null audit, then perform the stratified 80:20 train-test split before any text vectorization happens. Text preprocessing is applied to both partitions, but critically, the TF-IDF vectorizer is fit only on the training data — highlighted here — and then used to transform both the training and test sets. This prevents information from the test set leaking into the vocabulary or IDF weights. After that, the four base classifiers are trained, combined through soft voting, evaluated with standard metrics, and the final pipeline is serialized for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plain English, here is how the whole system will work end to end: load the raw dataset, clean it, split it in a stratified way so all specialties are represented in both partitions, preprocess the clinical text, fit TF-IDF only on the training partition, transform both partitions into numeric vectors, train the four base classifiers, combine them with soft voting, evaluate using accuracy, precision, recall and F1, and finally serialize the winning pipeline so it can be used for real-time prediction. This ten-step summary is the backbone of both my model-development phase and the Flask deployment that follows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consolidated view of how every algorithm participates. A clinical transcription first goes through text preprocessing, then TF-IDF feature extraction turns it into a numeric vector. That same vector is fed in parallel to all four classifiers — SVM, Random Forest, Logistic Regression, and Multinomial Naive Bayes — each producing its own probability estimate for every one of the 40 specialties. The Voting Ensemble then averages these probability estimates and picks the specialty with the highest combined score as the final predicted medical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brings everything together into the full project pipeline, organized into three stages. Data Preparation &amp; Partitioning covers ingesting the Kaggle MTSamples dataset, cleaning and null auditing, the stratified train-test split, text preprocessing, and fitting the TF-IDF vectorizer only on the training data. Model Building &amp; Ensemble covers training the calibrated SVM, Random Forest, Logistic Regression and Multinomial Naive Bayes, combining them with soft voting, evaluating with macro and weighted F1, precision and recall, and finally serializing the selected pipeline with Joblib. The Deployment stage takes that saved pipeline into a Flask web application where a clinician can input a transcription and receive a predicted specialty.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wireframe for the Flask-based deployment, not a finished application. The clinician would paste a clinical transcription into the text area, optionally upload a file instead, and click Predict Specialty. The result panel would then show the predicted medical specialty along with a confidence score bar, since the project pipeline I showed earlier explicitly plans a prediction result with a confidence score. The example specialty shown here is only illustrative — no model has actually been trained or deployed yet; this is purely a design mockup for the upcoming GUI development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are the planned GUI components: a text input area for pasting clinical narratives, an optional file upload, a predict button that triggers the preprocessing and ensemble pipeline, a result panel showing the predicted specialty, and a confidence display. On the right is my current project progress. Completed so far: the literature review, dataset collection, statistical and exploratory data analysis, data visualization, and the design of the preprocessing and TF-IDF methodology, along with algorithm selection and the overall architecture. Still upcoming: implementing the full preprocessing and TF-IDF pipeline, training and tuning the four classifiers, building the voting ensemble, evaluating it, and finally developing and deploying the Flask GUI.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project addresses automating medical specialty classification from unstructured clinical transcriptions. So far I have completed dataset exploration and statistical analysis of all 4,999 MTSamples records across 40 specialties, identified class imbalance and text-length variation through EDA, and designed an 8-step preprocessing pipeline together with a TF-IDF feature extraction approach and a 4-model voting ensemble. The next phase of work is implementing this pipeline end to end: fitting TF-IDF, training and tuning the four classifiers, calibrating SVM and building the soft-voting ensemble, evaluating with standard multi-class metrics, and finally deploying the Flask web application. Thank you, and I welcome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92F"/>
        </a:solidFill>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365760"/>
            <a:ext cx="10515600" cy="365760"/>
          </a:xfrm>
          <a:prstGeom prst="rect">
            <a:avLst/>
          </a:prstGeom>
          <a:noFill/>
        </p:spPr>
        <p:txBody>
          <a:bodyPr wrap="none">
            <a:spAutoFit/>
          </a:bodyPr>
          <a:lstStyle/>
          <a:p>
            <a:pPr>
              <a:defRPr sz="1300" b="1">
                <a:solidFill>
                  <a:srgbClr val="38BDF8"/>
                </a:solidFill>
                <a:latin typeface="Calibri"/>
              </a:defRPr>
            </a:pPr>
            <a:r>
              <a:t>MAR ATHANASIUS COLLEGE OF ENGINEERING, KOTHAMANGALAM</a:t>
            </a:r>
          </a:p>
        </p:txBody>
      </p:sp>
      <p:sp>
        <p:nvSpPr>
          <p:cNvPr id="4" name="Rounded Rectangle 3"/>
          <p:cNvSpPr/>
          <p:nvPr/>
        </p:nvSpPr>
        <p:spPr>
          <a:xfrm>
            <a:off x="822960" y="868680"/>
            <a:ext cx="3840480" cy="347472"/>
          </a:xfrm>
          <a:prstGeom prst="roundRect">
            <a:avLst/>
          </a:prstGeom>
          <a:solidFill>
            <a:srgbClr val="0E7C86"/>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latin typeface="Calibri"/>
              </a:defRPr>
            </a:pPr>
            <a:r>
              <a:t>MCA MINI PROJECT  |  FIRST PRESENTATION</a:t>
            </a:r>
          </a:p>
        </p:txBody>
      </p:sp>
      <p:sp>
        <p:nvSpPr>
          <p:cNvPr id="5" name="TextBox 4"/>
          <p:cNvSpPr txBox="1"/>
          <p:nvPr/>
        </p:nvSpPr>
        <p:spPr>
          <a:xfrm>
            <a:off x="822960" y="1371600"/>
            <a:ext cx="10515600" cy="1554480"/>
          </a:xfrm>
          <a:prstGeom prst="rect">
            <a:avLst/>
          </a:prstGeom>
          <a:noFill/>
        </p:spPr>
        <p:txBody>
          <a:bodyPr wrap="square">
            <a:spAutoFit/>
          </a:bodyPr>
          <a:lstStyle/>
          <a:p>
            <a:pPr>
              <a:defRPr sz="3400" b="1">
                <a:solidFill>
                  <a:srgbClr val="FFFFFF"/>
                </a:solidFill>
                <a:latin typeface="Cambria"/>
              </a:defRPr>
            </a:pPr>
            <a:r>
              <a:t>Medical Specialty Classification Using TF-IDF</a:t>
            </a:r>
            <a:br/>
            <a:r>
              <a:t>and Ensemble Machine Learning</a:t>
            </a:r>
          </a:p>
        </p:txBody>
      </p:sp>
      <p:sp>
        <p:nvSpPr>
          <p:cNvPr id="7" name="Rounded Rectangle 6"/>
          <p:cNvSpPr/>
          <p:nvPr/>
        </p:nvSpPr>
        <p:spPr>
          <a:xfrm>
            <a:off x="822960" y="3337560"/>
            <a:ext cx="5029200" cy="2240280"/>
          </a:xfrm>
          <a:prstGeom prst="roundRect">
            <a:avLst/>
          </a:prstGeom>
          <a:solidFill>
            <a:srgbClr val="112240"/>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38BDF8"/>
                </a:solidFill>
                <a:latin typeface="Calibri"/>
              </a:defRPr>
            </a:pPr>
            <a:r>
              <a:t>PRESENTED BY</a:t>
            </a:r>
          </a:p>
          <a:p>
            <a:pPr>
              <a:spcAft>
                <a:spcPts val="600"/>
              </a:spcAft>
              <a:defRPr sz="2400" b="1">
                <a:solidFill>
                  <a:srgbClr val="FFFFFF"/>
                </a:solidFill>
                <a:latin typeface="Cambria"/>
              </a:defRPr>
            </a:pPr>
            <a:r>
              <a:t>Jiphin George</a:t>
            </a:r>
          </a:p>
          <a:p>
            <a:pPr>
              <a:spcAft>
                <a:spcPts val="400"/>
              </a:spcAft>
              <a:defRPr sz="1300" b="0">
                <a:solidFill>
                  <a:srgbClr val="F1F5F9"/>
                </a:solidFill>
                <a:latin typeface="Calibri"/>
              </a:defRPr>
            </a:pPr>
            <a:r>
              <a:t>Register No: MAC25MCA-2033</a:t>
            </a:r>
          </a:p>
          <a:p>
            <a:pPr>
              <a:defRPr sz="1200" b="0">
                <a:solidFill>
                  <a:srgbClr val="94A3B8"/>
                </a:solidFill>
                <a:latin typeface="Calibri"/>
              </a:defRPr>
            </a:pPr>
            <a:r>
              <a:t>Course: Master of Computer Applications (MCA)</a:t>
            </a:r>
          </a:p>
        </p:txBody>
      </p:sp>
      <p:sp>
        <p:nvSpPr>
          <p:cNvPr id="8" name="Rounded Rectangle 7"/>
          <p:cNvSpPr/>
          <p:nvPr/>
        </p:nvSpPr>
        <p:spPr>
          <a:xfrm>
            <a:off x="6172200" y="3337560"/>
            <a:ext cx="5166360" cy="2240280"/>
          </a:xfrm>
          <a:prstGeom prst="roundRect">
            <a:avLst/>
          </a:prstGeom>
          <a:solidFill>
            <a:srgbClr val="112240"/>
          </a:solidFill>
          <a:ln w="25400">
            <a:solidFill>
              <a:srgbClr val="4ADE80"/>
            </a:solidFill>
          </a:ln>
        </p:spPr>
        <p:style>
          <a:lnRef idx="1">
            <a:schemeClr val="accent1"/>
          </a:lnRef>
          <a:fillRef idx="3">
            <a:schemeClr val="accent1"/>
          </a:fillRef>
          <a:effectRef idx="2">
            <a:schemeClr val="accent1"/>
          </a:effectRef>
          <a:fontRef idx="minor">
            <a:schemeClr val="lt1"/>
          </a:fontRef>
        </p:style>
        <p:txBody>
          <a:bodyPr rtlCol="0" anchor="ctr" wrap="square" lIns="274320" tIns="182880"/>
          <a:lstStyle/>
          <a:p>
            <a:pPr algn="ctr">
              <a:spcAft>
                <a:spcPts val="600"/>
              </a:spcAft>
              <a:defRPr sz="1100" b="1">
                <a:solidFill>
                  <a:srgbClr val="4ADE80"/>
                </a:solidFill>
                <a:latin typeface="Calibri"/>
              </a:defRPr>
            </a:pPr>
            <a:r>
              <a:t>PROJECT GUIDE</a:t>
            </a:r>
          </a:p>
          <a:p>
            <a:pPr>
              <a:spcAft>
                <a:spcPts val="600"/>
              </a:spcAft>
              <a:defRPr sz="2400" b="1">
                <a:solidFill>
                  <a:srgbClr val="FFFFFF"/>
                </a:solidFill>
                <a:latin typeface="Cambria"/>
              </a:defRPr>
            </a:pPr>
            <a:r>
              <a:t>Prof. Biju Skaria</a:t>
            </a:r>
          </a:p>
          <a:p>
            <a:pPr>
              <a:spcAft>
                <a:spcPts val="400"/>
              </a:spcAft>
              <a:defRPr sz="1300" b="0">
                <a:solidFill>
                  <a:srgbClr val="F1F5F9"/>
                </a:solidFill>
                <a:latin typeface="Calibri"/>
              </a:defRPr>
            </a:pPr>
            <a:r>
              <a:t>Department of Computer Applications</a:t>
            </a:r>
          </a:p>
          <a:p>
            <a:pPr>
              <a:defRPr sz="1200" b="0">
                <a:solidFill>
                  <a:srgbClr val="94A3B8"/>
                </a:solidFill>
                <a:latin typeface="Calibri"/>
              </a:defRPr>
            </a:pPr>
            <a:r>
              <a:t>Mar Athanasius College of Engineering, Kothamangalam</a:t>
            </a:r>
          </a:p>
        </p:txBody>
      </p:sp>
      <p:sp>
        <p:nvSpPr>
          <p:cNvPr id="9" name="Rounded Rectangle 8"/>
          <p:cNvSpPr/>
          <p:nvPr/>
        </p:nvSpPr>
        <p:spPr>
          <a:xfrm>
            <a:off x="822960"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Clinical NLP</a:t>
            </a:r>
          </a:p>
        </p:txBody>
      </p:sp>
      <p:sp>
        <p:nvSpPr>
          <p:cNvPr id="10" name="Rounded Rectangle 9"/>
          <p:cNvSpPr/>
          <p:nvPr/>
        </p:nvSpPr>
        <p:spPr>
          <a:xfrm>
            <a:off x="2944368"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TF-IDF Vectorization</a:t>
            </a:r>
          </a:p>
        </p:txBody>
      </p:sp>
      <p:sp>
        <p:nvSpPr>
          <p:cNvPr id="11" name="Rounded Rectangle 10"/>
          <p:cNvSpPr/>
          <p:nvPr/>
        </p:nvSpPr>
        <p:spPr>
          <a:xfrm>
            <a:off x="5065776"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Supervised ML</a:t>
            </a:r>
          </a:p>
        </p:txBody>
      </p:sp>
      <p:sp>
        <p:nvSpPr>
          <p:cNvPr id="12" name="Rounded Rectangle 11"/>
          <p:cNvSpPr/>
          <p:nvPr/>
        </p:nvSpPr>
        <p:spPr>
          <a:xfrm>
            <a:off x="7187184"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Soft Voting Ensemble</a:t>
            </a:r>
          </a:p>
        </p:txBody>
      </p:sp>
      <p:sp>
        <p:nvSpPr>
          <p:cNvPr id="13" name="Rounded Rectangle 12"/>
          <p:cNvSpPr/>
          <p:nvPr/>
        </p:nvSpPr>
        <p:spPr>
          <a:xfrm>
            <a:off x="9308592" y="5806440"/>
            <a:ext cx="2011680" cy="411480"/>
          </a:xfrm>
          <a:prstGeom prst="roundRect">
            <a:avLst/>
          </a:prstGeom>
          <a:solidFill>
            <a:srgbClr val="133254"/>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Flask Deployment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INTRODUCTION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Problem Statement &amp; Objectives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2 of 19</a:t>
            </a:r>
          </a:p>
        </p:txBody>
      </p:sp>
      <p:sp>
        <p:nvSpPr>
          <p:cNvPr id="8" name="Shape 6"/>
          <p:cNvSpPr/>
          <p:nvPr/>
        </p:nvSpPr>
        <p:spPr>
          <a:xfrm>
            <a:off x="457200" y="1554480"/>
            <a:ext cx="5394960" cy="1965960"/>
          </a:xfrm>
          <a:prstGeom prst="roundRect">
            <a:avLst>
              <a:gd name="adj" fmla="val 46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768096" y="1837944"/>
            <a:ext cx="566928" cy="566928"/>
          </a:xfrm>
          <a:prstGeom prst="ellipse">
            <a:avLst/>
          </a:prstGeom>
          <a:solidFill>
            <a:srgbClr val="6C4AB6"/>
          </a:solidFill>
          <a:ln/>
        </p:spPr>
        <p:txBody>
          <a:bodyPr/>
          <a:p/>
        </p:txBody>
      </p:sp>
      <p:sp>
        <p:nvSpPr>
          <p:cNvPr id="10" name="Text 8"/>
          <p:cNvSpPr txBox="1"/>
          <p:nvPr/>
        </p:nvSpPr>
        <p:spPr>
          <a:xfrm>
            <a:off x="768096" y="18379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1" name="Text 9"/>
          <p:cNvSpPr txBox="1"/>
          <p:nvPr/>
        </p:nvSpPr>
        <p:spPr>
          <a:xfrm>
            <a:off x="1417320" y="1828800"/>
            <a:ext cx="420624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Problem</a:t>
            </a:r>
            <a:endParaRPr lang="en-US" sz="1600" dirty="0"/>
          </a:p>
        </p:txBody>
      </p:sp>
      <p:sp>
        <p:nvSpPr>
          <p:cNvPr id="12" name="Text 10"/>
          <p:cNvSpPr txBox="1"/>
          <p:nvPr/>
        </p:nvSpPr>
        <p:spPr>
          <a:xfrm>
            <a:off x="777240" y="2331720"/>
            <a:ext cx="4800600" cy="1097280"/>
          </a:xfrm>
          <a:prstGeom prst="rect">
            <a:avLst/>
          </a:prstGeom>
          <a:noFill/>
          <a:ln/>
        </p:spPr>
        <p:txBody>
          <a:bodyPr wrap="square" lIns="0" tIns="0" rIns="0" bIns="0" rtlCol="0" anchor="t"/>
          <a:lstStyle/>
          <a:p>
            <a:pPr algn="l" indent="0" marL="0">
              <a:lnSpc>
                <a:spcPct val="115000"/>
              </a:lnSpc>
              <a:buNone/>
            </a:pPr>
            <a:r>
              <a:rPr lang="en-US" sz="1250" dirty="0">
                <a:solidFill>
                  <a:srgbClr val="16213E"/>
                </a:solidFill>
                <a:latin typeface="Calibri" pitchFamily="34" charset="0"/>
                <a:ea typeface="Calibri" pitchFamily="34" charset="-122"/>
                <a:cs typeface="Calibri" pitchFamily="34" charset="-120"/>
              </a:rPr>
              <a:t>Clinical transcription data is unstructured and can belong to any of several medical specialties, making manual categorization by medical coders slow, inconsistent, and prone to human error as patient volumes grow.</a:t>
            </a:r>
            <a:endParaRPr lang="en-US" sz="1250" dirty="0"/>
          </a:p>
        </p:txBody>
      </p:sp>
      <p:sp>
        <p:nvSpPr>
          <p:cNvPr id="13" name="Shape 11"/>
          <p:cNvSpPr/>
          <p:nvPr/>
        </p:nvSpPr>
        <p:spPr>
          <a:xfrm>
            <a:off x="6035040" y="1554480"/>
            <a:ext cx="5696712" cy="1965960"/>
          </a:xfrm>
          <a:prstGeom prst="roundRect">
            <a:avLst>
              <a:gd name="adj" fmla="val 46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Shape 12"/>
          <p:cNvSpPr/>
          <p:nvPr/>
        </p:nvSpPr>
        <p:spPr>
          <a:xfrm>
            <a:off x="6345936" y="1837944"/>
            <a:ext cx="566928" cy="566928"/>
          </a:xfrm>
          <a:prstGeom prst="ellipse">
            <a:avLst/>
          </a:prstGeom>
          <a:solidFill>
            <a:srgbClr val="0E7C86"/>
          </a:solidFill>
          <a:ln/>
        </p:spPr>
        <p:txBody>
          <a:bodyPr/>
          <a:p/>
        </p:txBody>
      </p:sp>
      <p:sp>
        <p:nvSpPr>
          <p:cNvPr id="15" name="Text 13"/>
          <p:cNvSpPr txBox="1"/>
          <p:nvPr/>
        </p:nvSpPr>
        <p:spPr>
          <a:xfrm>
            <a:off x="6345936" y="1837944"/>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6" name="Text 14"/>
          <p:cNvSpPr txBox="1"/>
          <p:nvPr/>
        </p:nvSpPr>
        <p:spPr>
          <a:xfrm>
            <a:off x="6995160" y="1828800"/>
            <a:ext cx="457200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Objective</a:t>
            </a:r>
            <a:endParaRPr lang="en-US" sz="1600" dirty="0"/>
          </a:p>
        </p:txBody>
      </p:sp>
      <p:sp>
        <p:nvSpPr>
          <p:cNvPr id="17" name="Text 15"/>
          <p:cNvSpPr txBox="1"/>
          <p:nvPr/>
        </p:nvSpPr>
        <p:spPr>
          <a:xfrm>
            <a:off x="6355080" y="2331720"/>
            <a:ext cx="5120640" cy="1097280"/>
          </a:xfrm>
          <a:prstGeom prst="rect">
            <a:avLst/>
          </a:prstGeom>
          <a:noFill/>
          <a:ln/>
        </p:spPr>
        <p:txBody>
          <a:bodyPr wrap="square" lIns="0" tIns="0" rIns="0" bIns="0" rtlCol="0" anchor="t"/>
          <a:lstStyle/>
          <a:p>
            <a:pPr algn="l" indent="0" marL="0">
              <a:lnSpc>
                <a:spcPct val="115000"/>
              </a:lnSpc>
              <a:buNone/>
            </a:pPr>
            <a:r>
              <a:rPr lang="en-US" sz="1250" dirty="0">
                <a:solidFill>
                  <a:srgbClr val="16213E"/>
                </a:solidFill>
                <a:latin typeface="Calibri" pitchFamily="34" charset="0"/>
                <a:ea typeface="Calibri" pitchFamily="34" charset="-122"/>
                <a:cs typeface="Calibri" pitchFamily="34" charset="-120"/>
              </a:rPr>
              <a:t>Develop an automated NLP and Ensemble Machine Learning system that predicts the correct medical specialty from a clinical transcription, reducing administrative overhead and speeding up document routing.</a:t>
            </a:r>
            <a:endParaRPr lang="en-US" sz="1250" dirty="0"/>
          </a:p>
        </p:txBody>
      </p:sp>
      <p:sp>
        <p:nvSpPr>
          <p:cNvPr id="18" name="Text 16"/>
          <p:cNvSpPr txBox="1"/>
          <p:nvPr/>
        </p:nvSpPr>
        <p:spPr>
          <a:xfrm>
            <a:off x="457200" y="3794760"/>
            <a:ext cx="5486400" cy="320040"/>
          </a:xfrm>
          <a:prstGeom prst="rect">
            <a:avLst/>
          </a:prstGeom>
          <a:noFill/>
          <a:ln/>
        </p:spPr>
        <p:txBody>
          <a:bodyPr wrap="square" lIns="0" tIns="0" rIns="0" bIns="0" rtlCol="0" anchor="ctr"/>
          <a:lstStyle/>
          <a:p>
            <a:pPr indent="0" marL="0">
              <a:buNone/>
            </a:pPr>
            <a:r>
              <a:rPr lang="en-US" sz="1500" b="1" dirty="0">
                <a:solidFill>
                  <a:srgbClr val="0B1F3A"/>
                </a:solidFill>
                <a:latin typeface="Cambria" pitchFamily="34" charset="0"/>
                <a:ea typeface="Cambria" pitchFamily="34" charset="-122"/>
                <a:cs typeface="Cambria" pitchFamily="34" charset="-120"/>
              </a:rPr>
              <a:t>Key Project Objectives</a:t>
            </a:r>
            <a:endParaRPr lang="en-US" sz="1500" dirty="0"/>
          </a:p>
        </p:txBody>
      </p:sp>
      <p:sp>
        <p:nvSpPr>
          <p:cNvPr id="19" name="Shape 17"/>
          <p:cNvSpPr/>
          <p:nvPr/>
        </p:nvSpPr>
        <p:spPr>
          <a:xfrm>
            <a:off x="45720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0" name="Shape 18"/>
          <p:cNvSpPr/>
          <p:nvPr/>
        </p:nvSpPr>
        <p:spPr>
          <a:xfrm>
            <a:off x="1577340" y="4430268"/>
            <a:ext cx="502920" cy="502920"/>
          </a:xfrm>
          <a:prstGeom prst="ellipse">
            <a:avLst/>
          </a:prstGeom>
          <a:solidFill>
            <a:srgbClr val="6C4AB6"/>
          </a:solidFill>
          <a:ln/>
        </p:spPr>
        <p:txBody>
          <a:bodyPr/>
          <a:p/>
        </p:txBody>
      </p:sp>
      <p:sp>
        <p:nvSpPr>
          <p:cNvPr id="21" name="Text 19"/>
          <p:cNvSpPr txBox="1"/>
          <p:nvPr/>
        </p:nvSpPr>
        <p:spPr>
          <a:xfrm>
            <a:off x="157734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EDA</a:t>
            </a:r>
            <a:endParaRPr lang="en-US" sz="1200" dirty="0"/>
          </a:p>
        </p:txBody>
      </p:sp>
      <p:sp>
        <p:nvSpPr>
          <p:cNvPr id="22" name="Text 20"/>
          <p:cNvSpPr txBox="1"/>
          <p:nvPr/>
        </p:nvSpPr>
        <p:spPr>
          <a:xfrm>
            <a:off x="56692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Explore &amp; Analyze</a:t>
            </a:r>
            <a:endParaRPr lang="en-US" sz="1250" dirty="0"/>
          </a:p>
        </p:txBody>
      </p:sp>
      <p:sp>
        <p:nvSpPr>
          <p:cNvPr id="23" name="Text 21"/>
          <p:cNvSpPr txBox="1"/>
          <p:nvPr/>
        </p:nvSpPr>
        <p:spPr>
          <a:xfrm>
            <a:off x="58521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Conduct EDA on the Kaggle MTSamples clinical transcription dataset.</a:t>
            </a:r>
            <a:endParaRPr lang="en-US" sz="1000" dirty="0"/>
          </a:p>
        </p:txBody>
      </p:sp>
      <p:sp>
        <p:nvSpPr>
          <p:cNvPr id="24" name="Shape 22"/>
          <p:cNvSpPr/>
          <p:nvPr/>
        </p:nvSpPr>
        <p:spPr>
          <a:xfrm>
            <a:off x="333756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5" name="Shape 23"/>
          <p:cNvSpPr/>
          <p:nvPr/>
        </p:nvSpPr>
        <p:spPr>
          <a:xfrm>
            <a:off x="4457700" y="4430268"/>
            <a:ext cx="502920" cy="502920"/>
          </a:xfrm>
          <a:prstGeom prst="ellipse">
            <a:avLst/>
          </a:prstGeom>
          <a:solidFill>
            <a:srgbClr val="0E7C86"/>
          </a:solidFill>
          <a:ln/>
        </p:spPr>
        <p:txBody>
          <a:bodyPr/>
          <a:p/>
        </p:txBody>
      </p:sp>
      <p:sp>
        <p:nvSpPr>
          <p:cNvPr id="26" name="Text 24"/>
          <p:cNvSpPr txBox="1"/>
          <p:nvPr/>
        </p:nvSpPr>
        <p:spPr>
          <a:xfrm>
            <a:off x="445770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NLP</a:t>
            </a:r>
            <a:endParaRPr lang="en-US" sz="1200" dirty="0"/>
          </a:p>
        </p:txBody>
      </p:sp>
      <p:sp>
        <p:nvSpPr>
          <p:cNvPr id="27" name="Text 25"/>
          <p:cNvSpPr txBox="1"/>
          <p:nvPr/>
        </p:nvSpPr>
        <p:spPr>
          <a:xfrm>
            <a:off x="344728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Preprocess Text</a:t>
            </a:r>
            <a:endParaRPr lang="en-US" sz="1250" dirty="0"/>
          </a:p>
        </p:txBody>
      </p:sp>
      <p:sp>
        <p:nvSpPr>
          <p:cNvPr id="28" name="Text 26"/>
          <p:cNvSpPr txBox="1"/>
          <p:nvPr/>
        </p:nvSpPr>
        <p:spPr>
          <a:xfrm>
            <a:off x="346557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Clean, tokenize, remove stop-words and lemmatize clinical narratives.</a:t>
            </a:r>
            <a:endParaRPr lang="en-US" sz="1000" dirty="0"/>
          </a:p>
        </p:txBody>
      </p:sp>
      <p:sp>
        <p:nvSpPr>
          <p:cNvPr id="29" name="Shape 27"/>
          <p:cNvSpPr/>
          <p:nvPr/>
        </p:nvSpPr>
        <p:spPr>
          <a:xfrm>
            <a:off x="621792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0" name="Shape 28"/>
          <p:cNvSpPr/>
          <p:nvPr/>
        </p:nvSpPr>
        <p:spPr>
          <a:xfrm>
            <a:off x="7338060" y="4430268"/>
            <a:ext cx="502920" cy="502920"/>
          </a:xfrm>
          <a:prstGeom prst="ellipse">
            <a:avLst/>
          </a:prstGeom>
          <a:solidFill>
            <a:srgbClr val="13294B"/>
          </a:solidFill>
          <a:ln/>
        </p:spPr>
        <p:txBody>
          <a:bodyPr/>
          <a:p/>
        </p:txBody>
      </p:sp>
      <p:sp>
        <p:nvSpPr>
          <p:cNvPr id="31" name="Text 29"/>
          <p:cNvSpPr txBox="1"/>
          <p:nvPr/>
        </p:nvSpPr>
        <p:spPr>
          <a:xfrm>
            <a:off x="733806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TF</a:t>
            </a:r>
            <a:endParaRPr lang="en-US" sz="1200" dirty="0"/>
          </a:p>
        </p:txBody>
      </p:sp>
      <p:sp>
        <p:nvSpPr>
          <p:cNvPr id="32" name="Text 30"/>
          <p:cNvSpPr txBox="1"/>
          <p:nvPr/>
        </p:nvSpPr>
        <p:spPr>
          <a:xfrm>
            <a:off x="632764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Extract Features</a:t>
            </a:r>
            <a:endParaRPr lang="en-US" sz="1250" dirty="0"/>
          </a:p>
        </p:txBody>
      </p:sp>
      <p:sp>
        <p:nvSpPr>
          <p:cNvPr id="33" name="Text 31"/>
          <p:cNvSpPr txBox="1"/>
          <p:nvPr/>
        </p:nvSpPr>
        <p:spPr>
          <a:xfrm>
            <a:off x="634593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Vectorize clinical text into numeric form using TF-IDF.</a:t>
            </a:r>
            <a:endParaRPr lang="en-US" sz="1000" dirty="0"/>
          </a:p>
        </p:txBody>
      </p:sp>
      <p:sp>
        <p:nvSpPr>
          <p:cNvPr id="34" name="Shape 32"/>
          <p:cNvSpPr/>
          <p:nvPr/>
        </p:nvSpPr>
        <p:spPr>
          <a:xfrm>
            <a:off x="9098280" y="4224528"/>
            <a:ext cx="2743200" cy="1965960"/>
          </a:xfrm>
          <a:prstGeom prst="roundRect">
            <a:avLst>
              <a:gd name="adj" fmla="val 418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5" name="Shape 33"/>
          <p:cNvSpPr/>
          <p:nvPr/>
        </p:nvSpPr>
        <p:spPr>
          <a:xfrm>
            <a:off x="10218420" y="4430268"/>
            <a:ext cx="502920" cy="502920"/>
          </a:xfrm>
          <a:prstGeom prst="ellipse">
            <a:avLst/>
          </a:prstGeom>
          <a:solidFill>
            <a:srgbClr val="6C4AB6"/>
          </a:solidFill>
          <a:ln/>
        </p:spPr>
        <p:txBody>
          <a:bodyPr/>
          <a:p/>
        </p:txBody>
      </p:sp>
      <p:sp>
        <p:nvSpPr>
          <p:cNvPr id="36" name="Text 34"/>
          <p:cNvSpPr txBox="1"/>
          <p:nvPr/>
        </p:nvSpPr>
        <p:spPr>
          <a:xfrm>
            <a:off x="10218420" y="4430268"/>
            <a:ext cx="502920" cy="5029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5"/>
          <p:cNvSpPr txBox="1"/>
          <p:nvPr/>
        </p:nvSpPr>
        <p:spPr>
          <a:xfrm>
            <a:off x="9208008" y="5065776"/>
            <a:ext cx="2523744" cy="320040"/>
          </a:xfrm>
          <a:prstGeom prst="rect">
            <a:avLst/>
          </a:prstGeom>
          <a:noFill/>
          <a:ln/>
        </p:spPr>
        <p:txBody>
          <a:bodyPr wrap="square" lIns="0" tIns="0" rIns="0" bIns="0" rtlCol="0" anchor="ctr"/>
          <a:lstStyle/>
          <a:p>
            <a:pPr algn="ctr" indent="0" marL="0">
              <a:buNone/>
            </a:pPr>
            <a:r>
              <a:rPr lang="en-US" sz="1250" b="1" dirty="0">
                <a:solidFill>
                  <a:srgbClr val="0B1F3A"/>
                </a:solidFill>
                <a:latin typeface="Cambria" pitchFamily="34" charset="0"/>
                <a:ea typeface="Cambria" pitchFamily="34" charset="-122"/>
                <a:cs typeface="Cambria" pitchFamily="34" charset="-120"/>
              </a:rPr>
              <a:t>Ensemble &amp; Deploy</a:t>
            </a:r>
            <a:endParaRPr lang="en-US" sz="1250" dirty="0"/>
          </a:p>
        </p:txBody>
      </p:sp>
      <p:sp>
        <p:nvSpPr>
          <p:cNvPr id="38" name="Text 36"/>
          <p:cNvSpPr txBox="1"/>
          <p:nvPr/>
        </p:nvSpPr>
        <p:spPr>
          <a:xfrm>
            <a:off x="9226296" y="5394960"/>
            <a:ext cx="2487168" cy="713232"/>
          </a:xfrm>
          <a:prstGeom prst="rect">
            <a:avLst/>
          </a:prstGeom>
          <a:noFill/>
          <a:ln/>
        </p:spPr>
        <p:txBody>
          <a:bodyPr wrap="square" lIns="0" tIns="0" rIns="0" bIns="0" rtlCol="0" anchor="t"/>
          <a:lstStyle/>
          <a:p>
            <a:pPr algn="ctr" indent="0" marL="0">
              <a:lnSpc>
                <a:spcPct val="110000"/>
              </a:lnSpc>
              <a:buNone/>
            </a:pPr>
            <a:r>
              <a:rPr lang="en-US" sz="1000" dirty="0">
                <a:solidFill>
                  <a:srgbClr val="5B6472"/>
                </a:solidFill>
                <a:latin typeface="Calibri" pitchFamily="34" charset="0"/>
                <a:ea typeface="Calibri" pitchFamily="34" charset="-122"/>
                <a:cs typeface="Calibri" pitchFamily="34" charset="-120"/>
              </a:rPr>
              <a:t>Combine SVM, RF, LR, MNB via Voting; deploy on a Flask web app.</a:t>
            </a:r>
            <a:endParaRPr lang="en-US" sz="10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LITERATURE REVIEW</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Literature Review: Background &amp; Research Landscape</a:t>
            </a:r>
          </a:p>
        </p:txBody>
      </p:sp>
      <p:sp>
        <p:nvSpPr>
          <p:cNvPr id="4" name="Rounded Rectangle 3"/>
          <p:cNvSpPr/>
          <p:nvPr/>
        </p:nvSpPr>
        <p:spPr>
          <a:xfrm>
            <a:off x="457200" y="1371600"/>
            <a:ext cx="2651760" cy="685800"/>
          </a:xfrm>
          <a:prstGeom prst="roundRect">
            <a:avLst/>
          </a:prstGeom>
          <a:solidFill>
            <a:srgbClr val="F0FDFA"/>
          </a:solidFill>
          <a:ln w="1524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050" b="1">
                <a:solidFill>
                  <a:srgbClr val="0E7C86"/>
                </a:solidFill>
                <a:latin typeface="Calibri"/>
              </a:defRPr>
            </a:pPr>
            <a:r>
              <a:t>1. Prior Literature</a:t>
            </a:r>
          </a:p>
          <a:p>
            <a:pPr>
              <a:defRPr sz="900">
                <a:solidFill>
                  <a:srgbClr val="334155"/>
                </a:solidFill>
                <a:latin typeface="Calibri"/>
              </a:defRPr>
            </a:pPr>
            <a:r>
              <a:t>Validation of ML for clinical text</a:t>
            </a:r>
          </a:p>
        </p:txBody>
      </p:sp>
      <p:sp>
        <p:nvSpPr>
          <p:cNvPr id="5" name="Rounded Rectangle 4"/>
          <p:cNvSpPr/>
          <p:nvPr/>
        </p:nvSpPr>
        <p:spPr>
          <a:xfrm>
            <a:off x="3319272" y="1371600"/>
            <a:ext cx="2651760" cy="685800"/>
          </a:xfrm>
          <a:prstGeom prst="roundRect">
            <a:avLst/>
          </a:prstGeom>
          <a:solidFill>
            <a:srgbClr val="EFF6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050" b="1">
                <a:solidFill>
                  <a:srgbClr val="2563EB"/>
                </a:solidFill>
                <a:latin typeface="Calibri"/>
              </a:defRPr>
            </a:pPr>
            <a:r>
              <a:t>2. Key Methodologies</a:t>
            </a:r>
          </a:p>
          <a:p>
            <a:pPr>
              <a:defRPr sz="900">
                <a:solidFill>
                  <a:srgbClr val="334155"/>
                </a:solidFill>
                <a:latin typeface="Calibri"/>
              </a:defRPr>
            </a:pPr>
            <a:r>
              <a:t>TF-IDF vectorization &amp; linear classifiers</a:t>
            </a:r>
          </a:p>
        </p:txBody>
      </p:sp>
      <p:sp>
        <p:nvSpPr>
          <p:cNvPr id="6" name="Rounded Rectangle 5"/>
          <p:cNvSpPr/>
          <p:nvPr/>
        </p:nvSpPr>
        <p:spPr>
          <a:xfrm>
            <a:off x="6181344" y="1371600"/>
            <a:ext cx="2651760" cy="685800"/>
          </a:xfrm>
          <a:prstGeom prst="roundRect">
            <a:avLst/>
          </a:prstGeom>
          <a:solidFill>
            <a:srgbClr val="FAF5FF"/>
          </a:solidFill>
          <a:ln w="1524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050" b="1">
                <a:solidFill>
                  <a:srgbClr val="9333EA"/>
                </a:solidFill>
                <a:latin typeface="Calibri"/>
              </a:defRPr>
            </a:pPr>
            <a:r>
              <a:t>3. Identified Gap</a:t>
            </a:r>
          </a:p>
          <a:p>
            <a:pPr>
              <a:defRPr sz="900">
                <a:solidFill>
                  <a:srgbClr val="334155"/>
                </a:solidFill>
                <a:latin typeface="Calibri"/>
              </a:defRPr>
            </a:pPr>
            <a:r>
              <a:t>High compute requirements &amp; model variance</a:t>
            </a:r>
          </a:p>
        </p:txBody>
      </p:sp>
      <p:sp>
        <p:nvSpPr>
          <p:cNvPr id="7" name="Rounded Rectangle 6"/>
          <p:cNvSpPr/>
          <p:nvPr/>
        </p:nvSpPr>
        <p:spPr>
          <a:xfrm>
            <a:off x="9043416" y="1371600"/>
            <a:ext cx="2651760" cy="685800"/>
          </a:xfrm>
          <a:prstGeom prst="roundRect">
            <a:avLst/>
          </a:prstGeom>
          <a:solidFill>
            <a:srgbClr val="F0FDF4"/>
          </a:solidFill>
          <a:ln w="1524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Aft>
                <a:spcPts val="200"/>
              </a:spcAft>
              <a:defRPr sz="1050" b="1">
                <a:solidFill>
                  <a:srgbClr val="16A34A"/>
                </a:solidFill>
                <a:latin typeface="Calibri"/>
              </a:defRPr>
            </a:pPr>
            <a:r>
              <a:t>4. Proposed Architecture</a:t>
            </a:r>
          </a:p>
          <a:p>
            <a:pPr>
              <a:defRPr sz="900">
                <a:solidFill>
                  <a:srgbClr val="334155"/>
                </a:solidFill>
                <a:latin typeface="Calibri"/>
              </a:defRPr>
            </a:pPr>
            <a:r>
              <a:t>Lightweight soft voting ensemble on web</a:t>
            </a:r>
          </a:p>
        </p:txBody>
      </p:sp>
      <p:sp>
        <p:nvSpPr>
          <p:cNvPr id="8" name="Rounded Rectangle 7"/>
          <p:cNvSpPr/>
          <p:nvPr/>
        </p:nvSpPr>
        <p:spPr>
          <a:xfrm>
            <a:off x="457200" y="2194560"/>
            <a:ext cx="5440680" cy="201168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spcAft>
                <a:spcPts val="400"/>
              </a:spcAft>
              <a:defRPr sz="1200" b="1">
                <a:solidFill>
                  <a:srgbClr val="0E7C86"/>
                </a:solidFill>
                <a:latin typeface="Calibri"/>
              </a:defRPr>
            </a:pPr>
            <a:r>
              <a:t>Clinical NLP &amp; Preprocessing</a:t>
            </a:r>
          </a:p>
          <a:p>
            <a:pPr>
              <a:spcAft>
                <a:spcPts val="200"/>
              </a:spcAft>
            </a:pPr>
            <a:r>
              <a:rPr sz="950" b="1">
                <a:solidFill>
                  <a:srgbClr val="0E7C86"/>
                </a:solidFill>
                <a:latin typeface="Calibri"/>
              </a:rPr>
              <a:t>• </a:t>
            </a:r>
            <a:r>
              <a:rPr sz="900">
                <a:solidFill>
                  <a:srgbClr val="334155"/>
                </a:solidFill>
                <a:latin typeface="Calibri"/>
              </a:rPr>
              <a:t>Clinical narratives contain non-standard doctor shorthand, abbreviations, and punctuation noise.</a:t>
            </a:r>
          </a:p>
          <a:p>
            <a:pPr>
              <a:spcAft>
                <a:spcPts val="200"/>
              </a:spcAft>
            </a:pPr>
            <a:r>
              <a:rPr sz="950" b="1">
                <a:solidFill>
                  <a:srgbClr val="0E7C86"/>
                </a:solidFill>
                <a:latin typeface="Calibri"/>
              </a:rPr>
              <a:t>• </a:t>
            </a:r>
            <a:r>
              <a:rPr sz="900">
                <a:solidFill>
                  <a:srgbClr val="334155"/>
                </a:solidFill>
                <a:latin typeface="Calibri"/>
              </a:rPr>
              <a:t>Implements a 5-step sequence: Cleaning, Lowercasing, Tokenization, Stop-word removal, and Lemmatization.</a:t>
            </a:r>
          </a:p>
          <a:p>
            <a:pPr>
              <a:spcAft>
                <a:spcPts val="200"/>
              </a:spcAft>
            </a:pPr>
            <a:r>
              <a:rPr sz="950" b="1">
                <a:solidFill>
                  <a:srgbClr val="0E7C86"/>
                </a:solidFill>
                <a:latin typeface="Calibri"/>
              </a:rPr>
              <a:t>• </a:t>
            </a:r>
            <a:r>
              <a:rPr sz="900">
                <a:solidFill>
                  <a:srgbClr val="334155"/>
                </a:solidFill>
                <a:latin typeface="Calibri"/>
              </a:rPr>
              <a:t>Morphological lemmatization normalizes inflected clinical terms while preserving diagnostic root semantics.</a:t>
            </a:r>
          </a:p>
        </p:txBody>
      </p:sp>
      <p:sp>
        <p:nvSpPr>
          <p:cNvPr id="9" name="Rounded Rectangle 8"/>
          <p:cNvSpPr/>
          <p:nvPr/>
        </p:nvSpPr>
        <p:spPr>
          <a:xfrm>
            <a:off x="6263640" y="2194560"/>
            <a:ext cx="5440680" cy="2011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spcAft>
                <a:spcPts val="400"/>
              </a:spcAft>
              <a:defRPr sz="1200" b="1">
                <a:solidFill>
                  <a:srgbClr val="2563EB"/>
                </a:solidFill>
                <a:latin typeface="Calibri"/>
              </a:defRPr>
            </a:pPr>
            <a:r>
              <a:t>TF-IDF Feature Representation</a:t>
            </a:r>
          </a:p>
          <a:p>
            <a:pPr>
              <a:spcAft>
                <a:spcPts val="200"/>
              </a:spcAft>
            </a:pPr>
            <a:r>
              <a:rPr sz="950" b="1">
                <a:solidFill>
                  <a:srgbClr val="2563EB"/>
                </a:solidFill>
                <a:latin typeface="Calibri"/>
              </a:rPr>
              <a:t>• </a:t>
            </a:r>
            <a:r>
              <a:rPr sz="900">
                <a:solidFill>
                  <a:srgbClr val="334155"/>
                </a:solidFill>
                <a:latin typeface="Calibri"/>
              </a:rPr>
              <a:t>Converts unstructured medical text into standardized, high-dimensional sparse numerical feature vectors.</a:t>
            </a:r>
          </a:p>
          <a:p>
            <a:pPr>
              <a:spcAft>
                <a:spcPts val="200"/>
              </a:spcAft>
            </a:pPr>
            <a:r>
              <a:rPr sz="950" b="1">
                <a:solidFill>
                  <a:srgbClr val="2563EB"/>
                </a:solidFill>
                <a:latin typeface="Calibri"/>
              </a:rPr>
              <a:t>• </a:t>
            </a:r>
            <a:r>
              <a:rPr sz="900">
                <a:solidFill>
                  <a:srgbClr val="334155"/>
                </a:solidFill>
                <a:latin typeface="Calibri"/>
              </a:rPr>
              <a:t>Sublinear scaling (1 + log(TF)) dampens repetitive non-informative terms while highlighting discriminative tokens.</a:t>
            </a:r>
          </a:p>
          <a:p>
            <a:pPr>
              <a:spcAft>
                <a:spcPts val="200"/>
              </a:spcAft>
            </a:pPr>
            <a:r>
              <a:rPr sz="950" b="1">
                <a:solidFill>
                  <a:srgbClr val="2563EB"/>
                </a:solidFill>
                <a:latin typeface="Calibri"/>
              </a:rPr>
              <a:t>• </a:t>
            </a:r>
            <a:r>
              <a:rPr sz="900">
                <a:solidFill>
                  <a:srgbClr val="334155"/>
                </a:solidFill>
                <a:latin typeface="Calibri"/>
              </a:rPr>
              <a:t>Computationally lightweight; enables rapid CPU-based real-time inference on web platforms.</a:t>
            </a:r>
          </a:p>
        </p:txBody>
      </p:sp>
      <p:sp>
        <p:nvSpPr>
          <p:cNvPr id="10" name="Rounded Rectangle 9"/>
          <p:cNvSpPr/>
          <p:nvPr/>
        </p:nvSpPr>
        <p:spPr>
          <a:xfrm>
            <a:off x="457200" y="4343400"/>
            <a:ext cx="5440680" cy="20116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spcAft>
                <a:spcPts val="400"/>
              </a:spcAft>
              <a:defRPr sz="1200" b="1">
                <a:solidFill>
                  <a:srgbClr val="16A34A"/>
                </a:solidFill>
                <a:latin typeface="Calibri"/>
              </a:defRPr>
            </a:pPr>
            <a:r>
              <a:t>Supervised ML Classifiers</a:t>
            </a:r>
          </a:p>
          <a:p>
            <a:pPr>
              <a:spcAft>
                <a:spcPts val="200"/>
              </a:spcAft>
            </a:pPr>
            <a:r>
              <a:rPr sz="950" b="1">
                <a:solidFill>
                  <a:srgbClr val="16A34A"/>
                </a:solidFill>
                <a:latin typeface="Calibri"/>
              </a:rPr>
              <a:t>• </a:t>
            </a:r>
            <a:r>
              <a:rPr sz="900">
                <a:solidFill>
                  <a:srgbClr val="334155"/>
                </a:solidFill>
                <a:latin typeface="Calibri"/>
              </a:rPr>
              <a:t>Linear models (SVM, Logistic Regression) excel on high-dimensional sparse text representations.</a:t>
            </a:r>
          </a:p>
          <a:p>
            <a:pPr>
              <a:spcAft>
                <a:spcPts val="200"/>
              </a:spcAft>
            </a:pPr>
            <a:r>
              <a:rPr sz="950" b="1">
                <a:solidFill>
                  <a:srgbClr val="16A34A"/>
                </a:solidFill>
                <a:latin typeface="Calibri"/>
              </a:rPr>
              <a:t>• </a:t>
            </a:r>
            <a:r>
              <a:rPr sz="900">
                <a:solidFill>
                  <a:srgbClr val="334155"/>
                </a:solidFill>
                <a:latin typeface="Calibri"/>
              </a:rPr>
              <a:t>Random Forest introduces non-linear decision partitioning and bagging variance reduction.</a:t>
            </a:r>
          </a:p>
          <a:p>
            <a:pPr>
              <a:spcAft>
                <a:spcPts val="200"/>
              </a:spcAft>
            </a:pPr>
            <a:r>
              <a:rPr sz="950" b="1">
                <a:solidFill>
                  <a:srgbClr val="16A34A"/>
                </a:solidFill>
                <a:latin typeface="Calibri"/>
              </a:rPr>
              <a:t>• </a:t>
            </a:r>
            <a:r>
              <a:rPr sz="900">
                <a:solidFill>
                  <a:srgbClr val="334155"/>
                </a:solidFill>
                <a:latin typeface="Calibri"/>
              </a:rPr>
              <a:t>Multinomial Naive Bayes provides fast, effective probabilistic likelihood estimation for text vectors.</a:t>
            </a:r>
          </a:p>
        </p:txBody>
      </p:sp>
      <p:sp>
        <p:nvSpPr>
          <p:cNvPr id="11" name="Rounded Rectangle 10"/>
          <p:cNvSpPr/>
          <p:nvPr/>
        </p:nvSpPr>
        <p:spPr>
          <a:xfrm>
            <a:off x="6263640" y="4343400"/>
            <a:ext cx="5440680" cy="20116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spcAft>
                <a:spcPts val="400"/>
              </a:spcAft>
              <a:defRPr sz="1200" b="1">
                <a:solidFill>
                  <a:srgbClr val="9333EA"/>
                </a:solidFill>
                <a:latin typeface="Calibri"/>
              </a:defRPr>
            </a:pPr>
            <a:r>
              <a:t>Ensemble Learning &amp; Research Gap</a:t>
            </a:r>
          </a:p>
          <a:p>
            <a:pPr>
              <a:spcAft>
                <a:spcPts val="200"/>
              </a:spcAft>
            </a:pPr>
            <a:r>
              <a:rPr sz="950" b="1">
                <a:solidFill>
                  <a:srgbClr val="9333EA"/>
                </a:solidFill>
                <a:latin typeface="Calibri"/>
              </a:rPr>
              <a:t>• </a:t>
            </a:r>
            <a:r>
              <a:rPr sz="900">
                <a:solidFill>
                  <a:srgbClr val="334155"/>
                </a:solidFill>
                <a:latin typeface="Calibri"/>
              </a:rPr>
              <a:t>Identified Gap: Many deep learning approaches demand heavy GPU resources; single models show variance on rare classes.</a:t>
            </a:r>
          </a:p>
          <a:p>
            <a:pPr>
              <a:spcAft>
                <a:spcPts val="200"/>
              </a:spcAft>
            </a:pPr>
            <a:r>
              <a:rPr sz="950" b="1">
                <a:solidFill>
                  <a:srgbClr val="9333EA"/>
                </a:solidFill>
                <a:latin typeface="Calibri"/>
              </a:rPr>
              <a:t>• </a:t>
            </a:r>
            <a:r>
              <a:rPr sz="900">
                <a:solidFill>
                  <a:srgbClr val="334155"/>
                </a:solidFill>
                <a:latin typeface="Calibri"/>
              </a:rPr>
              <a:t>Proposed Solution: An accessible Soft Voting Ensemble combining calibrated base models for balanced classification.</a:t>
            </a:r>
          </a:p>
          <a:p>
            <a:pPr>
              <a:spcAft>
                <a:spcPts val="200"/>
              </a:spcAft>
            </a:pPr>
            <a:r>
              <a:rPr sz="950" b="1">
                <a:solidFill>
                  <a:srgbClr val="9333EA"/>
                </a:solidFill>
                <a:latin typeface="Calibri"/>
              </a:rPr>
              <a:t>• </a:t>
            </a:r>
            <a:r>
              <a:rPr sz="900">
                <a:solidFill>
                  <a:srgbClr val="334155"/>
                </a:solidFill>
                <a:latin typeface="Calibri"/>
              </a:rPr>
              <a:t>Practical Outcome: Achieves robust multi-class accuracy across all 40 specialties on standard CPU hardware.</a:t>
            </a:r>
          </a:p>
        </p:txBody>
      </p:sp>
      <p:sp>
        <p:nvSpPr>
          <p:cNvPr id="12" name="TextBox 11"/>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13" name="TextBox 12"/>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14" name="TextBox 13"/>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3 of 19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defRPr sz="1050" b="1">
                <a:solidFill>
                  <a:srgbClr val="FFFFFF"/>
                </a:solidFill>
                <a:latin typeface="Calibri"/>
              </a:defRPr>
            </a:pPr>
            <a:r>
              <a:t>MCA MINI PROJECT | LITERATURE REVIEW</a:t>
            </a:r>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defRPr sz="2600" b="1">
                <a:solidFill>
                  <a:srgbClr val="0B1F3A"/>
                </a:solidFill>
                <a:latin typeface="Cambria"/>
              </a:defRPr>
            </a:pPr>
            <a:r>
              <a:t>Summary of Key Research Papers</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4 of 19</a:t>
            </a:r>
          </a:p>
        </p:txBody>
      </p:sp>
      <p:sp>
        <p:nvSpPr>
          <p:cNvPr id="8" name="Shape 6"/>
          <p:cNvSpPr/>
          <p:nvPr/>
        </p:nvSpPr>
        <p:spPr>
          <a:xfrm>
            <a:off x="45720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685800" y="1764792"/>
            <a:ext cx="3218688" cy="292608"/>
          </a:xfrm>
          <a:prstGeom prst="roundRect">
            <a:avLst>
              <a:gd name="adj" fmla="val 50000"/>
            </a:avLst>
          </a:prstGeom>
          <a:solidFill>
            <a:srgbClr val="0E7C86"/>
          </a:solidFill>
          <a:ln/>
        </p:spPr>
        <p:txBody>
          <a:bodyPr/>
          <a:p/>
        </p:txBody>
      </p:sp>
      <p:sp>
        <p:nvSpPr>
          <p:cNvPr id="10" name="Text 8"/>
          <p:cNvSpPr txBox="1"/>
          <p:nvPr/>
        </p:nvSpPr>
        <p:spPr>
          <a:xfrm>
            <a:off x="68580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1 • 2023</a:t>
            </a:r>
            <a:endParaRPr lang="en-US" sz="1000" dirty="0"/>
          </a:p>
        </p:txBody>
      </p:sp>
      <p:sp>
        <p:nvSpPr>
          <p:cNvPr id="11" name="Text 9"/>
          <p:cNvSpPr txBox="1"/>
          <p:nvPr/>
        </p:nvSpPr>
        <p:spPr>
          <a:xfrm>
            <a:off x="68580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Omar et al. — iJOE</a:t>
            </a:r>
            <a:endParaRPr lang="en-US" sz="1450" dirty="0"/>
          </a:p>
        </p:txBody>
      </p:sp>
      <p:sp>
        <p:nvSpPr>
          <p:cNvPr id="12" name="Text 10"/>
          <p:cNvSpPr txBox="1"/>
          <p:nvPr/>
        </p:nvSpPr>
        <p:spPr>
          <a:xfrm>
            <a:off x="68580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METHOD</a:t>
            </a:r>
            <a:endParaRPr lang="en-US" sz="950" dirty="0"/>
          </a:p>
        </p:txBody>
      </p:sp>
      <p:sp>
        <p:nvSpPr>
          <p:cNvPr id="13" name="Text 11"/>
          <p:cNvSpPr txBox="1"/>
          <p:nvPr/>
        </p:nvSpPr>
        <p:spPr>
          <a:xfrm>
            <a:off x="68580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BOW / TF-IDF / Word2Vec + LR, SVM, Naive Bayes, k-NN</a:t>
            </a:r>
            <a:endParaRPr lang="en-US" sz="1050" dirty="0"/>
          </a:p>
        </p:txBody>
      </p:sp>
      <p:sp>
        <p:nvSpPr>
          <p:cNvPr id="14" name="Text 12"/>
          <p:cNvSpPr txBox="1"/>
          <p:nvPr/>
        </p:nvSpPr>
        <p:spPr>
          <a:xfrm>
            <a:off x="68580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KEY FINDING</a:t>
            </a:r>
            <a:endParaRPr lang="en-US" sz="950" dirty="0"/>
          </a:p>
        </p:txBody>
      </p:sp>
      <p:sp>
        <p:nvSpPr>
          <p:cNvPr id="15" name="Text 13"/>
          <p:cNvSpPr txBox="1"/>
          <p:nvPr/>
        </p:nvSpPr>
        <p:spPr>
          <a:xfrm>
            <a:off x="68580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Word2Vec + k-NN achieved the highest accuracy of 92%, but k-NN scales poorly for large databases.</a:t>
            </a:r>
            <a:endParaRPr lang="en-US" sz="1050" dirty="0"/>
          </a:p>
        </p:txBody>
      </p:sp>
      <p:sp>
        <p:nvSpPr>
          <p:cNvPr id="16" name="Text 14"/>
          <p:cNvSpPr txBox="1"/>
          <p:nvPr/>
        </p:nvSpPr>
        <p:spPr>
          <a:xfrm>
            <a:off x="68580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0E7C86"/>
                </a:solidFill>
                <a:latin typeface="Calibri" pitchFamily="34" charset="0"/>
                <a:ea typeface="Calibri" pitchFamily="34" charset="-122"/>
                <a:cs typeface="Calibri" pitchFamily="34" charset="-120"/>
              </a:rPr>
              <a:t>RELEVANCE TO THIS PROJECT</a:t>
            </a:r>
            <a:endParaRPr lang="en-US" sz="950" dirty="0"/>
          </a:p>
        </p:txBody>
      </p:sp>
      <p:sp>
        <p:nvSpPr>
          <p:cNvPr id="17" name="Text 15"/>
          <p:cNvSpPr txBox="1"/>
          <p:nvPr/>
        </p:nvSpPr>
        <p:spPr>
          <a:xfrm>
            <a:off x="68580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Establishes the standard 4-phase text preprocessing &amp; vectorization pipeline used in this project.</a:t>
            </a:r>
            <a:endParaRPr lang="en-US" sz="1050" dirty="0"/>
          </a:p>
        </p:txBody>
      </p:sp>
      <p:sp>
        <p:nvSpPr>
          <p:cNvPr id="18" name="Shape 16"/>
          <p:cNvSpPr/>
          <p:nvPr/>
        </p:nvSpPr>
        <p:spPr>
          <a:xfrm>
            <a:off x="425196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Shape 17"/>
          <p:cNvSpPr/>
          <p:nvPr/>
        </p:nvSpPr>
        <p:spPr>
          <a:xfrm>
            <a:off x="4480560" y="1764792"/>
            <a:ext cx="3218688" cy="292608"/>
          </a:xfrm>
          <a:prstGeom prst="roundRect">
            <a:avLst>
              <a:gd name="adj" fmla="val 50000"/>
            </a:avLst>
          </a:prstGeom>
          <a:solidFill>
            <a:srgbClr val="6C4AB6"/>
          </a:solidFill>
          <a:ln/>
        </p:spPr>
        <p:txBody>
          <a:bodyPr/>
          <a:p/>
        </p:txBody>
      </p:sp>
      <p:sp>
        <p:nvSpPr>
          <p:cNvPr id="20" name="Text 18"/>
          <p:cNvSpPr txBox="1"/>
          <p:nvPr/>
        </p:nvSpPr>
        <p:spPr>
          <a:xfrm>
            <a:off x="448056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2 • 2023</a:t>
            </a:r>
            <a:endParaRPr lang="en-US" sz="1000" dirty="0"/>
          </a:p>
        </p:txBody>
      </p:sp>
      <p:sp>
        <p:nvSpPr>
          <p:cNvPr id="21" name="Text 19"/>
          <p:cNvSpPr txBox="1"/>
          <p:nvPr/>
        </p:nvSpPr>
        <p:spPr>
          <a:xfrm>
            <a:off x="448056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Zhang et al. — Hindawi CIN</a:t>
            </a:r>
            <a:endParaRPr lang="en-US" sz="1450" dirty="0"/>
          </a:p>
        </p:txBody>
      </p:sp>
      <p:sp>
        <p:nvSpPr>
          <p:cNvPr id="22" name="Text 20"/>
          <p:cNvSpPr txBox="1"/>
          <p:nvPr/>
        </p:nvSpPr>
        <p:spPr>
          <a:xfrm>
            <a:off x="448056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METHOD</a:t>
            </a:r>
            <a:endParaRPr lang="en-US" sz="950" dirty="0"/>
          </a:p>
        </p:txBody>
      </p:sp>
      <p:sp>
        <p:nvSpPr>
          <p:cNvPr id="23" name="Text 21"/>
          <p:cNvSpPr txBox="1"/>
          <p:nvPr/>
        </p:nvSpPr>
        <p:spPr>
          <a:xfrm>
            <a:off x="448056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SemiADA synthetic data augmentation + BERT, on an 18-class MTSamples subset</a:t>
            </a:r>
            <a:endParaRPr lang="en-US" sz="1050" dirty="0"/>
          </a:p>
        </p:txBody>
      </p:sp>
      <p:sp>
        <p:nvSpPr>
          <p:cNvPr id="24" name="Text 22"/>
          <p:cNvSpPr txBox="1"/>
          <p:nvPr/>
        </p:nvSpPr>
        <p:spPr>
          <a:xfrm>
            <a:off x="448056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KEY FINDING</a:t>
            </a:r>
            <a:endParaRPr lang="en-US" sz="950" dirty="0"/>
          </a:p>
        </p:txBody>
      </p:sp>
      <p:sp>
        <p:nvSpPr>
          <p:cNvPr id="25" name="Text 23"/>
          <p:cNvSpPr txBox="1"/>
          <p:nvPr/>
        </p:nvSpPr>
        <p:spPr>
          <a:xfrm>
            <a:off x="448056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Achieved a +14.9% average gain in accuracy and F1-score over baseline, but needs GPU-heavy BERT fine-tuning.</a:t>
            </a:r>
            <a:endParaRPr lang="en-US" sz="1050" dirty="0"/>
          </a:p>
        </p:txBody>
      </p:sp>
      <p:sp>
        <p:nvSpPr>
          <p:cNvPr id="26" name="Text 24"/>
          <p:cNvSpPr txBox="1"/>
          <p:nvPr/>
        </p:nvSpPr>
        <p:spPr>
          <a:xfrm>
            <a:off x="448056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6C4AB6"/>
                </a:solidFill>
                <a:latin typeface="Calibri" pitchFamily="34" charset="0"/>
                <a:ea typeface="Calibri" pitchFamily="34" charset="-122"/>
                <a:cs typeface="Calibri" pitchFamily="34" charset="-120"/>
              </a:rPr>
              <a:t>RELEVANCE TO THIS PROJECT</a:t>
            </a:r>
            <a:endParaRPr lang="en-US" sz="950" dirty="0"/>
          </a:p>
        </p:txBody>
      </p:sp>
      <p:sp>
        <p:nvSpPr>
          <p:cNvPr id="27" name="Text 25"/>
          <p:cNvSpPr txBox="1"/>
          <p:nvPr/>
        </p:nvSpPr>
        <p:spPr>
          <a:xfrm>
            <a:off x="448056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Highlights class imbalance in MTSamples and motivates a lightweight TF-IDF + ensemble alternative.</a:t>
            </a:r>
            <a:endParaRPr lang="en-US" sz="1050" dirty="0"/>
          </a:p>
        </p:txBody>
      </p:sp>
      <p:sp>
        <p:nvSpPr>
          <p:cNvPr id="28" name="Shape 26"/>
          <p:cNvSpPr/>
          <p:nvPr/>
        </p:nvSpPr>
        <p:spPr>
          <a:xfrm>
            <a:off x="8046720" y="1536192"/>
            <a:ext cx="3675888" cy="4709160"/>
          </a:xfrm>
          <a:prstGeom prst="roundRect">
            <a:avLst>
              <a:gd name="adj" fmla="val 2239"/>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9" name="Shape 27"/>
          <p:cNvSpPr/>
          <p:nvPr/>
        </p:nvSpPr>
        <p:spPr>
          <a:xfrm>
            <a:off x="8275320" y="1764792"/>
            <a:ext cx="3218688" cy="292608"/>
          </a:xfrm>
          <a:prstGeom prst="roundRect">
            <a:avLst>
              <a:gd name="adj" fmla="val 50000"/>
            </a:avLst>
          </a:prstGeom>
          <a:solidFill>
            <a:srgbClr val="13294B"/>
          </a:solidFill>
          <a:ln/>
        </p:spPr>
        <p:txBody>
          <a:bodyPr/>
          <a:p/>
        </p:txBody>
      </p:sp>
      <p:sp>
        <p:nvSpPr>
          <p:cNvPr id="30" name="Text 28"/>
          <p:cNvSpPr txBox="1"/>
          <p:nvPr/>
        </p:nvSpPr>
        <p:spPr>
          <a:xfrm>
            <a:off x="8275320" y="1764792"/>
            <a:ext cx="321868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Paper 3 • 2022</a:t>
            </a:r>
            <a:endParaRPr lang="en-US" sz="1000" dirty="0"/>
          </a:p>
        </p:txBody>
      </p:sp>
      <p:sp>
        <p:nvSpPr>
          <p:cNvPr id="31" name="Text 29"/>
          <p:cNvSpPr txBox="1"/>
          <p:nvPr/>
        </p:nvSpPr>
        <p:spPr>
          <a:xfrm>
            <a:off x="8275320" y="2157984"/>
            <a:ext cx="3218688" cy="502920"/>
          </a:xfrm>
          <a:prstGeom prst="rect">
            <a:avLst/>
          </a:prstGeom>
          <a:noFill/>
          <a:ln/>
        </p:spPr>
        <p:txBody>
          <a:bodyPr wrap="square" lIns="0" tIns="0" rIns="0" bIns="0" rtlCol="0" anchor="t"/>
          <a:lstStyle/>
          <a:p>
            <a:pPr algn="l" indent="0" marL="0">
              <a:buNone/>
            </a:pPr>
            <a:r>
              <a:rPr lang="en-US" sz="1450" b="1" dirty="0">
                <a:solidFill>
                  <a:srgbClr val="0B1F3A"/>
                </a:solidFill>
                <a:latin typeface="Cambria" pitchFamily="34" charset="0"/>
                <a:ea typeface="Cambria" pitchFamily="34" charset="-122"/>
                <a:cs typeface="Cambria" pitchFamily="34" charset="-120"/>
              </a:rPr>
              <a:t>Blanchard et al. — IEEE JBHI</a:t>
            </a:r>
            <a:endParaRPr lang="en-US" sz="1450" dirty="0"/>
          </a:p>
        </p:txBody>
      </p:sp>
      <p:sp>
        <p:nvSpPr>
          <p:cNvPr id="32" name="Text 30"/>
          <p:cNvSpPr txBox="1"/>
          <p:nvPr/>
        </p:nvSpPr>
        <p:spPr>
          <a:xfrm>
            <a:off x="8275320" y="274320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METHOD</a:t>
            </a:r>
            <a:endParaRPr lang="en-US" sz="950" dirty="0"/>
          </a:p>
        </p:txBody>
      </p:sp>
      <p:sp>
        <p:nvSpPr>
          <p:cNvPr id="33" name="Text 31"/>
          <p:cNvSpPr txBox="1"/>
          <p:nvPr/>
        </p:nvSpPr>
        <p:spPr>
          <a:xfrm>
            <a:off x="8275320" y="2962656"/>
            <a:ext cx="3218688" cy="56692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CNN with keyword-constrained loss on the NCI SEER pathology registry</a:t>
            </a:r>
            <a:endParaRPr lang="en-US" sz="1050" dirty="0"/>
          </a:p>
        </p:txBody>
      </p:sp>
      <p:sp>
        <p:nvSpPr>
          <p:cNvPr id="34" name="Text 32"/>
          <p:cNvSpPr txBox="1"/>
          <p:nvPr/>
        </p:nvSpPr>
        <p:spPr>
          <a:xfrm>
            <a:off x="8275320" y="365760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KEY FINDING</a:t>
            </a:r>
            <a:endParaRPr lang="en-US" sz="950" dirty="0"/>
          </a:p>
        </p:txBody>
      </p:sp>
      <p:sp>
        <p:nvSpPr>
          <p:cNvPr id="35" name="Text 33"/>
          <p:cNvSpPr txBox="1"/>
          <p:nvPr/>
        </p:nvSpPr>
        <p:spPr>
          <a:xfrm>
            <a:off x="8275320" y="3877056"/>
            <a:ext cx="3218688" cy="658368"/>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Keyword injection improved macro F1 and recall on rare classes without hurting majority performance.</a:t>
            </a:r>
            <a:endParaRPr lang="en-US" sz="1050" dirty="0"/>
          </a:p>
        </p:txBody>
      </p:sp>
      <p:sp>
        <p:nvSpPr>
          <p:cNvPr id="36" name="Text 34"/>
          <p:cNvSpPr txBox="1"/>
          <p:nvPr/>
        </p:nvSpPr>
        <p:spPr>
          <a:xfrm>
            <a:off x="8275320" y="4663440"/>
            <a:ext cx="3218688" cy="219456"/>
          </a:xfrm>
          <a:prstGeom prst="rect">
            <a:avLst/>
          </a:prstGeom>
          <a:noFill/>
          <a:ln/>
        </p:spPr>
        <p:txBody>
          <a:bodyPr wrap="square" lIns="0" tIns="0" rIns="0" bIns="0" rtlCol="0" anchor="ctr"/>
          <a:lstStyle/>
          <a:p>
            <a:pPr algn="l" indent="0" marL="0">
              <a:buNone/>
            </a:pPr>
            <a:r>
              <a:rPr lang="en-US" sz="950" b="1" spc="50" kern="0" dirty="0">
                <a:solidFill>
                  <a:srgbClr val="13294B"/>
                </a:solidFill>
                <a:latin typeface="Calibri" pitchFamily="34" charset="0"/>
                <a:ea typeface="Calibri" pitchFamily="34" charset="-122"/>
                <a:cs typeface="Calibri" pitchFamily="34" charset="-120"/>
              </a:rPr>
              <a:t>RELEVANCE TO THIS PROJECT</a:t>
            </a:r>
            <a:endParaRPr lang="en-US" sz="950" dirty="0"/>
          </a:p>
        </p:txBody>
      </p:sp>
      <p:sp>
        <p:nvSpPr>
          <p:cNvPr id="37" name="Text 35"/>
          <p:cNvSpPr txBox="1"/>
          <p:nvPr/>
        </p:nvSpPr>
        <p:spPr>
          <a:xfrm>
            <a:off x="8275320" y="4882896"/>
            <a:ext cx="3218688" cy="731520"/>
          </a:xfrm>
          <a:prstGeom prst="rect">
            <a:avLst/>
          </a:prstGeom>
          <a:noFill/>
          <a:ln/>
        </p:spPr>
        <p:txBody>
          <a:bodyPr wrap="square" lIns="0" tIns="0" rIns="0" bIns="0" rtlCol="0" anchor="t"/>
          <a:lstStyle/>
          <a:p>
            <a:pPr algn="l" indent="0" marL="0">
              <a:lnSpc>
                <a:spcPct val="112000"/>
              </a:lnSpc>
              <a:buNone/>
            </a:pPr>
            <a:r>
              <a:rPr lang="en-US" sz="1050" dirty="0">
                <a:solidFill>
                  <a:srgbClr val="16213E"/>
                </a:solidFill>
                <a:latin typeface="Calibri" pitchFamily="34" charset="0"/>
                <a:ea typeface="Calibri" pitchFamily="34" charset="-122"/>
                <a:cs typeface="Calibri" pitchFamily="34" charset="-120"/>
              </a:rPr>
              <a:t>Justifies using TF-IDF keyword / n-gram weighting to preserve signal for rare specialty classes.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Dataset Overview</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5 of 19</a:t>
            </a:r>
          </a:p>
        </p:txBody>
      </p:sp>
      <p:sp>
        <p:nvSpPr>
          <p:cNvPr id="8" name="Shape 6"/>
          <p:cNvSpPr/>
          <p:nvPr/>
        </p:nvSpPr>
        <p:spPr>
          <a:xfrm>
            <a:off x="457200" y="1508760"/>
            <a:ext cx="11274552" cy="1417320"/>
          </a:xfrm>
          <a:prstGeom prst="roundRect">
            <a:avLst>
              <a:gd name="adj" fmla="val 5806"/>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Text 7"/>
          <p:cNvSpPr txBox="1"/>
          <p:nvPr/>
        </p:nvSpPr>
        <p:spPr>
          <a:xfrm>
            <a:off x="777240" y="1691640"/>
            <a:ext cx="7772400" cy="365760"/>
          </a:xfrm>
          <a:prstGeom prst="rect">
            <a:avLst/>
          </a:prstGeom>
          <a:noFill/>
          <a:ln/>
        </p:spPr>
        <p:txBody>
          <a:bodyPr wrap="square" lIns="0" tIns="0" rIns="0" bIns="0" rtlCol="0" anchor="ctr"/>
          <a:lstStyle/>
          <a:p>
            <a:pPr indent="0" marL="0">
              <a:buNone/>
            </a:pPr>
            <a:r>
              <a:rPr lang="en-US" sz="1600" b="1" dirty="0">
                <a:solidFill>
                  <a:srgbClr val="0B1F3A"/>
                </a:solidFill>
                <a:latin typeface="Cambria" pitchFamily="34" charset="0"/>
                <a:ea typeface="Cambria" pitchFamily="34" charset="-122"/>
                <a:cs typeface="Cambria" pitchFamily="34" charset="-120"/>
              </a:rPr>
              <a:t>Kaggle Medical Transcriptions (MTSamples) Dataset</a:t>
            </a:r>
            <a:endParaRPr lang="en-US" sz="1600" dirty="0"/>
          </a:p>
        </p:txBody>
      </p:sp>
      <p:sp>
        <p:nvSpPr>
          <p:cNvPr id="10" name="Text 8"/>
          <p:cNvSpPr txBox="1"/>
          <p:nvPr/>
        </p:nvSpPr>
        <p:spPr>
          <a:xfrm>
            <a:off x="777240" y="2084832"/>
            <a:ext cx="77724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Source: kaggle.com/datasets/tboyle10/medicaltranscriptions</a:t>
            </a:r>
            <a:endParaRPr lang="en-US" sz="1100" dirty="0"/>
          </a:p>
        </p:txBody>
      </p:sp>
      <p:sp>
        <p:nvSpPr>
          <p:cNvPr id="11" name="Text 9"/>
          <p:cNvSpPr txBox="1"/>
          <p:nvPr/>
        </p:nvSpPr>
        <p:spPr>
          <a:xfrm>
            <a:off x="777240" y="2395728"/>
            <a:ext cx="7680960" cy="457200"/>
          </a:xfrm>
          <a:prstGeom prst="rect">
            <a:avLst/>
          </a:prstGeom>
          <a:noFill/>
          <a:ln/>
        </p:spPr>
        <p:txBody>
          <a:bodyPr wrap="square" lIns="0" tIns="0" rIns="0" bIns="0" rtlCol="0" anchor="ctr"/>
          <a:lstStyle/>
          <a:p>
            <a:pPr indent="0" marL="0">
              <a:lnSpc>
                <a:spcPct val="110000"/>
              </a:lnSpc>
              <a:buNone/>
            </a:pPr>
            <a:r>
              <a:rPr lang="en-US" sz="1100" dirty="0">
                <a:solidFill>
                  <a:srgbClr val="16213E"/>
                </a:solidFill>
                <a:latin typeface="Calibri" pitchFamily="34" charset="0"/>
                <a:ea typeface="Calibri" pitchFamily="34" charset="-122"/>
                <a:cs typeface="Calibri" pitchFamily="34" charset="-120"/>
              </a:rPr>
              <a:t>Authentic clinical dictations covering patient histories, diagnostic evaluations, physical exams, and surgical procedures across many healthcare sub-disciplines.</a:t>
            </a:r>
            <a:endParaRPr lang="en-US" sz="1100" dirty="0"/>
          </a:p>
        </p:txBody>
      </p:sp>
      <p:sp>
        <p:nvSpPr>
          <p:cNvPr id="12" name="Text 10"/>
          <p:cNvSpPr txBox="1"/>
          <p:nvPr/>
        </p:nvSpPr>
        <p:spPr>
          <a:xfrm>
            <a:off x="873252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4,999</a:t>
            </a:r>
            <a:endParaRPr lang="en-US" sz="2400" dirty="0"/>
          </a:p>
        </p:txBody>
      </p:sp>
      <p:sp>
        <p:nvSpPr>
          <p:cNvPr id="13" name="Text 11"/>
          <p:cNvSpPr txBox="1"/>
          <p:nvPr/>
        </p:nvSpPr>
        <p:spPr>
          <a:xfrm>
            <a:off x="859536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Clinical Records</a:t>
            </a:r>
            <a:endParaRPr lang="en-US" sz="800" dirty="0"/>
          </a:p>
        </p:txBody>
      </p:sp>
      <p:sp>
        <p:nvSpPr>
          <p:cNvPr id="14" name="Text 12"/>
          <p:cNvSpPr txBox="1"/>
          <p:nvPr/>
        </p:nvSpPr>
        <p:spPr>
          <a:xfrm>
            <a:off x="978408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40</a:t>
            </a:r>
            <a:endParaRPr lang="en-US" sz="2400" dirty="0"/>
          </a:p>
        </p:txBody>
      </p:sp>
      <p:sp>
        <p:nvSpPr>
          <p:cNvPr id="15" name="Text 13"/>
          <p:cNvSpPr txBox="1"/>
          <p:nvPr/>
        </p:nvSpPr>
        <p:spPr>
          <a:xfrm>
            <a:off x="964692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Medical Specialties</a:t>
            </a:r>
            <a:endParaRPr lang="en-US" sz="800" dirty="0"/>
          </a:p>
        </p:txBody>
      </p:sp>
      <p:sp>
        <p:nvSpPr>
          <p:cNvPr id="16" name="Text 14"/>
          <p:cNvSpPr txBox="1"/>
          <p:nvPr/>
        </p:nvSpPr>
        <p:spPr>
          <a:xfrm>
            <a:off x="10835640" y="1572768"/>
            <a:ext cx="960120" cy="502920"/>
          </a:xfrm>
          <a:prstGeom prst="rect">
            <a:avLst/>
          </a:prstGeom>
          <a:noFill/>
          <a:ln/>
        </p:spPr>
        <p:txBody>
          <a:bodyPr wrap="square" lIns="0" tIns="0" rIns="0" bIns="0" rtlCol="0" anchor="ctr"/>
          <a:lstStyle/>
          <a:p>
            <a:pPr algn="ctr" indent="0" marL="0">
              <a:buNone/>
            </a:pPr>
            <a:r>
              <a:rPr lang="en-US" sz="2400" b="1" dirty="0">
                <a:solidFill>
                  <a:srgbClr val="0E7C86"/>
                </a:solidFill>
                <a:latin typeface="Cambria" pitchFamily="34" charset="0"/>
                <a:ea typeface="Cambria" pitchFamily="34" charset="-122"/>
                <a:cs typeface="Cambria" pitchFamily="34" charset="-120"/>
              </a:rPr>
              <a:t>6</a:t>
            </a:r>
            <a:endParaRPr lang="en-US" sz="2400" dirty="0"/>
          </a:p>
        </p:txBody>
      </p:sp>
      <p:sp>
        <p:nvSpPr>
          <p:cNvPr id="17" name="Text 15"/>
          <p:cNvSpPr txBox="1"/>
          <p:nvPr/>
        </p:nvSpPr>
        <p:spPr>
          <a:xfrm>
            <a:off x="10698480" y="2084832"/>
            <a:ext cx="1234440" cy="502920"/>
          </a:xfrm>
          <a:prstGeom prst="rect">
            <a:avLst/>
          </a:prstGeom>
          <a:noFill/>
          <a:ln/>
        </p:spPr>
        <p:txBody>
          <a:bodyPr wrap="square" lIns="0" tIns="0" rIns="0" bIns="0" rtlCol="0" anchor="t"/>
          <a:lstStyle/>
          <a:p>
            <a:pPr algn="ctr" indent="0" marL="0">
              <a:lnSpc>
                <a:spcPct val="100000"/>
              </a:lnSpc>
              <a:buNone/>
            </a:pPr>
            <a:r>
              <a:rPr lang="en-US" sz="800" dirty="0">
                <a:solidFill>
                  <a:srgbClr val="5B6472"/>
                </a:solidFill>
                <a:latin typeface="Calibri" pitchFamily="34" charset="0"/>
                <a:ea typeface="Calibri" pitchFamily="34" charset="-122"/>
                <a:cs typeface="Calibri" pitchFamily="34" charset="-120"/>
              </a:rPr>
              <a:t>Dataset Columns</a:t>
            </a:r>
            <a:endParaRPr lang="en-US" sz="800" dirty="0"/>
          </a:p>
        </p:txBody>
      </p:sp>
      <p:sp>
        <p:nvSpPr>
          <p:cNvPr id="18" name="Text 16"/>
          <p:cNvSpPr txBox="1"/>
          <p:nvPr/>
        </p:nvSpPr>
        <p:spPr>
          <a:xfrm>
            <a:off x="457200" y="3200400"/>
            <a:ext cx="4572000" cy="320040"/>
          </a:xfrm>
          <a:prstGeom prst="rect">
            <a:avLst/>
          </a:prstGeom>
          <a:noFill/>
          <a:ln/>
        </p:spPr>
        <p:txBody>
          <a:bodyPr wrap="square" lIns="0" tIns="0" rIns="0" bIns="0" rtlCol="0" anchor="ctr"/>
          <a:lstStyle/>
          <a:p>
            <a:pPr indent="0" marL="0">
              <a:buNone/>
            </a:pPr>
            <a:r>
              <a:rPr lang="en-US" sz="1450" b="1" dirty="0">
                <a:solidFill>
                  <a:srgbClr val="0B1F3A"/>
                </a:solidFill>
                <a:latin typeface="Cambria" pitchFamily="34" charset="0"/>
                <a:ea typeface="Cambria" pitchFamily="34" charset="-122"/>
                <a:cs typeface="Cambria" pitchFamily="34" charset="-120"/>
              </a:rPr>
              <a:t>Dataset Columns</a:t>
            </a:r>
            <a:endParaRPr lang="en-US" sz="1450" dirty="0"/>
          </a:p>
        </p:txBody>
      </p:sp>
      <p:sp>
        <p:nvSpPr>
          <p:cNvPr id="19" name="Shape 17"/>
          <p:cNvSpPr/>
          <p:nvPr/>
        </p:nvSpPr>
        <p:spPr>
          <a:xfrm>
            <a:off x="457200" y="3611880"/>
            <a:ext cx="5532120" cy="384048"/>
          </a:xfrm>
          <a:prstGeom prst="rect">
            <a:avLst/>
          </a:prstGeom>
          <a:solidFill>
            <a:srgbClr val="EEF2F8"/>
          </a:solidFill>
          <a:ln/>
        </p:spPr>
        <p:txBody>
          <a:bodyPr/>
          <a:p/>
        </p:txBody>
      </p:sp>
      <p:sp>
        <p:nvSpPr>
          <p:cNvPr id="20" name="Text 18"/>
          <p:cNvSpPr txBox="1"/>
          <p:nvPr/>
        </p:nvSpPr>
        <p:spPr>
          <a:xfrm>
            <a:off x="621792" y="3611880"/>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Unnamed: 0</a:t>
            </a:r>
            <a:endParaRPr lang="en-US" sz="1050" dirty="0"/>
          </a:p>
        </p:txBody>
      </p:sp>
      <p:sp>
        <p:nvSpPr>
          <p:cNvPr id="21" name="Text 19"/>
          <p:cNvSpPr txBox="1"/>
          <p:nvPr/>
        </p:nvSpPr>
        <p:spPr>
          <a:xfrm>
            <a:off x="2377440" y="3611880"/>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Record index / row identifier</a:t>
            </a:r>
            <a:endParaRPr lang="en-US" sz="970" dirty="0"/>
          </a:p>
        </p:txBody>
      </p:sp>
      <p:sp>
        <p:nvSpPr>
          <p:cNvPr id="22" name="Text 20"/>
          <p:cNvSpPr txBox="1"/>
          <p:nvPr/>
        </p:nvSpPr>
        <p:spPr>
          <a:xfrm>
            <a:off x="621792" y="3995928"/>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description</a:t>
            </a:r>
            <a:endParaRPr lang="en-US" sz="1050" dirty="0"/>
          </a:p>
        </p:txBody>
      </p:sp>
      <p:sp>
        <p:nvSpPr>
          <p:cNvPr id="23" name="Text 21"/>
          <p:cNvSpPr txBox="1"/>
          <p:nvPr/>
        </p:nvSpPr>
        <p:spPr>
          <a:xfrm>
            <a:off x="2377440" y="3995928"/>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Short one–two sentence clinical abstract</a:t>
            </a:r>
            <a:endParaRPr lang="en-US" sz="970" dirty="0"/>
          </a:p>
        </p:txBody>
      </p:sp>
      <p:sp>
        <p:nvSpPr>
          <p:cNvPr id="24" name="Shape 22"/>
          <p:cNvSpPr/>
          <p:nvPr/>
        </p:nvSpPr>
        <p:spPr>
          <a:xfrm>
            <a:off x="457200" y="4379976"/>
            <a:ext cx="5532120" cy="384048"/>
          </a:xfrm>
          <a:prstGeom prst="rect">
            <a:avLst/>
          </a:prstGeom>
          <a:solidFill>
            <a:srgbClr val="EEF2F8"/>
          </a:solidFill>
          <a:ln/>
        </p:spPr>
        <p:txBody>
          <a:bodyPr/>
          <a:p/>
        </p:txBody>
      </p:sp>
      <p:sp>
        <p:nvSpPr>
          <p:cNvPr id="25" name="Text 23"/>
          <p:cNvSpPr txBox="1"/>
          <p:nvPr/>
        </p:nvSpPr>
        <p:spPr>
          <a:xfrm>
            <a:off x="621792" y="4379976"/>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medical_specialty</a:t>
            </a:r>
            <a:endParaRPr lang="en-US" sz="1050" dirty="0"/>
          </a:p>
        </p:txBody>
      </p:sp>
      <p:sp>
        <p:nvSpPr>
          <p:cNvPr id="26" name="Text 24"/>
          <p:cNvSpPr txBox="1"/>
          <p:nvPr/>
        </p:nvSpPr>
        <p:spPr>
          <a:xfrm>
            <a:off x="2377440" y="4379976"/>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Target label — 40 specialty classes</a:t>
            </a:r>
            <a:endParaRPr lang="en-US" sz="970" dirty="0"/>
          </a:p>
        </p:txBody>
      </p:sp>
      <p:sp>
        <p:nvSpPr>
          <p:cNvPr id="27" name="Text 25"/>
          <p:cNvSpPr txBox="1"/>
          <p:nvPr/>
        </p:nvSpPr>
        <p:spPr>
          <a:xfrm>
            <a:off x="621792" y="4764024"/>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sample_name</a:t>
            </a:r>
            <a:endParaRPr lang="en-US" sz="1050" dirty="0"/>
          </a:p>
        </p:txBody>
      </p:sp>
      <p:sp>
        <p:nvSpPr>
          <p:cNvPr id="28" name="Text 26"/>
          <p:cNvSpPr txBox="1"/>
          <p:nvPr/>
        </p:nvSpPr>
        <p:spPr>
          <a:xfrm>
            <a:off x="2377440" y="4764024"/>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Dictation / report title</a:t>
            </a:r>
            <a:endParaRPr lang="en-US" sz="970" dirty="0"/>
          </a:p>
        </p:txBody>
      </p:sp>
      <p:sp>
        <p:nvSpPr>
          <p:cNvPr id="29" name="Shape 27"/>
          <p:cNvSpPr/>
          <p:nvPr/>
        </p:nvSpPr>
        <p:spPr>
          <a:xfrm>
            <a:off x="457200" y="5148072"/>
            <a:ext cx="5532120" cy="384048"/>
          </a:xfrm>
          <a:prstGeom prst="rect">
            <a:avLst/>
          </a:prstGeom>
          <a:solidFill>
            <a:srgbClr val="EEF2F8"/>
          </a:solidFill>
          <a:ln/>
        </p:spPr>
        <p:txBody>
          <a:bodyPr/>
          <a:p/>
        </p:txBody>
      </p:sp>
      <p:sp>
        <p:nvSpPr>
          <p:cNvPr id="30" name="Text 28"/>
          <p:cNvSpPr txBox="1"/>
          <p:nvPr/>
        </p:nvSpPr>
        <p:spPr>
          <a:xfrm>
            <a:off x="621792" y="5148072"/>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transcription</a:t>
            </a:r>
            <a:endParaRPr lang="en-US" sz="1050" dirty="0"/>
          </a:p>
        </p:txBody>
      </p:sp>
      <p:sp>
        <p:nvSpPr>
          <p:cNvPr id="31" name="Text 29"/>
          <p:cNvSpPr txBox="1"/>
          <p:nvPr/>
        </p:nvSpPr>
        <p:spPr>
          <a:xfrm>
            <a:off x="2377440" y="5148072"/>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Primary clinical narrative (input feature)</a:t>
            </a:r>
            <a:endParaRPr lang="en-US" sz="970" dirty="0"/>
          </a:p>
        </p:txBody>
      </p:sp>
      <p:sp>
        <p:nvSpPr>
          <p:cNvPr id="32" name="Text 30"/>
          <p:cNvSpPr txBox="1"/>
          <p:nvPr/>
        </p:nvSpPr>
        <p:spPr>
          <a:xfrm>
            <a:off x="621792" y="5532120"/>
            <a:ext cx="1737360" cy="384048"/>
          </a:xfrm>
          <a:prstGeom prst="rect">
            <a:avLst/>
          </a:prstGeom>
          <a:noFill/>
          <a:ln/>
        </p:spPr>
        <p:txBody>
          <a:bodyPr wrap="square" lIns="0" tIns="0" rIns="0" bIns="0" rtlCol="0" anchor="ctr"/>
          <a:lstStyle/>
          <a:p>
            <a:pPr indent="0" marL="0">
              <a:buNone/>
            </a:pPr>
            <a:r>
              <a:rPr lang="en-US" sz="1050" b="1" dirty="0">
                <a:solidFill>
                  <a:srgbClr val="0B1F3A"/>
                </a:solidFill>
                <a:latin typeface="Calibri" pitchFamily="34" charset="0"/>
                <a:ea typeface="Calibri" pitchFamily="34" charset="-122"/>
                <a:cs typeface="Calibri" pitchFamily="34" charset="-120"/>
              </a:rPr>
              <a:t>keywords</a:t>
            </a:r>
            <a:endParaRPr lang="en-US" sz="1050" dirty="0"/>
          </a:p>
        </p:txBody>
      </p:sp>
      <p:sp>
        <p:nvSpPr>
          <p:cNvPr id="33" name="Text 31"/>
          <p:cNvSpPr txBox="1"/>
          <p:nvPr/>
        </p:nvSpPr>
        <p:spPr>
          <a:xfrm>
            <a:off x="2377440" y="5532120"/>
            <a:ext cx="3566160" cy="384048"/>
          </a:xfrm>
          <a:prstGeom prst="rect">
            <a:avLst/>
          </a:prstGeom>
          <a:noFill/>
          <a:ln/>
        </p:spPr>
        <p:txBody>
          <a:bodyPr wrap="square" lIns="0" tIns="0" rIns="0" bIns="0" rtlCol="0" anchor="ctr"/>
          <a:lstStyle/>
          <a:p>
            <a:pPr indent="0" marL="0">
              <a:buNone/>
            </a:pPr>
            <a:r>
              <a:rPr lang="en-US" sz="970" dirty="0">
                <a:solidFill>
                  <a:srgbClr val="16213E"/>
                </a:solidFill>
                <a:latin typeface="Calibri" pitchFamily="34" charset="0"/>
                <a:ea typeface="Calibri" pitchFamily="34" charset="-122"/>
                <a:cs typeface="Calibri" pitchFamily="34" charset="-120"/>
              </a:rPr>
              <a:t>Comma-delimited extracted clinical terms</a:t>
            </a:r>
            <a:endParaRPr lang="en-US" sz="970" dirty="0"/>
          </a:p>
        </p:txBody>
      </p:sp>
      <p:sp>
        <p:nvSpPr>
          <p:cNvPr id="34" name="Shape 32"/>
          <p:cNvSpPr/>
          <p:nvPr/>
        </p:nvSpPr>
        <p:spPr>
          <a:xfrm>
            <a:off x="6355080" y="3200400"/>
            <a:ext cx="5376672" cy="1042416"/>
          </a:xfrm>
          <a:prstGeom prst="roundRect">
            <a:avLst>
              <a:gd name="adj" fmla="val 7895"/>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5" name="Shape 33"/>
          <p:cNvSpPr/>
          <p:nvPr/>
        </p:nvSpPr>
        <p:spPr>
          <a:xfrm>
            <a:off x="6675120" y="3493008"/>
            <a:ext cx="457200" cy="457200"/>
          </a:xfrm>
          <a:prstGeom prst="ellipse">
            <a:avLst/>
          </a:prstGeom>
          <a:solidFill>
            <a:srgbClr val="0E7C86"/>
          </a:solidFill>
          <a:ln/>
        </p:spPr>
        <p:txBody>
          <a:bodyPr/>
          <a:p/>
        </p:txBody>
      </p:sp>
      <p:sp>
        <p:nvSpPr>
          <p:cNvPr id="36" name="Text 34"/>
          <p:cNvSpPr txBox="1"/>
          <p:nvPr/>
        </p:nvSpPr>
        <p:spPr>
          <a:xfrm>
            <a:off x="6675120" y="3493008"/>
            <a:ext cx="457200" cy="4572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a:t>
            </a:r>
            <a:endParaRPr lang="en-US" sz="1000" dirty="0"/>
          </a:p>
        </p:txBody>
      </p:sp>
      <p:sp>
        <p:nvSpPr>
          <p:cNvPr id="37" name="Text 35"/>
          <p:cNvSpPr txBox="1"/>
          <p:nvPr/>
        </p:nvSpPr>
        <p:spPr>
          <a:xfrm>
            <a:off x="7269480" y="3346704"/>
            <a:ext cx="4297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Input Variable</a:t>
            </a:r>
            <a:endParaRPr lang="en-US" sz="1100" dirty="0"/>
          </a:p>
        </p:txBody>
      </p:sp>
      <p:sp>
        <p:nvSpPr>
          <p:cNvPr id="38" name="Text 36"/>
          <p:cNvSpPr txBox="1"/>
          <p:nvPr/>
        </p:nvSpPr>
        <p:spPr>
          <a:xfrm>
            <a:off x="7269480" y="3611880"/>
            <a:ext cx="4297680" cy="45720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transcription — the primary clinical narrative text</a:t>
            </a:r>
            <a:endParaRPr lang="en-US" sz="1050" dirty="0"/>
          </a:p>
        </p:txBody>
      </p:sp>
      <p:sp>
        <p:nvSpPr>
          <p:cNvPr id="39" name="Shape 37"/>
          <p:cNvSpPr/>
          <p:nvPr/>
        </p:nvSpPr>
        <p:spPr>
          <a:xfrm>
            <a:off x="6355080" y="4370832"/>
            <a:ext cx="5376672" cy="1042416"/>
          </a:xfrm>
          <a:prstGeom prst="roundRect">
            <a:avLst>
              <a:gd name="adj" fmla="val 7895"/>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40" name="Shape 38"/>
          <p:cNvSpPr/>
          <p:nvPr/>
        </p:nvSpPr>
        <p:spPr>
          <a:xfrm>
            <a:off x="6675120" y="4663440"/>
            <a:ext cx="457200" cy="457200"/>
          </a:xfrm>
          <a:prstGeom prst="ellipse">
            <a:avLst/>
          </a:prstGeom>
          <a:solidFill>
            <a:srgbClr val="6C4AB6"/>
          </a:solidFill>
          <a:ln/>
        </p:spPr>
        <p:txBody>
          <a:bodyPr/>
          <a:p/>
        </p:txBody>
      </p:sp>
      <p:sp>
        <p:nvSpPr>
          <p:cNvPr id="41" name="Text 39"/>
          <p:cNvSpPr txBox="1"/>
          <p:nvPr/>
        </p:nvSpPr>
        <p:spPr>
          <a:xfrm>
            <a:off x="6675120" y="466344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a:t>
            </a:r>
            <a:endParaRPr lang="en-US" sz="1300" dirty="0"/>
          </a:p>
        </p:txBody>
      </p:sp>
      <p:sp>
        <p:nvSpPr>
          <p:cNvPr id="42" name="Text 40"/>
          <p:cNvSpPr txBox="1"/>
          <p:nvPr/>
        </p:nvSpPr>
        <p:spPr>
          <a:xfrm>
            <a:off x="7269480" y="4517136"/>
            <a:ext cx="4297680" cy="274320"/>
          </a:xfrm>
          <a:prstGeom prst="rect">
            <a:avLst/>
          </a:prstGeom>
          <a:noFill/>
          <a:ln/>
        </p:spPr>
        <p:txBody>
          <a:bodyPr wrap="square" lIns="0" tIns="0" rIns="0" bIns="0" rtlCol="0" anchor="ctr"/>
          <a:lstStyle/>
          <a:p>
            <a:pPr indent="0" marL="0">
              <a:buNone/>
            </a:pPr>
            <a:r>
              <a:rPr lang="en-US" sz="1100" b="1" dirty="0">
                <a:solidFill>
                  <a:srgbClr val="0B1F3A"/>
                </a:solidFill>
                <a:latin typeface="Calibri" pitchFamily="34" charset="0"/>
                <a:ea typeface="Calibri" pitchFamily="34" charset="-122"/>
                <a:cs typeface="Calibri" pitchFamily="34" charset="-120"/>
              </a:rPr>
              <a:t>Target Variable</a:t>
            </a:r>
            <a:endParaRPr lang="en-US" sz="1100" dirty="0"/>
          </a:p>
        </p:txBody>
      </p:sp>
      <p:sp>
        <p:nvSpPr>
          <p:cNvPr id="43" name="Text 41"/>
          <p:cNvSpPr txBox="1"/>
          <p:nvPr/>
        </p:nvSpPr>
        <p:spPr>
          <a:xfrm>
            <a:off x="7269480" y="4782312"/>
            <a:ext cx="4297680" cy="45720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medical_specialty — 40 unique clinical specialty classes</a:t>
            </a:r>
            <a:endParaRPr lang="en-US" sz="1050" dirty="0"/>
          </a:p>
        </p:txBody>
      </p:sp>
      <p:sp>
        <p:nvSpPr>
          <p:cNvPr id="44" name="Shape 42"/>
          <p:cNvSpPr/>
          <p:nvPr/>
        </p:nvSpPr>
        <p:spPr>
          <a:xfrm>
            <a:off x="6355080" y="5559552"/>
            <a:ext cx="5376672" cy="777240"/>
          </a:xfrm>
          <a:prstGeom prst="roundRect">
            <a:avLst>
              <a:gd name="adj" fmla="val 10588"/>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45" name="Text 43"/>
          <p:cNvSpPr txBox="1"/>
          <p:nvPr/>
        </p:nvSpPr>
        <p:spPr>
          <a:xfrm>
            <a:off x="6583680" y="5559552"/>
            <a:ext cx="4937760" cy="777240"/>
          </a:xfrm>
          <a:prstGeom prst="rect">
            <a:avLst/>
          </a:prstGeom>
          <a:noFill/>
          <a:ln/>
        </p:spPr>
        <p:txBody>
          <a:bodyPr wrap="square" lIns="0" tIns="0" rIns="0" bIns="0" rtlCol="0" anchor="ctr"/>
          <a:lstStyle/>
          <a:p>
            <a:pPr indent="0" marL="0">
              <a:lnSpc>
                <a:spcPct val="110000"/>
              </a:lnSpc>
              <a:buNone/>
            </a:pPr>
            <a:r>
              <a:rPr lang="en-US" sz="1000" i="1" dirty="0">
                <a:solidFill>
                  <a:srgbClr val="5B6472"/>
                </a:solidFill>
                <a:latin typeface="Calibri" pitchFamily="34" charset="0"/>
                <a:ea typeface="Calibri" pitchFamily="34" charset="-122"/>
                <a:cs typeface="Calibri" pitchFamily="34" charset="-120"/>
              </a:rPr>
              <a:t>Sparsity: transcription is 99.3% complete (33 missing); medical_specialty has zero missing values.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Statistical Analysis of the Dataset</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6 of 19</a:t>
            </a:r>
          </a:p>
        </p:txBody>
      </p:sp>
      <p:sp>
        <p:nvSpPr>
          <p:cNvPr id="8" name="Text 6"/>
          <p:cNvSpPr txBox="1"/>
          <p:nvPr/>
        </p:nvSpPr>
        <p:spPr>
          <a:xfrm>
            <a:off x="457200" y="1481328"/>
            <a:ext cx="3291840" cy="292608"/>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Libraries Used</a:t>
            </a:r>
            <a:endParaRPr lang="en-US" sz="1350" dirty="0"/>
          </a:p>
        </p:txBody>
      </p:sp>
      <p:sp>
        <p:nvSpPr>
          <p:cNvPr id="9" name="Shape 7"/>
          <p:cNvSpPr/>
          <p:nvPr/>
        </p:nvSpPr>
        <p:spPr>
          <a:xfrm>
            <a:off x="457200" y="1828800"/>
            <a:ext cx="1261872" cy="365760"/>
          </a:xfrm>
          <a:prstGeom prst="roundRect">
            <a:avLst>
              <a:gd name="adj" fmla="val 50000"/>
            </a:avLst>
          </a:prstGeom>
          <a:solidFill>
            <a:srgbClr val="0B1F3A"/>
          </a:solidFill>
          <a:ln/>
        </p:spPr>
        <p:txBody>
          <a:bodyPr/>
          <a:p/>
        </p:txBody>
      </p:sp>
      <p:sp>
        <p:nvSpPr>
          <p:cNvPr id="10" name="Text 8"/>
          <p:cNvSpPr txBox="1"/>
          <p:nvPr/>
        </p:nvSpPr>
        <p:spPr>
          <a:xfrm>
            <a:off x="457200" y="1828800"/>
            <a:ext cx="1261872"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pandas</a:t>
            </a:r>
            <a:endParaRPr lang="en-US" sz="1100" dirty="0"/>
          </a:p>
        </p:txBody>
      </p:sp>
      <p:sp>
        <p:nvSpPr>
          <p:cNvPr id="11" name="Shape 9"/>
          <p:cNvSpPr/>
          <p:nvPr/>
        </p:nvSpPr>
        <p:spPr>
          <a:xfrm>
            <a:off x="1856232" y="1828800"/>
            <a:ext cx="1188720" cy="365760"/>
          </a:xfrm>
          <a:prstGeom prst="roundRect">
            <a:avLst>
              <a:gd name="adj" fmla="val 50000"/>
            </a:avLst>
          </a:prstGeom>
          <a:solidFill>
            <a:srgbClr val="0B1F3A"/>
          </a:solidFill>
          <a:ln/>
        </p:spPr>
        <p:txBody>
          <a:bodyPr/>
          <a:p/>
        </p:txBody>
      </p:sp>
      <p:sp>
        <p:nvSpPr>
          <p:cNvPr id="12" name="Text 10"/>
          <p:cNvSpPr txBox="1"/>
          <p:nvPr/>
        </p:nvSpPr>
        <p:spPr>
          <a:xfrm>
            <a:off x="1856232" y="1828800"/>
            <a:ext cx="1188720" cy="365760"/>
          </a:xfrm>
          <a:prstGeom prst="rect">
            <a:avLst/>
          </a:prstGeom>
          <a:noFill/>
          <a:ln/>
        </p:spPr>
        <p:txBody>
          <a:bodyPr wrap="square" lIns="0" tIns="0" rIns="0" bIns="0" rtlCol="0" anchor="ctr"/>
          <a:lstStyle/>
          <a:p>
            <a:pPr algn="ctr" indent="0" marL="0">
              <a:buNone/>
            </a:pPr>
            <a:r>
              <a:rPr lang="en-US" sz="1100" dirty="0">
                <a:solidFill>
                  <a:srgbClr val="FFFFFF"/>
                </a:solidFill>
                <a:latin typeface="Consolas" pitchFamily="34" charset="0"/>
                <a:ea typeface="Consolas" pitchFamily="34" charset="-122"/>
                <a:cs typeface="Consolas" pitchFamily="34" charset="-120"/>
              </a:rPr>
              <a:t>numpy</a:t>
            </a:r>
            <a:endParaRPr lang="en-US" sz="1100" dirty="0"/>
          </a:p>
        </p:txBody>
      </p:sp>
      <p:sp>
        <p:nvSpPr>
          <p:cNvPr id="13" name="Text 11"/>
          <p:cNvSpPr txBox="1"/>
          <p:nvPr/>
        </p:nvSpPr>
        <p:spPr>
          <a:xfrm>
            <a:off x="457200" y="2395728"/>
            <a:ext cx="3291840" cy="274320"/>
          </a:xfrm>
          <a:prstGeom prst="rect">
            <a:avLst/>
          </a:prstGeom>
          <a:noFill/>
          <a:ln/>
        </p:spPr>
        <p:txBody>
          <a:bodyPr wrap="square" lIns="0" tIns="0" rIns="0" bIns="0" rtlCol="0" anchor="ctr"/>
          <a:lstStyle/>
          <a:p>
            <a:pPr indent="0" marL="0">
              <a:buNone/>
            </a:pPr>
            <a:r>
              <a:rPr lang="en-US" sz="1350" b="1" dirty="0">
                <a:solidFill>
                  <a:srgbClr val="0B1F3A"/>
                </a:solidFill>
                <a:latin typeface="Cambria" pitchFamily="34" charset="0"/>
                <a:ea typeface="Cambria" pitchFamily="34" charset="-122"/>
                <a:cs typeface="Cambria" pitchFamily="34" charset="-120"/>
              </a:rPr>
              <a:t>Exploration Functions Applied</a:t>
            </a:r>
            <a:endParaRPr lang="en-US" sz="1350" dirty="0"/>
          </a:p>
        </p:txBody>
      </p:sp>
      <p:sp>
        <p:nvSpPr>
          <p:cNvPr id="14" name="Shape 12"/>
          <p:cNvSpPr/>
          <p:nvPr/>
        </p:nvSpPr>
        <p:spPr>
          <a:xfrm>
            <a:off x="457200" y="2743200"/>
            <a:ext cx="1600200" cy="365760"/>
          </a:xfrm>
          <a:prstGeom prst="roundRect">
            <a:avLst>
              <a:gd name="adj" fmla="val 20000"/>
            </a:avLst>
          </a:prstGeom>
          <a:solidFill>
            <a:srgbClr val="EEF2F8"/>
          </a:solidFill>
          <a:ln w="12700">
            <a:solidFill>
              <a:srgbClr val="0E7C86"/>
            </a:solidFill>
            <a:prstDash val="solid"/>
          </a:ln>
        </p:spPr>
        <p:txBody>
          <a:bodyPr/>
          <a:p/>
        </p:txBody>
      </p:sp>
      <p:sp>
        <p:nvSpPr>
          <p:cNvPr id="15" name="Text 13"/>
          <p:cNvSpPr txBox="1"/>
          <p:nvPr/>
        </p:nvSpPr>
        <p:spPr>
          <a:xfrm>
            <a:off x="457200"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shape</a:t>
            </a:r>
            <a:endParaRPr lang="en-US" sz="1050" dirty="0"/>
          </a:p>
        </p:txBody>
      </p:sp>
      <p:sp>
        <p:nvSpPr>
          <p:cNvPr id="16" name="Shape 14"/>
          <p:cNvSpPr/>
          <p:nvPr/>
        </p:nvSpPr>
        <p:spPr>
          <a:xfrm>
            <a:off x="2176272" y="2743200"/>
            <a:ext cx="1600200" cy="365760"/>
          </a:xfrm>
          <a:prstGeom prst="roundRect">
            <a:avLst>
              <a:gd name="adj" fmla="val 20000"/>
            </a:avLst>
          </a:prstGeom>
          <a:solidFill>
            <a:srgbClr val="EEF2F8"/>
          </a:solidFill>
          <a:ln w="12700">
            <a:solidFill>
              <a:srgbClr val="0E7C86"/>
            </a:solidFill>
            <a:prstDash val="solid"/>
          </a:ln>
        </p:spPr>
        <p:txBody>
          <a:bodyPr/>
          <a:p/>
        </p:txBody>
      </p:sp>
      <p:sp>
        <p:nvSpPr>
          <p:cNvPr id="17" name="Text 15"/>
          <p:cNvSpPr txBox="1"/>
          <p:nvPr/>
        </p:nvSpPr>
        <p:spPr>
          <a:xfrm>
            <a:off x="2176272"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.info()</a:t>
            </a:r>
            <a:endParaRPr lang="en-US" sz="1050" dirty="0"/>
          </a:p>
        </p:txBody>
      </p:sp>
      <p:sp>
        <p:nvSpPr>
          <p:cNvPr id="18" name="Shape 16"/>
          <p:cNvSpPr/>
          <p:nvPr/>
        </p:nvSpPr>
        <p:spPr>
          <a:xfrm>
            <a:off x="3895344" y="2743200"/>
            <a:ext cx="1600200" cy="365760"/>
          </a:xfrm>
          <a:prstGeom prst="roundRect">
            <a:avLst>
              <a:gd name="adj" fmla="val 20000"/>
            </a:avLst>
          </a:prstGeom>
          <a:solidFill>
            <a:srgbClr val="EEF2F8"/>
          </a:solidFill>
          <a:ln w="12700">
            <a:solidFill>
              <a:srgbClr val="0E7C86"/>
            </a:solidFill>
            <a:prstDash val="solid"/>
          </a:ln>
        </p:spPr>
        <p:txBody>
          <a:bodyPr/>
          <a:p/>
        </p:txBody>
      </p:sp>
      <p:sp>
        <p:nvSpPr>
          <p:cNvPr id="19" name="Text 17"/>
          <p:cNvSpPr txBox="1"/>
          <p:nvPr/>
        </p:nvSpPr>
        <p:spPr>
          <a:xfrm>
            <a:off x="3895344" y="2743200"/>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.dtypes</a:t>
            </a:r>
            <a:endParaRPr lang="en-US" sz="1050" dirty="0"/>
          </a:p>
        </p:txBody>
      </p:sp>
      <p:sp>
        <p:nvSpPr>
          <p:cNvPr id="20" name="Shape 18"/>
          <p:cNvSpPr/>
          <p:nvPr/>
        </p:nvSpPr>
        <p:spPr>
          <a:xfrm>
            <a:off x="457200" y="3163824"/>
            <a:ext cx="1600200" cy="365760"/>
          </a:xfrm>
          <a:prstGeom prst="roundRect">
            <a:avLst>
              <a:gd name="adj" fmla="val 20000"/>
            </a:avLst>
          </a:prstGeom>
          <a:solidFill>
            <a:srgbClr val="EEF2F8"/>
          </a:solidFill>
          <a:ln w="12700">
            <a:solidFill>
              <a:srgbClr val="0E7C86"/>
            </a:solidFill>
            <a:prstDash val="solid"/>
          </a:ln>
        </p:spPr>
        <p:txBody>
          <a:bodyPr/>
          <a:p/>
        </p:txBody>
      </p:sp>
      <p:sp>
        <p:nvSpPr>
          <p:cNvPr id="21" name="Text 19"/>
          <p:cNvSpPr txBox="1"/>
          <p:nvPr/>
        </p:nvSpPr>
        <p:spPr>
          <a:xfrm>
            <a:off x="457200"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.describe()</a:t>
            </a:r>
            <a:endParaRPr lang="en-US" sz="1050" dirty="0"/>
          </a:p>
        </p:txBody>
      </p:sp>
      <p:sp>
        <p:nvSpPr>
          <p:cNvPr id="22" name="Shape 20"/>
          <p:cNvSpPr/>
          <p:nvPr/>
        </p:nvSpPr>
        <p:spPr>
          <a:xfrm>
            <a:off x="2176272" y="3163824"/>
            <a:ext cx="1600200" cy="365760"/>
          </a:xfrm>
          <a:prstGeom prst="roundRect">
            <a:avLst>
              <a:gd name="adj" fmla="val 20000"/>
            </a:avLst>
          </a:prstGeom>
          <a:solidFill>
            <a:srgbClr val="EEF2F8"/>
          </a:solidFill>
          <a:ln w="12700">
            <a:solidFill>
              <a:srgbClr val="0E7C86"/>
            </a:solidFill>
            <a:prstDash val="solid"/>
          </a:ln>
        </p:spPr>
        <p:txBody>
          <a:bodyPr/>
          <a:p/>
        </p:txBody>
      </p:sp>
      <p:sp>
        <p:nvSpPr>
          <p:cNvPr id="23" name="Text 21"/>
          <p:cNvSpPr txBox="1"/>
          <p:nvPr/>
        </p:nvSpPr>
        <p:spPr>
          <a:xfrm>
            <a:off x="2176272"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.head()</a:t>
            </a:r>
            <a:endParaRPr lang="en-US" sz="1050" dirty="0"/>
          </a:p>
        </p:txBody>
      </p:sp>
      <p:sp>
        <p:nvSpPr>
          <p:cNvPr id="24" name="Shape 22"/>
          <p:cNvSpPr/>
          <p:nvPr/>
        </p:nvSpPr>
        <p:spPr>
          <a:xfrm>
            <a:off x="3895344" y="3163824"/>
            <a:ext cx="1600200" cy="365760"/>
          </a:xfrm>
          <a:prstGeom prst="roundRect">
            <a:avLst>
              <a:gd name="adj" fmla="val 20000"/>
            </a:avLst>
          </a:prstGeom>
          <a:solidFill>
            <a:srgbClr val="EEF2F8"/>
          </a:solidFill>
          <a:ln w="12700">
            <a:solidFill>
              <a:srgbClr val="0E7C86"/>
            </a:solidFill>
            <a:prstDash val="solid"/>
          </a:ln>
        </p:spPr>
        <p:txBody>
          <a:bodyPr/>
          <a:p/>
        </p:txBody>
      </p:sp>
      <p:sp>
        <p:nvSpPr>
          <p:cNvPr id="25" name="Text 23"/>
          <p:cNvSpPr txBox="1"/>
          <p:nvPr/>
        </p:nvSpPr>
        <p:spPr>
          <a:xfrm>
            <a:off x="3895344" y="3163824"/>
            <a:ext cx="1600200" cy="365760"/>
          </a:xfrm>
          <a:prstGeom prst="rect">
            <a:avLst/>
          </a:prstGeom>
          <a:noFill/>
          <a:ln/>
        </p:spPr>
        <p:txBody>
          <a:bodyPr wrap="square" lIns="0" tIns="0" rIns="0" bIns="0" rtlCol="0" anchor="ctr"/>
          <a:lstStyle/>
          <a:p>
            <a:pPr algn="ctr" indent="0" marL="0">
              <a:buNone/>
            </a:pPr>
            <a:r>
              <a:rPr lang="en-US" sz="1050" dirty="0">
                <a:solidFill>
                  <a:srgbClr val="0B1F3A"/>
                </a:solidFill>
                <a:latin typeface="Consolas" pitchFamily="34" charset="0"/>
                <a:ea typeface="Consolas" pitchFamily="34" charset="-122"/>
                <a:cs typeface="Consolas" pitchFamily="34" charset="-120"/>
              </a:rPr>
              <a:t>.columns</a:t>
            </a:r>
            <a:endParaRPr lang="en-US" sz="1050" dirty="0"/>
          </a:p>
        </p:txBody>
      </p:sp>
      <p:sp>
        <p:nvSpPr>
          <p:cNvPr id="26" name="Shape 24"/>
          <p:cNvSpPr/>
          <p:nvPr/>
        </p:nvSpPr>
        <p:spPr>
          <a:xfrm>
            <a:off x="457200" y="3794760"/>
            <a:ext cx="5468112" cy="2331720"/>
          </a:xfrm>
          <a:prstGeom prst="roundRect">
            <a:avLst>
              <a:gd name="adj" fmla="val 3529"/>
            </a:avLst>
          </a:prstGeom>
          <a:solidFill>
            <a:srgbClr val="FDF6E9"/>
          </a:solidFill>
          <a:ln w="12700">
            <a:solidFill>
              <a:srgbClr val="F0DDA8"/>
            </a:solidFill>
            <a:prstDash val="solid"/>
          </a:ln>
        </p:spPr>
        <p:txBody>
          <a:bodyPr/>
          <a:p/>
        </p:txBody>
      </p:sp>
      <p:sp>
        <p:nvSpPr>
          <p:cNvPr id="27" name="Text 25"/>
          <p:cNvSpPr txBox="1"/>
          <p:nvPr/>
        </p:nvSpPr>
        <p:spPr>
          <a:xfrm>
            <a:off x="685800" y="3950208"/>
            <a:ext cx="5029200" cy="274320"/>
          </a:xfrm>
          <a:prstGeom prst="rect">
            <a:avLst/>
          </a:prstGeom>
          <a:noFill/>
          <a:ln/>
        </p:spPr>
        <p:txBody>
          <a:bodyPr wrap="square" lIns="0" tIns="0" rIns="0" bIns="0" rtlCol="0" anchor="ctr"/>
          <a:lstStyle/>
          <a:p>
            <a:pPr indent="0" marL="0">
              <a:buNone/>
            </a:pPr>
            <a:r>
              <a:rPr lang="en-US" sz="1300" b="1" dirty="0">
                <a:solidFill>
                  <a:srgbClr val="8A5A00"/>
                </a:solidFill>
                <a:latin typeface="Cambria" pitchFamily="34" charset="0"/>
                <a:ea typeface="Cambria" pitchFamily="34" charset="-122"/>
                <a:cs typeface="Cambria" pitchFamily="34" charset="-120"/>
              </a:rPr>
              <a:t>Key Findings</a:t>
            </a:r>
            <a:endParaRPr lang="en-US" sz="1300" dirty="0"/>
          </a:p>
        </p:txBody>
      </p:sp>
      <p:sp>
        <p:nvSpPr>
          <p:cNvPr id="28" name="Text 26"/>
          <p:cNvSpPr txBox="1"/>
          <p:nvPr/>
        </p:nvSpPr>
        <p:spPr>
          <a:xfrm>
            <a:off x="685800" y="4251960"/>
            <a:ext cx="5029200" cy="1783080"/>
          </a:xfrm>
          <a:prstGeom prst="rect">
            <a:avLst/>
          </a:prstGeom>
          <a:noFill/>
          <a:ln/>
        </p:spPr>
        <p:txBody>
          <a:bodyPr wrap="square" rtlCol="0" anchor="t"/>
          <a:lstStyle/>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4,999 rows × 6 columns confirmed via shape and info() — no structural corruption</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medical_specialty (target) has zero missing values across all 4,999 records</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transcription has 33 missing records (0.66%)</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keywords has 1,068 missing records — too sparse for primary modeling</a:t>
            </a:r>
            <a:endParaRPr lang="en-US" sz="1100" dirty="0"/>
          </a:p>
          <a:p>
            <a:pPr marL="177800" indent="-177800">
              <a:spcAft>
                <a:spcPts val="600"/>
              </a:spcAft>
              <a:buSzPct val="100000"/>
              <a:buChar char="•"/>
            </a:pPr>
            <a:r>
              <a:rPr lang="en-US" sz="1100" dirty="0">
                <a:solidFill>
                  <a:srgbClr val="16213E"/>
                </a:solidFill>
                <a:latin typeface="Calibri" pitchFamily="34" charset="0"/>
                <a:ea typeface="Calibri" pitchFamily="34" charset="-122"/>
                <a:cs typeface="Calibri" pitchFamily="34" charset="-120"/>
              </a:rPr>
              <a:t>describe() confirms transcription is free-form text of variable length</a:t>
            </a:r>
            <a:endParaRPr lang="en-US" sz="1100" dirty="0"/>
          </a:p>
        </p:txBody>
      </p:sp>
      <p:sp>
        <p:nvSpPr>
          <p:cNvPr id="29" name="Shape 27"/>
          <p:cNvSpPr/>
          <p:nvPr/>
        </p:nvSpPr>
        <p:spPr>
          <a:xfrm>
            <a:off x="6263640" y="1481328"/>
            <a:ext cx="5468112" cy="4645152"/>
          </a:xfrm>
          <a:prstGeom prst="roundRect">
            <a:avLst>
              <a:gd name="adj" fmla="val 1772"/>
            </a:avLst>
          </a:prstGeom>
          <a:solidFill>
            <a:srgbClr val="0B1F3A"/>
          </a:solidFill>
          <a:ln/>
        </p:spPr>
        <p:txBody>
          <a:bodyPr/>
          <a:p/>
        </p:txBody>
      </p:sp>
      <p:sp>
        <p:nvSpPr>
          <p:cNvPr id="30" name="Text 28"/>
          <p:cNvSpPr txBox="1"/>
          <p:nvPr/>
        </p:nvSpPr>
        <p:spPr>
          <a:xfrm>
            <a:off x="6492240" y="1627632"/>
            <a:ext cx="5029200" cy="274320"/>
          </a:xfrm>
          <a:prstGeom prst="rect">
            <a:avLst/>
          </a:prstGeom>
          <a:noFill/>
          <a:ln/>
        </p:spPr>
        <p:txBody>
          <a:bodyPr wrap="square" lIns="0" tIns="0" rIns="0" bIns="0" rtlCol="0" anchor="ctr"/>
          <a:lstStyle/>
          <a:p>
            <a:pPr indent="0" marL="0">
              <a:buNone/>
            </a:pPr>
            <a:r>
              <a:rPr lang="en-US" sz="1050" b="1" dirty="0">
                <a:solidFill>
                  <a:srgbClr val="9FD8DB"/>
                </a:solidFill>
                <a:latin typeface="Consolas" pitchFamily="34" charset="0"/>
                <a:ea typeface="Consolas" pitchFamily="34" charset="-122"/>
                <a:cs typeface="Consolas" pitchFamily="34" charset="-120"/>
              </a:rPr>
              <a:t>df.info()  —  representative output</a:t>
            </a:r>
            <a:endParaRPr lang="en-US" sz="1050" dirty="0"/>
          </a:p>
        </p:txBody>
      </p:sp>
      <p:sp>
        <p:nvSpPr>
          <p:cNvPr id="31" name="Shape 29"/>
          <p:cNvSpPr/>
          <p:nvPr/>
        </p:nvSpPr>
        <p:spPr>
          <a:xfrm>
            <a:off x="6492240" y="2011680"/>
            <a:ext cx="5029200" cy="384048"/>
          </a:xfrm>
          <a:prstGeom prst="rect">
            <a:avLst/>
          </a:prstGeom>
          <a:solidFill>
            <a:srgbClr val="0E7C86"/>
          </a:solidFill>
          <a:ln/>
        </p:spPr>
        <p:txBody>
          <a:bodyPr/>
          <a:p/>
        </p:txBody>
      </p:sp>
      <p:sp>
        <p:nvSpPr>
          <p:cNvPr id="32" name="Text 30"/>
          <p:cNvSpPr txBox="1"/>
          <p:nvPr/>
        </p:nvSpPr>
        <p:spPr>
          <a:xfrm>
            <a:off x="6629400" y="2011680"/>
            <a:ext cx="228600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Column</a:t>
            </a:r>
            <a:endParaRPr lang="en-US" sz="1000" dirty="0"/>
          </a:p>
        </p:txBody>
      </p:sp>
      <p:sp>
        <p:nvSpPr>
          <p:cNvPr id="33" name="Text 31"/>
          <p:cNvSpPr txBox="1"/>
          <p:nvPr/>
        </p:nvSpPr>
        <p:spPr>
          <a:xfrm>
            <a:off x="8961120" y="2011680"/>
            <a:ext cx="118872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Dtype</a:t>
            </a:r>
            <a:endParaRPr lang="en-US" sz="1000" dirty="0"/>
          </a:p>
        </p:txBody>
      </p:sp>
      <p:sp>
        <p:nvSpPr>
          <p:cNvPr id="34" name="Text 32"/>
          <p:cNvSpPr txBox="1"/>
          <p:nvPr/>
        </p:nvSpPr>
        <p:spPr>
          <a:xfrm>
            <a:off x="10104120" y="2011680"/>
            <a:ext cx="1280160" cy="384048"/>
          </a:xfrm>
          <a:prstGeom prst="rect">
            <a:avLst/>
          </a:prstGeom>
          <a:noFill/>
          <a:ln/>
        </p:spPr>
        <p:txBody>
          <a:bodyPr wrap="square" lIns="0" tIns="0" rIns="0" bIns="0" rtlCol="0" anchor="ctr"/>
          <a:lstStyle/>
          <a:p>
            <a:pPr indent="0" marL="0">
              <a:buNone/>
            </a:pPr>
            <a:r>
              <a:rPr lang="en-US" sz="1000" b="1" dirty="0">
                <a:solidFill>
                  <a:srgbClr val="FFFFFF"/>
                </a:solidFill>
                <a:latin typeface="Consolas" pitchFamily="34" charset="0"/>
                <a:ea typeface="Consolas" pitchFamily="34" charset="-122"/>
                <a:cs typeface="Consolas" pitchFamily="34" charset="-120"/>
              </a:rPr>
              <a:t>Missing</a:t>
            </a:r>
            <a:endParaRPr lang="en-US" sz="1000" dirty="0"/>
          </a:p>
        </p:txBody>
      </p:sp>
      <p:sp>
        <p:nvSpPr>
          <p:cNvPr id="35" name="Shape 33"/>
          <p:cNvSpPr/>
          <p:nvPr/>
        </p:nvSpPr>
        <p:spPr>
          <a:xfrm>
            <a:off x="6492240" y="2395728"/>
            <a:ext cx="5029200" cy="384048"/>
          </a:xfrm>
          <a:prstGeom prst="rect">
            <a:avLst/>
          </a:prstGeom>
          <a:solidFill>
            <a:srgbClr val="0B1F3A"/>
          </a:solidFill>
          <a:ln/>
        </p:spPr>
        <p:txBody>
          <a:bodyPr/>
          <a:p/>
        </p:txBody>
      </p:sp>
      <p:sp>
        <p:nvSpPr>
          <p:cNvPr id="36" name="Text 34"/>
          <p:cNvSpPr txBox="1"/>
          <p:nvPr/>
        </p:nvSpPr>
        <p:spPr>
          <a:xfrm>
            <a:off x="6629400" y="2395728"/>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Unnamed: 0</a:t>
            </a:r>
            <a:endParaRPr lang="en-US" sz="1000" dirty="0"/>
          </a:p>
        </p:txBody>
      </p:sp>
      <p:sp>
        <p:nvSpPr>
          <p:cNvPr id="37" name="Text 35"/>
          <p:cNvSpPr txBox="1"/>
          <p:nvPr/>
        </p:nvSpPr>
        <p:spPr>
          <a:xfrm>
            <a:off x="8961120" y="2395728"/>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int64</a:t>
            </a:r>
            <a:endParaRPr lang="en-US" sz="1000" dirty="0"/>
          </a:p>
        </p:txBody>
      </p:sp>
      <p:sp>
        <p:nvSpPr>
          <p:cNvPr id="38" name="Text 36"/>
          <p:cNvSpPr txBox="1"/>
          <p:nvPr/>
        </p:nvSpPr>
        <p:spPr>
          <a:xfrm>
            <a:off x="10104120" y="2395728"/>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39" name="Shape 37"/>
          <p:cNvSpPr/>
          <p:nvPr/>
        </p:nvSpPr>
        <p:spPr>
          <a:xfrm>
            <a:off x="6492240" y="2779776"/>
            <a:ext cx="5029200" cy="384048"/>
          </a:xfrm>
          <a:prstGeom prst="rect">
            <a:avLst/>
          </a:prstGeom>
          <a:solidFill>
            <a:srgbClr val="13294B"/>
          </a:solidFill>
          <a:ln/>
        </p:spPr>
        <p:txBody>
          <a:bodyPr/>
          <a:p/>
        </p:txBody>
      </p:sp>
      <p:sp>
        <p:nvSpPr>
          <p:cNvPr id="40" name="Text 38"/>
          <p:cNvSpPr txBox="1"/>
          <p:nvPr/>
        </p:nvSpPr>
        <p:spPr>
          <a:xfrm>
            <a:off x="6629400" y="2779776"/>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description</a:t>
            </a:r>
            <a:endParaRPr lang="en-US" sz="1000" dirty="0"/>
          </a:p>
        </p:txBody>
      </p:sp>
      <p:sp>
        <p:nvSpPr>
          <p:cNvPr id="41" name="Text 39"/>
          <p:cNvSpPr txBox="1"/>
          <p:nvPr/>
        </p:nvSpPr>
        <p:spPr>
          <a:xfrm>
            <a:off x="8961120" y="2779776"/>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2" name="Text 40"/>
          <p:cNvSpPr txBox="1"/>
          <p:nvPr/>
        </p:nvSpPr>
        <p:spPr>
          <a:xfrm>
            <a:off x="10104120" y="2779776"/>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6</a:t>
            </a:r>
            <a:endParaRPr lang="en-US" sz="1000" dirty="0"/>
          </a:p>
        </p:txBody>
      </p:sp>
      <p:sp>
        <p:nvSpPr>
          <p:cNvPr id="43" name="Shape 41"/>
          <p:cNvSpPr/>
          <p:nvPr/>
        </p:nvSpPr>
        <p:spPr>
          <a:xfrm>
            <a:off x="6492240" y="3163824"/>
            <a:ext cx="5029200" cy="384048"/>
          </a:xfrm>
          <a:prstGeom prst="rect">
            <a:avLst/>
          </a:prstGeom>
          <a:solidFill>
            <a:srgbClr val="0B1F3A"/>
          </a:solidFill>
          <a:ln/>
        </p:spPr>
        <p:txBody>
          <a:bodyPr/>
          <a:p/>
        </p:txBody>
      </p:sp>
      <p:sp>
        <p:nvSpPr>
          <p:cNvPr id="44" name="Text 42"/>
          <p:cNvSpPr txBox="1"/>
          <p:nvPr/>
        </p:nvSpPr>
        <p:spPr>
          <a:xfrm>
            <a:off x="6629400" y="3163824"/>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medical_specialty</a:t>
            </a:r>
            <a:endParaRPr lang="en-US" sz="1000" dirty="0"/>
          </a:p>
        </p:txBody>
      </p:sp>
      <p:sp>
        <p:nvSpPr>
          <p:cNvPr id="45" name="Text 43"/>
          <p:cNvSpPr txBox="1"/>
          <p:nvPr/>
        </p:nvSpPr>
        <p:spPr>
          <a:xfrm>
            <a:off x="8961120" y="3163824"/>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46" name="Text 44"/>
          <p:cNvSpPr txBox="1"/>
          <p:nvPr/>
        </p:nvSpPr>
        <p:spPr>
          <a:xfrm>
            <a:off x="10104120" y="3163824"/>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47" name="Shape 45"/>
          <p:cNvSpPr/>
          <p:nvPr/>
        </p:nvSpPr>
        <p:spPr>
          <a:xfrm>
            <a:off x="6492240" y="3547872"/>
            <a:ext cx="5029200" cy="384048"/>
          </a:xfrm>
          <a:prstGeom prst="rect">
            <a:avLst/>
          </a:prstGeom>
          <a:solidFill>
            <a:srgbClr val="13294B"/>
          </a:solidFill>
          <a:ln/>
        </p:spPr>
        <p:txBody>
          <a:bodyPr/>
          <a:p/>
        </p:txBody>
      </p:sp>
      <p:sp>
        <p:nvSpPr>
          <p:cNvPr id="48" name="Text 46"/>
          <p:cNvSpPr txBox="1"/>
          <p:nvPr/>
        </p:nvSpPr>
        <p:spPr>
          <a:xfrm>
            <a:off x="6629400" y="3547872"/>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sample_name</a:t>
            </a:r>
            <a:endParaRPr lang="en-US" sz="1000" dirty="0"/>
          </a:p>
        </p:txBody>
      </p:sp>
      <p:sp>
        <p:nvSpPr>
          <p:cNvPr id="49" name="Text 47"/>
          <p:cNvSpPr txBox="1"/>
          <p:nvPr/>
        </p:nvSpPr>
        <p:spPr>
          <a:xfrm>
            <a:off x="8961120" y="3547872"/>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0" name="Text 48"/>
          <p:cNvSpPr txBox="1"/>
          <p:nvPr/>
        </p:nvSpPr>
        <p:spPr>
          <a:xfrm>
            <a:off x="10104120" y="3547872"/>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0</a:t>
            </a:r>
            <a:endParaRPr lang="en-US" sz="1000" dirty="0"/>
          </a:p>
        </p:txBody>
      </p:sp>
      <p:sp>
        <p:nvSpPr>
          <p:cNvPr id="51" name="Shape 49"/>
          <p:cNvSpPr/>
          <p:nvPr/>
        </p:nvSpPr>
        <p:spPr>
          <a:xfrm>
            <a:off x="6492240" y="3931920"/>
            <a:ext cx="5029200" cy="384048"/>
          </a:xfrm>
          <a:prstGeom prst="rect">
            <a:avLst/>
          </a:prstGeom>
          <a:solidFill>
            <a:srgbClr val="0B1F3A"/>
          </a:solidFill>
          <a:ln/>
        </p:spPr>
        <p:txBody>
          <a:bodyPr/>
          <a:p/>
        </p:txBody>
      </p:sp>
      <p:sp>
        <p:nvSpPr>
          <p:cNvPr id="52" name="Text 50"/>
          <p:cNvSpPr txBox="1"/>
          <p:nvPr/>
        </p:nvSpPr>
        <p:spPr>
          <a:xfrm>
            <a:off x="6629400" y="3931920"/>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transcription</a:t>
            </a:r>
            <a:endParaRPr lang="en-US" sz="1000" dirty="0"/>
          </a:p>
        </p:txBody>
      </p:sp>
      <p:sp>
        <p:nvSpPr>
          <p:cNvPr id="53" name="Text 51"/>
          <p:cNvSpPr txBox="1"/>
          <p:nvPr/>
        </p:nvSpPr>
        <p:spPr>
          <a:xfrm>
            <a:off x="8961120" y="3931920"/>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4" name="Text 52"/>
          <p:cNvSpPr txBox="1"/>
          <p:nvPr/>
        </p:nvSpPr>
        <p:spPr>
          <a:xfrm>
            <a:off x="10104120" y="3931920"/>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33</a:t>
            </a:r>
            <a:endParaRPr lang="en-US" sz="1000" dirty="0"/>
          </a:p>
        </p:txBody>
      </p:sp>
      <p:sp>
        <p:nvSpPr>
          <p:cNvPr id="55" name="Shape 53"/>
          <p:cNvSpPr/>
          <p:nvPr/>
        </p:nvSpPr>
        <p:spPr>
          <a:xfrm>
            <a:off x="6492240" y="4315968"/>
            <a:ext cx="5029200" cy="384048"/>
          </a:xfrm>
          <a:prstGeom prst="rect">
            <a:avLst/>
          </a:prstGeom>
          <a:solidFill>
            <a:srgbClr val="13294B"/>
          </a:solidFill>
          <a:ln/>
        </p:spPr>
        <p:txBody>
          <a:bodyPr/>
          <a:p/>
        </p:txBody>
      </p:sp>
      <p:sp>
        <p:nvSpPr>
          <p:cNvPr id="56" name="Text 54"/>
          <p:cNvSpPr txBox="1"/>
          <p:nvPr/>
        </p:nvSpPr>
        <p:spPr>
          <a:xfrm>
            <a:off x="6629400" y="4315968"/>
            <a:ext cx="228600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keywords</a:t>
            </a:r>
            <a:endParaRPr lang="en-US" sz="1000" dirty="0"/>
          </a:p>
        </p:txBody>
      </p:sp>
      <p:sp>
        <p:nvSpPr>
          <p:cNvPr id="57" name="Text 55"/>
          <p:cNvSpPr txBox="1"/>
          <p:nvPr/>
        </p:nvSpPr>
        <p:spPr>
          <a:xfrm>
            <a:off x="8961120" y="4315968"/>
            <a:ext cx="118872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object</a:t>
            </a:r>
            <a:endParaRPr lang="en-US" sz="1000" dirty="0"/>
          </a:p>
        </p:txBody>
      </p:sp>
      <p:sp>
        <p:nvSpPr>
          <p:cNvPr id="58" name="Text 56"/>
          <p:cNvSpPr txBox="1"/>
          <p:nvPr/>
        </p:nvSpPr>
        <p:spPr>
          <a:xfrm>
            <a:off x="10104120" y="4315968"/>
            <a:ext cx="1280160" cy="384048"/>
          </a:xfrm>
          <a:prstGeom prst="rect">
            <a:avLst/>
          </a:prstGeom>
          <a:noFill/>
          <a:ln/>
        </p:spPr>
        <p:txBody>
          <a:bodyPr wrap="square" lIns="0" tIns="0" rIns="0" bIns="0" rtlCol="0" anchor="ctr"/>
          <a:lstStyle/>
          <a:p>
            <a:pPr indent="0" marL="0">
              <a:buNone/>
            </a:pPr>
            <a:r>
              <a:rPr lang="en-US" sz="1000" dirty="0">
                <a:solidFill>
                  <a:srgbClr val="FFFFFF"/>
                </a:solidFill>
                <a:latin typeface="Consolas" pitchFamily="34" charset="0"/>
                <a:ea typeface="Consolas" pitchFamily="34" charset="-122"/>
                <a:cs typeface="Consolas" pitchFamily="34" charset="-120"/>
              </a:rPr>
              <a:t>1,068</a:t>
            </a:r>
            <a:endParaRPr lang="en-US" sz="1000" dirty="0"/>
          </a:p>
        </p:txBody>
      </p:sp>
      <p:sp>
        <p:nvSpPr>
          <p:cNvPr id="59" name="Text 57"/>
          <p:cNvSpPr txBox="1"/>
          <p:nvPr/>
        </p:nvSpPr>
        <p:spPr>
          <a:xfrm>
            <a:off x="6492240" y="4837176"/>
            <a:ext cx="5029200" cy="320040"/>
          </a:xfrm>
          <a:prstGeom prst="rect">
            <a:avLst/>
          </a:prstGeom>
          <a:noFill/>
          <a:ln/>
        </p:spPr>
        <p:txBody>
          <a:bodyPr wrap="square" lIns="0" tIns="0" rIns="0" bIns="0" rtlCol="0" anchor="ctr"/>
          <a:lstStyle/>
          <a:p>
            <a:pPr indent="0" marL="0">
              <a:buNone/>
            </a:pPr>
            <a:r>
              <a:rPr lang="en-US" sz="950" i="1" dirty="0">
                <a:solidFill>
                  <a:srgbClr val="AEB9CC"/>
                </a:solidFill>
                <a:latin typeface="Consolas" pitchFamily="34" charset="0"/>
                <a:ea typeface="Consolas" pitchFamily="34" charset="-122"/>
                <a:cs typeface="Consolas" pitchFamily="34" charset="-120"/>
              </a:rPr>
              <a:t>Total: 4,999 entries, 6 columns (RangeIndex 0–4998)</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Exploratory Data Analysis: Data Quality</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7 of 19</a:t>
            </a:r>
          </a:p>
        </p:txBody>
      </p:sp>
      <p:sp>
        <p:nvSpPr>
          <p:cNvPr id="8" name="Shape 6"/>
          <p:cNvSpPr/>
          <p:nvPr/>
        </p:nvSpPr>
        <p:spPr>
          <a:xfrm>
            <a:off x="457200" y="1508760"/>
            <a:ext cx="6675120" cy="4892040"/>
          </a:xfrm>
          <a:prstGeom prst="roundRect">
            <a:avLst>
              <a:gd name="adj" fmla="val 168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9" name="Image 0" descr="/home/claude/imgs/img-000.png">    </p:cNvPr>
          <p:cNvPicPr>
            <a:picLocks noChangeAspect="1"/>
          </p:cNvPicPr>
          <p:nvPr/>
        </p:nvPicPr>
        <p:blipFill>
          <a:blip r:embed="rId1"/>
          <a:stretch>
            <a:fillRect/>
          </a:stretch>
        </p:blipFill>
        <p:spPr>
          <a:xfrm>
            <a:off x="685800" y="1783080"/>
            <a:ext cx="6217920" cy="3703320"/>
          </a:xfrm>
          <a:prstGeom prst="rect">
            <a:avLst/>
          </a:prstGeom>
        </p:spPr>
      </p:pic>
      <p:sp>
        <p:nvSpPr>
          <p:cNvPr id="10" name="Text 7"/>
          <p:cNvSpPr txBox="1"/>
          <p:nvPr/>
        </p:nvSpPr>
        <p:spPr>
          <a:xfrm>
            <a:off x="685800" y="5577840"/>
            <a:ext cx="6217920" cy="548640"/>
          </a:xfrm>
          <a:prstGeom prst="rect">
            <a:avLst/>
          </a:prstGeom>
          <a:noFill/>
          <a:ln/>
        </p:spPr>
        <p:txBody>
          <a:bodyPr wrap="square" lIns="0" tIns="0" rIns="0" bIns="0" rtlCol="0" anchor="ctr"/>
          <a:lstStyle/>
          <a:p>
            <a:pPr algn="ctr" indent="0" marL="0">
              <a:buNone/>
            </a:pPr>
            <a:r>
              <a:rPr lang="en-US" sz="1000" i="1" dirty="0">
                <a:solidFill>
                  <a:srgbClr val="5B6472"/>
                </a:solidFill>
                <a:latin typeface="Calibri" pitchFamily="34" charset="0"/>
                <a:ea typeface="Calibri" pitchFamily="34" charset="-122"/>
                <a:cs typeface="Calibri" pitchFamily="34" charset="-120"/>
              </a:rPr>
              <a:t>Figure: Missing Values by Dataset Attribute (isnull().sum())</a:t>
            </a:r>
            <a:endParaRPr lang="en-US" sz="1000" dirty="0"/>
          </a:p>
        </p:txBody>
      </p:sp>
      <p:sp>
        <p:nvSpPr>
          <p:cNvPr id="11" name="Text 8"/>
          <p:cNvSpPr txBox="1"/>
          <p:nvPr/>
        </p:nvSpPr>
        <p:spPr>
          <a:xfrm>
            <a:off x="7360920" y="1508760"/>
            <a:ext cx="4389120" cy="292608"/>
          </a:xfrm>
          <a:prstGeom prst="rect">
            <a:avLst/>
          </a:prstGeom>
          <a:noFill/>
          <a:ln/>
        </p:spPr>
        <p:txBody>
          <a:bodyPr wrap="square" lIns="0" tIns="0" rIns="0" bIns="0" rtlCol="0" anchor="ctr"/>
          <a:lstStyle/>
          <a:p>
            <a:pPr indent="0" marL="0">
              <a:buNone/>
            </a:pPr>
            <a:r>
              <a:rPr lang="en-US" sz="1400" b="1" dirty="0">
                <a:solidFill>
                  <a:srgbClr val="0B1F3A"/>
                </a:solidFill>
                <a:latin typeface="Cambria" pitchFamily="34" charset="0"/>
                <a:ea typeface="Cambria" pitchFamily="34" charset="-122"/>
                <a:cs typeface="Cambria" pitchFamily="34" charset="-120"/>
              </a:rPr>
              <a:t>Functions &amp; Libraries</a:t>
            </a:r>
            <a:endParaRPr lang="en-US" sz="1400" dirty="0"/>
          </a:p>
        </p:txBody>
      </p:sp>
      <p:sp>
        <p:nvSpPr>
          <p:cNvPr id="12" name="Text 9"/>
          <p:cNvSpPr txBox="1"/>
          <p:nvPr/>
        </p:nvSpPr>
        <p:spPr>
          <a:xfrm>
            <a:off x="7360920" y="1828800"/>
            <a:ext cx="4389120" cy="822960"/>
          </a:xfrm>
          <a:prstGeom prst="rect">
            <a:avLst/>
          </a:prstGeom>
          <a:noFill/>
          <a:ln/>
        </p:spPr>
        <p:txBody>
          <a:bodyPr wrap="square" rtlCol="0" anchor="t"/>
          <a:lstStyle/>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pandas: .isnull().sum(), .duplicated()</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matplotlib / seaborn for the bar chart</a:t>
            </a:r>
            <a:endParaRPr lang="en-US" sz="1100" dirty="0"/>
          </a:p>
        </p:txBody>
      </p:sp>
      <p:sp>
        <p:nvSpPr>
          <p:cNvPr id="13" name="Shape 10"/>
          <p:cNvSpPr/>
          <p:nvPr/>
        </p:nvSpPr>
        <p:spPr>
          <a:xfrm>
            <a:off x="7360920" y="2697480"/>
            <a:ext cx="4370832" cy="3566160"/>
          </a:xfrm>
          <a:prstGeom prst="roundRect">
            <a:avLst>
              <a:gd name="adj" fmla="val 2308"/>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Text 11"/>
          <p:cNvSpPr txBox="1"/>
          <p:nvPr/>
        </p:nvSpPr>
        <p:spPr>
          <a:xfrm>
            <a:off x="7589520" y="2834640"/>
            <a:ext cx="3931920" cy="274320"/>
          </a:xfrm>
          <a:prstGeom prst="rect">
            <a:avLst/>
          </a:prstGeom>
          <a:noFill/>
          <a:ln/>
        </p:spPr>
        <p:txBody>
          <a:bodyPr wrap="square" lIns="0" tIns="0" rIns="0" bIns="0" rtlCol="0" anchor="ctr"/>
          <a:lstStyle/>
          <a:p>
            <a:pPr indent="0" marL="0">
              <a:buNone/>
            </a:pPr>
            <a:r>
              <a:rPr lang="en-US" sz="1300" b="1" dirty="0">
                <a:solidFill>
                  <a:srgbClr val="0E7C86"/>
                </a:solidFill>
                <a:latin typeface="Cambria" pitchFamily="34" charset="0"/>
                <a:ea typeface="Cambria" pitchFamily="34" charset="-122"/>
                <a:cs typeface="Cambria" pitchFamily="34" charset="-120"/>
              </a:rPr>
              <a:t>Observations</a:t>
            </a:r>
            <a:endParaRPr lang="en-US" sz="1300" dirty="0"/>
          </a:p>
        </p:txBody>
      </p:sp>
      <p:sp>
        <p:nvSpPr>
          <p:cNvPr id="15" name="Text 12"/>
          <p:cNvSpPr txBox="1"/>
          <p:nvPr/>
        </p:nvSpPr>
        <p:spPr>
          <a:xfrm>
            <a:off x="7589520" y="3154680"/>
            <a:ext cx="3931920" cy="2971800"/>
          </a:xfrm>
          <a:prstGeom prst="rect">
            <a:avLst/>
          </a:prstGeom>
          <a:noFill/>
          <a:ln/>
        </p:spPr>
        <p:txBody>
          <a:bodyPr wrap="square" rtlCol="0" anchor="t"/>
          <a:lstStyle/>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transcription: 33 missing records (0.66%) — dropped during cleaning</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keywords: 1,068 missing records — excluded from primary features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description: 6 missing records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medical_specialty (target): 0 missing values</a:t>
            </a:r>
            <a:endParaRPr lang="en-US" sz="1100" dirty="0"/>
          </a:p>
          <a:p>
            <a:pPr marL="177800" indent="-177800">
              <a:spcAft>
                <a:spcPts val="800"/>
              </a:spcAft>
              <a:buSzPct val="100000"/>
              <a:buChar char="•"/>
            </a:pPr>
            <a:r>
              <a:rPr lang="en-US" sz="1100" dirty="0">
                <a:solidFill>
                  <a:srgbClr val="16213E"/>
                </a:solidFill>
                <a:latin typeface="Calibri" pitchFamily="34" charset="0"/>
                <a:ea typeface="Calibri" pitchFamily="34" charset="-122"/>
                <a:cs typeface="Calibri" pitchFamily="34" charset="-120"/>
              </a:rPr>
              <a:t>Duplicate check via .duplicated() confirmed no duplicate clinical reports in the corpus</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Class Distribution Across 40 Specialties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8 of 19</a:t>
            </a:r>
          </a:p>
        </p:txBody>
      </p:sp>
      <p:sp>
        <p:nvSpPr>
          <p:cNvPr id="8" name="Shape 6"/>
          <p:cNvSpPr/>
          <p:nvPr/>
        </p:nvSpPr>
        <p:spPr>
          <a:xfrm>
            <a:off x="457200" y="1508760"/>
            <a:ext cx="6949440" cy="4892040"/>
          </a:xfrm>
          <a:prstGeom prst="roundRect">
            <a:avLst>
              <a:gd name="adj" fmla="val 168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9" name="Image 0" descr="/home/claude/imgs/img-004.png">    </p:cNvPr>
          <p:cNvPicPr>
            <a:picLocks noChangeAspect="1"/>
          </p:cNvPicPr>
          <p:nvPr/>
        </p:nvPicPr>
        <p:blipFill>
          <a:blip r:embed="rId1"/>
          <a:stretch>
            <a:fillRect/>
          </a:stretch>
        </p:blipFill>
        <p:spPr>
          <a:xfrm>
            <a:off x="1503590" y="1691640"/>
            <a:ext cx="4856661" cy="4160520"/>
          </a:xfrm>
          <a:prstGeom prst="rect">
            <a:avLst/>
          </a:prstGeom>
        </p:spPr>
      </p:pic>
      <p:sp>
        <p:nvSpPr>
          <p:cNvPr id="10" name="Text 7"/>
          <p:cNvSpPr txBox="1"/>
          <p:nvPr/>
        </p:nvSpPr>
        <p:spPr>
          <a:xfrm>
            <a:off x="640080" y="5943600"/>
            <a:ext cx="6492240" cy="27432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Figure: Full Distribution of Medical Specialties (40 classes)</a:t>
            </a:r>
            <a:endParaRPr lang="en-US" sz="950" dirty="0"/>
          </a:p>
        </p:txBody>
      </p:sp>
      <p:sp>
        <p:nvSpPr>
          <p:cNvPr id="11" name="Text 8"/>
          <p:cNvSpPr txBox="1"/>
          <p:nvPr/>
        </p:nvSpPr>
        <p:spPr>
          <a:xfrm>
            <a:off x="7571232" y="1508760"/>
            <a:ext cx="416052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Library: Matplotlib / Seaborn</a:t>
            </a:r>
            <a:endParaRPr lang="en-US" sz="1100" dirty="0"/>
          </a:p>
        </p:txBody>
      </p:sp>
      <p:sp>
        <p:nvSpPr>
          <p:cNvPr id="12" name="Shape 9"/>
          <p:cNvSpPr/>
          <p:nvPr/>
        </p:nvSpPr>
        <p:spPr>
          <a:xfrm>
            <a:off x="7571232" y="1874520"/>
            <a:ext cx="4160520" cy="1051560"/>
          </a:xfrm>
          <a:prstGeom prst="roundRect">
            <a:avLst>
              <a:gd name="adj" fmla="val 7826"/>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3" name="Text 10"/>
          <p:cNvSpPr txBox="1"/>
          <p:nvPr/>
        </p:nvSpPr>
        <p:spPr>
          <a:xfrm>
            <a:off x="7772400" y="1965960"/>
            <a:ext cx="1463040" cy="502920"/>
          </a:xfrm>
          <a:prstGeom prst="rect">
            <a:avLst/>
          </a:prstGeom>
          <a:noFill/>
          <a:ln/>
        </p:spPr>
        <p:txBody>
          <a:bodyPr wrap="square" lIns="0" tIns="0" rIns="0" bIns="0" rtlCol="0" anchor="ctr"/>
          <a:lstStyle/>
          <a:p>
            <a:pPr indent="0" marL="0">
              <a:buNone/>
            </a:pPr>
            <a:r>
              <a:rPr lang="en-US" sz="2400" b="1" dirty="0">
                <a:solidFill>
                  <a:srgbClr val="0E7C86"/>
                </a:solidFill>
                <a:latin typeface="Cambria" pitchFamily="34" charset="0"/>
                <a:ea typeface="Cambria" pitchFamily="34" charset="-122"/>
                <a:cs typeface="Cambria" pitchFamily="34" charset="-120"/>
              </a:rPr>
              <a:t>1,103</a:t>
            </a:r>
            <a:endParaRPr lang="en-US" sz="2400" dirty="0"/>
          </a:p>
        </p:txBody>
      </p:sp>
      <p:sp>
        <p:nvSpPr>
          <p:cNvPr id="14" name="Text 11"/>
          <p:cNvSpPr txBox="1"/>
          <p:nvPr/>
        </p:nvSpPr>
        <p:spPr>
          <a:xfrm>
            <a:off x="7772400" y="2487168"/>
            <a:ext cx="3566160" cy="365760"/>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Surgery — largest class</a:t>
            </a:r>
            <a:endParaRPr lang="en-US" sz="1050" dirty="0"/>
          </a:p>
        </p:txBody>
      </p:sp>
      <p:sp>
        <p:nvSpPr>
          <p:cNvPr id="15" name="Shape 12"/>
          <p:cNvSpPr/>
          <p:nvPr/>
        </p:nvSpPr>
        <p:spPr>
          <a:xfrm>
            <a:off x="7571232" y="3035808"/>
            <a:ext cx="4160520" cy="1051560"/>
          </a:xfrm>
          <a:prstGeom prst="roundRect">
            <a:avLst>
              <a:gd name="adj" fmla="val 7826"/>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6" name="Text 13"/>
          <p:cNvSpPr txBox="1"/>
          <p:nvPr/>
        </p:nvSpPr>
        <p:spPr>
          <a:xfrm>
            <a:off x="7772400" y="3127248"/>
            <a:ext cx="1463040" cy="502920"/>
          </a:xfrm>
          <a:prstGeom prst="rect">
            <a:avLst/>
          </a:prstGeom>
          <a:noFill/>
          <a:ln/>
        </p:spPr>
        <p:txBody>
          <a:bodyPr wrap="square" lIns="0" tIns="0" rIns="0" bIns="0" rtlCol="0" anchor="ctr"/>
          <a:lstStyle/>
          <a:p>
            <a:pPr indent="0" marL="0">
              <a:buNone/>
            </a:pPr>
            <a:r>
              <a:rPr lang="en-US" sz="2400" b="1" dirty="0">
                <a:solidFill>
                  <a:srgbClr val="6C4AB6"/>
                </a:solidFill>
                <a:latin typeface="Cambria" pitchFamily="34" charset="0"/>
                <a:ea typeface="Cambria" pitchFamily="34" charset="-122"/>
                <a:cs typeface="Cambria" pitchFamily="34" charset="-120"/>
              </a:rPr>
              <a:t>2</a:t>
            </a:r>
            <a:endParaRPr lang="en-US" sz="2400" dirty="0"/>
          </a:p>
        </p:txBody>
      </p:sp>
      <p:sp>
        <p:nvSpPr>
          <p:cNvPr id="17" name="Text 14"/>
          <p:cNvSpPr txBox="1"/>
          <p:nvPr/>
        </p:nvSpPr>
        <p:spPr>
          <a:xfrm>
            <a:off x="7772400" y="3648456"/>
            <a:ext cx="3566160" cy="384048"/>
          </a:xfrm>
          <a:prstGeom prst="rect">
            <a:avLst/>
          </a:prstGeom>
          <a:noFill/>
          <a:ln/>
        </p:spPr>
        <p:txBody>
          <a:bodyPr wrap="square" lIns="0" tIns="0" rIns="0" bIns="0" rtlCol="0" anchor="ctr"/>
          <a:lstStyle/>
          <a:p>
            <a:pPr indent="0" marL="0">
              <a:buNone/>
            </a:pPr>
            <a:r>
              <a:rPr lang="en-US" sz="1050" dirty="0">
                <a:solidFill>
                  <a:srgbClr val="16213E"/>
                </a:solidFill>
                <a:latin typeface="Calibri" pitchFamily="34" charset="0"/>
                <a:ea typeface="Calibri" pitchFamily="34" charset="-122"/>
                <a:cs typeface="Calibri" pitchFamily="34" charset="-120"/>
              </a:rPr>
              <a:t>Autopsy &amp; Executive Evaluation — smallest classes</a:t>
            </a:r>
            <a:endParaRPr lang="en-US" sz="1050" dirty="0"/>
          </a:p>
        </p:txBody>
      </p:sp>
      <p:sp>
        <p:nvSpPr>
          <p:cNvPr id="18" name="Shape 15"/>
          <p:cNvSpPr/>
          <p:nvPr/>
        </p:nvSpPr>
        <p:spPr>
          <a:xfrm>
            <a:off x="7571232" y="4197096"/>
            <a:ext cx="4160520" cy="2203704"/>
          </a:xfrm>
          <a:prstGeom prst="roundRect">
            <a:avLst>
              <a:gd name="adj" fmla="val 3734"/>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Text 16"/>
          <p:cNvSpPr txBox="1"/>
          <p:nvPr/>
        </p:nvSpPr>
        <p:spPr>
          <a:xfrm>
            <a:off x="7799832" y="4334256"/>
            <a:ext cx="3657600" cy="274320"/>
          </a:xfrm>
          <a:prstGeom prst="rect">
            <a:avLst/>
          </a:prstGeom>
          <a:noFill/>
          <a:ln/>
        </p:spPr>
        <p:txBody>
          <a:bodyPr wrap="square" lIns="0" tIns="0" rIns="0" bIns="0" rtlCol="0" anchor="ctr"/>
          <a:lstStyle/>
          <a:p>
            <a:pPr indent="0" marL="0">
              <a:buNone/>
            </a:pPr>
            <a:r>
              <a:rPr lang="en-US" sz="1250" b="1" dirty="0">
                <a:solidFill>
                  <a:srgbClr val="0B1F3A"/>
                </a:solidFill>
                <a:latin typeface="Cambria" pitchFamily="34" charset="0"/>
                <a:ea typeface="Cambria" pitchFamily="34" charset="-122"/>
                <a:cs typeface="Cambria" pitchFamily="34" charset="-120"/>
              </a:rPr>
              <a:t>Insight</a:t>
            </a:r>
            <a:endParaRPr lang="en-US" sz="1250" dirty="0"/>
          </a:p>
        </p:txBody>
      </p:sp>
      <p:sp>
        <p:nvSpPr>
          <p:cNvPr id="20" name="Text 17"/>
          <p:cNvSpPr txBox="1"/>
          <p:nvPr/>
        </p:nvSpPr>
        <p:spPr>
          <a:xfrm>
            <a:off x="7799832" y="4645152"/>
            <a:ext cx="3703320" cy="1691640"/>
          </a:xfrm>
          <a:prstGeom prst="rect">
            <a:avLst/>
          </a:prstGeom>
          <a:noFill/>
          <a:ln/>
        </p:spPr>
        <p:txBody>
          <a:bodyPr wrap="square" lIns="0" tIns="0" rIns="0" bIns="0" rtlCol="0" anchor="t"/>
          <a:lstStyle/>
          <a:p>
            <a:pPr indent="0" marL="0">
              <a:lnSpc>
                <a:spcPct val="115000"/>
              </a:lnSpc>
              <a:buNone/>
            </a:pPr>
            <a:r>
              <a:rPr lang="en-US" sz="1070" dirty="0">
                <a:solidFill>
                  <a:srgbClr val="16213E"/>
                </a:solidFill>
                <a:latin typeface="Calibri" pitchFamily="34" charset="0"/>
                <a:ea typeface="Calibri" pitchFamily="34" charset="-122"/>
                <a:cs typeface="Calibri" pitchFamily="34" charset="-120"/>
              </a:rPr>
              <a:t>The dataset exhibits severe class imbalance — majority classes contain hundreds to over a thousand records while minority specialties have under 10. This motivates stratified 80:20 train-test splitting to preserve class proportions, and soft-voting ensemble consensus to avoid bias toward majority classes.</a:t>
            </a:r>
            <a:endParaRPr lang="en-US" sz="107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VISUALIZATION</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Clinical Transcription Text Analysis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9 of 19</a:t>
            </a:r>
          </a:p>
        </p:txBody>
      </p:sp>
      <p:sp>
        <p:nvSpPr>
          <p:cNvPr id="8" name="Text 6"/>
          <p:cNvSpPr txBox="1"/>
          <p:nvPr/>
        </p:nvSpPr>
        <p:spPr>
          <a:xfrm>
            <a:off x="457200" y="1417320"/>
            <a:ext cx="5486400" cy="274320"/>
          </a:xfrm>
          <a:prstGeom prst="rect">
            <a:avLst/>
          </a:prstGeom>
          <a:noFill/>
          <a:ln/>
        </p:spPr>
        <p:txBody>
          <a:bodyPr wrap="square" lIns="0" tIns="0" rIns="0" bIns="0" rtlCol="0" anchor="ctr"/>
          <a:lstStyle/>
          <a:p>
            <a:pPr indent="0" marL="0">
              <a:buNone/>
            </a:pPr>
            <a:r>
              <a:rPr lang="en-US" sz="1100" i="1" dirty="0">
                <a:solidFill>
                  <a:srgbClr val="5B6472"/>
                </a:solidFill>
                <a:latin typeface="Calibri" pitchFamily="34" charset="0"/>
                <a:ea typeface="Calibri" pitchFamily="34" charset="-122"/>
                <a:cs typeface="Calibri" pitchFamily="34" charset="-120"/>
              </a:rPr>
              <a:t>Library: Matplotlib / Seaborn / WordCloud</a:t>
            </a:r>
            <a:endParaRPr lang="en-US" sz="1100" dirty="0"/>
          </a:p>
        </p:txBody>
      </p:sp>
      <p:sp>
        <p:nvSpPr>
          <p:cNvPr id="9" name="Shape 7"/>
          <p:cNvSpPr/>
          <p:nvPr/>
        </p:nvSpPr>
        <p:spPr>
          <a:xfrm>
            <a:off x="457200" y="1737360"/>
            <a:ext cx="5623560" cy="2788920"/>
          </a:xfrm>
          <a:prstGeom prst="roundRect">
            <a:avLst>
              <a:gd name="adj" fmla="val 29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10" name="Image 0" descr="/home/claude/imgs/img-006.png">    </p:cNvPr>
          <p:cNvPicPr>
            <a:picLocks noChangeAspect="1"/>
          </p:cNvPicPr>
          <p:nvPr/>
        </p:nvPicPr>
        <p:blipFill>
          <a:blip r:embed="rId1"/>
          <a:stretch>
            <a:fillRect/>
          </a:stretch>
        </p:blipFill>
        <p:spPr>
          <a:xfrm>
            <a:off x="964878" y="1874520"/>
            <a:ext cx="4608204" cy="2286000"/>
          </a:xfrm>
          <a:prstGeom prst="rect">
            <a:avLst/>
          </a:prstGeom>
        </p:spPr>
      </p:pic>
      <p:sp>
        <p:nvSpPr>
          <p:cNvPr id="11" name="Text 8"/>
          <p:cNvSpPr txBox="1"/>
          <p:nvPr/>
        </p:nvSpPr>
        <p:spPr>
          <a:xfrm>
            <a:off x="548640" y="4233672"/>
            <a:ext cx="5486400" cy="22860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 Transcription Length Distribution</a:t>
            </a:r>
            <a:endParaRPr lang="en-US" sz="950" dirty="0"/>
          </a:p>
        </p:txBody>
      </p:sp>
      <p:sp>
        <p:nvSpPr>
          <p:cNvPr id="12" name="Shape 9"/>
          <p:cNvSpPr/>
          <p:nvPr/>
        </p:nvSpPr>
        <p:spPr>
          <a:xfrm>
            <a:off x="6245352" y="1737360"/>
            <a:ext cx="5486400" cy="2788920"/>
          </a:xfrm>
          <a:prstGeom prst="roundRect">
            <a:avLst>
              <a:gd name="adj" fmla="val 2951"/>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13" name="Image 1" descr="/home/claude/imgs/img-010.png">    </p:cNvPr>
          <p:cNvPicPr>
            <a:picLocks noChangeAspect="1"/>
          </p:cNvPicPr>
          <p:nvPr/>
        </p:nvPicPr>
        <p:blipFill>
          <a:blip r:embed="rId2"/>
          <a:stretch>
            <a:fillRect/>
          </a:stretch>
        </p:blipFill>
        <p:spPr>
          <a:xfrm>
            <a:off x="7044424" y="1874520"/>
            <a:ext cx="3888256" cy="2286000"/>
          </a:xfrm>
          <a:prstGeom prst="rect">
            <a:avLst/>
          </a:prstGeom>
        </p:spPr>
      </p:pic>
      <p:sp>
        <p:nvSpPr>
          <p:cNvPr id="14" name="Text 10"/>
          <p:cNvSpPr txBox="1"/>
          <p:nvPr/>
        </p:nvSpPr>
        <p:spPr>
          <a:xfrm>
            <a:off x="6336792" y="4233672"/>
            <a:ext cx="5303520" cy="228600"/>
          </a:xfrm>
          <a:prstGeom prst="rect">
            <a:avLst/>
          </a:prstGeom>
          <a:noFill/>
          <a:ln/>
        </p:spPr>
        <p:txBody>
          <a:bodyPr wrap="square" lIns="0" tIns="0" rIns="0" bIns="0" rtlCol="0" anchor="ctr"/>
          <a:lstStyle/>
          <a:p>
            <a:pPr algn="ctr" indent="0" marL="0">
              <a:buNone/>
            </a:pPr>
            <a:r>
              <a:rPr lang="en-US" sz="950" i="1" dirty="0">
                <a:solidFill>
                  <a:srgbClr val="5B6472"/>
                </a:solidFill>
                <a:latin typeface="Calibri" pitchFamily="34" charset="0"/>
                <a:ea typeface="Calibri" pitchFamily="34" charset="-122"/>
                <a:cs typeface="Calibri" pitchFamily="34" charset="-120"/>
              </a:rPr>
              <a:t>Fig: Word Cloud of Common Clinical Terms</a:t>
            </a:r>
            <a:endParaRPr lang="en-US" sz="950" dirty="0"/>
          </a:p>
        </p:txBody>
      </p:sp>
      <p:sp>
        <p:nvSpPr>
          <p:cNvPr id="15" name="Shape 11"/>
          <p:cNvSpPr/>
          <p:nvPr/>
        </p:nvSpPr>
        <p:spPr>
          <a:xfrm>
            <a:off x="457200" y="4709160"/>
            <a:ext cx="11274552" cy="1554480"/>
          </a:xfrm>
          <a:prstGeom prst="roundRect">
            <a:avLst>
              <a:gd name="adj" fmla="val 5294"/>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6" name="Text 12"/>
          <p:cNvSpPr txBox="1"/>
          <p:nvPr/>
        </p:nvSpPr>
        <p:spPr>
          <a:xfrm>
            <a:off x="685800" y="4828032"/>
            <a:ext cx="3657600" cy="274320"/>
          </a:xfrm>
          <a:prstGeom prst="rect">
            <a:avLst/>
          </a:prstGeom>
          <a:noFill/>
          <a:ln/>
        </p:spPr>
        <p:txBody>
          <a:bodyPr wrap="square" lIns="0" tIns="0" rIns="0" bIns="0" rtlCol="0" anchor="ctr"/>
          <a:lstStyle/>
          <a:p>
            <a:pPr indent="0" marL="0">
              <a:buNone/>
            </a:pPr>
            <a:r>
              <a:rPr lang="en-US" sz="1300" b="1" dirty="0">
                <a:solidFill>
                  <a:srgbClr val="0E7C86"/>
                </a:solidFill>
                <a:latin typeface="Cambria" pitchFamily="34" charset="0"/>
                <a:ea typeface="Cambria" pitchFamily="34" charset="-122"/>
                <a:cs typeface="Cambria" pitchFamily="34" charset="-120"/>
              </a:rPr>
              <a:t>Key Insights</a:t>
            </a:r>
            <a:endParaRPr lang="en-US" sz="1300" dirty="0"/>
          </a:p>
        </p:txBody>
      </p:sp>
      <p:sp>
        <p:nvSpPr>
          <p:cNvPr id="17" name="Text 13"/>
          <p:cNvSpPr txBox="1"/>
          <p:nvPr/>
        </p:nvSpPr>
        <p:spPr>
          <a:xfrm>
            <a:off x="685800" y="5120640"/>
            <a:ext cx="10835640" cy="1097280"/>
          </a:xfrm>
          <a:prstGeom prst="rect">
            <a:avLst/>
          </a:prstGeom>
          <a:noFill/>
          <a:ln/>
        </p:spPr>
        <p:txBody>
          <a:bodyPr wrap="square" rtlCol="0" anchor="t"/>
          <a:lstStyle/>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Median narrative length is ~350–500 words; distribution is right-skewed, extending up to ~3,000 words</a:t>
            </a:r>
            <a:endParaRPr lang="en-US" sz="1050" dirty="0"/>
          </a:p>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Frequent terms (“placed”, “noted”, “used”, “time”, “removed”) are generic clinical-documentation vocabulary shared across specialties</a:t>
            </a:r>
            <a:endParaRPr lang="en-US" sz="1050" dirty="0"/>
          </a:p>
          <a:p>
            <a:pPr marL="177800" indent="-177800">
              <a:spcAft>
                <a:spcPts val="500"/>
              </a:spcAft>
              <a:buSzPct val="100000"/>
              <a:buChar char="•"/>
            </a:pPr>
            <a:r>
              <a:rPr lang="en-US" sz="1050" dirty="0">
                <a:solidFill>
                  <a:srgbClr val="16213E"/>
                </a:solidFill>
                <a:latin typeface="Calibri" pitchFamily="34" charset="0"/>
                <a:ea typeface="Calibri" pitchFamily="34" charset="-122"/>
                <a:cs typeface="Calibri" pitchFamily="34" charset="-120"/>
              </a:rPr>
              <a:t>Variable length and generic high-frequency terms motivate TF-IDF's IDF weighting and L2 normalization to emphasize specialty-specific vocabulary</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EDA Insights &amp; Conclusions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10 of 19</a:t>
            </a:r>
          </a:p>
        </p:txBody>
      </p:sp>
      <p:sp>
        <p:nvSpPr>
          <p:cNvPr id="8" name="Shape 6"/>
          <p:cNvSpPr/>
          <p:nvPr/>
        </p:nvSpPr>
        <p:spPr>
          <a:xfrm>
            <a:off x="457200"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640080" y="1755648"/>
            <a:ext cx="548640" cy="548640"/>
          </a:xfrm>
          <a:prstGeom prst="ellipse">
            <a:avLst/>
          </a:prstGeom>
          <a:solidFill>
            <a:srgbClr val="6C4AB6"/>
          </a:solidFill>
          <a:ln/>
        </p:spPr>
        <p:txBody>
          <a:bodyPr/>
          <a:p/>
        </p:txBody>
      </p:sp>
      <p:sp>
        <p:nvSpPr>
          <p:cNvPr id="10" name="Text 8"/>
          <p:cNvSpPr txBox="1"/>
          <p:nvPr/>
        </p:nvSpPr>
        <p:spPr>
          <a:xfrm>
            <a:off x="640080"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9"/>
          <p:cNvSpPr txBox="1"/>
          <p:nvPr/>
        </p:nvSpPr>
        <p:spPr>
          <a:xfrm>
            <a:off x="1280160"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Severe Class Imbalance</a:t>
            </a:r>
            <a:endParaRPr lang="en-US" sz="1250" dirty="0"/>
          </a:p>
        </p:txBody>
      </p:sp>
      <p:sp>
        <p:nvSpPr>
          <p:cNvPr id="12" name="Text 10"/>
          <p:cNvSpPr txBox="1"/>
          <p:nvPr/>
        </p:nvSpPr>
        <p:spPr>
          <a:xfrm>
            <a:off x="713232"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Surgery (1,103) vs. Autopsy (2) — requires stratified splitting &amp; ensemble voting.</a:t>
            </a:r>
            <a:endParaRPr lang="en-US" sz="1030" dirty="0"/>
          </a:p>
        </p:txBody>
      </p:sp>
      <p:sp>
        <p:nvSpPr>
          <p:cNvPr id="13" name="Shape 11"/>
          <p:cNvSpPr/>
          <p:nvPr/>
        </p:nvSpPr>
        <p:spPr>
          <a:xfrm>
            <a:off x="4233672"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Shape 12"/>
          <p:cNvSpPr/>
          <p:nvPr/>
        </p:nvSpPr>
        <p:spPr>
          <a:xfrm>
            <a:off x="4416552" y="1755648"/>
            <a:ext cx="548640" cy="548640"/>
          </a:xfrm>
          <a:prstGeom prst="ellipse">
            <a:avLst/>
          </a:prstGeom>
          <a:solidFill>
            <a:srgbClr val="0E7C86"/>
          </a:solidFill>
          <a:ln/>
        </p:spPr>
        <p:txBody>
          <a:bodyPr/>
          <a:p/>
        </p:txBody>
      </p:sp>
      <p:sp>
        <p:nvSpPr>
          <p:cNvPr id="15" name="Text 13"/>
          <p:cNvSpPr txBox="1"/>
          <p:nvPr/>
        </p:nvSpPr>
        <p:spPr>
          <a:xfrm>
            <a:off x="4416552"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4"/>
          <p:cNvSpPr txBox="1"/>
          <p:nvPr/>
        </p:nvSpPr>
        <p:spPr>
          <a:xfrm>
            <a:off x="5056632"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Variable Text Length</a:t>
            </a:r>
            <a:endParaRPr lang="en-US" sz="1250" dirty="0"/>
          </a:p>
        </p:txBody>
      </p:sp>
      <p:sp>
        <p:nvSpPr>
          <p:cNvPr id="17" name="Text 15"/>
          <p:cNvSpPr txBox="1"/>
          <p:nvPr/>
        </p:nvSpPr>
        <p:spPr>
          <a:xfrm>
            <a:off x="4489704"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200–3,000 words per report — needs TF-IDF with L2 normalization.</a:t>
            </a:r>
            <a:endParaRPr lang="en-US" sz="1030" dirty="0"/>
          </a:p>
        </p:txBody>
      </p:sp>
      <p:sp>
        <p:nvSpPr>
          <p:cNvPr id="18" name="Shape 16"/>
          <p:cNvSpPr/>
          <p:nvPr/>
        </p:nvSpPr>
        <p:spPr>
          <a:xfrm>
            <a:off x="8010144" y="1572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Shape 17"/>
          <p:cNvSpPr/>
          <p:nvPr/>
        </p:nvSpPr>
        <p:spPr>
          <a:xfrm>
            <a:off x="8193024" y="1755648"/>
            <a:ext cx="548640" cy="548640"/>
          </a:xfrm>
          <a:prstGeom prst="ellipse">
            <a:avLst/>
          </a:prstGeom>
          <a:solidFill>
            <a:srgbClr val="13294B"/>
          </a:solidFill>
          <a:ln/>
        </p:spPr>
        <p:txBody>
          <a:bodyPr/>
          <a:p/>
        </p:txBody>
      </p:sp>
      <p:sp>
        <p:nvSpPr>
          <p:cNvPr id="20" name="Text 18"/>
          <p:cNvSpPr txBox="1"/>
          <p:nvPr/>
        </p:nvSpPr>
        <p:spPr>
          <a:xfrm>
            <a:off x="8193024" y="1755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1" name="Text 19"/>
          <p:cNvSpPr txBox="1"/>
          <p:nvPr/>
        </p:nvSpPr>
        <p:spPr>
          <a:xfrm>
            <a:off x="8833104" y="1773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High-Dimensional Text</a:t>
            </a:r>
            <a:endParaRPr lang="en-US" sz="1250" dirty="0"/>
          </a:p>
        </p:txBody>
      </p:sp>
      <p:sp>
        <p:nvSpPr>
          <p:cNvPr id="22" name="Text 20"/>
          <p:cNvSpPr txBox="1"/>
          <p:nvPr/>
        </p:nvSpPr>
        <p:spPr>
          <a:xfrm>
            <a:off x="8266176" y="2414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Large free-text vocabulary → sparse, high-dimensional TF-IDF vectors.</a:t>
            </a:r>
            <a:endParaRPr lang="en-US" sz="1030" dirty="0"/>
          </a:p>
        </p:txBody>
      </p:sp>
      <p:sp>
        <p:nvSpPr>
          <p:cNvPr id="23" name="Shape 21"/>
          <p:cNvSpPr/>
          <p:nvPr/>
        </p:nvSpPr>
        <p:spPr>
          <a:xfrm>
            <a:off x="457200"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4" name="Shape 22"/>
          <p:cNvSpPr/>
          <p:nvPr/>
        </p:nvSpPr>
        <p:spPr>
          <a:xfrm>
            <a:off x="640080" y="4041648"/>
            <a:ext cx="548640" cy="548640"/>
          </a:xfrm>
          <a:prstGeom prst="ellipse">
            <a:avLst/>
          </a:prstGeom>
          <a:solidFill>
            <a:srgbClr val="6C4AB6"/>
          </a:solidFill>
          <a:ln/>
        </p:spPr>
        <p:txBody>
          <a:bodyPr/>
          <a:p/>
        </p:txBody>
      </p:sp>
      <p:sp>
        <p:nvSpPr>
          <p:cNvPr id="25" name="Text 23"/>
          <p:cNvSpPr txBox="1"/>
          <p:nvPr/>
        </p:nvSpPr>
        <p:spPr>
          <a:xfrm>
            <a:off x="640080"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6" name="Text 24"/>
          <p:cNvSpPr txBox="1"/>
          <p:nvPr/>
        </p:nvSpPr>
        <p:spPr>
          <a:xfrm>
            <a:off x="1280160"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Generic Vocabulary Noise</a:t>
            </a:r>
            <a:endParaRPr lang="en-US" sz="1250" dirty="0"/>
          </a:p>
        </p:txBody>
      </p:sp>
      <p:sp>
        <p:nvSpPr>
          <p:cNvPr id="27" name="Text 25"/>
          <p:cNvSpPr txBox="1"/>
          <p:nvPr/>
        </p:nvSpPr>
        <p:spPr>
          <a:xfrm>
            <a:off x="713232"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Common words dominate raw counts → IDF weighting needed to surface specialty terms.</a:t>
            </a:r>
            <a:endParaRPr lang="en-US" sz="1030" dirty="0"/>
          </a:p>
        </p:txBody>
      </p:sp>
      <p:sp>
        <p:nvSpPr>
          <p:cNvPr id="28" name="Shape 26"/>
          <p:cNvSpPr/>
          <p:nvPr/>
        </p:nvSpPr>
        <p:spPr>
          <a:xfrm>
            <a:off x="4233672"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9" name="Shape 27"/>
          <p:cNvSpPr/>
          <p:nvPr/>
        </p:nvSpPr>
        <p:spPr>
          <a:xfrm>
            <a:off x="4416552" y="4041648"/>
            <a:ext cx="548640" cy="548640"/>
          </a:xfrm>
          <a:prstGeom prst="ellipse">
            <a:avLst/>
          </a:prstGeom>
          <a:solidFill>
            <a:srgbClr val="0E7C86"/>
          </a:solidFill>
          <a:ln/>
        </p:spPr>
        <p:txBody>
          <a:bodyPr/>
          <a:p/>
        </p:txBody>
      </p:sp>
      <p:sp>
        <p:nvSpPr>
          <p:cNvPr id="30" name="Text 28"/>
          <p:cNvSpPr txBox="1"/>
          <p:nvPr/>
        </p:nvSpPr>
        <p:spPr>
          <a:xfrm>
            <a:off x="4416552"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1" name="Text 29"/>
          <p:cNvSpPr txBox="1"/>
          <p:nvPr/>
        </p:nvSpPr>
        <p:spPr>
          <a:xfrm>
            <a:off x="5056632"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Sparse Keywords Field</a:t>
            </a:r>
            <a:endParaRPr lang="en-US" sz="1250" dirty="0"/>
          </a:p>
        </p:txBody>
      </p:sp>
      <p:sp>
        <p:nvSpPr>
          <p:cNvPr id="32" name="Text 30"/>
          <p:cNvSpPr txBox="1"/>
          <p:nvPr/>
        </p:nvSpPr>
        <p:spPr>
          <a:xfrm>
            <a:off x="4489704"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1,068 missing keyword entries — excluded from the primary feature set.</a:t>
            </a:r>
            <a:endParaRPr lang="en-US" sz="1030" dirty="0"/>
          </a:p>
        </p:txBody>
      </p:sp>
      <p:sp>
        <p:nvSpPr>
          <p:cNvPr id="33" name="Shape 31"/>
          <p:cNvSpPr/>
          <p:nvPr/>
        </p:nvSpPr>
        <p:spPr>
          <a:xfrm>
            <a:off x="8010144" y="3858768"/>
            <a:ext cx="3639312" cy="2148840"/>
          </a:xfrm>
          <a:prstGeom prst="roundRect">
            <a:avLst>
              <a:gd name="adj" fmla="val 3830"/>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4" name="Shape 32"/>
          <p:cNvSpPr/>
          <p:nvPr/>
        </p:nvSpPr>
        <p:spPr>
          <a:xfrm>
            <a:off x="8193024" y="4041648"/>
            <a:ext cx="548640" cy="548640"/>
          </a:xfrm>
          <a:prstGeom prst="ellipse">
            <a:avLst/>
          </a:prstGeom>
          <a:solidFill>
            <a:srgbClr val="13294B"/>
          </a:solidFill>
          <a:ln/>
        </p:spPr>
        <p:txBody>
          <a:bodyPr/>
          <a:p/>
        </p:txBody>
      </p:sp>
      <p:sp>
        <p:nvSpPr>
          <p:cNvPr id="35" name="Text 33"/>
          <p:cNvSpPr txBox="1"/>
          <p:nvPr/>
        </p:nvSpPr>
        <p:spPr>
          <a:xfrm>
            <a:off x="8193024" y="404164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36" name="Text 34"/>
          <p:cNvSpPr txBox="1"/>
          <p:nvPr/>
        </p:nvSpPr>
        <p:spPr>
          <a:xfrm>
            <a:off x="8833104" y="4059936"/>
            <a:ext cx="2633472" cy="548640"/>
          </a:xfrm>
          <a:prstGeom prst="rect">
            <a:avLst/>
          </a:prstGeom>
          <a:noFill/>
          <a:ln/>
        </p:spPr>
        <p:txBody>
          <a:bodyPr wrap="square" lIns="0" tIns="0" rIns="0" bIns="0" rtlCol="0" anchor="t"/>
          <a:lstStyle/>
          <a:p>
            <a:pPr indent="0" marL="0">
              <a:lnSpc>
                <a:spcPct val="100000"/>
              </a:lnSpc>
              <a:buNone/>
            </a:pPr>
            <a:r>
              <a:rPr lang="en-US" sz="1250" b="1" dirty="0">
                <a:solidFill>
                  <a:srgbClr val="0B1F3A"/>
                </a:solidFill>
                <a:latin typeface="Cambria" pitchFamily="34" charset="0"/>
                <a:ea typeface="Cambria" pitchFamily="34" charset="-122"/>
                <a:cs typeface="Cambria" pitchFamily="34" charset="-120"/>
              </a:rPr>
              <a:t>Multi-Metric Evaluation</a:t>
            </a:r>
            <a:endParaRPr lang="en-US" sz="1250" dirty="0"/>
          </a:p>
        </p:txBody>
      </p:sp>
      <p:sp>
        <p:nvSpPr>
          <p:cNvPr id="37" name="Text 35"/>
          <p:cNvSpPr txBox="1"/>
          <p:nvPr/>
        </p:nvSpPr>
        <p:spPr>
          <a:xfrm>
            <a:off x="8266176" y="4700016"/>
            <a:ext cx="3127248" cy="1188720"/>
          </a:xfrm>
          <a:prstGeom prst="rect">
            <a:avLst/>
          </a:prstGeom>
          <a:noFill/>
          <a:ln/>
        </p:spPr>
        <p:txBody>
          <a:bodyPr wrap="square" lIns="0" tIns="0" rIns="0" bIns="0" rtlCol="0" anchor="t"/>
          <a:lstStyle/>
          <a:p>
            <a:pPr indent="0" marL="0">
              <a:lnSpc>
                <a:spcPct val="115000"/>
              </a:lnSpc>
              <a:buNone/>
            </a:pPr>
            <a:r>
              <a:rPr lang="en-US" sz="1030" dirty="0">
                <a:solidFill>
                  <a:srgbClr val="16213E"/>
                </a:solidFill>
                <a:latin typeface="Calibri" pitchFamily="34" charset="0"/>
                <a:ea typeface="Calibri" pitchFamily="34" charset="-122"/>
                <a:cs typeface="Calibri" pitchFamily="34" charset="-120"/>
              </a:rPr>
              <a:t>Accuracy alone is misleading under imbalance — use precision, recall &amp; F1.</a:t>
            </a:r>
            <a:endParaRPr lang="en-US" sz="103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DATA ANALYSIS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Pre-Processed Dataset Structure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11 of 19</a:t>
            </a:r>
          </a:p>
        </p:txBody>
      </p:sp>
      <p:sp>
        <p:nvSpPr>
          <p:cNvPr id="8" name="Shape 6"/>
          <p:cNvSpPr/>
          <p:nvPr/>
        </p:nvSpPr>
        <p:spPr>
          <a:xfrm>
            <a:off x="457200" y="1463040"/>
            <a:ext cx="5486400" cy="566928"/>
          </a:xfrm>
          <a:prstGeom prst="roundRect">
            <a:avLst>
              <a:gd name="adj" fmla="val 50000"/>
            </a:avLst>
          </a:prstGeom>
          <a:solidFill>
            <a:srgbClr val="EAF6F5"/>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Text 7"/>
          <p:cNvSpPr txBox="1"/>
          <p:nvPr/>
        </p:nvSpPr>
        <p:spPr>
          <a:xfrm>
            <a:off x="457200" y="1463040"/>
            <a:ext cx="5486400" cy="566928"/>
          </a:xfrm>
          <a:prstGeom prst="rect">
            <a:avLst/>
          </a:prstGeom>
          <a:noFill/>
          <a:ln/>
        </p:spPr>
        <p:txBody>
          <a:bodyPr wrap="square" lIns="0" tIns="0" rIns="0" bIns="0" rtlCol="0" anchor="ctr"/>
          <a:lstStyle/>
          <a:p>
            <a:pPr algn="ctr" indent="0" marL="0">
              <a:buNone/>
            </a:pPr>
            <a:r>
              <a:rPr lang="en-US" sz="1150" b="1" dirty="0">
                <a:solidFill>
                  <a:srgbClr val="0E7C86"/>
                </a:solidFill>
                <a:latin typeface="Calibri" pitchFamily="34" charset="0"/>
                <a:ea typeface="Calibri" pitchFamily="34" charset="-122"/>
                <a:cs typeface="Calibri" pitchFamily="34" charset="-120"/>
              </a:rPr>
              <a:t>CURRENT: Explored &amp; Cleaned Dataset</a:t>
            </a:r>
            <a:endParaRPr lang="en-US" sz="1150" dirty="0"/>
          </a:p>
        </p:txBody>
      </p:sp>
      <p:sp>
        <p:nvSpPr>
          <p:cNvPr id="10" name="Shape 8"/>
          <p:cNvSpPr/>
          <p:nvPr/>
        </p:nvSpPr>
        <p:spPr>
          <a:xfrm>
            <a:off x="6217920" y="1463040"/>
            <a:ext cx="5513832" cy="566928"/>
          </a:xfrm>
          <a:prstGeom prst="roundRect">
            <a:avLst>
              <a:gd name="adj" fmla="val 50000"/>
            </a:avLst>
          </a:prstGeom>
          <a:solidFill>
            <a:srgbClr val="F2EEFA"/>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1" name="Text 9"/>
          <p:cNvSpPr txBox="1"/>
          <p:nvPr/>
        </p:nvSpPr>
        <p:spPr>
          <a:xfrm>
            <a:off x="6217920" y="1463040"/>
            <a:ext cx="5513832" cy="566928"/>
          </a:xfrm>
          <a:prstGeom prst="rect">
            <a:avLst/>
          </a:prstGeom>
          <a:noFill/>
          <a:ln/>
        </p:spPr>
        <p:txBody>
          <a:bodyPr wrap="square" lIns="0" tIns="0" rIns="0" bIns="0" rtlCol="0" anchor="ctr"/>
          <a:lstStyle/>
          <a:p>
            <a:pPr algn="ctr" indent="0" marL="0">
              <a:buNone/>
            </a:pPr>
            <a:r>
              <a:rPr lang="en-US" sz="1150" b="1" dirty="0">
                <a:solidFill>
                  <a:srgbClr val="6C4AB6"/>
                </a:solidFill>
                <a:latin typeface="Calibri" pitchFamily="34" charset="0"/>
                <a:ea typeface="Calibri" pitchFamily="34" charset="-122"/>
                <a:cs typeface="Calibri" pitchFamily="34" charset="-120"/>
              </a:rPr>
              <a:t>PROPOSED: Fully Text-Preprocessed Output</a:t>
            </a:r>
            <a:endParaRPr lang="en-US" sz="1150" dirty="0"/>
          </a:p>
        </p:txBody>
      </p:sp>
      <p:sp>
        <p:nvSpPr>
          <p:cNvPr id="12" name="Shape 10"/>
          <p:cNvSpPr/>
          <p:nvPr/>
        </p:nvSpPr>
        <p:spPr>
          <a:xfrm>
            <a:off x="457200" y="2212848"/>
            <a:ext cx="5486400" cy="4069080"/>
          </a:xfrm>
          <a:prstGeom prst="roundRect">
            <a:avLst>
              <a:gd name="adj" fmla="val 20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3" name="Text 11"/>
          <p:cNvSpPr txBox="1"/>
          <p:nvPr/>
        </p:nvSpPr>
        <p:spPr>
          <a:xfrm>
            <a:off x="685800" y="2359152"/>
            <a:ext cx="5029200" cy="365760"/>
          </a:xfrm>
          <a:prstGeom prst="rect">
            <a:avLst/>
          </a:prstGeom>
          <a:noFill/>
          <a:ln/>
        </p:spPr>
        <p:txBody>
          <a:bodyPr wrap="square" lIns="0" tIns="0" rIns="0" bIns="0" rtlCol="0" anchor="ctr"/>
          <a:lstStyle/>
          <a:p>
            <a:pPr indent="0" marL="0">
              <a:buNone/>
            </a:pPr>
            <a:r>
              <a:rPr lang="en-US" sz="1050" i="1" dirty="0">
                <a:solidFill>
                  <a:srgbClr val="5B6472"/>
                </a:solidFill>
                <a:latin typeface="Calibri" pitchFamily="34" charset="0"/>
                <a:ea typeface="Calibri" pitchFamily="34" charset="-122"/>
                <a:cs typeface="Calibri" pitchFamily="34" charset="-120"/>
              </a:rPr>
              <a:t>After removing 33 records with missing transcription (Table 6 audit):</a:t>
            </a:r>
            <a:endParaRPr lang="en-US" sz="1050" dirty="0"/>
          </a:p>
        </p:txBody>
      </p:sp>
      <p:sp>
        <p:nvSpPr>
          <p:cNvPr id="14" name="Text 12"/>
          <p:cNvSpPr txBox="1"/>
          <p:nvPr/>
        </p:nvSpPr>
        <p:spPr>
          <a:xfrm>
            <a:off x="685800" y="278892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shape</a:t>
            </a:r>
            <a:endParaRPr lang="en-US" sz="1100" dirty="0"/>
          </a:p>
        </p:txBody>
      </p:sp>
      <p:sp>
        <p:nvSpPr>
          <p:cNvPr id="15" name="Text 13"/>
          <p:cNvSpPr txBox="1"/>
          <p:nvPr/>
        </p:nvSpPr>
        <p:spPr>
          <a:xfrm>
            <a:off x="2697480" y="278892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(4,966, 6)</a:t>
            </a:r>
            <a:endParaRPr lang="en-US" sz="1100" dirty="0"/>
          </a:p>
        </p:txBody>
      </p:sp>
      <p:sp>
        <p:nvSpPr>
          <p:cNvPr id="16" name="Text 14"/>
          <p:cNvSpPr txBox="1"/>
          <p:nvPr/>
        </p:nvSpPr>
        <p:spPr>
          <a:xfrm>
            <a:off x="685800" y="315468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columns</a:t>
            </a:r>
            <a:endParaRPr lang="en-US" sz="1100" dirty="0"/>
          </a:p>
        </p:txBody>
      </p:sp>
      <p:sp>
        <p:nvSpPr>
          <p:cNvPr id="17" name="Text 15"/>
          <p:cNvSpPr txBox="1"/>
          <p:nvPr/>
        </p:nvSpPr>
        <p:spPr>
          <a:xfrm>
            <a:off x="2697480" y="315468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6 fields</a:t>
            </a:r>
            <a:endParaRPr lang="en-US" sz="1100" dirty="0"/>
          </a:p>
        </p:txBody>
      </p:sp>
      <p:sp>
        <p:nvSpPr>
          <p:cNvPr id="18" name="Text 16"/>
          <p:cNvSpPr txBox="1"/>
          <p:nvPr/>
        </p:nvSpPr>
        <p:spPr>
          <a:xfrm>
            <a:off x="685800" y="3520440"/>
            <a:ext cx="2011680" cy="310896"/>
          </a:xfrm>
          <a:prstGeom prst="rect">
            <a:avLst/>
          </a:prstGeom>
          <a:noFill/>
          <a:ln/>
        </p:spPr>
        <p:txBody>
          <a:bodyPr wrap="square" lIns="0" tIns="0" rIns="0" bIns="0" rtlCol="0" anchor="ctr"/>
          <a:lstStyle/>
          <a:p>
            <a:pPr indent="0" marL="0">
              <a:buNone/>
            </a:pPr>
            <a:r>
              <a:rPr lang="en-US" sz="1100" b="1" dirty="0">
                <a:solidFill>
                  <a:srgbClr val="0B1F3A"/>
                </a:solidFill>
                <a:latin typeface="Consolas" pitchFamily="34" charset="0"/>
                <a:ea typeface="Consolas" pitchFamily="34" charset="-122"/>
                <a:cs typeface="Consolas" pitchFamily="34" charset="-120"/>
              </a:rPr>
              <a:t>target classes</a:t>
            </a:r>
            <a:endParaRPr lang="en-US" sz="1100" dirty="0"/>
          </a:p>
        </p:txBody>
      </p:sp>
      <p:sp>
        <p:nvSpPr>
          <p:cNvPr id="19" name="Text 17"/>
          <p:cNvSpPr txBox="1"/>
          <p:nvPr/>
        </p:nvSpPr>
        <p:spPr>
          <a:xfrm>
            <a:off x="2697480" y="3520440"/>
            <a:ext cx="2926080" cy="310896"/>
          </a:xfrm>
          <a:prstGeom prst="rect">
            <a:avLst/>
          </a:prstGeom>
          <a:noFill/>
          <a:ln/>
        </p:spPr>
        <p:txBody>
          <a:bodyPr wrap="square" lIns="0" tIns="0" rIns="0" bIns="0" rtlCol="0" anchor="ctr"/>
          <a:lstStyle/>
          <a:p>
            <a:pPr indent="0" marL="0">
              <a:buNone/>
            </a:pPr>
            <a:r>
              <a:rPr lang="en-US" sz="1100" dirty="0">
                <a:solidFill>
                  <a:srgbClr val="16213E"/>
                </a:solidFill>
                <a:latin typeface="Consolas" pitchFamily="34" charset="0"/>
                <a:ea typeface="Consolas" pitchFamily="34" charset="-122"/>
                <a:cs typeface="Consolas" pitchFamily="34" charset="-120"/>
              </a:rPr>
              <a:t>40</a:t>
            </a:r>
            <a:endParaRPr lang="en-US" sz="1100" dirty="0"/>
          </a:p>
        </p:txBody>
      </p:sp>
      <p:sp>
        <p:nvSpPr>
          <p:cNvPr id="20" name="Text 18"/>
          <p:cNvSpPr txBox="1"/>
          <p:nvPr/>
        </p:nvSpPr>
        <p:spPr>
          <a:xfrm>
            <a:off x="685800" y="3959352"/>
            <a:ext cx="4937760" cy="27432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dtypes</a:t>
            </a:r>
            <a:endParaRPr lang="en-US" sz="1200" dirty="0"/>
          </a:p>
        </p:txBody>
      </p:sp>
      <p:sp>
        <p:nvSpPr>
          <p:cNvPr id="21" name="Shape 19"/>
          <p:cNvSpPr/>
          <p:nvPr/>
        </p:nvSpPr>
        <p:spPr>
          <a:xfrm>
            <a:off x="685800" y="4270248"/>
            <a:ext cx="5029200" cy="274320"/>
          </a:xfrm>
          <a:prstGeom prst="rect">
            <a:avLst/>
          </a:prstGeom>
          <a:solidFill>
            <a:srgbClr val="EEF2F8"/>
          </a:solidFill>
          <a:ln/>
        </p:spPr>
        <p:txBody>
          <a:bodyPr/>
          <a:p/>
        </p:txBody>
      </p:sp>
      <p:sp>
        <p:nvSpPr>
          <p:cNvPr id="22" name="Text 20"/>
          <p:cNvSpPr txBox="1"/>
          <p:nvPr/>
        </p:nvSpPr>
        <p:spPr>
          <a:xfrm>
            <a:off x="777240" y="427024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Unnamed: 0</a:t>
            </a:r>
            <a:endParaRPr lang="en-US" sz="950" dirty="0"/>
          </a:p>
        </p:txBody>
      </p:sp>
      <p:sp>
        <p:nvSpPr>
          <p:cNvPr id="23" name="Text 21"/>
          <p:cNvSpPr txBox="1"/>
          <p:nvPr/>
        </p:nvSpPr>
        <p:spPr>
          <a:xfrm>
            <a:off x="3749040" y="427024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int64</a:t>
            </a:r>
            <a:endParaRPr lang="en-US" sz="950" dirty="0"/>
          </a:p>
        </p:txBody>
      </p:sp>
      <p:sp>
        <p:nvSpPr>
          <p:cNvPr id="24" name="Text 22"/>
          <p:cNvSpPr txBox="1"/>
          <p:nvPr/>
        </p:nvSpPr>
        <p:spPr>
          <a:xfrm>
            <a:off x="777240" y="454456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description</a:t>
            </a:r>
            <a:endParaRPr lang="en-US" sz="950" dirty="0"/>
          </a:p>
        </p:txBody>
      </p:sp>
      <p:sp>
        <p:nvSpPr>
          <p:cNvPr id="25" name="Text 23"/>
          <p:cNvSpPr txBox="1"/>
          <p:nvPr/>
        </p:nvSpPr>
        <p:spPr>
          <a:xfrm>
            <a:off x="3749040" y="454456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26" name="Shape 24"/>
          <p:cNvSpPr/>
          <p:nvPr/>
        </p:nvSpPr>
        <p:spPr>
          <a:xfrm>
            <a:off x="685800" y="4818888"/>
            <a:ext cx="5029200" cy="274320"/>
          </a:xfrm>
          <a:prstGeom prst="rect">
            <a:avLst/>
          </a:prstGeom>
          <a:solidFill>
            <a:srgbClr val="EEF2F8"/>
          </a:solidFill>
          <a:ln/>
        </p:spPr>
        <p:txBody>
          <a:bodyPr/>
          <a:p/>
        </p:txBody>
      </p:sp>
      <p:sp>
        <p:nvSpPr>
          <p:cNvPr id="27" name="Text 25"/>
          <p:cNvSpPr txBox="1"/>
          <p:nvPr/>
        </p:nvSpPr>
        <p:spPr>
          <a:xfrm>
            <a:off x="777240" y="481888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medical_specialty</a:t>
            </a:r>
            <a:endParaRPr lang="en-US" sz="950" dirty="0"/>
          </a:p>
        </p:txBody>
      </p:sp>
      <p:sp>
        <p:nvSpPr>
          <p:cNvPr id="28" name="Text 26"/>
          <p:cNvSpPr txBox="1"/>
          <p:nvPr/>
        </p:nvSpPr>
        <p:spPr>
          <a:xfrm>
            <a:off x="3749040" y="481888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29" name="Text 27"/>
          <p:cNvSpPr txBox="1"/>
          <p:nvPr/>
        </p:nvSpPr>
        <p:spPr>
          <a:xfrm>
            <a:off x="777240" y="509320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sample_name</a:t>
            </a:r>
            <a:endParaRPr lang="en-US" sz="950" dirty="0"/>
          </a:p>
        </p:txBody>
      </p:sp>
      <p:sp>
        <p:nvSpPr>
          <p:cNvPr id="30" name="Text 28"/>
          <p:cNvSpPr txBox="1"/>
          <p:nvPr/>
        </p:nvSpPr>
        <p:spPr>
          <a:xfrm>
            <a:off x="3749040" y="509320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1" name="Shape 29"/>
          <p:cNvSpPr/>
          <p:nvPr/>
        </p:nvSpPr>
        <p:spPr>
          <a:xfrm>
            <a:off x="685800" y="5367528"/>
            <a:ext cx="5029200" cy="274320"/>
          </a:xfrm>
          <a:prstGeom prst="rect">
            <a:avLst/>
          </a:prstGeom>
          <a:solidFill>
            <a:srgbClr val="EEF2F8"/>
          </a:solidFill>
          <a:ln/>
        </p:spPr>
        <p:txBody>
          <a:bodyPr/>
          <a:p/>
        </p:txBody>
      </p:sp>
      <p:sp>
        <p:nvSpPr>
          <p:cNvPr id="32" name="Text 30"/>
          <p:cNvSpPr txBox="1"/>
          <p:nvPr/>
        </p:nvSpPr>
        <p:spPr>
          <a:xfrm>
            <a:off x="777240" y="536752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transcription</a:t>
            </a:r>
            <a:endParaRPr lang="en-US" sz="950" dirty="0"/>
          </a:p>
        </p:txBody>
      </p:sp>
      <p:sp>
        <p:nvSpPr>
          <p:cNvPr id="33" name="Text 31"/>
          <p:cNvSpPr txBox="1"/>
          <p:nvPr/>
        </p:nvSpPr>
        <p:spPr>
          <a:xfrm>
            <a:off x="3749040" y="536752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4" name="Text 32"/>
          <p:cNvSpPr txBox="1"/>
          <p:nvPr/>
        </p:nvSpPr>
        <p:spPr>
          <a:xfrm>
            <a:off x="777240" y="5641848"/>
            <a:ext cx="2926080" cy="274320"/>
          </a:xfrm>
          <a:prstGeom prst="rect">
            <a:avLst/>
          </a:prstGeom>
          <a:noFill/>
          <a:ln/>
        </p:spPr>
        <p:txBody>
          <a:bodyPr wrap="square" lIns="0" tIns="0" rIns="0" bIns="0" rtlCol="0" anchor="ctr"/>
          <a:lstStyle/>
          <a:p>
            <a:pPr indent="0" marL="0">
              <a:buNone/>
            </a:pPr>
            <a:r>
              <a:rPr lang="en-US" sz="950" dirty="0">
                <a:solidFill>
                  <a:srgbClr val="0B1F3A"/>
                </a:solidFill>
                <a:latin typeface="Consolas" pitchFamily="34" charset="0"/>
                <a:ea typeface="Consolas" pitchFamily="34" charset="-122"/>
                <a:cs typeface="Consolas" pitchFamily="34" charset="-120"/>
              </a:rPr>
              <a:t>keywords</a:t>
            </a:r>
            <a:endParaRPr lang="en-US" sz="950" dirty="0"/>
          </a:p>
        </p:txBody>
      </p:sp>
      <p:sp>
        <p:nvSpPr>
          <p:cNvPr id="35" name="Text 33"/>
          <p:cNvSpPr txBox="1"/>
          <p:nvPr/>
        </p:nvSpPr>
        <p:spPr>
          <a:xfrm>
            <a:off x="3749040" y="5641848"/>
            <a:ext cx="1828800" cy="274320"/>
          </a:xfrm>
          <a:prstGeom prst="rect">
            <a:avLst/>
          </a:prstGeom>
          <a:noFill/>
          <a:ln/>
        </p:spPr>
        <p:txBody>
          <a:bodyPr wrap="square" lIns="0" tIns="0" rIns="0" bIns="0" rtlCol="0" anchor="ctr"/>
          <a:lstStyle/>
          <a:p>
            <a:pPr indent="0" marL="0">
              <a:buNone/>
            </a:pPr>
            <a:r>
              <a:rPr lang="en-US" sz="950" dirty="0">
                <a:solidFill>
                  <a:srgbClr val="5B6472"/>
                </a:solidFill>
                <a:latin typeface="Consolas" pitchFamily="34" charset="0"/>
                <a:ea typeface="Consolas" pitchFamily="34" charset="-122"/>
                <a:cs typeface="Consolas" pitchFamily="34" charset="-120"/>
              </a:rPr>
              <a:t>object</a:t>
            </a:r>
            <a:endParaRPr lang="en-US" sz="950" dirty="0"/>
          </a:p>
        </p:txBody>
      </p:sp>
      <p:sp>
        <p:nvSpPr>
          <p:cNvPr id="36" name="Shape 34"/>
          <p:cNvSpPr/>
          <p:nvPr/>
        </p:nvSpPr>
        <p:spPr>
          <a:xfrm>
            <a:off x="6217920" y="2212848"/>
            <a:ext cx="5513832" cy="4069080"/>
          </a:xfrm>
          <a:prstGeom prst="roundRect">
            <a:avLst>
              <a:gd name="adj" fmla="val 20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7" name="Text 35"/>
          <p:cNvSpPr txBox="1"/>
          <p:nvPr/>
        </p:nvSpPr>
        <p:spPr>
          <a:xfrm>
            <a:off x="6446520" y="2359152"/>
            <a:ext cx="5029200" cy="685800"/>
          </a:xfrm>
          <a:prstGeom prst="rect">
            <a:avLst/>
          </a:prstGeom>
          <a:noFill/>
          <a:ln/>
        </p:spPr>
        <p:txBody>
          <a:bodyPr wrap="square" lIns="0" tIns="0" rIns="0" bIns="0" rtlCol="0" anchor="t"/>
          <a:lstStyle/>
          <a:p>
            <a:pPr indent="0" marL="0">
              <a:lnSpc>
                <a:spcPct val="115000"/>
              </a:lnSpc>
              <a:buNone/>
            </a:pPr>
            <a:r>
              <a:rPr lang="en-US" sz="1050" dirty="0">
                <a:solidFill>
                  <a:srgbClr val="16213E"/>
                </a:solidFill>
                <a:latin typeface="Calibri" pitchFamily="34" charset="0"/>
                <a:ea typeface="Calibri" pitchFamily="34" charset="-122"/>
                <a:cs typeface="Calibri" pitchFamily="34" charset="-120"/>
              </a:rPr>
              <a:t>Once the full 8-step cleaning pipeline (Slide 10) and lemmatization are executed, the transcription column will hold clean, lowercase, lemmatized token text — ready for TF-IDF fitting.</a:t>
            </a:r>
            <a:endParaRPr lang="en-US" sz="1050" dirty="0"/>
          </a:p>
        </p:txBody>
      </p:sp>
      <p:sp>
        <p:nvSpPr>
          <p:cNvPr id="38" name="Text 36"/>
          <p:cNvSpPr txBox="1"/>
          <p:nvPr/>
        </p:nvSpPr>
        <p:spPr>
          <a:xfrm>
            <a:off x="6446520" y="3127248"/>
            <a:ext cx="5029200" cy="274320"/>
          </a:xfrm>
          <a:prstGeom prst="rect">
            <a:avLst/>
          </a:prstGeom>
          <a:noFill/>
          <a:ln/>
        </p:spPr>
        <p:txBody>
          <a:bodyPr wrap="square" lIns="0" tIns="0" rIns="0" bIns="0" rtlCol="0" anchor="ctr"/>
          <a:lstStyle/>
          <a:p>
            <a:pPr indent="0" marL="0">
              <a:buNone/>
            </a:pPr>
            <a:r>
              <a:rPr lang="en-US" sz="1200" b="1" dirty="0">
                <a:solidFill>
                  <a:srgbClr val="0B1F3A"/>
                </a:solidFill>
                <a:latin typeface="Cambria" pitchFamily="34" charset="0"/>
                <a:ea typeface="Cambria" pitchFamily="34" charset="-122"/>
                <a:cs typeface="Cambria" pitchFamily="34" charset="-120"/>
              </a:rPr>
              <a:t>Planned verification functions:</a:t>
            </a:r>
            <a:endParaRPr lang="en-US" sz="1200" dirty="0"/>
          </a:p>
        </p:txBody>
      </p:sp>
      <p:sp>
        <p:nvSpPr>
          <p:cNvPr id="39" name="Text 37"/>
          <p:cNvSpPr txBox="1"/>
          <p:nvPr/>
        </p:nvSpPr>
        <p:spPr>
          <a:xfrm>
            <a:off x="6446520" y="3456432"/>
            <a:ext cx="5029200" cy="1463040"/>
          </a:xfrm>
          <a:prstGeom prst="rect">
            <a:avLst/>
          </a:prstGeom>
          <a:noFill/>
          <a:ln/>
        </p:spPr>
        <p:txBody>
          <a:bodyPr wrap="square" rtlCol="0" anchor="t"/>
          <a:lstStyle/>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head() / tail() — preview cleaned narrative text</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shape — confirm 4,966 rows retained post-cleaning</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info() / dtypes — confirm object dtype for text columns</a:t>
            </a:r>
            <a:endParaRPr lang="en-US" sz="1070" dirty="0"/>
          </a:p>
          <a:p>
            <a:pPr marL="177800" indent="-177800">
              <a:spcAft>
                <a:spcPts val="700"/>
              </a:spcAft>
              <a:buSzPct val="100000"/>
              <a:buChar char="•"/>
            </a:pPr>
            <a:r>
              <a:rPr lang="en-US" sz="1070" dirty="0">
                <a:solidFill>
                  <a:srgbClr val="16213E"/>
                </a:solidFill>
                <a:latin typeface="Calibri" pitchFamily="34" charset="0"/>
                <a:ea typeface="Calibri" pitchFamily="34" charset="-122"/>
                <a:cs typeface="Calibri" pitchFamily="34" charset="-120"/>
              </a:rPr>
              <a:t>describe() — summarize categorical target distribution</a:t>
            </a:r>
            <a:endParaRPr lang="en-US" sz="1070" dirty="0"/>
          </a:p>
        </p:txBody>
      </p:sp>
      <p:sp>
        <p:nvSpPr>
          <p:cNvPr id="40" name="Shape 38"/>
          <p:cNvSpPr/>
          <p:nvPr/>
        </p:nvSpPr>
        <p:spPr>
          <a:xfrm>
            <a:off x="6217920" y="5074920"/>
            <a:ext cx="5513832" cy="1051560"/>
          </a:xfrm>
          <a:prstGeom prst="roundRect">
            <a:avLst>
              <a:gd name="adj" fmla="val 7826"/>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41" name="Text 39"/>
          <p:cNvSpPr txBox="1"/>
          <p:nvPr/>
        </p:nvSpPr>
        <p:spPr>
          <a:xfrm>
            <a:off x="6446520" y="5193792"/>
            <a:ext cx="5074920" cy="822960"/>
          </a:xfrm>
          <a:prstGeom prst="rect">
            <a:avLst/>
          </a:prstGeom>
          <a:noFill/>
          <a:ln/>
        </p:spPr>
        <p:txBody>
          <a:bodyPr wrap="square" lIns="0" tIns="0" rIns="0" bIns="0" rtlCol="0" anchor="ctr"/>
          <a:lstStyle/>
          <a:p>
            <a:pPr indent="0" marL="0">
              <a:lnSpc>
                <a:spcPct val="115000"/>
              </a:lnSpc>
              <a:buNone/>
            </a:pPr>
            <a:r>
              <a:rPr lang="en-US" sz="1000" i="1" dirty="0">
                <a:solidFill>
                  <a:srgbClr val="6B4A00"/>
                </a:solidFill>
                <a:latin typeface="Calibri" pitchFamily="34" charset="0"/>
                <a:ea typeface="Calibri" pitchFamily="34" charset="-122"/>
                <a:cs typeface="Calibri" pitchFamily="34" charset="-120"/>
              </a:rPr>
              <a:t>This stage is a proposed methodology step — not yet executed as final results. It will be implemented in the upcoming model-development phase.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PROPOSED ALGORITHMS</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Proposed Machine Learning Algorithms</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12 of 19</a:t>
            </a:r>
          </a:p>
        </p:txBody>
      </p:sp>
      <p:sp>
        <p:nvSpPr>
          <p:cNvPr id="8" name="Shape 6"/>
          <p:cNvSpPr/>
          <p:nvPr/>
        </p:nvSpPr>
        <p:spPr>
          <a:xfrm>
            <a:off x="457200"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9" name="Shape 7"/>
          <p:cNvSpPr/>
          <p:nvPr/>
        </p:nvSpPr>
        <p:spPr>
          <a:xfrm>
            <a:off x="1490472" y="1682496"/>
            <a:ext cx="658368" cy="658368"/>
          </a:xfrm>
          <a:prstGeom prst="ellipse">
            <a:avLst/>
          </a:prstGeom>
          <a:solidFill>
            <a:srgbClr val="0E7C86"/>
          </a:solidFill>
          <a:ln/>
        </p:spPr>
        <p:txBody>
          <a:bodyPr/>
          <a:p/>
        </p:txBody>
      </p:sp>
      <p:sp>
        <p:nvSpPr>
          <p:cNvPr id="10" name="Text 8"/>
          <p:cNvSpPr txBox="1"/>
          <p:nvPr/>
        </p:nvSpPr>
        <p:spPr>
          <a:xfrm>
            <a:off x="1490472"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SVM</a:t>
            </a:r>
            <a:endParaRPr lang="en-US" sz="1300" dirty="0"/>
          </a:p>
        </p:txBody>
      </p:sp>
      <p:sp>
        <p:nvSpPr>
          <p:cNvPr id="11" name="Text 9"/>
          <p:cNvSpPr txBox="1"/>
          <p:nvPr/>
        </p:nvSpPr>
        <p:spPr>
          <a:xfrm>
            <a:off x="594360"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Support Vector Machine</a:t>
            </a:r>
            <a:endParaRPr lang="en-US" sz="1250" dirty="0"/>
          </a:p>
        </p:txBody>
      </p:sp>
      <p:sp>
        <p:nvSpPr>
          <p:cNvPr id="12" name="Text 10"/>
          <p:cNvSpPr txBox="1"/>
          <p:nvPr/>
        </p:nvSpPr>
        <p:spPr>
          <a:xfrm>
            <a:off x="621792"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Finds the maximum-margin hyperplane; excels on sparse, high-dimensional TF-IDF vectors with natural linear separability.</a:t>
            </a:r>
            <a:endParaRPr lang="en-US" sz="960" dirty="0"/>
          </a:p>
        </p:txBody>
      </p:sp>
      <p:sp>
        <p:nvSpPr>
          <p:cNvPr id="13" name="Shape 11"/>
          <p:cNvSpPr/>
          <p:nvPr/>
        </p:nvSpPr>
        <p:spPr>
          <a:xfrm>
            <a:off x="3300984"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4" name="Shape 12"/>
          <p:cNvSpPr/>
          <p:nvPr/>
        </p:nvSpPr>
        <p:spPr>
          <a:xfrm>
            <a:off x="4334256" y="1682496"/>
            <a:ext cx="658368" cy="658368"/>
          </a:xfrm>
          <a:prstGeom prst="ellipse">
            <a:avLst/>
          </a:prstGeom>
          <a:solidFill>
            <a:srgbClr val="6C4AB6"/>
          </a:solidFill>
          <a:ln/>
        </p:spPr>
        <p:txBody>
          <a:bodyPr/>
          <a:p/>
        </p:txBody>
      </p:sp>
      <p:sp>
        <p:nvSpPr>
          <p:cNvPr id="15" name="Text 13"/>
          <p:cNvSpPr txBox="1"/>
          <p:nvPr/>
        </p:nvSpPr>
        <p:spPr>
          <a:xfrm>
            <a:off x="4334256"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RF</a:t>
            </a:r>
            <a:endParaRPr lang="en-US" sz="1300" dirty="0"/>
          </a:p>
        </p:txBody>
      </p:sp>
      <p:sp>
        <p:nvSpPr>
          <p:cNvPr id="16" name="Text 14"/>
          <p:cNvSpPr txBox="1"/>
          <p:nvPr/>
        </p:nvSpPr>
        <p:spPr>
          <a:xfrm>
            <a:off x="3438144"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Random Forest</a:t>
            </a:r>
            <a:endParaRPr lang="en-US" sz="1250" dirty="0"/>
          </a:p>
        </p:txBody>
      </p:sp>
      <p:sp>
        <p:nvSpPr>
          <p:cNvPr id="17" name="Text 15"/>
          <p:cNvSpPr txBox="1"/>
          <p:nvPr/>
        </p:nvSpPr>
        <p:spPr>
          <a:xfrm>
            <a:off x="3465576"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Aggregates many decision trees via bagging; captures non-linear keyword interactions other models may miss.</a:t>
            </a:r>
            <a:endParaRPr lang="en-US" sz="960" dirty="0"/>
          </a:p>
        </p:txBody>
      </p:sp>
      <p:sp>
        <p:nvSpPr>
          <p:cNvPr id="18" name="Shape 16"/>
          <p:cNvSpPr/>
          <p:nvPr/>
        </p:nvSpPr>
        <p:spPr>
          <a:xfrm>
            <a:off x="6144768"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19" name="Shape 17"/>
          <p:cNvSpPr/>
          <p:nvPr/>
        </p:nvSpPr>
        <p:spPr>
          <a:xfrm>
            <a:off x="7178040" y="1682496"/>
            <a:ext cx="658368" cy="658368"/>
          </a:xfrm>
          <a:prstGeom prst="ellipse">
            <a:avLst/>
          </a:prstGeom>
          <a:solidFill>
            <a:srgbClr val="13294B"/>
          </a:solidFill>
          <a:ln/>
        </p:spPr>
        <p:txBody>
          <a:bodyPr/>
          <a:p/>
        </p:txBody>
      </p:sp>
      <p:sp>
        <p:nvSpPr>
          <p:cNvPr id="20" name="Text 18"/>
          <p:cNvSpPr txBox="1"/>
          <p:nvPr/>
        </p:nvSpPr>
        <p:spPr>
          <a:xfrm>
            <a:off x="7178040"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LR</a:t>
            </a:r>
            <a:endParaRPr lang="en-US" sz="1300" dirty="0"/>
          </a:p>
        </p:txBody>
      </p:sp>
      <p:sp>
        <p:nvSpPr>
          <p:cNvPr id="21" name="Text 19"/>
          <p:cNvSpPr txBox="1"/>
          <p:nvPr/>
        </p:nvSpPr>
        <p:spPr>
          <a:xfrm>
            <a:off x="6281928"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Logistic Regression</a:t>
            </a:r>
            <a:endParaRPr lang="en-US" sz="1250" dirty="0"/>
          </a:p>
        </p:txBody>
      </p:sp>
      <p:sp>
        <p:nvSpPr>
          <p:cNvPr id="22" name="Text 20"/>
          <p:cNvSpPr txBox="1"/>
          <p:nvPr/>
        </p:nvSpPr>
        <p:spPr>
          <a:xfrm>
            <a:off x="6309360"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Multinomial Softmax baseline; highly interpretable odds ratios for clinical term importance.</a:t>
            </a:r>
            <a:endParaRPr lang="en-US" sz="960" dirty="0"/>
          </a:p>
        </p:txBody>
      </p:sp>
      <p:sp>
        <p:nvSpPr>
          <p:cNvPr id="23" name="Shape 21"/>
          <p:cNvSpPr/>
          <p:nvPr/>
        </p:nvSpPr>
        <p:spPr>
          <a:xfrm>
            <a:off x="8988552" y="1508760"/>
            <a:ext cx="2724912" cy="2331720"/>
          </a:xfrm>
          <a:prstGeom prst="roundRect">
            <a:avLst>
              <a:gd name="adj" fmla="val 3922"/>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4" name="Shape 22"/>
          <p:cNvSpPr/>
          <p:nvPr/>
        </p:nvSpPr>
        <p:spPr>
          <a:xfrm>
            <a:off x="10021824" y="1682496"/>
            <a:ext cx="658368" cy="658368"/>
          </a:xfrm>
          <a:prstGeom prst="ellipse">
            <a:avLst/>
          </a:prstGeom>
          <a:solidFill>
            <a:srgbClr val="0E7C86"/>
          </a:solidFill>
          <a:ln/>
        </p:spPr>
        <p:txBody>
          <a:bodyPr/>
          <a:p/>
        </p:txBody>
      </p:sp>
      <p:sp>
        <p:nvSpPr>
          <p:cNvPr id="25" name="Text 23"/>
          <p:cNvSpPr txBox="1"/>
          <p:nvPr/>
        </p:nvSpPr>
        <p:spPr>
          <a:xfrm>
            <a:off x="10021824" y="1682496"/>
            <a:ext cx="658368" cy="65836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MNB</a:t>
            </a:r>
            <a:endParaRPr lang="en-US" sz="1300" dirty="0"/>
          </a:p>
        </p:txBody>
      </p:sp>
      <p:sp>
        <p:nvSpPr>
          <p:cNvPr id="26" name="Text 24"/>
          <p:cNvSpPr txBox="1"/>
          <p:nvPr/>
        </p:nvSpPr>
        <p:spPr>
          <a:xfrm>
            <a:off x="9125712" y="2441448"/>
            <a:ext cx="2450592" cy="502920"/>
          </a:xfrm>
          <a:prstGeom prst="rect">
            <a:avLst/>
          </a:prstGeom>
          <a:noFill/>
          <a:ln/>
        </p:spPr>
        <p:txBody>
          <a:bodyPr wrap="square" lIns="0" tIns="0" rIns="0" bIns="0" rtlCol="0" anchor="t"/>
          <a:lstStyle/>
          <a:p>
            <a:pPr algn="ctr" indent="0" marL="0">
              <a:lnSpc>
                <a:spcPct val="100000"/>
              </a:lnSpc>
              <a:buNone/>
            </a:pPr>
            <a:r>
              <a:rPr lang="en-US" sz="1250" b="1" dirty="0">
                <a:solidFill>
                  <a:srgbClr val="0B1F3A"/>
                </a:solidFill>
                <a:latin typeface="Cambria" pitchFamily="34" charset="0"/>
                <a:ea typeface="Cambria" pitchFamily="34" charset="-122"/>
                <a:cs typeface="Cambria" pitchFamily="34" charset="-120"/>
              </a:rPr>
              <a:t>Multinomial Naive Bayes</a:t>
            </a:r>
            <a:endParaRPr lang="en-US" sz="1250" dirty="0"/>
          </a:p>
        </p:txBody>
      </p:sp>
      <p:sp>
        <p:nvSpPr>
          <p:cNvPr id="27" name="Text 25"/>
          <p:cNvSpPr txBox="1"/>
          <p:nvPr/>
        </p:nvSpPr>
        <p:spPr>
          <a:xfrm>
            <a:off x="9153144" y="2926080"/>
            <a:ext cx="2395728" cy="868680"/>
          </a:xfrm>
          <a:prstGeom prst="rect">
            <a:avLst/>
          </a:prstGeom>
          <a:noFill/>
          <a:ln/>
        </p:spPr>
        <p:txBody>
          <a:bodyPr wrap="square" lIns="0" tIns="0" rIns="0" bIns="0" rtlCol="0" anchor="t"/>
          <a:lstStyle/>
          <a:p>
            <a:pPr algn="ctr" indent="0" marL="0">
              <a:lnSpc>
                <a:spcPct val="112000"/>
              </a:lnSpc>
              <a:buNone/>
            </a:pPr>
            <a:r>
              <a:rPr lang="en-US" sz="960" dirty="0">
                <a:solidFill>
                  <a:srgbClr val="16213E"/>
                </a:solidFill>
                <a:latin typeface="Calibri" pitchFamily="34" charset="0"/>
                <a:ea typeface="Calibri" pitchFamily="34" charset="-122"/>
                <a:cs typeface="Calibri" pitchFamily="34" charset="-120"/>
              </a:rPr>
              <a:t>Probabilistic, count-based model; computationally efficient and reliable even on smaller class subsets.</a:t>
            </a:r>
            <a:endParaRPr lang="en-US" sz="960" dirty="0"/>
          </a:p>
        </p:txBody>
      </p:sp>
      <p:sp>
        <p:nvSpPr>
          <p:cNvPr id="28" name="Shape 26"/>
          <p:cNvSpPr/>
          <p:nvPr/>
        </p:nvSpPr>
        <p:spPr>
          <a:xfrm>
            <a:off x="457200" y="4069080"/>
            <a:ext cx="2377440" cy="960120"/>
          </a:xfrm>
          <a:prstGeom prst="roundRect">
            <a:avLst>
              <a:gd name="adj" fmla="val 8571"/>
            </a:avLst>
          </a:prstGeom>
          <a:solidFill>
            <a:srgbClr val="13294B"/>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29" name="Text 27"/>
          <p:cNvSpPr txBox="1"/>
          <p:nvPr/>
        </p:nvSpPr>
        <p:spPr>
          <a:xfrm>
            <a:off x="594360" y="4297680"/>
            <a:ext cx="2103120" cy="1371600"/>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FEATURE EXTRACTION</a:t>
            </a:r>
            <a:endParaRPr lang="en-US" sz="900" dirty="0"/>
          </a:p>
        </p:txBody>
      </p:sp>
      <p:sp>
        <p:nvSpPr>
          <p:cNvPr id="30" name="Text 28"/>
          <p:cNvSpPr txBox="1"/>
          <p:nvPr/>
        </p:nvSpPr>
        <p:spPr>
          <a:xfrm>
            <a:off x="594360" y="4297680"/>
            <a:ext cx="2103120" cy="137160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TF-IDF</a:t>
            </a:r>
            <a:endParaRPr lang="en-US" sz="1200" dirty="0"/>
          </a:p>
        </p:txBody>
      </p:sp>
      <p:sp>
        <p:nvSpPr>
          <p:cNvPr id="31" name="Shape 29"/>
          <p:cNvSpPr/>
          <p:nvPr/>
        </p:nvSpPr>
        <p:spPr>
          <a:xfrm>
            <a:off x="2894076" y="4069080"/>
            <a:ext cx="6035040" cy="960120"/>
          </a:xfrm>
          <a:prstGeom prst="roundRect">
            <a:avLst>
              <a:gd name="adj" fmla="val 8571"/>
            </a:avLst>
          </a:prstGeom>
          <a:solidFill>
            <a:srgbClr val="0E7C86"/>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2" name="Text 30"/>
          <p:cNvSpPr txBox="1"/>
          <p:nvPr/>
        </p:nvSpPr>
        <p:spPr>
          <a:xfrm>
            <a:off x="3031236" y="4297680"/>
            <a:ext cx="5760720" cy="1371600"/>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CLASSIFICATION</a:t>
            </a:r>
            <a:endParaRPr lang="en-US" sz="900" dirty="0"/>
          </a:p>
        </p:txBody>
      </p:sp>
      <p:sp>
        <p:nvSpPr>
          <p:cNvPr id="33" name="Text 31"/>
          <p:cNvSpPr txBox="1"/>
          <p:nvPr/>
        </p:nvSpPr>
        <p:spPr>
          <a:xfrm>
            <a:off x="3031236" y="4297680"/>
            <a:ext cx="5760720" cy="137160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SVM + Random Forest + Logistic Regression + Multinomial NB</a:t>
            </a:r>
            <a:endParaRPr lang="en-US" sz="1200" dirty="0"/>
          </a:p>
        </p:txBody>
      </p:sp>
      <p:sp>
        <p:nvSpPr>
          <p:cNvPr id="34" name="Shape 32"/>
          <p:cNvSpPr/>
          <p:nvPr/>
        </p:nvSpPr>
        <p:spPr>
          <a:xfrm>
            <a:off x="8988552" y="4069080"/>
            <a:ext cx="2862072" cy="960120"/>
          </a:xfrm>
          <a:prstGeom prst="roundRect">
            <a:avLst>
              <a:gd name="adj" fmla="val 8571"/>
            </a:avLst>
          </a:prstGeom>
          <a:solidFill>
            <a:srgbClr val="6C4AB6"/>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
        <p:nvSpPr>
          <p:cNvPr id="35" name="Text 33"/>
          <p:cNvSpPr txBox="1"/>
          <p:nvPr/>
        </p:nvSpPr>
        <p:spPr>
          <a:xfrm>
            <a:off x="9125712" y="4297680"/>
            <a:ext cx="2587752" cy="1371600"/>
          </a:xfrm>
          <a:prstGeom prst="rect">
            <a:avLst/>
          </a:prstGeom>
          <a:noFill/>
          <a:ln/>
        </p:spPr>
        <p:txBody>
          <a:bodyPr wrap="square" lIns="0" tIns="0" rIns="0" bIns="0" rtlCol="0" anchor="ctr"/>
          <a:lstStyle/>
          <a:p>
            <a:pPr indent="0" marL="0">
              <a:buNone/>
            </a:pPr>
            <a:r>
              <a:rPr lang="en-US" sz="900" b="1" spc="50" kern="0" dirty="0">
                <a:solidFill>
                  <a:srgbClr val="D8E4F0"/>
                </a:solidFill>
                <a:latin typeface="Calibri" pitchFamily="34" charset="0"/>
                <a:ea typeface="Calibri" pitchFamily="34" charset="-122"/>
                <a:cs typeface="Calibri" pitchFamily="34" charset="-120"/>
              </a:rPr>
              <a:t>ENSEMBLE</a:t>
            </a:r>
            <a:endParaRPr lang="en-US" sz="900" dirty="0"/>
          </a:p>
        </p:txBody>
      </p:sp>
      <p:sp>
        <p:nvSpPr>
          <p:cNvPr id="36" name="Text 34"/>
          <p:cNvSpPr txBox="1"/>
          <p:nvPr/>
        </p:nvSpPr>
        <p:spPr>
          <a:xfrm>
            <a:off x="9125712" y="4297680"/>
            <a:ext cx="2587752" cy="1371600"/>
          </a:xfrm>
          <a:prstGeom prst="rect">
            <a:avLst/>
          </a:prstGeom>
          <a:noFill/>
          <a:ln/>
        </p:spPr>
        <p:txBody>
          <a:bodyPr wrap="square" lIns="0" tIns="0" rIns="0" bIns="0" rtlCol="0" anchor="t"/>
          <a:lstStyle/>
          <a:p>
            <a:pPr indent="0" marL="0">
              <a:lnSpc>
                <a:spcPct val="105000"/>
              </a:lnSpc>
              <a:buNone/>
            </a:pPr>
            <a:r>
              <a:rPr lang="en-US" sz="1200" b="1" dirty="0">
                <a:solidFill>
                  <a:srgbClr val="FFFFFF"/>
                </a:solidFill>
                <a:latin typeface="Cambria" pitchFamily="34" charset="0"/>
                <a:ea typeface="Cambria" pitchFamily="34" charset="-122"/>
                <a:cs typeface="Cambria" pitchFamily="34" charset="-120"/>
              </a:rPr>
              <a:t>Voting Classifier (Soft Voting)</a:t>
            </a:r>
            <a:endParaRPr lang="en-US" sz="1200" dirty="0"/>
          </a:p>
        </p:txBody>
      </p:sp>
      <p:sp>
        <p:nvSpPr>
          <p:cNvPr id="37" name="Shape 35"/>
          <p:cNvSpPr/>
          <p:nvPr/>
        </p:nvSpPr>
        <p:spPr>
          <a:xfrm>
            <a:off x="457200" y="5257800"/>
            <a:ext cx="11274552" cy="914400"/>
          </a:xfrm>
          <a:prstGeom prst="roundRect">
            <a:avLst>
              <a:gd name="adj" fmla="val 9000"/>
            </a:avLst>
          </a:prstGeom>
          <a:solidFill>
            <a:srgbClr val="FDF6E9"/>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Algorithm Activity Diagrams: SVM &amp; Multinomial Naive Bayes</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13 of 19</a:t>
            </a:r>
          </a:p>
        </p:txBody>
      </p:sp>
      <p:sp>
        <p:nvSpPr>
          <p:cNvPr id="7" name="Rounded Rectangle 6"/>
          <p:cNvSpPr/>
          <p:nvPr/>
        </p:nvSpPr>
        <p:spPr>
          <a:xfrm>
            <a:off x="457200" y="1371600"/>
            <a:ext cx="5440680" cy="4983480"/>
          </a:xfrm>
          <a:prstGeom prst="roundRect">
            <a:avLst/>
          </a:prstGeom>
          <a:solidFill>
            <a:srgbClr val="FFFFFF"/>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508760"/>
            <a:ext cx="5166360" cy="502920"/>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SVM (SUPPORT VECTOR MACHINE) ACTIVITY FLOW</a:t>
            </a:r>
          </a:p>
        </p:txBody>
      </p:sp>
      <p:sp>
        <p:nvSpPr>
          <p:cNvPr id="9" name="Rounded Rectangle 8"/>
          <p:cNvSpPr/>
          <p:nvPr/>
        </p:nvSpPr>
        <p:spPr>
          <a:xfrm>
            <a:off x="594360" y="2148840"/>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1. High-Dimensional Input</a:t>
            </a:r>
          </a:p>
          <a:p>
            <a:pPr>
              <a:defRPr sz="850" b="0">
                <a:solidFill>
                  <a:srgbClr val="334155"/>
                </a:solidFill>
                <a:latin typeface="Calibri"/>
              </a:defRPr>
            </a:pPr>
            <a:r>
              <a:t>Sparse TF-IDF feature vector x ∈ R^V representing clinical narrative vocabulary.</a:t>
            </a:r>
          </a:p>
        </p:txBody>
      </p:sp>
      <p:sp>
        <p:nvSpPr>
          <p:cNvPr id="10" name="Rounded Rectangle 9"/>
          <p:cNvSpPr/>
          <p:nvPr/>
        </p:nvSpPr>
        <p:spPr>
          <a:xfrm>
            <a:off x="594360" y="2852928"/>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2. Linear Decision Mapping</a:t>
            </a:r>
          </a:p>
          <a:p>
            <a:pPr>
              <a:defRPr sz="850" b="0">
                <a:solidFill>
                  <a:srgbClr val="334155"/>
                </a:solidFill>
                <a:latin typeface="Calibri"/>
              </a:defRPr>
            </a:pPr>
            <a:r>
              <a:t>Constructs decision hyperplane w·x + b = 0 in sparse high-dimensional term space.</a:t>
            </a:r>
          </a:p>
        </p:txBody>
      </p:sp>
      <p:sp>
        <p:nvSpPr>
          <p:cNvPr id="11" name="Rounded Rectangle 10"/>
          <p:cNvSpPr/>
          <p:nvPr/>
        </p:nvSpPr>
        <p:spPr>
          <a:xfrm>
            <a:off x="594360" y="3557016"/>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3. Maximum Margin Optimization</a:t>
            </a:r>
          </a:p>
          <a:p>
            <a:pPr>
              <a:defRPr sz="850" b="0">
                <a:solidFill>
                  <a:srgbClr val="334155"/>
                </a:solidFill>
                <a:latin typeface="Calibri"/>
              </a:defRPr>
            </a:pPr>
            <a:r>
              <a:t>Solves quadratic program: min 1/2 ||w||² subject to y_i(w·x_i + b) ≥ 1 - ξ_i.</a:t>
            </a:r>
          </a:p>
        </p:txBody>
      </p:sp>
      <p:sp>
        <p:nvSpPr>
          <p:cNvPr id="12" name="Rounded Rectangle 11"/>
          <p:cNvSpPr/>
          <p:nvPr/>
        </p:nvSpPr>
        <p:spPr>
          <a:xfrm>
            <a:off x="594360" y="4261104"/>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4. Support Vector Identification</a:t>
            </a:r>
          </a:p>
          <a:p>
            <a:pPr>
              <a:defRPr sz="850" b="0">
                <a:solidFill>
                  <a:srgbClr val="334155"/>
                </a:solidFill>
                <a:latin typeface="Calibri"/>
              </a:defRPr>
            </a:pPr>
            <a:r>
              <a:t>Identifies critical borderline transcripts that define category separation margins.</a:t>
            </a:r>
          </a:p>
        </p:txBody>
      </p:sp>
      <p:sp>
        <p:nvSpPr>
          <p:cNvPr id="13" name="Rounded Rectangle 12"/>
          <p:cNvSpPr/>
          <p:nvPr/>
        </p:nvSpPr>
        <p:spPr>
          <a:xfrm>
            <a:off x="594360" y="4965192"/>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5. Platt Probability Scaling</a:t>
            </a:r>
          </a:p>
          <a:p>
            <a:pPr>
              <a:defRPr sz="850" b="0">
                <a:solidFill>
                  <a:srgbClr val="334155"/>
                </a:solidFill>
                <a:latin typeface="Calibri"/>
              </a:defRPr>
            </a:pPr>
            <a:r>
              <a:t>Calibrates decision distances via sigmoid fitting: P(c|x) = 1 / (1 + exp(A·f(x) + B)).</a:t>
            </a:r>
          </a:p>
        </p:txBody>
      </p:sp>
      <p:sp>
        <p:nvSpPr>
          <p:cNvPr id="14" name="Rounded Rectangle 13"/>
          <p:cNvSpPr/>
          <p:nvPr/>
        </p:nvSpPr>
        <p:spPr>
          <a:xfrm>
            <a:off x="594360" y="5669280"/>
            <a:ext cx="5166360" cy="594360"/>
          </a:xfrm>
          <a:prstGeom prst="roundRect">
            <a:avLst/>
          </a:prstGeom>
          <a:solidFill>
            <a:srgbClr val="F0FDFA"/>
          </a:solidFill>
          <a:ln w="12700">
            <a:solidFill>
              <a:srgbClr val="99F6E4"/>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0F766E"/>
                </a:solidFill>
                <a:latin typeface="Calibri"/>
              </a:defRPr>
            </a:pPr>
            <a:r>
              <a:t>6. Class Probability Output</a:t>
            </a:r>
          </a:p>
          <a:p>
            <a:pPr>
              <a:defRPr sz="850" b="0">
                <a:solidFill>
                  <a:srgbClr val="334155"/>
                </a:solidFill>
                <a:latin typeface="Calibri"/>
              </a:defRPr>
            </a:pPr>
            <a:r>
              <a:t>Outputs calibrated probability distribution across all 40 medical specialty categories.</a:t>
            </a:r>
          </a:p>
        </p:txBody>
      </p:sp>
      <p:sp>
        <p:nvSpPr>
          <p:cNvPr id="15" name="Rounded Rectangle 14"/>
          <p:cNvSpPr/>
          <p:nvPr/>
        </p:nvSpPr>
        <p:spPr>
          <a:xfrm>
            <a:off x="6217920" y="1371600"/>
            <a:ext cx="5486400" cy="49834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1508760"/>
            <a:ext cx="5212080" cy="50292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MULTINOMIAL NAIVE BAYES ACTIVITY FLOW</a:t>
            </a:r>
          </a:p>
        </p:txBody>
      </p:sp>
      <p:sp>
        <p:nvSpPr>
          <p:cNvPr id="17" name="Rounded Rectangle 16"/>
          <p:cNvSpPr/>
          <p:nvPr/>
        </p:nvSpPr>
        <p:spPr>
          <a:xfrm>
            <a:off x="6355080" y="2148840"/>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1. Term Frequency Vector Input</a:t>
            </a:r>
          </a:p>
          <a:p>
            <a:pPr>
              <a:defRPr sz="850" b="0">
                <a:solidFill>
                  <a:srgbClr val="334155"/>
                </a:solidFill>
                <a:latin typeface="Calibri"/>
              </a:defRPr>
            </a:pPr>
            <a:r>
              <a:t>Vector of clinical token counts and TF-IDF weights for each vocabulary term t_k.</a:t>
            </a:r>
          </a:p>
        </p:txBody>
      </p:sp>
      <p:sp>
        <p:nvSpPr>
          <p:cNvPr id="18" name="Rounded Rectangle 17"/>
          <p:cNvSpPr/>
          <p:nvPr/>
        </p:nvSpPr>
        <p:spPr>
          <a:xfrm>
            <a:off x="6355080" y="2852928"/>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2. Prior Class Probability P(c)</a:t>
            </a:r>
          </a:p>
          <a:p>
            <a:pPr>
              <a:defRPr sz="850" b="0">
                <a:solidFill>
                  <a:srgbClr val="334155"/>
                </a:solidFill>
                <a:latin typeface="Calibri"/>
              </a:defRPr>
            </a:pPr>
            <a:r>
              <a:t>Estimates empirical prior for each specialty: P(c) = N_c / N_total from training data.</a:t>
            </a:r>
          </a:p>
        </p:txBody>
      </p:sp>
      <p:sp>
        <p:nvSpPr>
          <p:cNvPr id="19" name="Rounded Rectangle 18"/>
          <p:cNvSpPr/>
          <p:nvPr/>
        </p:nvSpPr>
        <p:spPr>
          <a:xfrm>
            <a:off x="6355080" y="3557016"/>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3. Feature Likelihood with Smoothing</a:t>
            </a:r>
          </a:p>
          <a:p>
            <a:pPr>
              <a:defRPr sz="850" b="0">
                <a:solidFill>
                  <a:srgbClr val="334155"/>
                </a:solidFill>
                <a:latin typeface="Calibri"/>
              </a:defRPr>
            </a:pPr>
            <a:r>
              <a:t>Calculates P(t|c) = (count(t,c) + α) / (Σ count(w,c) + α·|V|) using Laplace smoothing (α=1).</a:t>
            </a:r>
          </a:p>
        </p:txBody>
      </p:sp>
      <p:sp>
        <p:nvSpPr>
          <p:cNvPr id="20" name="Rounded Rectangle 19"/>
          <p:cNvSpPr/>
          <p:nvPr/>
        </p:nvSpPr>
        <p:spPr>
          <a:xfrm>
            <a:off x="6355080" y="4261104"/>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4. Log Posterior Accumulation</a:t>
            </a:r>
          </a:p>
          <a:p>
            <a:pPr>
              <a:defRPr sz="850" b="0">
                <a:solidFill>
                  <a:srgbClr val="334155"/>
                </a:solidFill>
                <a:latin typeface="Calibri"/>
              </a:defRPr>
            </a:pPr>
            <a:r>
              <a:t>Computes log P(c|d) = log P(c) + Σ f_t · log P(t|c) to prevent floating-point underflow.</a:t>
            </a:r>
          </a:p>
        </p:txBody>
      </p:sp>
      <p:sp>
        <p:nvSpPr>
          <p:cNvPr id="21" name="Rounded Rectangle 20"/>
          <p:cNvSpPr/>
          <p:nvPr/>
        </p:nvSpPr>
        <p:spPr>
          <a:xfrm>
            <a:off x="6355080" y="4965192"/>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5. Softmax Normalization</a:t>
            </a:r>
          </a:p>
          <a:p>
            <a:pPr>
              <a:defRPr sz="850" b="0">
                <a:solidFill>
                  <a:srgbClr val="334155"/>
                </a:solidFill>
                <a:latin typeface="Calibri"/>
              </a:defRPr>
            </a:pPr>
            <a:r>
              <a:t>Converts log-likelihoods into normalized probability distribution: P(c|d) = exp(s_c)/Σ exp(s_k).</a:t>
            </a:r>
          </a:p>
        </p:txBody>
      </p:sp>
      <p:sp>
        <p:nvSpPr>
          <p:cNvPr id="22" name="Rounded Rectangle 21"/>
          <p:cNvSpPr/>
          <p:nvPr/>
        </p:nvSpPr>
        <p:spPr>
          <a:xfrm>
            <a:off x="6355080" y="5669280"/>
            <a:ext cx="5212080" cy="59436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E40AF"/>
                </a:solidFill>
                <a:latin typeface="Calibri"/>
              </a:defRPr>
            </a:pPr>
            <a:r>
              <a:t>6. Class Probability Output</a:t>
            </a:r>
          </a:p>
          <a:p>
            <a:pPr>
              <a:defRPr sz="850" b="0">
                <a:solidFill>
                  <a:srgbClr val="334155"/>
                </a:solidFill>
                <a:latin typeface="Calibri"/>
              </a:defRPr>
            </a:pPr>
            <a:r>
              <a:t>Generates probabilistic score distribution over 40 categories for ensemble soft voting.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Algorithm Activity Diagrams: Random Forest &amp; Logistic Regression</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14 of 19</a:t>
            </a:r>
          </a:p>
        </p:txBody>
      </p:sp>
      <p:sp>
        <p:nvSpPr>
          <p:cNvPr id="7" name="Rounded Rectangle 6"/>
          <p:cNvSpPr/>
          <p:nvPr/>
        </p:nvSpPr>
        <p:spPr>
          <a:xfrm>
            <a:off x="457200" y="1371600"/>
            <a:ext cx="5440680" cy="4983480"/>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508760"/>
            <a:ext cx="5166360" cy="502920"/>
          </a:xfrm>
          <a:prstGeom prst="roundRect">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RANDOM FOREST (RF) ACTIVITY FLOW</a:t>
            </a:r>
          </a:p>
        </p:txBody>
      </p:sp>
      <p:sp>
        <p:nvSpPr>
          <p:cNvPr id="9" name="Rounded Rectangle 8"/>
          <p:cNvSpPr/>
          <p:nvPr/>
        </p:nvSpPr>
        <p:spPr>
          <a:xfrm>
            <a:off x="594360" y="2148840"/>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1. Dataset &amp; Feature Matrix Input</a:t>
            </a:r>
          </a:p>
          <a:p>
            <a:pPr>
              <a:defRPr sz="850" b="0">
                <a:solidFill>
                  <a:srgbClr val="334155"/>
                </a:solidFill>
                <a:latin typeface="Calibri"/>
              </a:defRPr>
            </a:pPr>
            <a:r>
              <a:t>Receives training matrix X (TF-IDF features) and multi-class labels Y (40 classes).</a:t>
            </a:r>
          </a:p>
        </p:txBody>
      </p:sp>
      <p:sp>
        <p:nvSpPr>
          <p:cNvPr id="10" name="Rounded Rectangle 9"/>
          <p:cNvSpPr/>
          <p:nvPr/>
        </p:nvSpPr>
        <p:spPr>
          <a:xfrm>
            <a:off x="594360" y="2852928"/>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2. Bootstrap Sampling (Bagging)</a:t>
            </a:r>
          </a:p>
          <a:p>
            <a:pPr>
              <a:defRPr sz="850" b="0">
                <a:solidFill>
                  <a:srgbClr val="334155"/>
                </a:solidFill>
                <a:latin typeface="Calibri"/>
              </a:defRPr>
            </a:pPr>
            <a:r>
              <a:t>Generates B bootstrap sample sets by sampling rows with replacement to induce diversity.</a:t>
            </a:r>
          </a:p>
        </p:txBody>
      </p:sp>
      <p:sp>
        <p:nvSpPr>
          <p:cNvPr id="11" name="Rounded Rectangle 10"/>
          <p:cNvSpPr/>
          <p:nvPr/>
        </p:nvSpPr>
        <p:spPr>
          <a:xfrm>
            <a:off x="594360" y="3557016"/>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3. Random Feature Subspace Split</a:t>
            </a:r>
          </a:p>
          <a:p>
            <a:pPr>
              <a:defRPr sz="850" b="0">
                <a:solidFill>
                  <a:srgbClr val="334155"/>
                </a:solidFill>
                <a:latin typeface="Calibri"/>
              </a:defRPr>
            </a:pPr>
            <a:r>
              <a:t>At each decision node, randomly selects m = √|V| features and finds optimal split.</a:t>
            </a:r>
          </a:p>
        </p:txBody>
      </p:sp>
      <p:sp>
        <p:nvSpPr>
          <p:cNvPr id="12" name="Rounded Rectangle 11"/>
          <p:cNvSpPr/>
          <p:nvPr/>
        </p:nvSpPr>
        <p:spPr>
          <a:xfrm>
            <a:off x="594360" y="4261104"/>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4. Decision Tree Induction</a:t>
            </a:r>
          </a:p>
          <a:p>
            <a:pPr>
              <a:defRPr sz="850" b="0">
                <a:solidFill>
                  <a:srgbClr val="334155"/>
                </a:solidFill>
                <a:latin typeface="Calibri"/>
              </a:defRPr>
            </a:pPr>
            <a:r>
              <a:t>Recursively splits nodes using Gini Impurity: Gini = 1 - Σ p_i² until stopping criterion.</a:t>
            </a:r>
          </a:p>
        </p:txBody>
      </p:sp>
      <p:sp>
        <p:nvSpPr>
          <p:cNvPr id="13" name="Rounded Rectangle 12"/>
          <p:cNvSpPr/>
          <p:nvPr/>
        </p:nvSpPr>
        <p:spPr>
          <a:xfrm>
            <a:off x="594360" y="4965192"/>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5. Forest Ensemble Assembly</a:t>
            </a:r>
          </a:p>
          <a:p>
            <a:pPr>
              <a:defRPr sz="850" b="0">
                <a:solidFill>
                  <a:srgbClr val="334155"/>
                </a:solidFill>
                <a:latin typeface="Calibri"/>
              </a:defRPr>
            </a:pPr>
            <a:r>
              <a:t>Combines B independently trained decision trees into an uncorrelated forest ensemble.</a:t>
            </a:r>
          </a:p>
        </p:txBody>
      </p:sp>
      <p:sp>
        <p:nvSpPr>
          <p:cNvPr id="14" name="Rounded Rectangle 13"/>
          <p:cNvSpPr/>
          <p:nvPr/>
        </p:nvSpPr>
        <p:spPr>
          <a:xfrm>
            <a:off x="594360" y="5669280"/>
            <a:ext cx="5166360" cy="594360"/>
          </a:xfrm>
          <a:prstGeom prst="roundRect">
            <a:avLst/>
          </a:prstGeom>
          <a:solidFill>
            <a:srgbClr val="F0FDF4"/>
          </a:solidFill>
          <a:ln w="12700">
            <a:solidFill>
              <a:srgbClr val="BBF7D0"/>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15803D"/>
                </a:solidFill>
                <a:latin typeface="Calibri"/>
              </a:defRPr>
            </a:pPr>
            <a:r>
              <a:t>6. Ensemble Averaged Probability</a:t>
            </a:r>
          </a:p>
          <a:p>
            <a:pPr>
              <a:defRPr sz="850" b="0">
                <a:solidFill>
                  <a:srgbClr val="334155"/>
                </a:solidFill>
                <a:latin typeface="Calibri"/>
              </a:defRPr>
            </a:pPr>
            <a:r>
              <a:t>Calculates consensus class probabilities: P_RF(c) = (1/B) Σ P_tree_b(c) across all B trees.</a:t>
            </a:r>
          </a:p>
        </p:txBody>
      </p:sp>
      <p:sp>
        <p:nvSpPr>
          <p:cNvPr id="15" name="Rounded Rectangle 14"/>
          <p:cNvSpPr/>
          <p:nvPr/>
        </p:nvSpPr>
        <p:spPr>
          <a:xfrm>
            <a:off x="6217920" y="1371600"/>
            <a:ext cx="5486400" cy="4983480"/>
          </a:xfrm>
          <a:prstGeom prst="roundRect">
            <a:avLst/>
          </a:prstGeom>
          <a:solidFill>
            <a:srgbClr val="FFFF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55080" y="1508760"/>
            <a:ext cx="5212080" cy="502920"/>
          </a:xfrm>
          <a:prstGeom prst="roundRect">
            <a:avLst/>
          </a:prstGeom>
          <a:solidFill>
            <a:srgbClr val="9333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50" b="1">
                <a:solidFill>
                  <a:srgbClr val="FFFFFF"/>
                </a:solidFill>
                <a:latin typeface="Calibri"/>
              </a:defRPr>
            </a:pPr>
            <a:r>
              <a:t>LOGISTIC REGRESSION (LR) ACTIVITY FLOW</a:t>
            </a:r>
          </a:p>
        </p:txBody>
      </p:sp>
      <p:sp>
        <p:nvSpPr>
          <p:cNvPr id="17" name="Rounded Rectangle 16"/>
          <p:cNvSpPr/>
          <p:nvPr/>
        </p:nvSpPr>
        <p:spPr>
          <a:xfrm>
            <a:off x="6355080" y="2148840"/>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1. Standardized Vector Input</a:t>
            </a:r>
          </a:p>
          <a:p>
            <a:pPr>
              <a:defRPr sz="850" b="0">
                <a:solidFill>
                  <a:srgbClr val="334155"/>
                </a:solidFill>
                <a:latin typeface="Calibri"/>
              </a:defRPr>
            </a:pPr>
            <a:r>
              <a:t>Sparse TF-IDF vector x with L2 Euclidean normalization representing clinical narrative.</a:t>
            </a:r>
          </a:p>
        </p:txBody>
      </p:sp>
      <p:sp>
        <p:nvSpPr>
          <p:cNvPr id="18" name="Rounded Rectangle 17"/>
          <p:cNvSpPr/>
          <p:nvPr/>
        </p:nvSpPr>
        <p:spPr>
          <a:xfrm>
            <a:off x="6355080" y="2852928"/>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2. Linear Logit Computation</a:t>
            </a:r>
          </a:p>
          <a:p>
            <a:pPr>
              <a:defRPr sz="850" b="0">
                <a:solidFill>
                  <a:srgbClr val="334155"/>
                </a:solidFill>
                <a:latin typeface="Calibri"/>
              </a:defRPr>
            </a:pPr>
            <a:r>
              <a:t>Computes linear combination z_c = w_c · x + b_c for each medical specialty class c ∈ {1..40}.</a:t>
            </a:r>
          </a:p>
        </p:txBody>
      </p:sp>
      <p:sp>
        <p:nvSpPr>
          <p:cNvPr id="19" name="Rounded Rectangle 18"/>
          <p:cNvSpPr/>
          <p:nvPr/>
        </p:nvSpPr>
        <p:spPr>
          <a:xfrm>
            <a:off x="6355080" y="3557016"/>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3. L2 Ridge Regularization</a:t>
            </a:r>
          </a:p>
          <a:p>
            <a:pPr>
              <a:defRPr sz="850" b="0">
                <a:solidFill>
                  <a:srgbClr val="334155"/>
                </a:solidFill>
                <a:latin typeface="Calibri"/>
              </a:defRPr>
            </a:pPr>
            <a:r>
              <a:t>Applies L2 penalty λ/2 ||w||² in objective function to shrink weights &amp; prevent overfitting.</a:t>
            </a:r>
          </a:p>
        </p:txBody>
      </p:sp>
      <p:sp>
        <p:nvSpPr>
          <p:cNvPr id="20" name="Rounded Rectangle 19"/>
          <p:cNvSpPr/>
          <p:nvPr/>
        </p:nvSpPr>
        <p:spPr>
          <a:xfrm>
            <a:off x="6355080" y="4261104"/>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4. Softmax Probability Mapping</a:t>
            </a:r>
          </a:p>
          <a:p>
            <a:pPr>
              <a:defRPr sz="850" b="0">
                <a:solidFill>
                  <a:srgbClr val="334155"/>
                </a:solidFill>
                <a:latin typeface="Calibri"/>
              </a:defRPr>
            </a:pPr>
            <a:r>
              <a:t>Transforms logits to calibrated probabilities via Softmax: P(y=c|x) = exp(z_c) / Σ exp(z_k).</a:t>
            </a:r>
          </a:p>
        </p:txBody>
      </p:sp>
      <p:sp>
        <p:nvSpPr>
          <p:cNvPr id="21" name="Rounded Rectangle 20"/>
          <p:cNvSpPr/>
          <p:nvPr/>
        </p:nvSpPr>
        <p:spPr>
          <a:xfrm>
            <a:off x="6355080" y="4965192"/>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5. Cross-Entropy Loss Optimization</a:t>
            </a:r>
          </a:p>
          <a:p>
            <a:pPr>
              <a:defRPr sz="850" b="0">
                <a:solidFill>
                  <a:srgbClr val="334155"/>
                </a:solidFill>
                <a:latin typeface="Calibri"/>
              </a:defRPr>
            </a:pPr>
            <a:r>
              <a:t>Optimizes parameter weights using L-BFGS quasi-Newton gradient ascent solver.</a:t>
            </a:r>
          </a:p>
        </p:txBody>
      </p:sp>
      <p:sp>
        <p:nvSpPr>
          <p:cNvPr id="22" name="Rounded Rectangle 21"/>
          <p:cNvSpPr/>
          <p:nvPr/>
        </p:nvSpPr>
        <p:spPr>
          <a:xfrm>
            <a:off x="6355080" y="5669280"/>
            <a:ext cx="5212080" cy="594360"/>
          </a:xfrm>
          <a:prstGeom prst="roundRect">
            <a:avLst/>
          </a:prstGeom>
          <a:solidFill>
            <a:srgbClr val="FAF5FF"/>
          </a:solidFill>
          <a:ln w="12700">
            <a:solidFill>
              <a:srgbClr val="E9D5FF"/>
            </a:solidFill>
          </a:ln>
        </p:spPr>
        <p:style>
          <a:lnRef idx="1">
            <a:schemeClr val="accent1"/>
          </a:lnRef>
          <a:fillRef idx="3">
            <a:schemeClr val="accent1"/>
          </a:fillRef>
          <a:effectRef idx="2">
            <a:schemeClr val="accent1"/>
          </a:effectRef>
          <a:fontRef idx="minor">
            <a:schemeClr val="lt1"/>
          </a:fontRef>
        </p:style>
        <p:txBody>
          <a:bodyPr rtlCol="0" anchor="ctr" wrap="square" lIns="109728" tIns="54864"/>
          <a:lstStyle/>
          <a:p>
            <a:pPr algn="ctr">
              <a:defRPr sz="1000" b="1">
                <a:solidFill>
                  <a:srgbClr val="7E22CE"/>
                </a:solidFill>
                <a:latin typeface="Calibri"/>
              </a:defRPr>
            </a:pPr>
            <a:r>
              <a:t>6. Multi-Class Probability Output</a:t>
            </a:r>
          </a:p>
          <a:p>
            <a:pPr>
              <a:defRPr sz="850" b="0">
                <a:solidFill>
                  <a:srgbClr val="334155"/>
                </a:solidFill>
                <a:latin typeface="Calibri"/>
              </a:defRPr>
            </a:pPr>
            <a:r>
              <a:t>Generates calibrated posterior probability distribution vector across all 40 categories.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6F8FB"/>
        </a:solidFill>
      </p:bgPr>
    </p:bg>
    <p:spTree>
      <p:nvGrpSpPr>
        <p:cNvPr id="1" name=""/>
        <p:cNvGrpSpPr/>
        <p:nvPr/>
      </p:nvGrpSpPr>
      <p:grpSpPr>
        <a:xfrm>
          <a:off x="0" y="0"/>
          <a:ext cx="0" cy="0"/>
          <a:chOff x="0" y="0"/>
          <a:chExt cx="0" cy="0"/>
        </a:xfrm>
      </p:grpSpPr>
      <p:sp>
        <p:nvSpPr>
          <p:cNvPr id="2" name="Rounded Rectangle 1"/>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DETAILS OF ALGORITHMS</a:t>
            </a:r>
          </a:p>
        </p:txBody>
      </p:sp>
      <p:sp>
        <p:nvSpPr>
          <p:cNvPr id="3" name="TextBox 2"/>
          <p:cNvSpPr txBox="1"/>
          <p:nvPr/>
        </p:nvSpPr>
        <p:spPr>
          <a:xfrm>
            <a:off x="457200" y="658368"/>
            <a:ext cx="11247120" cy="621792"/>
          </a:xfrm>
          <a:prstGeom prst="rect">
            <a:avLst/>
          </a:prstGeom>
          <a:noFill/>
        </p:spPr>
        <p:txBody>
          <a:bodyPr wrap="none">
            <a:spAutoFit/>
          </a:bodyPr>
          <a:lstStyle/>
          <a:p>
            <a:pPr>
              <a:defRPr sz="2600" b="1">
                <a:solidFill>
                  <a:srgbClr val="0B1F3A"/>
                </a:solidFill>
                <a:latin typeface="Cambria"/>
              </a:defRPr>
            </a:pPr>
            <a:r>
              <a:t>Soft Voting Ensemble: Architecture &amp; Activity Flow</a:t>
            </a:r>
          </a:p>
        </p:txBody>
      </p:sp>
      <p:sp>
        <p:nvSpPr>
          <p:cNvPr id="4" name="TextBox 3"/>
          <p:cNvSpPr txBox="1"/>
          <p:nvPr/>
        </p:nvSpPr>
        <p:spPr>
          <a:xfrm>
            <a:off x="457200" y="6519672"/>
            <a:ext cx="4206240" cy="274320"/>
          </a:xfrm>
          <a:prstGeom prst="rect">
            <a:avLst/>
          </a:prstGeom>
          <a:noFill/>
        </p:spPr>
        <p:txBody>
          <a:bodyPr wrap="none">
            <a:spAutoFit/>
          </a:bodyPr>
          <a:lstStyle/>
          <a:p>
            <a:pPr>
              <a:defRPr sz="900">
                <a:solidFill>
                  <a:srgbClr val="5B6472"/>
                </a:solidFill>
                <a:latin typeface="Calibri"/>
              </a:defRPr>
            </a:pPr>
            <a:r>
              <a:t>Department of Computer Applications | MACE</a:t>
            </a:r>
          </a:p>
        </p:txBody>
      </p:sp>
      <p:sp>
        <p:nvSpPr>
          <p:cNvPr id="5" name="TextBox 4"/>
          <p:cNvSpPr txBox="1"/>
          <p:nvPr/>
        </p:nvSpPr>
        <p:spPr>
          <a:xfrm>
            <a:off x="3657600" y="6519672"/>
            <a:ext cx="4873752" cy="274320"/>
          </a:xfrm>
          <a:prstGeom prst="rect">
            <a:avLst/>
          </a:prstGeom>
          <a:noFill/>
        </p:spPr>
        <p:txBody>
          <a:bodyPr wrap="none">
            <a:spAutoFit/>
          </a:bodyPr>
          <a:lstStyle/>
          <a:p>
            <a:pPr>
              <a:defRPr sz="900">
                <a:solidFill>
                  <a:srgbClr val="5B6472"/>
                </a:solidFill>
                <a:latin typeface="Calibri"/>
              </a:defRPr>
            </a:pPr>
            <a:r>
              <a:t>Mar Athanasius College of Engineering, Kothamangalam</a:t>
            </a:r>
          </a:p>
        </p:txBody>
      </p:sp>
      <p:sp>
        <p:nvSpPr>
          <p:cNvPr id="6" name="TextBox 5"/>
          <p:cNvSpPr txBox="1"/>
          <p:nvPr/>
        </p:nvSpPr>
        <p:spPr>
          <a:xfrm>
            <a:off x="9052560" y="6519672"/>
            <a:ext cx="2679192" cy="274320"/>
          </a:xfrm>
          <a:prstGeom prst="rect">
            <a:avLst/>
          </a:prstGeom>
          <a:noFill/>
        </p:spPr>
        <p:txBody>
          <a:bodyPr wrap="none">
            <a:spAutoFit/>
          </a:bodyPr>
          <a:lstStyle/>
          <a:p>
            <a:pPr>
              <a:defRPr sz="900">
                <a:solidFill>
                  <a:srgbClr val="5B6472"/>
                </a:solidFill>
                <a:latin typeface="Calibri"/>
              </a:defRPr>
            </a:pPr>
            <a:r>
              <a:t>Slide 15 of 19</a:t>
            </a:r>
          </a:p>
        </p:txBody>
      </p:sp>
      <p:sp>
        <p:nvSpPr>
          <p:cNvPr id="7" name="Rounded Rectangle 6"/>
          <p:cNvSpPr/>
          <p:nvPr/>
        </p:nvSpPr>
        <p:spPr>
          <a:xfrm>
            <a:off x="457200" y="1371600"/>
            <a:ext cx="11247120" cy="731520"/>
          </a:xfrm>
          <a:prstGeom prst="roundRect">
            <a:avLst/>
          </a:prstGeom>
          <a:solidFill>
            <a:srgbClr val="EEF6F6"/>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0E7C86"/>
                </a:solidFill>
                <a:latin typeface="Calibri"/>
              </a:defRPr>
            </a:pPr>
            <a:r>
              <a:t>STAGE 1: INPUT NARRATIVE &amp; VECTORIZATION INFERENCE</a:t>
            </a:r>
          </a:p>
          <a:p>
            <a:pPr>
              <a:defRPr sz="1000">
                <a:solidFill>
                  <a:srgbClr val="0F172A"/>
                </a:solidFill>
                <a:latin typeface="Calibri"/>
              </a:defRPr>
            </a:pPr>
            <a:r>
              <a:t>Unseen Clinical Transcription Text  →  8-Step Preprocessing Pipeline  →  TF-IDF Transformation (V vocabulary features)  →  Normalized Sparse Vector x</a:t>
            </a:r>
          </a:p>
        </p:txBody>
      </p:sp>
      <p:sp>
        <p:nvSpPr>
          <p:cNvPr id="8" name="Rounded Rectangle 7"/>
          <p:cNvSpPr/>
          <p:nvPr/>
        </p:nvSpPr>
        <p:spPr>
          <a:xfrm>
            <a:off x="457200" y="2240280"/>
            <a:ext cx="2651760" cy="1508760"/>
          </a:xfrm>
          <a:prstGeom prst="roundRect">
            <a:avLst/>
          </a:prstGeom>
          <a:solidFill>
            <a:srgbClr val="F0FDFA"/>
          </a:solidFill>
          <a:ln w="1905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0E7C86"/>
                </a:solidFill>
                <a:latin typeface="Calibri"/>
              </a:defRPr>
            </a:pPr>
            <a:r>
              <a:t>MODEL 1: SVM Classifier</a:t>
            </a:r>
          </a:p>
          <a:p>
            <a:pPr>
              <a:defRPr sz="950">
                <a:solidFill>
                  <a:srgbClr val="334155"/>
                </a:solidFill>
                <a:latin typeface="Calibri"/>
              </a:defRPr>
            </a:pPr>
            <a:r>
              <a:t>Support Vector Machine</a:t>
            </a:r>
          </a:p>
          <a:p>
            <a:pPr>
              <a:spcAft>
                <a:spcPts val="400"/>
              </a:spcAft>
              <a:defRPr sz="900">
                <a:solidFill>
                  <a:srgbClr val="94A3B8"/>
                </a:solidFill>
                <a:latin typeface="Calibri"/>
              </a:defRPr>
            </a:pPr>
            <a:r>
              <a:t>Platt Calibrated Scaling</a:t>
            </a:r>
          </a:p>
          <a:p>
            <a:pPr>
              <a:defRPr sz="950" b="1">
                <a:solidFill>
                  <a:srgbClr val="0E7C86"/>
                </a:solidFill>
                <a:latin typeface="Calibri"/>
              </a:defRPr>
            </a:pPr>
            <a:r>
              <a:t>Output: P_SVM(c|x) ∈ R^40</a:t>
            </a:r>
          </a:p>
        </p:txBody>
      </p:sp>
      <p:sp>
        <p:nvSpPr>
          <p:cNvPr id="9" name="Rounded Rectangle 8"/>
          <p:cNvSpPr/>
          <p:nvPr/>
        </p:nvSpPr>
        <p:spPr>
          <a:xfrm>
            <a:off x="3319272" y="2240280"/>
            <a:ext cx="2651760" cy="1508760"/>
          </a:xfrm>
          <a:prstGeom prst="roundRect">
            <a:avLst/>
          </a:prstGeom>
          <a:solidFill>
            <a:srgbClr val="F0FDF4"/>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16A34A"/>
                </a:solidFill>
                <a:latin typeface="Calibri"/>
              </a:defRPr>
            </a:pPr>
            <a:r>
              <a:t>MODEL 2: Random Forest</a:t>
            </a:r>
          </a:p>
          <a:p>
            <a:pPr>
              <a:defRPr sz="950">
                <a:solidFill>
                  <a:srgbClr val="334155"/>
                </a:solidFill>
                <a:latin typeface="Calibri"/>
              </a:defRPr>
            </a:pPr>
            <a:r>
              <a:t>Ensemble Decision Trees</a:t>
            </a:r>
          </a:p>
          <a:p>
            <a:pPr>
              <a:spcAft>
                <a:spcPts val="400"/>
              </a:spcAft>
              <a:defRPr sz="900">
                <a:solidFill>
                  <a:srgbClr val="94A3B8"/>
                </a:solidFill>
                <a:latin typeface="Calibri"/>
              </a:defRPr>
            </a:pPr>
            <a:r>
              <a:t>Tree Mean Voting</a:t>
            </a:r>
          </a:p>
          <a:p>
            <a:pPr>
              <a:defRPr sz="950" b="1">
                <a:solidFill>
                  <a:srgbClr val="16A34A"/>
                </a:solidFill>
                <a:latin typeface="Calibri"/>
              </a:defRPr>
            </a:pPr>
            <a:r>
              <a:t>Output: P_RF(c|x) ∈ R^40</a:t>
            </a:r>
          </a:p>
        </p:txBody>
      </p:sp>
      <p:sp>
        <p:nvSpPr>
          <p:cNvPr id="10" name="Rounded Rectangle 9"/>
          <p:cNvSpPr/>
          <p:nvPr/>
        </p:nvSpPr>
        <p:spPr>
          <a:xfrm>
            <a:off x="6181344" y="2240280"/>
            <a:ext cx="2651760" cy="1508760"/>
          </a:xfrm>
          <a:prstGeom prst="roundRect">
            <a:avLst/>
          </a:prstGeom>
          <a:solidFill>
            <a:srgbClr val="FAF5FF"/>
          </a:solidFill>
          <a:ln w="19050">
            <a:solidFill>
              <a:srgbClr val="9333EA"/>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9333EA"/>
                </a:solidFill>
                <a:latin typeface="Calibri"/>
              </a:defRPr>
            </a:pPr>
            <a:r>
              <a:t>MODEL 3: Logistic Regression</a:t>
            </a:r>
          </a:p>
          <a:p>
            <a:pPr>
              <a:defRPr sz="950">
                <a:solidFill>
                  <a:srgbClr val="334155"/>
                </a:solidFill>
                <a:latin typeface="Calibri"/>
              </a:defRPr>
            </a:pPr>
            <a:r>
              <a:t>Multinomial Softmax</a:t>
            </a:r>
          </a:p>
          <a:p>
            <a:pPr>
              <a:spcAft>
                <a:spcPts val="400"/>
              </a:spcAft>
              <a:defRPr sz="900">
                <a:solidFill>
                  <a:srgbClr val="94A3B8"/>
                </a:solidFill>
                <a:latin typeface="Calibri"/>
              </a:defRPr>
            </a:pPr>
            <a:r>
              <a:t>L2 Regularized Logits</a:t>
            </a:r>
          </a:p>
          <a:p>
            <a:pPr>
              <a:defRPr sz="950" b="1">
                <a:solidFill>
                  <a:srgbClr val="9333EA"/>
                </a:solidFill>
                <a:latin typeface="Calibri"/>
              </a:defRPr>
            </a:pPr>
            <a:r>
              <a:t>Output: P_LR(c|x) ∈ R^40</a:t>
            </a:r>
          </a:p>
        </p:txBody>
      </p:sp>
      <p:sp>
        <p:nvSpPr>
          <p:cNvPr id="11" name="Rounded Rectangle 10"/>
          <p:cNvSpPr/>
          <p:nvPr/>
        </p:nvSpPr>
        <p:spPr>
          <a:xfrm>
            <a:off x="9043416" y="2240280"/>
            <a:ext cx="2651760" cy="1508760"/>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09728" tIns="91440"/>
          <a:lstStyle/>
          <a:p>
            <a:pPr algn="ctr">
              <a:spcAft>
                <a:spcPts val="200"/>
              </a:spcAft>
              <a:defRPr sz="1100" b="1">
                <a:solidFill>
                  <a:srgbClr val="2563EB"/>
                </a:solidFill>
                <a:latin typeface="Calibri"/>
              </a:defRPr>
            </a:pPr>
            <a:r>
              <a:t>MODEL 4: Multinomial NB</a:t>
            </a:r>
          </a:p>
          <a:p>
            <a:pPr>
              <a:defRPr sz="950">
                <a:solidFill>
                  <a:srgbClr val="334155"/>
                </a:solidFill>
                <a:latin typeface="Calibri"/>
              </a:defRPr>
            </a:pPr>
            <a:r>
              <a:t>Naïve Bayes Estimator</a:t>
            </a:r>
          </a:p>
          <a:p>
            <a:pPr>
              <a:spcAft>
                <a:spcPts val="400"/>
              </a:spcAft>
              <a:defRPr sz="900">
                <a:solidFill>
                  <a:srgbClr val="94A3B8"/>
                </a:solidFill>
                <a:latin typeface="Calibri"/>
              </a:defRPr>
            </a:pPr>
            <a:r>
              <a:t>Laplace Smoothed Prior</a:t>
            </a:r>
          </a:p>
          <a:p>
            <a:pPr>
              <a:defRPr sz="950" b="1">
                <a:solidFill>
                  <a:srgbClr val="2563EB"/>
                </a:solidFill>
                <a:latin typeface="Calibri"/>
              </a:defRPr>
            </a:pPr>
            <a:r>
              <a:t>Output: P_MNB(c|x) ∈ R^40</a:t>
            </a:r>
          </a:p>
        </p:txBody>
      </p:sp>
      <p:sp>
        <p:nvSpPr>
          <p:cNvPr id="12" name="Rounded Rectangle 11"/>
          <p:cNvSpPr/>
          <p:nvPr/>
        </p:nvSpPr>
        <p:spPr>
          <a:xfrm>
            <a:off x="457200" y="3931920"/>
            <a:ext cx="11247120" cy="1371600"/>
          </a:xfrm>
          <a:prstGeom prst="roundRect">
            <a:avLst/>
          </a:prstGeom>
          <a:solidFill>
            <a:srgbClr val="FFFFFF"/>
          </a:solidFill>
          <a:ln w="19050">
            <a:solidFill>
              <a:srgbClr val="D97706"/>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spcAft>
                <a:spcPts val="300"/>
              </a:spcAft>
              <a:defRPr sz="1100" b="1">
                <a:solidFill>
                  <a:srgbClr val="D97706"/>
                </a:solidFill>
                <a:latin typeface="Calibri"/>
              </a:defRPr>
            </a:pPr>
            <a:r>
              <a:t>STAGE 2: SOFT VOTING CONSENSUS &amp; PROBABILITY AGGREGATION</a:t>
            </a:r>
          </a:p>
          <a:p>
            <a:pPr>
              <a:spcAft>
                <a:spcPts val="300"/>
              </a:spcAft>
              <a:defRPr sz="1100" b="1">
                <a:solidFill>
                  <a:srgbClr val="0F172A"/>
                </a:solidFill>
                <a:latin typeface="Cambria"/>
              </a:defRPr>
            </a:pPr>
            <a:r>
              <a:t>Formula: P_Ensemble(c | x) = 1/4 · [ P_SVM(c | x) + P_RF(c | x) + P_LR(c | x) + P_MNB(c | x) ]   for all 40 categories c ∈ {1..40}</a:t>
            </a:r>
          </a:p>
          <a:p>
            <a:pPr>
              <a:spcAft>
                <a:spcPts val="300"/>
              </a:spcAft>
              <a:defRPr sz="1100" b="1">
                <a:solidFill>
                  <a:srgbClr val="0E7C86"/>
                </a:solidFill>
                <a:latin typeface="Cambria"/>
              </a:defRPr>
            </a:pPr>
            <a:r>
              <a:t>Decision Rule: Predicted Medical Specialty c* = argmax_c P_Ensemble(c | x)   with Confidence Score = max_c P_Ensemble(c | x) · 100%</a:t>
            </a:r>
          </a:p>
          <a:p>
            <a:pPr>
              <a:defRPr sz="950">
                <a:solidFill>
                  <a:srgbClr val="334155"/>
                </a:solidFill>
                <a:latin typeface="Calibri"/>
              </a:defRPr>
            </a:pPr>
            <a:r>
              <a:t>Why Soft Voting? Averages confident probability outputs rather than simple discrete votes; mitigates individual estimator errors and smooths noise.</a:t>
            </a:r>
          </a:p>
        </p:txBody>
      </p:sp>
      <p:sp>
        <p:nvSpPr>
          <p:cNvPr id="13" name="Rounded Rectangle 12"/>
          <p:cNvSpPr/>
          <p:nvPr/>
        </p:nvSpPr>
        <p:spPr>
          <a:xfrm>
            <a:off x="457200" y="5440680"/>
            <a:ext cx="11247120" cy="868680"/>
          </a:xfrm>
          <a:prstGeom prst="roundRect">
            <a:avLst/>
          </a:prstGeom>
          <a:solidFill>
            <a:srgbClr val="13294B"/>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182880" tIns="109728"/>
          <a:lstStyle/>
          <a:p>
            <a:pPr algn="ctr">
              <a:defRPr sz="1100" b="1">
                <a:solidFill>
                  <a:srgbClr val="38BDF8"/>
                </a:solidFill>
                <a:latin typeface="Calibri"/>
              </a:defRPr>
            </a:pPr>
            <a:r>
              <a:t>FINAL SYSTEM PREDICTION OUTPUT (STAGE 3)</a:t>
            </a:r>
          </a:p>
          <a:p>
            <a:pPr>
              <a:defRPr sz="1000">
                <a:solidFill>
                  <a:srgbClr val="FFFFFF"/>
                </a:solidFill>
                <a:latin typeface="Calibri"/>
              </a:defRPr>
            </a:pPr>
            <a:r>
              <a:t>• Primary Prediction: Assigned Medical Specialty Class (e.g., 'Cardiovascular / Pulmonary')</a:t>
            </a:r>
            <a:br/>
            <a:r>
              <a:t>• Confidence Estimate: Aggregated ensemble probability score (%) verifying clinical prediction certainty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6F8FB"/>
        </a:solidFill>
      </p:bgPr>
    </p:bg>
    <p:spTree>
      <p:nvGrpSpPr>
        <p:cNvPr id="1" name=""/>
        <p:cNvGrpSpPr/>
        <p:nvPr/>
      </p:nvGrpSpPr>
      <p:grpSpPr>
        <a:xfrm>
          <a:off x="0" y="0"/>
          <a:ext cx="0" cy="0"/>
          <a:chOff x="0" y="0"/>
          <a:chExt cx="0" cy="0"/>
        </a:xfrm>
      </p:grpSpPr>
      <p:sp>
        <p:nvSpPr>
          <p:cNvPr id="2" name="Shape 0"/>
          <p:cNvSpPr/>
          <p:nvPr/>
        </p:nvSpPr>
        <p:spPr>
          <a:xfrm>
            <a:off x="457200" y="320040"/>
            <a:ext cx="4206240" cy="292608"/>
          </a:xfrm>
          <a:prstGeom prst="roundRect">
            <a:avLst>
              <a:gd name="adj" fmla="val 50000"/>
            </a:avLst>
          </a:prstGeom>
          <a:solidFill>
            <a:srgbClr val="0E7C86"/>
          </a:solidFill>
          <a:ln/>
        </p:spPr>
        <p:txBody>
          <a:bodyPr/>
          <a:p/>
        </p:txBody>
      </p:sp>
      <p:sp>
        <p:nvSpPr>
          <p:cNvPr id="3" name="Text 1"/>
          <p:cNvSpPr txBox="1"/>
          <p:nvPr/>
        </p:nvSpPr>
        <p:spPr>
          <a:xfrm>
            <a:off x="457200" y="320040"/>
            <a:ext cx="420624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MCA MINI PROJECT | PROJECT PIPELINE</a:t>
            </a:r>
            <a:endParaRPr lang="en-US" sz="1050" dirty="0"/>
          </a:p>
        </p:txBody>
      </p:sp>
      <p:sp>
        <p:nvSpPr>
          <p:cNvPr id="4" name="Text 2"/>
          <p:cNvSpPr txBox="1"/>
          <p:nvPr/>
        </p:nvSpPr>
        <p:spPr>
          <a:xfrm>
            <a:off x="457200" y="676656"/>
            <a:ext cx="11247120" cy="658368"/>
          </a:xfrm>
          <a:prstGeom prst="rect">
            <a:avLst/>
          </a:prstGeom>
          <a:noFill/>
          <a:ln/>
        </p:spPr>
        <p:txBody>
          <a:bodyPr wrap="square" lIns="0" tIns="0" rIns="0" bIns="0" rtlCol="0" anchor="t"/>
          <a:lstStyle/>
          <a:p>
            <a:pPr algn="l" indent="0" marL="0">
              <a:buNone/>
            </a:pPr>
            <a:r>
              <a:rPr lang="en-US" sz="2700" b="1" dirty="0">
                <a:solidFill>
                  <a:srgbClr val="0B1F3A"/>
                </a:solidFill>
                <a:latin typeface="Cambria" pitchFamily="34" charset="0"/>
                <a:ea typeface="Cambria" pitchFamily="34" charset="-122"/>
                <a:cs typeface="Cambria" pitchFamily="34" charset="-120"/>
              </a:rPr>
              <a:t>Complete End-to-End Project Pipeline</a:t>
            </a:r>
            <a:endParaRPr lang="en-US" sz="2700" dirty="0"/>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16 of 19</a:t>
            </a:r>
          </a:p>
        </p:txBody>
      </p:sp>
      <p:sp>
        <p:nvSpPr>
          <p:cNvPr id="8" name="Shape 6"/>
          <p:cNvSpPr/>
          <p:nvPr/>
        </p:nvSpPr>
        <p:spPr>
          <a:xfrm>
            <a:off x="457200" y="1481328"/>
            <a:ext cx="11274552" cy="4937760"/>
          </a:xfrm>
          <a:prstGeom prst="roundRect">
            <a:avLst>
              <a:gd name="adj" fmla="val 1667"/>
            </a:avLst>
          </a:prstGeom>
          <a:solidFill>
            <a:srgbClr val="FFFFFF"/>
          </a:solidFill>
          <a:ln w="12700">
            <a:solidFill>
              <a:srgbClr val="E3E8F0"/>
            </a:solidFill>
            <a:prstDash val="solid"/>
          </a:ln>
          <a:effectLst>
            <a:outerShdw sx="100000" sy="100000" kx="0" ky="0" algn="bl" rotWithShape="0" blurRad="101600" dist="25400" dir="5400000">
              <a:srgbClr val="1B2A4A">
                <a:alpha val="16000"/>
              </a:srgbClr>
            </a:outerShdw>
          </a:effectLst>
        </p:spPr>
        <p:txBody>
          <a:bodyPr/>
          <a:p/>
        </p:txBody>
      </p:sp>
      <p:pic>
        <p:nvPicPr>
          <p:cNvPr id="9" name="Image 0" descr="/home/claude/imgs/img-012.png">    </p:cNvPr>
          <p:cNvPicPr>
            <a:picLocks noChangeAspect="1"/>
          </p:cNvPicPr>
          <p:nvPr/>
        </p:nvPicPr>
        <p:blipFill>
          <a:blip r:embed="rId1"/>
          <a:stretch>
            <a:fillRect/>
          </a:stretch>
        </p:blipFill>
        <p:spPr>
          <a:xfrm>
            <a:off x="3511753" y="1627632"/>
            <a:ext cx="5168189" cy="4114800"/>
          </a:xfrm>
          <a:prstGeom prst="rect">
            <a:avLst/>
          </a:prstGeom>
        </p:spPr>
      </p:pic>
      <p:sp>
        <p:nvSpPr>
          <p:cNvPr id="10" name="Text 7"/>
          <p:cNvSpPr txBox="1"/>
          <p:nvPr/>
        </p:nvSpPr>
        <p:spPr>
          <a:xfrm>
            <a:off x="777240" y="5797296"/>
            <a:ext cx="10607040" cy="457200"/>
          </a:xfrm>
          <a:prstGeom prst="rect">
            <a:avLst/>
          </a:prstGeom>
          <a:noFill/>
          <a:ln/>
        </p:spPr>
        <p:txBody>
          <a:bodyPr wrap="square" lIns="0" tIns="0" rIns="0" bIns="0" rtlCol="0" anchor="t"/>
          <a:lstStyle/>
          <a:p>
            <a:pPr algn="ctr" indent="0" marL="0">
              <a:lnSpc>
                <a:spcPct val="110000"/>
              </a:lnSpc>
              <a:buNone/>
            </a:pPr>
            <a:r>
              <a:rPr lang="en-US" sz="950" i="1" dirty="0">
                <a:solidFill>
                  <a:srgbClr val="5B6472"/>
                </a:solidFill>
                <a:latin typeface="Calibri" pitchFamily="34" charset="0"/>
                <a:ea typeface="Calibri" pitchFamily="34" charset="-122"/>
                <a:cs typeface="Calibri" pitchFamily="34" charset="-120"/>
              </a:rPr>
              <a:t>Three-stage pipeline: Data Preparation &amp; Partitioning → Model Building &amp; Ensemble → Deployment. TF-IDF is fit strictly on training data; the Flask deployment stage reuses the saved preprocessing + TF-IDF + ensemble pipeline.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6F8FB"/>
        </a:solidFill>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t>Current Project Progress &amp; Implementation Roadmap</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17 of 19</a:t>
            </a:r>
          </a:p>
        </p:txBody>
      </p:sp>
      <p:sp>
        <p:nvSpPr>
          <p:cNvPr id="8" name="Rounded Rectangle 7"/>
          <p:cNvSpPr/>
          <p:nvPr/>
        </p:nvSpPr>
        <p:spPr>
          <a:xfrm>
            <a:off x="457200" y="1463040"/>
            <a:ext cx="544068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600"/>
              </a:spcAft>
              <a:defRPr sz="1200" b="1">
                <a:solidFill>
                  <a:srgbClr val="0E7C86"/>
                </a:solidFill>
                <a:latin typeface="Calibri"/>
              </a:defRPr>
            </a:pPr>
            <a:r>
              <a:t>CURRENT PROGRESS (PHASE 1 / SPRINT RELEASE I)</a:t>
            </a:r>
          </a:p>
          <a:p>
            <a:pPr>
              <a:spcAft>
                <a:spcPts val="300"/>
              </a:spcAft>
            </a:pPr>
            <a:r>
              <a:rPr sz="1000" b="1">
                <a:solidFill>
                  <a:srgbClr val="0B1F3A"/>
                </a:solidFill>
                <a:latin typeface="Calibri"/>
              </a:rPr>
              <a:t>✓ Literature Review &amp; Paper Benchmarking: </a:t>
            </a:r>
            <a:r>
              <a:rPr sz="950" b="0">
                <a:solidFill>
                  <a:srgbClr val="334155"/>
                </a:solidFill>
                <a:latin typeface="Calibri"/>
              </a:rPr>
              <a:t>Surveyed clinical NLP literature (Omar et al., Zhang et al., Blanchard et al.), establishing preprocessing standards.</a:t>
            </a:r>
          </a:p>
          <a:p>
            <a:pPr>
              <a:spcAft>
                <a:spcPts val="300"/>
              </a:spcAft>
            </a:pPr>
            <a:r>
              <a:rPr sz="1000" b="1">
                <a:solidFill>
                  <a:srgbClr val="0B1F3A"/>
                </a:solidFill>
                <a:latin typeface="Calibri"/>
              </a:rPr>
              <a:t>✓ Dataset Acquisition &amp; Cleaning Audit: </a:t>
            </a:r>
            <a:r>
              <a:rPr sz="950" b="0">
                <a:solidFill>
                  <a:srgbClr val="334155"/>
                </a:solidFill>
                <a:latin typeface="Calibri"/>
              </a:rPr>
              <a:t>Acquired Kaggle MTSamples (4,999 cases); identified and removed 33 empty transcription records.</a:t>
            </a:r>
          </a:p>
          <a:p>
            <a:pPr>
              <a:spcAft>
                <a:spcPts val="300"/>
              </a:spcAft>
            </a:pPr>
            <a:r>
              <a:rPr sz="1000" b="1">
                <a:solidFill>
                  <a:srgbClr val="0B1F3A"/>
                </a:solidFill>
                <a:latin typeface="Calibri"/>
              </a:rPr>
              <a:t>✓ Exploratory Data Analysis &amp; Visualization: </a:t>
            </a:r>
            <a:r>
              <a:rPr sz="950" b="0">
                <a:solidFill>
                  <a:srgbClr val="334155"/>
                </a:solidFill>
                <a:latin typeface="Calibri"/>
              </a:rPr>
              <a:t>Executed 6 statistical distributions covering missing values, token lengths, and specialty frequencies.</a:t>
            </a:r>
          </a:p>
          <a:p>
            <a:pPr>
              <a:spcAft>
                <a:spcPts val="300"/>
              </a:spcAft>
            </a:pPr>
            <a:r>
              <a:rPr sz="1000" b="1">
                <a:solidFill>
                  <a:srgbClr val="0B1F3A"/>
                </a:solidFill>
                <a:latin typeface="Calibri"/>
              </a:rPr>
              <a:t>✓ Class Imbalance Characterization: </a:t>
            </a:r>
            <a:r>
              <a:rPr sz="950" b="0">
                <a:solidFill>
                  <a:srgbClr val="334155"/>
                </a:solidFill>
                <a:latin typeface="Calibri"/>
              </a:rPr>
              <a:t>Audited extreme long-tail class skew across 40 medical specialties; formulated stratified sampling strategy.</a:t>
            </a:r>
          </a:p>
          <a:p>
            <a:pPr>
              <a:spcAft>
                <a:spcPts val="300"/>
              </a:spcAft>
            </a:pPr>
            <a:r>
              <a:rPr sz="1000" b="1">
                <a:solidFill>
                  <a:srgbClr val="0B1F3A"/>
                </a:solidFill>
                <a:latin typeface="Calibri"/>
              </a:rPr>
              <a:t>✓ NLP Cleaning Pipeline Design: </a:t>
            </a:r>
            <a:r>
              <a:rPr sz="950" b="0">
                <a:solidFill>
                  <a:srgbClr val="334155"/>
                </a:solidFill>
                <a:latin typeface="Calibri"/>
              </a:rPr>
              <a:t>Finalized sequence: Cleaning, Lowercasing, Alphanumeric Filtering, Stop-word Removal, and Lemmatization.</a:t>
            </a:r>
          </a:p>
          <a:p>
            <a:pPr>
              <a:spcAft>
                <a:spcPts val="300"/>
              </a:spcAft>
            </a:pPr>
            <a:r>
              <a:rPr sz="1000" b="1">
                <a:solidFill>
                  <a:srgbClr val="0B1F3A"/>
                </a:solidFill>
                <a:latin typeface="Calibri"/>
              </a:rPr>
              <a:t>✓ TF-IDF Architecture Formulation: </a:t>
            </a:r>
            <a:r>
              <a:rPr sz="950" b="0">
                <a:solidFill>
                  <a:srgbClr val="334155"/>
                </a:solidFill>
                <a:latin typeface="Calibri"/>
              </a:rPr>
              <a:t>Configured unigram/bigram tokenization with sublinear TF scaling and Euclidean L2 normalization.</a:t>
            </a:r>
          </a:p>
          <a:p>
            <a:pPr>
              <a:spcAft>
                <a:spcPts val="300"/>
              </a:spcAft>
            </a:pPr>
            <a:r>
              <a:rPr sz="1000" b="1">
                <a:solidFill>
                  <a:srgbClr val="0B1F3A"/>
                </a:solidFill>
                <a:latin typeface="Calibri"/>
              </a:rPr>
              <a:t>✓ Model &amp; Ensemble Formulation: </a:t>
            </a:r>
            <a:r>
              <a:rPr sz="950" b="0">
                <a:solidFill>
                  <a:srgbClr val="334155"/>
                </a:solidFill>
                <a:latin typeface="Calibri"/>
              </a:rPr>
              <a:t>Selected SVM, Random Forest, Logistic Regression, and MNB combined via Soft Voting probability consensus.</a:t>
            </a:r>
          </a:p>
        </p:txBody>
      </p:sp>
      <p:sp>
        <p:nvSpPr>
          <p:cNvPr id="9" name="Rounded Rectangle 8"/>
          <p:cNvSpPr/>
          <p:nvPr/>
        </p:nvSpPr>
        <p:spPr>
          <a:xfrm>
            <a:off x="6217920" y="1463040"/>
            <a:ext cx="548640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bIns="137160"/>
          <a:lstStyle/>
          <a:p>
            <a:pPr algn="ctr">
              <a:spcAft>
                <a:spcPts val="600"/>
              </a:spcAft>
              <a:defRPr sz="1200" b="1">
                <a:solidFill>
                  <a:srgbClr val="2563EB"/>
                </a:solidFill>
                <a:latin typeface="Calibri"/>
              </a:defRPr>
            </a:pPr>
            <a:r>
              <a:t>PLANNED NEXT STEPS (PHASE 2 / SPRINT RELEASE II &amp; III)</a:t>
            </a:r>
          </a:p>
          <a:p>
            <a:pPr>
              <a:spcAft>
                <a:spcPts val="300"/>
              </a:spcAft>
            </a:pPr>
            <a:r>
              <a:rPr sz="1000" b="1">
                <a:solidFill>
                  <a:srgbClr val="0B1F3A"/>
                </a:solidFill>
                <a:latin typeface="Calibri"/>
              </a:rPr>
              <a:t>→ Full Text Preprocessing Implementation: </a:t>
            </a:r>
            <a:r>
              <a:rPr sz="950" b="0">
                <a:solidFill>
                  <a:srgbClr val="334155"/>
                </a:solidFill>
                <a:latin typeface="Calibri"/>
              </a:rPr>
              <a:t>Execute the 8-step cleaning module across 4,966 records to produce normalized narrative corpus.</a:t>
            </a:r>
          </a:p>
          <a:p>
            <a:pPr>
              <a:spcAft>
                <a:spcPts val="300"/>
              </a:spcAft>
            </a:pPr>
            <a:r>
              <a:rPr sz="1000" b="1">
                <a:solidFill>
                  <a:srgbClr val="0B1F3A"/>
                </a:solidFill>
                <a:latin typeface="Calibri"/>
              </a:rPr>
              <a:t>→ TF-IDF Feature Matrix Generation: </a:t>
            </a:r>
            <a:r>
              <a:rPr sz="950" b="0">
                <a:solidFill>
                  <a:srgbClr val="334155"/>
                </a:solidFill>
                <a:latin typeface="Calibri"/>
              </a:rPr>
              <a:t>Fit vectorizer strictly on training partition (80:20 split) to eliminate data leakage; transform test set.</a:t>
            </a:r>
          </a:p>
          <a:p>
            <a:pPr>
              <a:spcAft>
                <a:spcPts val="300"/>
              </a:spcAft>
            </a:pPr>
            <a:r>
              <a:rPr sz="1000" b="1">
                <a:solidFill>
                  <a:srgbClr val="0B1F3A"/>
                </a:solidFill>
                <a:latin typeface="Calibri"/>
              </a:rPr>
              <a:t>→ Candidate Model Training &amp; Optimization: </a:t>
            </a:r>
            <a:r>
              <a:rPr sz="950" b="0">
                <a:solidFill>
                  <a:srgbClr val="334155"/>
                </a:solidFill>
                <a:latin typeface="Calibri"/>
              </a:rPr>
              <a:t>Train SVM, Random Forest, Logistic Regression, and Multinomial Naive Bayes classifiers.</a:t>
            </a:r>
          </a:p>
          <a:p>
            <a:pPr>
              <a:spcAft>
                <a:spcPts val="300"/>
              </a:spcAft>
            </a:pPr>
            <a:r>
              <a:rPr sz="1000" b="1">
                <a:solidFill>
                  <a:srgbClr val="0B1F3A"/>
                </a:solidFill>
                <a:latin typeface="Calibri"/>
              </a:rPr>
              <a:t>→ Soft Voting Ensemble Development: </a:t>
            </a:r>
            <a:r>
              <a:rPr sz="950" b="0">
                <a:solidFill>
                  <a:srgbClr val="334155"/>
                </a:solidFill>
                <a:latin typeface="Calibri"/>
              </a:rPr>
              <a:t>Implement weighted/soft probability aggregation combining decision outputs across all base estimators.</a:t>
            </a:r>
          </a:p>
          <a:p>
            <a:pPr>
              <a:spcAft>
                <a:spcPts val="300"/>
              </a:spcAft>
            </a:pPr>
            <a:r>
              <a:rPr sz="1000" b="1">
                <a:solidFill>
                  <a:srgbClr val="0B1F3A"/>
                </a:solidFill>
                <a:latin typeface="Calibri"/>
              </a:rPr>
              <a:t>→ Multi-Class Performance Evaluation: </a:t>
            </a:r>
            <a:r>
              <a:rPr sz="950" b="0">
                <a:solidFill>
                  <a:srgbClr val="334155"/>
                </a:solidFill>
                <a:latin typeface="Calibri"/>
              </a:rPr>
              <a:t>Benchmark multi-class Macro/Weighted Precision, Recall, F1-score, and cross-class Confusion Matrices.</a:t>
            </a:r>
          </a:p>
          <a:p>
            <a:pPr>
              <a:spcAft>
                <a:spcPts val="300"/>
              </a:spcAft>
            </a:pPr>
            <a:r>
              <a:rPr sz="1000" b="1">
                <a:solidFill>
                  <a:srgbClr val="0B1F3A"/>
                </a:solidFill>
                <a:latin typeface="Calibri"/>
              </a:rPr>
              <a:t>→ Pipeline Serialization &amp; Web Deployment: </a:t>
            </a:r>
            <a:r>
              <a:rPr sz="950" b="0">
                <a:solidFill>
                  <a:srgbClr val="334155"/>
                </a:solidFill>
                <a:latin typeface="Calibri"/>
              </a:rPr>
              <a:t>Serialize end-to-end pipeline with Joblib; construct interactive clinician dashboard using Flask.</a:t>
            </a:r>
          </a:p>
          <a:p>
            <a:pPr>
              <a:spcAft>
                <a:spcPts val="300"/>
              </a:spcAft>
            </a:pPr>
            <a:r>
              <a:rPr sz="1000" b="1">
                <a:solidFill>
                  <a:srgbClr val="0B1F3A"/>
                </a:solidFill>
                <a:latin typeface="Calibri"/>
              </a:rPr>
              <a:t>→ Validation &amp; Clinical Usability Testing: </a:t>
            </a:r>
            <a:r>
              <a:rPr sz="950" b="0">
                <a:solidFill>
                  <a:srgbClr val="334155"/>
                </a:solidFill>
                <a:latin typeface="Calibri"/>
              </a:rPr>
              <a:t>Validate latency, prediction confidence calibration, and reliability on unseen clinical records.</a:t>
            </a:r>
          </a:p>
        </p:txBody>
      </p:sp>
      <p:sp>
        <p:nvSpPr>
          <p:cNvPr id="10" name="Rounded Rectangle 9"/>
          <p:cNvSpPr/>
          <p:nvPr/>
        </p:nvSpPr>
        <p:spPr>
          <a:xfrm>
            <a:off x="457200" y="5669280"/>
            <a:ext cx="11247120" cy="64008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91440"/>
          <a:lstStyle/>
          <a:p>
            <a:pPr algn="ctr"/>
            <a:r>
              <a:rPr sz="1100" b="1">
                <a:solidFill>
                  <a:srgbClr val="0E7C86"/>
                </a:solidFill>
                <a:latin typeface="Calibri"/>
              </a:rPr>
              <a:t>Phase 1 Status: </a:t>
            </a:r>
            <a:r>
              <a:rPr sz="1050" b="0">
                <a:solidFill>
                  <a:srgbClr val="0B1F3A"/>
                </a:solidFill>
                <a:latin typeface="Calibri"/>
              </a:rPr>
              <a:t>Literature Review, Data Exploration, Preprocessing Pipeline, and Ensemble Architecture are fully completed (Sprint Release I). The project is on schedule to commence candidate model training.</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PROGRESS &amp; ROADMAP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6F8FB"/>
        </a:solidFill>
      </p:bgPr>
    </p:bg>
    <p:spTree>
      <p:nvGrpSpPr>
        <p:cNvPr id="1" name=""/>
        <p:cNvGrpSpPr/>
        <p:nvPr/>
      </p:nvGrpSpPr>
      <p:grpSpPr>
        <a:xfrm>
          <a:off x="0" y="0"/>
          <a:ext cx="0" cy="0"/>
          <a:chOff x="0" y="0"/>
          <a:chExt cx="0" cy="0"/>
        </a:xfrm>
      </p:grpSpPr>
      <p:sp>
        <p:nvSpPr>
          <p:cNvPr id="4" name="Text 2"/>
          <p:cNvSpPr txBox="1"/>
          <p:nvPr/>
        </p:nvSpPr>
        <p:spPr>
          <a:xfrm>
            <a:off x="457200" y="676656"/>
            <a:ext cx="11247120" cy="658368"/>
          </a:xfrm>
          <a:prstGeom prst="rect">
            <a:avLst/>
          </a:prstGeom>
          <a:noFill/>
          <a:ln/>
        </p:spPr>
        <p:txBody>
          <a:bodyPr wrap="square" lIns="0" tIns="0" rIns="0" bIns="0" rtlCol="0" anchor="t"/>
          <a:lstStyle/>
          <a:p>
            <a:pPr>
              <a:defRPr sz="2700" b="1">
                <a:solidFill>
                  <a:srgbClr val="0B1F3A"/>
                </a:solidFill>
                <a:latin typeface="Cambria"/>
              </a:defRPr>
            </a:pPr>
            <a:r>
              <a:t>Project Timeline &amp; Milestone Schedule</a:t>
            </a:r>
          </a:p>
        </p:txBody>
      </p:sp>
      <p:sp>
        <p:nvSpPr>
          <p:cNvPr id="5" name="Text 3"/>
          <p:cNvSpPr txBox="1"/>
          <p:nvPr/>
        </p:nvSpPr>
        <p:spPr>
          <a:xfrm>
            <a:off x="457200" y="6519672"/>
            <a:ext cx="4206240" cy="274320"/>
          </a:xfrm>
          <a:prstGeom prst="rect">
            <a:avLst/>
          </a:prstGeom>
          <a:noFill/>
          <a:ln/>
        </p:spPr>
        <p:txBody>
          <a:bodyPr wrap="square" lIns="0" tIns="0" rIns="0" bIns="0" rtlCol="0" anchor="ctr"/>
          <a:lstStyle/>
          <a:p>
            <a:pPr algn="l" indent="0" marL="0">
              <a:buNone/>
            </a:pPr>
            <a:r>
              <a:rPr lang="en-US" sz="900" dirty="0">
                <a:solidFill>
                  <a:srgbClr val="5B6472"/>
                </a:solidFill>
                <a:latin typeface="Calibri" pitchFamily="34" charset="0"/>
                <a:ea typeface="Calibri" pitchFamily="34" charset="-122"/>
                <a:cs typeface="Calibri" pitchFamily="34" charset="-120"/>
              </a:rPr>
              <a:t>Department of Computer Applications | MACE</a:t>
            </a:r>
            <a:endParaRPr lang="en-US" sz="900" dirty="0"/>
          </a:p>
        </p:txBody>
      </p:sp>
      <p:sp>
        <p:nvSpPr>
          <p:cNvPr id="6" name="Text 4"/>
          <p:cNvSpPr txBox="1"/>
          <p:nvPr/>
        </p:nvSpPr>
        <p:spPr>
          <a:xfrm>
            <a:off x="3657600" y="6519672"/>
            <a:ext cx="4873752" cy="274320"/>
          </a:xfrm>
          <a:prstGeom prst="rect">
            <a:avLst/>
          </a:prstGeom>
          <a:noFill/>
          <a:ln/>
        </p:spPr>
        <p:txBody>
          <a:bodyPr wrap="square" lIns="0" tIns="0" rIns="0" bIns="0" rtlCol="0" anchor="ctr"/>
          <a:lstStyle/>
          <a:p>
            <a:pPr algn="ctr" indent="0" marL="0">
              <a:buNone/>
            </a:pPr>
            <a:r>
              <a:rPr lang="en-US" sz="900" dirty="0">
                <a:solidFill>
                  <a:srgbClr val="5B6472"/>
                </a:solidFill>
                <a:latin typeface="Calibri" pitchFamily="34" charset="0"/>
                <a:ea typeface="Calibri" pitchFamily="34" charset="-122"/>
                <a:cs typeface="Calibri" pitchFamily="34" charset="-120"/>
              </a:rPr>
              <a:t>Mar Athanasius College of Engineering, Kothamangalam</a:t>
            </a:r>
            <a:endParaRPr lang="en-US" sz="900" dirty="0"/>
          </a:p>
        </p:txBody>
      </p:sp>
      <p:sp>
        <p:nvSpPr>
          <p:cNvPr id="7" name="Text 5"/>
          <p:cNvSpPr txBox="1"/>
          <p:nvPr/>
        </p:nvSpPr>
        <p:spPr>
          <a:xfrm>
            <a:off x="9052560" y="6519672"/>
            <a:ext cx="2679192" cy="274320"/>
          </a:xfrm>
          <a:prstGeom prst="rect">
            <a:avLst/>
          </a:prstGeom>
          <a:noFill/>
          <a:ln/>
        </p:spPr>
        <p:txBody>
          <a:bodyPr wrap="square" lIns="0" tIns="0" rIns="0" bIns="0" rtlCol="0" anchor="ctr"/>
          <a:lstStyle/>
          <a:p>
            <a:pPr>
              <a:defRPr sz="900">
                <a:solidFill>
                  <a:srgbClr val="5B6472"/>
                </a:solidFill>
                <a:latin typeface="Calibri"/>
              </a:defRPr>
            </a:pPr>
            <a:r>
              <a:t>Slide 18 of 19</a:t>
            </a:r>
          </a:p>
        </p:txBody>
      </p:sp>
      <p:sp>
        <p:nvSpPr>
          <p:cNvPr id="9" name="Rounded Rectangle 8"/>
          <p:cNvSpPr/>
          <p:nvPr/>
        </p:nvSpPr>
        <p:spPr>
          <a:xfrm>
            <a:off x="457200" y="1828800"/>
            <a:ext cx="544068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09728"/>
          <a:lstStyle/>
          <a:p>
            <a:pPr algn="ctr">
              <a:spcAft>
                <a:spcPts val="400"/>
              </a:spcAft>
              <a:defRPr sz="1200" b="1">
                <a:solidFill>
                  <a:srgbClr val="0E7C86"/>
                </a:solidFill>
                <a:latin typeface="Calibri"/>
              </a:defRPr>
            </a:pPr>
            <a:r>
              <a:t>PHASE 1: FOUNDATION &amp; SPRINT RELEASE I</a:t>
            </a:r>
          </a:p>
          <a:p>
            <a:pPr>
              <a:spcAft>
                <a:spcPts val="300"/>
              </a:spcAft>
            </a:pPr>
            <a:r>
              <a:rPr sz="950" b="1">
                <a:solidFill>
                  <a:srgbClr val="16A34A"/>
                </a:solidFill>
                <a:latin typeface="Calibri"/>
              </a:rPr>
              <a:t>✓  [17.07.2026]  Project Proposal &amp; Synopsis Approval by Guide
</a:t>
            </a:r>
            <a:r>
              <a:rPr sz="850" b="0">
                <a:solidFill>
                  <a:srgbClr val="334155"/>
                </a:solidFill>
                <a:latin typeface="Calibri"/>
              </a:rPr>
              <a:t>    Formal approval of project scope, objectives, and feasibility by faculty guide.</a:t>
            </a:r>
          </a:p>
          <a:p>
            <a:pPr>
              <a:spcAft>
                <a:spcPts val="300"/>
              </a:spcAft>
            </a:pPr>
            <a:r>
              <a:rPr sz="950" b="1">
                <a:solidFill>
                  <a:srgbClr val="16A34A"/>
                </a:solidFill>
                <a:latin typeface="Calibri"/>
              </a:rPr>
              <a:t>✓  [20.07.2026 – 21.07.2026]  Project Proposal Presentation
</a:t>
            </a:r>
            <a:r>
              <a:rPr sz="850" b="0">
                <a:solidFill>
                  <a:srgbClr val="334155"/>
                </a:solidFill>
                <a:latin typeface="Calibri"/>
              </a:rPr>
              <a:t>    Presented proposal before Department Project Approval Committee.</a:t>
            </a:r>
          </a:p>
          <a:p>
            <a:pPr>
              <a:spcAft>
                <a:spcPts val="300"/>
              </a:spcAft>
            </a:pPr>
            <a:r>
              <a:rPr sz="950" b="1">
                <a:solidFill>
                  <a:srgbClr val="16A34A"/>
                </a:solidFill>
                <a:latin typeface="Calibri"/>
              </a:rPr>
              <a:t>✓  [Weeks 1–2]  Dataset Collection &amp; Exploratory Data Analysis
</a:t>
            </a:r>
            <a:r>
              <a:rPr sz="850" b="0">
                <a:solidFill>
                  <a:srgbClr val="334155"/>
                </a:solidFill>
                <a:latin typeface="Calibri"/>
              </a:rPr>
              <a:t>    Acquired Kaggle MTSamples (4,999 records); audited nulls and generated 6 EDA plots.</a:t>
            </a:r>
          </a:p>
          <a:p>
            <a:pPr>
              <a:spcAft>
                <a:spcPts val="300"/>
              </a:spcAft>
            </a:pPr>
            <a:r>
              <a:rPr sz="950" b="1">
                <a:solidFill>
                  <a:srgbClr val="16A34A"/>
                </a:solidFill>
                <a:latin typeface="Calibri"/>
              </a:rPr>
              <a:t>✓  [Weeks 3–4]  Clinical Text Preprocessing Pipeline
</a:t>
            </a:r>
            <a:r>
              <a:rPr sz="850" b="0">
                <a:solidFill>
                  <a:srgbClr val="334155"/>
                </a:solidFill>
                <a:latin typeface="Calibri"/>
              </a:rPr>
              <a:t>    Designed 5-step sequence: Cleaning, Lowercasing, Tokenization, Stop-words, Lemmatization.</a:t>
            </a:r>
          </a:p>
          <a:p>
            <a:pPr>
              <a:spcAft>
                <a:spcPts val="300"/>
              </a:spcAft>
            </a:pPr>
            <a:r>
              <a:rPr sz="950" b="1">
                <a:solidFill>
                  <a:srgbClr val="16A34A"/>
                </a:solidFill>
                <a:latin typeface="Calibri"/>
              </a:rPr>
              <a:t>✓  [Week 5]  TF-IDF Vectorization Architecture
</a:t>
            </a:r>
            <a:r>
              <a:rPr sz="850" b="0">
                <a:solidFill>
                  <a:srgbClr val="334155"/>
                </a:solidFill>
                <a:latin typeface="Calibri"/>
              </a:rPr>
              <a:t>    Formulated unigram/bigram tokenization with sublinear scaling and sparse matrix layout.</a:t>
            </a:r>
          </a:p>
          <a:p>
            <a:pPr>
              <a:spcAft>
                <a:spcPts val="300"/>
              </a:spcAft>
            </a:pPr>
            <a:r>
              <a:rPr sz="950" b="1">
                <a:solidFill>
                  <a:srgbClr val="D97706"/>
                </a:solidFill>
                <a:latin typeface="Calibri"/>
              </a:rPr>
              <a:t>★  [08.09.2026]  First Project Presentation ★
</a:t>
            </a:r>
            <a:r>
              <a:rPr sz="850" b="0">
                <a:solidFill>
                  <a:srgbClr val="334155"/>
                </a:solidFill>
                <a:latin typeface="Calibri"/>
              </a:rPr>
              <a:t>    Current Milestone — Phase 1 Faculty Review &amp; Initial Progress Defense.</a:t>
            </a:r>
          </a:p>
          <a:p>
            <a:pPr>
              <a:spcAft>
                <a:spcPts val="300"/>
              </a:spcAft>
            </a:pPr>
            <a:r>
              <a:rPr sz="950" b="1">
                <a:solidFill>
                  <a:srgbClr val="D97706"/>
                </a:solidFill>
                <a:latin typeface="Calibri"/>
              </a:rPr>
              <a:t>★  [09.09.2026]  Sprint Release I ★
</a:t>
            </a:r>
            <a:r>
              <a:rPr sz="850" b="0">
                <a:solidFill>
                  <a:srgbClr val="334155"/>
                </a:solidFill>
                <a:latin typeface="Calibri"/>
              </a:rPr>
              <a:t>    Formal submission: EDA diagrams, architecture specifications, and Phase 1 report.</a:t>
            </a:r>
          </a:p>
        </p:txBody>
      </p:sp>
      <p:sp>
        <p:nvSpPr>
          <p:cNvPr id="10" name="Rounded Rectangle 9"/>
          <p:cNvSpPr/>
          <p:nvPr/>
        </p:nvSpPr>
        <p:spPr>
          <a:xfrm>
            <a:off x="6217920" y="1828800"/>
            <a:ext cx="5486400" cy="4480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37160" bIns="109728"/>
          <a:lstStyle/>
          <a:p>
            <a:pPr algn="ctr">
              <a:spcAft>
                <a:spcPts val="400"/>
              </a:spcAft>
              <a:defRPr sz="1200" b="1">
                <a:solidFill>
                  <a:srgbClr val="2563EB"/>
                </a:solidFill>
                <a:latin typeface="Calibri"/>
              </a:defRPr>
            </a:pPr>
            <a:r>
              <a:t>PHASES 2 &amp; 3: MODEL BUILDING, ENSEMBLE &amp; DEPLOYMENT</a:t>
            </a:r>
          </a:p>
          <a:p>
            <a:pPr>
              <a:spcAft>
                <a:spcPts val="200"/>
              </a:spcAft>
            </a:pPr>
            <a:r>
              <a:rPr sz="919" b="1">
                <a:solidFill>
                  <a:srgbClr val="2563EB"/>
                </a:solidFill>
                <a:latin typeface="Calibri"/>
              </a:rPr>
              <a:t>→  [Week 6]  Candidate Model Training &amp; Baseline Evaluation
</a:t>
            </a:r>
            <a:r>
              <a:rPr sz="819" b="0">
                <a:solidFill>
                  <a:srgbClr val="334155"/>
                </a:solidFill>
                <a:latin typeface="Calibri"/>
              </a:rPr>
              <a:t>    Train SVM, Random Forest, Logistic Regression, and Multinomial Naive Bayes.</a:t>
            </a:r>
          </a:p>
          <a:p>
            <a:pPr>
              <a:spcAft>
                <a:spcPts val="200"/>
              </a:spcAft>
            </a:pPr>
            <a:r>
              <a:rPr sz="919" b="1">
                <a:solidFill>
                  <a:srgbClr val="D97706"/>
                </a:solidFill>
                <a:latin typeface="Calibri"/>
              </a:rPr>
              <a:t>★  [18.09.2026]  Sprint Release II ★
</a:t>
            </a:r>
            <a:r>
              <a:rPr sz="819" b="0">
                <a:solidFill>
                  <a:srgbClr val="334155"/>
                </a:solidFill>
                <a:latin typeface="Calibri"/>
              </a:rPr>
              <a:t>    Milestone release: Trained baseline classifiers and preliminary metrics.</a:t>
            </a:r>
          </a:p>
          <a:p>
            <a:pPr>
              <a:spcAft>
                <a:spcPts val="200"/>
              </a:spcAft>
            </a:pPr>
            <a:r>
              <a:rPr sz="919" b="1">
                <a:solidFill>
                  <a:srgbClr val="2563EB"/>
                </a:solidFill>
                <a:latin typeface="Calibri"/>
              </a:rPr>
              <a:t>→  [Week 7]  Hyperparameter Tuning &amp; Model Comparison
</a:t>
            </a:r>
            <a:r>
              <a:rPr sz="819" b="0">
                <a:solidFill>
                  <a:srgbClr val="334155"/>
                </a:solidFill>
                <a:latin typeface="Calibri"/>
              </a:rPr>
              <a:t>    Systematic tuning and comparative performance profiling across candidate estimators.</a:t>
            </a:r>
          </a:p>
          <a:p>
            <a:pPr>
              <a:spcAft>
                <a:spcPts val="200"/>
              </a:spcAft>
            </a:pPr>
            <a:r>
              <a:rPr sz="919" b="1">
                <a:solidFill>
                  <a:srgbClr val="2563EB"/>
                </a:solidFill>
                <a:latin typeface="Calibri"/>
              </a:rPr>
              <a:t>→  [Week 8]  Soft Voting Ensemble Implementation
</a:t>
            </a:r>
            <a:r>
              <a:rPr sz="819" b="0">
                <a:solidFill>
                  <a:srgbClr val="334155"/>
                </a:solidFill>
                <a:latin typeface="Calibri"/>
              </a:rPr>
              <a:t>    Construct soft voting ensemble; aggregate consensus probability distributions.</a:t>
            </a:r>
          </a:p>
          <a:p>
            <a:pPr>
              <a:spcAft>
                <a:spcPts val="200"/>
              </a:spcAft>
            </a:pPr>
            <a:r>
              <a:rPr sz="919" b="1">
                <a:solidFill>
                  <a:srgbClr val="D97706"/>
                </a:solidFill>
                <a:latin typeface="Calibri"/>
              </a:rPr>
              <a:t>★  [29.09.2026 – 30.09.2026]  Interim Project Presentation ★
</a:t>
            </a:r>
            <a:r>
              <a:rPr sz="819" b="0">
                <a:solidFill>
                  <a:srgbClr val="334155"/>
                </a:solidFill>
                <a:latin typeface="Calibri"/>
              </a:rPr>
              <a:t>    Progress review and working model demonstration before faculty committee.</a:t>
            </a:r>
          </a:p>
          <a:p>
            <a:pPr>
              <a:spcAft>
                <a:spcPts val="200"/>
              </a:spcAft>
            </a:pPr>
            <a:r>
              <a:rPr sz="919" b="1">
                <a:solidFill>
                  <a:srgbClr val="2563EB"/>
                </a:solidFill>
                <a:latin typeface="Calibri"/>
              </a:rPr>
              <a:t>→  [Week 9]  Flask Web Integration &amp; Serialization
</a:t>
            </a:r>
            <a:r>
              <a:rPr sz="819" b="0">
                <a:solidFill>
                  <a:srgbClr val="334155"/>
                </a:solidFill>
                <a:latin typeface="Calibri"/>
              </a:rPr>
              <a:t>    Serialize pipeline with Joblib; build interactive clinician UI for live inference.</a:t>
            </a:r>
          </a:p>
          <a:p>
            <a:pPr>
              <a:spcAft>
                <a:spcPts val="200"/>
              </a:spcAft>
            </a:pPr>
            <a:r>
              <a:rPr sz="919" b="1">
                <a:solidFill>
                  <a:srgbClr val="D97706"/>
                </a:solidFill>
                <a:latin typeface="Calibri"/>
              </a:rPr>
              <a:t>★  [09.10.2026]  Sprint Release III ★
</a:t>
            </a:r>
            <a:r>
              <a:rPr sz="819" b="0">
                <a:solidFill>
                  <a:srgbClr val="334155"/>
                </a:solidFill>
                <a:latin typeface="Calibri"/>
              </a:rPr>
              <a:t>    Integrated system release: Flask web application and serialized ensemble.</a:t>
            </a:r>
          </a:p>
          <a:p>
            <a:pPr>
              <a:spcAft>
                <a:spcPts val="200"/>
              </a:spcAft>
            </a:pPr>
            <a:r>
              <a:rPr sz="919" b="1">
                <a:solidFill>
                  <a:srgbClr val="2563EB"/>
                </a:solidFill>
                <a:latin typeface="Calibri"/>
              </a:rPr>
              <a:t>→  [Weeks 10–11]  Evaluation &amp; System Testing
</a:t>
            </a:r>
            <a:r>
              <a:rPr sz="819" b="0">
                <a:solidFill>
                  <a:srgbClr val="334155"/>
                </a:solidFill>
                <a:latin typeface="Calibri"/>
              </a:rPr>
              <a:t>    Multi-class metrics (Macro F1, Recall), confusion matrix analysis, and validation.</a:t>
            </a:r>
          </a:p>
          <a:p>
            <a:pPr>
              <a:spcAft>
                <a:spcPts val="200"/>
              </a:spcAft>
            </a:pPr>
            <a:r>
              <a:rPr sz="919" b="1">
                <a:solidFill>
                  <a:srgbClr val="D97706"/>
                </a:solidFill>
                <a:latin typeface="Calibri"/>
              </a:rPr>
              <a:t>★  [22.10.2026 – 23.10.2026]  Final Project Presentation ★
</a:t>
            </a:r>
            <a:r>
              <a:rPr sz="819" b="0">
                <a:solidFill>
                  <a:srgbClr val="334155"/>
                </a:solidFill>
                <a:latin typeface="Calibri"/>
              </a:rPr>
              <a:t>    Comprehensive final project defense before the examination board.</a:t>
            </a:r>
          </a:p>
          <a:p>
            <a:pPr>
              <a:spcAft>
                <a:spcPts val="200"/>
              </a:spcAft>
            </a:pPr>
            <a:r>
              <a:rPr sz="919" b="1">
                <a:solidFill>
                  <a:srgbClr val="D97706"/>
                </a:solidFill>
                <a:latin typeface="Calibri"/>
              </a:rPr>
              <a:t>★  [30.10.2026]  Final Report Submission ★
</a:t>
            </a:r>
            <a:r>
              <a:rPr sz="819" b="0">
                <a:solidFill>
                  <a:srgbClr val="334155"/>
                </a:solidFill>
                <a:latin typeface="Calibri"/>
              </a:rPr>
              <a:t>    Submission of finalized documentation, technical report, and source code.</a:t>
            </a:r>
          </a:p>
        </p:txBody>
      </p:sp>
      <p:sp>
        <p:nvSpPr>
          <p:cNvPr id="11" name="Rounded Rectangle 10"/>
          <p:cNvSpPr/>
          <p:nvPr/>
        </p:nvSpPr>
        <p:spPr>
          <a:xfrm>
            <a:off x="457200" y="320040"/>
            <a:ext cx="4206240" cy="292608"/>
          </a:xfrm>
          <a:prstGeom prst="roundRect">
            <a:avLst/>
          </a:prstGeom>
          <a:solidFill>
            <a:srgbClr val="0E7C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PROJECT TIMELINE</a:t>
            </a:r>
          </a:p>
        </p:txBody>
      </p:sp>
      <p:sp>
        <p:nvSpPr>
          <p:cNvPr id="12" name="Rounded Rectangle 11"/>
          <p:cNvSpPr/>
          <p:nvPr/>
        </p:nvSpPr>
        <p:spPr>
          <a:xfrm>
            <a:off x="457200" y="1371600"/>
            <a:ext cx="11247120" cy="365760"/>
          </a:xfrm>
          <a:prstGeom prst="roundRect">
            <a:avLst/>
          </a:prstGeom>
          <a:solidFill>
            <a:srgbClr val="EEF6F6"/>
          </a:solidFill>
          <a:ln w="12700">
            <a:solidFill>
              <a:srgbClr val="0E7C86"/>
            </a:solidFill>
          </a:ln>
        </p:spPr>
        <p:style>
          <a:lnRef idx="1">
            <a:schemeClr val="accent1"/>
          </a:lnRef>
          <a:fillRef idx="3">
            <a:schemeClr val="accent1"/>
          </a:fillRef>
          <a:effectRef idx="2">
            <a:schemeClr val="accent1"/>
          </a:effectRef>
          <a:fontRef idx="minor">
            <a:schemeClr val="lt1"/>
          </a:fontRef>
        </p:style>
        <p:txBody>
          <a:bodyPr rtlCol="0" anchor="ctr" tIns="54864" bIns="54864"/>
          <a:lstStyle/>
          <a:p>
            <a:pPr algn="ctr">
              <a:defRPr sz="1100" b="1">
                <a:solidFill>
                  <a:srgbClr val="0E7C86"/>
                </a:solidFill>
                <a:latin typeface="Calibri"/>
              </a:defRPr>
            </a:pPr>
            <a:r>
              <a:t>ACADEMIC TIMELINE &amp; PRESENTATION MILESTONES (SEMESTER 3 MCA MINI PROJECT)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A192F"/>
        </a:solidFill>
      </p:bgPr>
    </p:bg>
    <p:spTree>
      <p:nvGrpSpPr>
        <p:cNvPr id="1" name=""/>
        <p:cNvGrpSpPr/>
        <p:nvPr/>
      </p:nvGrpSpPr>
      <p:grpSpPr>
        <a:xfrm>
          <a:off x="0" y="0"/>
          <a:ext cx="0" cy="0"/>
          <a:chOff x="0" y="0"/>
          <a:chExt cx="0" cy="0"/>
        </a:xfrm>
      </p:grpSpPr>
      <p:sp>
        <p:nvSpPr>
          <p:cNvPr id="2" name="Rectangle 1"/>
          <p:cNvSpPr/>
          <p:nvPr/>
        </p:nvSpPr>
        <p:spPr>
          <a:xfrm>
            <a:off x="0" y="0"/>
            <a:ext cx="12191695" cy="109728"/>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57200" y="320040"/>
            <a:ext cx="4206240" cy="292608"/>
          </a:xfrm>
          <a:prstGeom prst="roundRect">
            <a:avLst/>
          </a:prstGeom>
          <a:solidFill>
            <a:srgbClr val="0E7C86"/>
          </a:solidFill>
          <a:ln w="127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Calibri"/>
              </a:defRPr>
            </a:pPr>
            <a:r>
              <a:t>MCA MINI PROJECT | CONCLUSION</a:t>
            </a:r>
          </a:p>
        </p:txBody>
      </p:sp>
      <p:sp>
        <p:nvSpPr>
          <p:cNvPr id="4" name="TextBox 3"/>
          <p:cNvSpPr txBox="1"/>
          <p:nvPr/>
        </p:nvSpPr>
        <p:spPr>
          <a:xfrm>
            <a:off x="457200" y="658368"/>
            <a:ext cx="11247120" cy="621792"/>
          </a:xfrm>
          <a:prstGeom prst="rect">
            <a:avLst/>
          </a:prstGeom>
          <a:noFill/>
        </p:spPr>
        <p:txBody>
          <a:bodyPr wrap="none">
            <a:spAutoFit/>
          </a:bodyPr>
          <a:lstStyle/>
          <a:p>
            <a:pPr>
              <a:defRPr sz="2800" b="1">
                <a:solidFill>
                  <a:srgbClr val="FFFFFF"/>
                </a:solidFill>
                <a:latin typeface="Cambria"/>
              </a:defRPr>
            </a:pPr>
            <a:r>
              <a:t>Conclusion &amp; Implementation Roadmap</a:t>
            </a:r>
          </a:p>
        </p:txBody>
      </p:sp>
      <p:sp>
        <p:nvSpPr>
          <p:cNvPr id="5" name="TextBox 4"/>
          <p:cNvSpPr txBox="1"/>
          <p:nvPr/>
        </p:nvSpPr>
        <p:spPr>
          <a:xfrm>
            <a:off x="457200" y="6519672"/>
            <a:ext cx="4206240" cy="274320"/>
          </a:xfrm>
          <a:prstGeom prst="rect">
            <a:avLst/>
          </a:prstGeom>
          <a:noFill/>
        </p:spPr>
        <p:txBody>
          <a:bodyPr wrap="none">
            <a:spAutoFit/>
          </a:bodyPr>
          <a:lstStyle/>
          <a:p>
            <a:pPr>
              <a:defRPr sz="900">
                <a:solidFill>
                  <a:srgbClr val="94A3B8"/>
                </a:solidFill>
                <a:latin typeface="Calibri"/>
              </a:defRPr>
            </a:pPr>
            <a:r>
              <a:t>Department of Computer Applications | MACE</a:t>
            </a:r>
          </a:p>
        </p:txBody>
      </p:sp>
      <p:sp>
        <p:nvSpPr>
          <p:cNvPr id="6" name="TextBox 5"/>
          <p:cNvSpPr txBox="1"/>
          <p:nvPr/>
        </p:nvSpPr>
        <p:spPr>
          <a:xfrm>
            <a:off x="3657600" y="6519672"/>
            <a:ext cx="4873752" cy="274320"/>
          </a:xfrm>
          <a:prstGeom prst="rect">
            <a:avLst/>
          </a:prstGeom>
          <a:noFill/>
        </p:spPr>
        <p:txBody>
          <a:bodyPr wrap="none">
            <a:spAutoFit/>
          </a:bodyPr>
          <a:lstStyle/>
          <a:p>
            <a:pPr>
              <a:defRPr sz="900">
                <a:solidFill>
                  <a:srgbClr val="94A3B8"/>
                </a:solidFill>
                <a:latin typeface="Calibri"/>
              </a:defRPr>
            </a:pPr>
            <a:r>
              <a:t>Mar Athanasius College of Engineering, Kothamangalam</a:t>
            </a:r>
          </a:p>
        </p:txBody>
      </p:sp>
      <p:sp>
        <p:nvSpPr>
          <p:cNvPr id="7" name="TextBox 6"/>
          <p:cNvSpPr txBox="1"/>
          <p:nvPr/>
        </p:nvSpPr>
        <p:spPr>
          <a:xfrm>
            <a:off x="9052560" y="6519672"/>
            <a:ext cx="2679192" cy="274320"/>
          </a:xfrm>
          <a:prstGeom prst="rect">
            <a:avLst/>
          </a:prstGeom>
          <a:noFill/>
        </p:spPr>
        <p:txBody>
          <a:bodyPr wrap="none">
            <a:spAutoFit/>
          </a:bodyPr>
          <a:lstStyle/>
          <a:p>
            <a:pPr>
              <a:defRPr sz="900">
                <a:solidFill>
                  <a:srgbClr val="94A3B8"/>
                </a:solidFill>
                <a:latin typeface="Calibri"/>
              </a:defRPr>
            </a:pPr>
            <a:r>
              <a:t>Slide 19 of 19</a:t>
            </a:r>
          </a:p>
        </p:txBody>
      </p:sp>
      <p:sp>
        <p:nvSpPr>
          <p:cNvPr id="8" name="Rounded Rectangle 7"/>
          <p:cNvSpPr/>
          <p:nvPr/>
        </p:nvSpPr>
        <p:spPr>
          <a:xfrm>
            <a:off x="457200" y="1371600"/>
            <a:ext cx="5440680" cy="3383280"/>
          </a:xfrm>
          <a:prstGeom prst="roundRect">
            <a:avLst/>
          </a:prstGeom>
          <a:solidFill>
            <a:srgbClr val="112240"/>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lIns="201168" rIns="182880" tIns="164592"/>
          <a:lstStyle/>
          <a:p>
            <a:pPr algn="ctr">
              <a:spcAft>
                <a:spcPts val="600"/>
              </a:spcAft>
              <a:defRPr sz="1200" b="1">
                <a:solidFill>
                  <a:srgbClr val="38BDF8"/>
                </a:solidFill>
                <a:latin typeface="Calibri"/>
              </a:defRPr>
            </a:pPr>
            <a:r>
              <a:t>KEY PHASE 1 ACHIEVEMENTS (SPRINT RELEASE I)</a:t>
            </a:r>
          </a:p>
          <a:p>
            <a:pPr>
              <a:spcAft>
                <a:spcPts val="300"/>
              </a:spcAft>
            </a:pPr>
            <a:r>
              <a:rPr sz="1000" b="1">
                <a:solidFill>
                  <a:srgbClr val="4ADE80"/>
                </a:solidFill>
                <a:latin typeface="Calibri"/>
              </a:rPr>
              <a:t>✓ Problem Addressed: </a:t>
            </a:r>
            <a:r>
              <a:rPr sz="919" b="0">
                <a:solidFill>
                  <a:srgbClr val="F1F5F9"/>
                </a:solidFill>
                <a:latin typeface="Calibri"/>
              </a:rPr>
              <a:t>Formulated automated routing for unstructured clinical narratives across 40 distinct medical specialties.</a:t>
            </a:r>
          </a:p>
          <a:p>
            <a:pPr>
              <a:spcAft>
                <a:spcPts val="300"/>
              </a:spcAft>
            </a:pPr>
            <a:r>
              <a:rPr sz="1000" b="1">
                <a:solidFill>
                  <a:srgbClr val="4ADE80"/>
                </a:solidFill>
                <a:latin typeface="Calibri"/>
              </a:rPr>
              <a:t>✓ Data Audit Complete: </a:t>
            </a:r>
            <a:r>
              <a:rPr sz="919" b="0">
                <a:solidFill>
                  <a:srgbClr val="F1F5F9"/>
                </a:solidFill>
                <a:latin typeface="Calibri"/>
              </a:rPr>
              <a:t>Cleaned 4,999 MTSamples records; audited nulls and isolated 4,966 validated clinical transcripts.</a:t>
            </a:r>
          </a:p>
          <a:p>
            <a:pPr>
              <a:spcAft>
                <a:spcPts val="300"/>
              </a:spcAft>
            </a:pPr>
            <a:r>
              <a:rPr sz="1000" b="1">
                <a:solidFill>
                  <a:srgbClr val="4ADE80"/>
                </a:solidFill>
                <a:latin typeface="Calibri"/>
              </a:rPr>
              <a:t>✓ In-Depth EDA Executed: </a:t>
            </a:r>
            <a:r>
              <a:rPr sz="919" b="0">
                <a:solidFill>
                  <a:srgbClr val="F1F5F9"/>
                </a:solidFill>
                <a:latin typeface="Calibri"/>
              </a:rPr>
              <a:t>Characterized severe long-tail class skew, document token density, and vocabulary distribution patterns.</a:t>
            </a:r>
          </a:p>
          <a:p>
            <a:pPr>
              <a:spcAft>
                <a:spcPts val="300"/>
              </a:spcAft>
            </a:pPr>
            <a:r>
              <a:rPr sz="1000" b="1">
                <a:solidFill>
                  <a:srgbClr val="4ADE80"/>
                </a:solidFill>
                <a:latin typeface="Calibri"/>
              </a:rPr>
              <a:t>✓ Leakage-Free Pipeline: </a:t>
            </a:r>
            <a:r>
              <a:rPr sz="919" b="0">
                <a:solidFill>
                  <a:srgbClr val="F1F5F9"/>
                </a:solidFill>
                <a:latin typeface="Calibri"/>
              </a:rPr>
              <a:t>Designed modular 8-step NLP cleaner with strict train-only TF-IDF vectorization to avoid data leakage.</a:t>
            </a:r>
          </a:p>
          <a:p>
            <a:pPr>
              <a:spcAft>
                <a:spcPts val="300"/>
              </a:spcAft>
            </a:pPr>
            <a:r>
              <a:rPr sz="1000" b="1">
                <a:solidFill>
                  <a:srgbClr val="4ADE80"/>
                </a:solidFill>
                <a:latin typeface="Calibri"/>
              </a:rPr>
              <a:t>✓ Architecture Established: </a:t>
            </a:r>
            <a:r>
              <a:rPr sz="919" b="0">
                <a:solidFill>
                  <a:srgbClr val="F1F5F9"/>
                </a:solidFill>
                <a:latin typeface="Calibri"/>
              </a:rPr>
              <a:t>Selected 4 diverse classifiers (SVM, RF, LR, MNB) unified under a Soft-Voting probability consensus model.</a:t>
            </a:r>
          </a:p>
        </p:txBody>
      </p:sp>
      <p:sp>
        <p:nvSpPr>
          <p:cNvPr id="9" name="Rounded Rectangle 8"/>
          <p:cNvSpPr/>
          <p:nvPr/>
        </p:nvSpPr>
        <p:spPr>
          <a:xfrm>
            <a:off x="6217920" y="1371600"/>
            <a:ext cx="5486400" cy="3383280"/>
          </a:xfrm>
          <a:prstGeom prst="roundRect">
            <a:avLst/>
          </a:prstGeom>
          <a:solidFill>
            <a:srgbClr val="112240"/>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wrap="square" lIns="201168" rIns="182880" tIns="164592"/>
          <a:lstStyle/>
          <a:p>
            <a:pPr algn="ctr">
              <a:spcAft>
                <a:spcPts val="600"/>
              </a:spcAft>
              <a:defRPr sz="1200" b="1">
                <a:solidFill>
                  <a:srgbClr val="C084FC"/>
                </a:solidFill>
                <a:latin typeface="Calibri"/>
              </a:defRPr>
            </a:pPr>
            <a:r>
              <a:t>PLANNED NEXT STEPS (PHASES 2 &amp; 3)</a:t>
            </a:r>
          </a:p>
          <a:p>
            <a:pPr>
              <a:spcAft>
                <a:spcPts val="300"/>
              </a:spcAft>
            </a:pPr>
            <a:r>
              <a:rPr sz="1000" b="1">
                <a:solidFill>
                  <a:srgbClr val="60A5FA"/>
                </a:solidFill>
                <a:latin typeface="Calibri"/>
              </a:rPr>
              <a:t>→ Execute Cleaning Pipeline: </a:t>
            </a:r>
            <a:r>
              <a:rPr sz="919" b="0">
                <a:solidFill>
                  <a:srgbClr val="F1F5F9"/>
                </a:solidFill>
                <a:latin typeface="Calibri"/>
              </a:rPr>
              <a:t>Apply modular character normalization, stop-word pruning, and lemmatization across 4,966 records.</a:t>
            </a:r>
          </a:p>
          <a:p>
            <a:pPr>
              <a:spcAft>
                <a:spcPts val="300"/>
              </a:spcAft>
            </a:pPr>
            <a:r>
              <a:rPr sz="1000" b="1">
                <a:solidFill>
                  <a:srgbClr val="60A5FA"/>
                </a:solidFill>
                <a:latin typeface="Calibri"/>
              </a:rPr>
              <a:t>→ Feature Matrix Extraction: </a:t>
            </a:r>
            <a:r>
              <a:rPr sz="919" b="0">
                <a:solidFill>
                  <a:srgbClr val="F1F5F9"/>
                </a:solidFill>
                <a:latin typeface="Calibri"/>
              </a:rPr>
              <a:t>Fit TF-IDF vectorizer strictly on training split (80:20) with sublinear term-frequency scaling.</a:t>
            </a:r>
          </a:p>
          <a:p>
            <a:pPr>
              <a:spcAft>
                <a:spcPts val="300"/>
              </a:spcAft>
            </a:pPr>
            <a:r>
              <a:rPr sz="1000" b="1">
                <a:solidFill>
                  <a:srgbClr val="60A5FA"/>
                </a:solidFill>
                <a:latin typeface="Calibri"/>
              </a:rPr>
              <a:t>→ Train &amp; Tune Estimators: </a:t>
            </a:r>
            <a:r>
              <a:rPr sz="919" b="0">
                <a:solidFill>
                  <a:srgbClr val="F1F5F9"/>
                </a:solidFill>
                <a:latin typeface="Calibri"/>
              </a:rPr>
              <a:t>Train SVM, Random Forest, Logistic Regression, and MNB classifiers; execute hyperparameter grid tuning.</a:t>
            </a:r>
          </a:p>
          <a:p>
            <a:pPr>
              <a:spcAft>
                <a:spcPts val="300"/>
              </a:spcAft>
            </a:pPr>
            <a:r>
              <a:rPr sz="1000" b="1">
                <a:solidFill>
                  <a:srgbClr val="60A5FA"/>
                </a:solidFill>
                <a:latin typeface="Calibri"/>
              </a:rPr>
              <a:t>→ Build Soft Voting Ensemble: </a:t>
            </a:r>
            <a:r>
              <a:rPr sz="919" b="0">
                <a:solidFill>
                  <a:srgbClr val="F1F5F9"/>
                </a:solidFill>
                <a:latin typeface="Calibri"/>
              </a:rPr>
              <a:t>Implement soft consensus probability aggregation combining calibrated predictive distributions.</a:t>
            </a:r>
          </a:p>
          <a:p>
            <a:pPr>
              <a:spcAft>
                <a:spcPts val="300"/>
              </a:spcAft>
            </a:pPr>
            <a:r>
              <a:rPr sz="1000" b="1">
                <a:solidFill>
                  <a:srgbClr val="60A5FA"/>
                </a:solidFill>
                <a:latin typeface="Calibri"/>
              </a:rPr>
              <a:t>→ Multi-Class Evaluation: </a:t>
            </a:r>
            <a:r>
              <a:rPr sz="919" b="0">
                <a:solidFill>
                  <a:srgbClr val="F1F5F9"/>
                </a:solidFill>
                <a:latin typeface="Calibri"/>
              </a:rPr>
              <a:t>Benchmark Macro/Weighted F1, Recall, Precision, and cross-category Confusion Matrices.</a:t>
            </a:r>
          </a:p>
          <a:p>
            <a:pPr>
              <a:spcAft>
                <a:spcPts val="300"/>
              </a:spcAft>
            </a:pPr>
            <a:r>
              <a:rPr sz="1000" b="1">
                <a:solidFill>
                  <a:srgbClr val="60A5FA"/>
                </a:solidFill>
                <a:latin typeface="Calibri"/>
              </a:rPr>
              <a:t>→ Deployment &amp; Serialization: </a:t>
            </a:r>
            <a:r>
              <a:rPr sz="919" b="0">
                <a:solidFill>
                  <a:srgbClr val="F1F5F9"/>
                </a:solidFill>
                <a:latin typeface="Calibri"/>
              </a:rPr>
              <a:t>Serialize pipeline with Joblib; construct interactive clinician dashboard using Flask.</a:t>
            </a:r>
          </a:p>
        </p:txBody>
      </p:sp>
      <p:sp>
        <p:nvSpPr>
          <p:cNvPr id="10" name="Rounded Rectangle 9"/>
          <p:cNvSpPr/>
          <p:nvPr/>
        </p:nvSpPr>
        <p:spPr>
          <a:xfrm>
            <a:off x="457200" y="4892040"/>
            <a:ext cx="11247120" cy="1463040"/>
          </a:xfrm>
          <a:prstGeom prst="roundRect">
            <a:avLst/>
          </a:prstGeom>
          <a:solidFill>
            <a:srgbClr val="0E2A54"/>
          </a:solidFill>
          <a:ln w="2540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wrap="square" tIns="164592"/>
          <a:lstStyle/>
          <a:p>
            <a:pPr algn="ctr">
              <a:defRPr sz="2800" b="1">
                <a:solidFill>
                  <a:srgbClr val="FFFFFF"/>
                </a:solidFill>
                <a:latin typeface="Cambria"/>
              </a:defRPr>
            </a:pPr>
            <a:r>
              <a:t>THANK YOU!</a:t>
            </a:r>
          </a:p>
          <a:p>
            <a:pPr algn="ctr">
              <a:spcAft>
                <a:spcPts val="400"/>
              </a:spcAft>
              <a:defRPr sz="1500" b="1">
                <a:solidFill>
                  <a:srgbClr val="38BDF8"/>
                </a:solidFill>
                <a:latin typeface="Calibri"/>
              </a:defRPr>
            </a:pPr>
            <a:r>
              <a:t>Questions, Suggestions &amp; Discussions are Welcome</a:t>
            </a:r>
          </a:p>
          <a:p>
            <a:pPr algn="ctr">
              <a:defRPr sz="1100">
                <a:solidFill>
                  <a:srgbClr val="94A3B8"/>
                </a:solidFill>
                <a:latin typeface="Calibri"/>
              </a:defRPr>
            </a:pPr>
            <a:r>
              <a:t>Student: Jiphin George (MAC25MCA-2033)  |  Project Guide: Prof. Biju Skaria  |  MCA Mini Project (Semester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2026-09-07T11:30:21Z</dcterms:created>
  <dcterms:modified xsi:type="dcterms:W3CDTF">2026-09-07T11:30:21Z</dcterms:modified>
</cp:coreProperties>
</file>