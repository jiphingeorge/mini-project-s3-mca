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76" r:id="rId4"/>
    <p:sldId id="258" r:id="rId5"/>
    <p:sldId id="259" r:id="rId6"/>
    <p:sldId id="260" r:id="rId7"/>
    <p:sldId id="261" r:id="rId8"/>
    <p:sldId id="262" r:id="rId9"/>
    <p:sldId id="263" r:id="rId10"/>
    <p:sldId id="264" r:id="rId11"/>
    <p:sldId id="267" r:id="rId12"/>
    <p:sldId id="268" r:id="rId13"/>
    <p:sldId id="269" r:id="rId14"/>
    <p:sldId id="270" r:id="rId15"/>
    <p:sldId id="271" r:id="rId16"/>
    <p:sldId id="272" r:id="rId17"/>
    <p:sldId id="273" r:id="rId18"/>
    <p:sldId id="274" r:id="rId19"/>
    <p:sldId id="275"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5EE5DB-BB54-47CE-8393-05C0541AAF8F}" v="59" dt="2026-09-08T03:37:54.0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phin George" userId="fe22a23ab0b1d16f" providerId="Windows Live" clId="Web-{C45EE5DB-BB54-47CE-8393-05C0541AAF8F}"/>
    <pc:docChg chg="modSld">
      <pc:chgData name="Jiphin George" userId="fe22a23ab0b1d16f" providerId="Windows Live" clId="Web-{C45EE5DB-BB54-47CE-8393-05C0541AAF8F}" dt="2026-09-08T03:37:54.067" v="54" actId="20577"/>
      <pc:docMkLst>
        <pc:docMk/>
      </pc:docMkLst>
      <pc:sldChg chg="modSp">
        <pc:chgData name="Jiphin George" userId="fe22a23ab0b1d16f" providerId="Windows Live" clId="Web-{C45EE5DB-BB54-47CE-8393-05C0541AAF8F}" dt="2026-09-08T03:31:55.470" v="9" actId="20577"/>
        <pc:sldMkLst>
          <pc:docMk/>
          <pc:sldMk cId="0" sldId="267"/>
        </pc:sldMkLst>
        <pc:spChg chg="mod">
          <ac:chgData name="Jiphin George" userId="fe22a23ab0b1d16f" providerId="Windows Live" clId="Web-{C45EE5DB-BB54-47CE-8393-05C0541AAF8F}" dt="2026-09-08T03:31:55.470" v="9" actId="20577"/>
          <ac:spMkLst>
            <pc:docMk/>
            <pc:sldMk cId="0" sldId="267"/>
            <ac:spMk id="37" creationId="{00000000-0000-0000-0000-000000000000}"/>
          </ac:spMkLst>
        </pc:spChg>
      </pc:sldChg>
      <pc:sldChg chg="modSp">
        <pc:chgData name="Jiphin George" userId="fe22a23ab0b1d16f" providerId="Windows Live" clId="Web-{C45EE5DB-BB54-47CE-8393-05C0541AAF8F}" dt="2026-09-08T03:32:15.002" v="10" actId="1076"/>
        <pc:sldMkLst>
          <pc:docMk/>
          <pc:sldMk cId="0" sldId="269"/>
        </pc:sldMkLst>
        <pc:spChg chg="mod">
          <ac:chgData name="Jiphin George" userId="fe22a23ab0b1d16f" providerId="Windows Live" clId="Web-{C45EE5DB-BB54-47CE-8393-05C0541AAF8F}" dt="2026-09-08T03:32:15.002" v="10" actId="1076"/>
          <ac:spMkLst>
            <pc:docMk/>
            <pc:sldMk cId="0" sldId="269"/>
            <ac:spMk id="7" creationId="{00000000-0000-0000-0000-000000000000}"/>
          </ac:spMkLst>
        </pc:spChg>
      </pc:sldChg>
      <pc:sldChg chg="modSp">
        <pc:chgData name="Jiphin George" userId="fe22a23ab0b1d16f" providerId="Windows Live" clId="Web-{C45EE5DB-BB54-47CE-8393-05C0541AAF8F}" dt="2026-09-08T03:33:07.815" v="15" actId="20577"/>
        <pc:sldMkLst>
          <pc:docMk/>
          <pc:sldMk cId="0" sldId="271"/>
        </pc:sldMkLst>
        <pc:spChg chg="mod">
          <ac:chgData name="Jiphin George" userId="fe22a23ab0b1d16f" providerId="Windows Live" clId="Web-{C45EE5DB-BB54-47CE-8393-05C0541AAF8F}" dt="2026-09-08T03:33:07.815" v="15" actId="20577"/>
          <ac:spMkLst>
            <pc:docMk/>
            <pc:sldMk cId="0" sldId="271"/>
            <ac:spMk id="10" creationId="{00000000-0000-0000-0000-000000000000}"/>
          </ac:spMkLst>
        </pc:spChg>
      </pc:sldChg>
      <pc:sldChg chg="delSp modSp">
        <pc:chgData name="Jiphin George" userId="fe22a23ab0b1d16f" providerId="Windows Live" clId="Web-{C45EE5DB-BB54-47CE-8393-05C0541AAF8F}" dt="2026-09-08T03:35:14.175" v="35" actId="1076"/>
        <pc:sldMkLst>
          <pc:docMk/>
          <pc:sldMk cId="0" sldId="272"/>
        </pc:sldMkLst>
        <pc:spChg chg="mod">
          <ac:chgData name="Jiphin George" userId="fe22a23ab0b1d16f" providerId="Windows Live" clId="Web-{C45EE5DB-BB54-47CE-8393-05C0541AAF8F}" dt="2026-09-08T03:34:16.206" v="24" actId="14100"/>
          <ac:spMkLst>
            <pc:docMk/>
            <pc:sldMk cId="0" sldId="272"/>
            <ac:spMk id="8" creationId="{00000000-0000-0000-0000-000000000000}"/>
          </ac:spMkLst>
        </pc:spChg>
        <pc:spChg chg="del mod">
          <ac:chgData name="Jiphin George" userId="fe22a23ab0b1d16f" providerId="Windows Live" clId="Web-{C45EE5DB-BB54-47CE-8393-05C0541AAF8F}" dt="2026-09-08T03:34:59.159" v="32"/>
          <ac:spMkLst>
            <pc:docMk/>
            <pc:sldMk cId="0" sldId="272"/>
            <ac:spMk id="9" creationId="{00000000-0000-0000-0000-000000000000}"/>
          </ac:spMkLst>
        </pc:spChg>
        <pc:picChg chg="mod">
          <ac:chgData name="Jiphin George" userId="fe22a23ab0b1d16f" providerId="Windows Live" clId="Web-{C45EE5DB-BB54-47CE-8393-05C0541AAF8F}" dt="2026-09-08T03:35:14.175" v="35" actId="1076"/>
          <ac:picMkLst>
            <pc:docMk/>
            <pc:sldMk cId="0" sldId="272"/>
            <ac:picMk id="10" creationId="{00000000-0000-0000-0000-000000000000}"/>
          </ac:picMkLst>
        </pc:picChg>
      </pc:sldChg>
      <pc:sldChg chg="modSp">
        <pc:chgData name="Jiphin George" userId="fe22a23ab0b1d16f" providerId="Windows Live" clId="Web-{C45EE5DB-BB54-47CE-8393-05C0541AAF8F}" dt="2026-09-08T03:36:49.785" v="48" actId="20577"/>
        <pc:sldMkLst>
          <pc:docMk/>
          <pc:sldMk cId="0" sldId="273"/>
        </pc:sldMkLst>
        <pc:spChg chg="mod">
          <ac:chgData name="Jiphin George" userId="fe22a23ab0b1d16f" providerId="Windows Live" clId="Web-{C45EE5DB-BB54-47CE-8393-05C0541AAF8F}" dt="2026-09-08T03:36:30.738" v="42" actId="20577"/>
          <ac:spMkLst>
            <pc:docMk/>
            <pc:sldMk cId="0" sldId="273"/>
            <ac:spMk id="8" creationId="{00000000-0000-0000-0000-000000000000}"/>
          </ac:spMkLst>
        </pc:spChg>
        <pc:spChg chg="mod">
          <ac:chgData name="Jiphin George" userId="fe22a23ab0b1d16f" providerId="Windows Live" clId="Web-{C45EE5DB-BB54-47CE-8393-05C0541AAF8F}" dt="2026-09-08T03:36:49.785" v="48" actId="20577"/>
          <ac:spMkLst>
            <pc:docMk/>
            <pc:sldMk cId="0" sldId="273"/>
            <ac:spMk id="9" creationId="{00000000-0000-0000-0000-000000000000}"/>
          </ac:spMkLst>
        </pc:spChg>
      </pc:sldChg>
      <pc:sldChg chg="modSp">
        <pc:chgData name="Jiphin George" userId="fe22a23ab0b1d16f" providerId="Windows Live" clId="Web-{C45EE5DB-BB54-47CE-8393-05C0541AAF8F}" dt="2026-09-08T03:37:54.067" v="54" actId="20577"/>
        <pc:sldMkLst>
          <pc:docMk/>
          <pc:sldMk cId="0" sldId="274"/>
        </pc:sldMkLst>
        <pc:spChg chg="mod">
          <ac:chgData name="Jiphin George" userId="fe22a23ab0b1d16f" providerId="Windows Live" clId="Web-{C45EE5DB-BB54-47CE-8393-05C0541AAF8F}" dt="2026-09-08T03:37:15.285" v="51" actId="20577"/>
          <ac:spMkLst>
            <pc:docMk/>
            <pc:sldMk cId="0" sldId="274"/>
            <ac:spMk id="9" creationId="{00000000-0000-0000-0000-000000000000}"/>
          </ac:spMkLst>
        </pc:spChg>
        <pc:spChg chg="mod">
          <ac:chgData name="Jiphin George" userId="fe22a23ab0b1d16f" providerId="Windows Live" clId="Web-{C45EE5DB-BB54-47CE-8393-05C0541AAF8F}" dt="2026-09-08T03:37:54.067" v="54" actId="20577"/>
          <ac:spMkLst>
            <pc:docMk/>
            <pc:sldMk cId="0" sldId="274"/>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6F928AC1-82C0-4815-AD2D-2343329E41D2}" type="datetimeFigureOut">
              <a:t>07/09/2026</a:t>
            </a:fld>
            <a:endParaRPr lang="en-GB"/>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7EC4DA3E-AD89-4215-9E63-4B5234431BBC}" type="slidenum">
              <a:t>‹#›</a:t>
            </a:fld>
            <a:endParaRPr lang="en-GB"/>
          </a:p>
        </p:txBody>
      </p:sp>
    </p:spTree>
    <p:extLst>
      <p:ext uri="{BB962C8B-B14F-4D97-AF65-F5344CB8AC3E}">
        <p14:creationId xmlns:p14="http://schemas.microsoft.com/office/powerpoint/2010/main" val="996904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 PRESENTATION SCRIPT]</a:t>
            </a:r>
          </a:p>
          <a:p>
            <a:r>
              <a:t>Respected Guide Prof. Biju Skaria, Chairperson, and esteemed members of the evaluation committee, good morning. </a:t>
            </a:r>
          </a:p>
          <a:p>
            <a:endParaRPr/>
          </a:p>
          <a:p>
            <a:r>
              <a:t>I am Jiphin George, Register Number MAC25MCA-2033, pursuing my Master of Computer Applications at Mar Athanasius College of Engineering, Kothamangalam. Today, I am privileged to present the first review of my MCA Mini Project titled: 'Medical Specialty Classification Using TF-IDF and Ensemble Machine Learning'.</a:t>
            </a:r>
          </a:p>
          <a:p>
            <a:endParaRPr/>
          </a:p>
          <a:p>
            <a:r>
              <a:t>[KEY TECHNICAL HIGHLIGHTS]</a:t>
            </a:r>
          </a:p>
          <a:p>
            <a:r>
              <a:t>• Domain Problem: Healthcare systems generate thousands of unstructured clinical dictations daily. Manually reading and routing these to medical departments causes clinical delays, high administrative costs, and coding inconsistencies.</a:t>
            </a:r>
          </a:p>
          <a:p>
            <a:r>
              <a:t>• Proposed Solution: An automated, lightweight, and explainable NLP and Machine Learning classification system capable of classifying medical transcripts into 40 medical specialties.</a:t>
            </a:r>
          </a:p>
          <a:p>
            <a:r>
              <a:t>• Architectural Pillars:</a:t>
            </a:r>
          </a:p>
          <a:p>
            <a:r>
              <a:t>  1. Clinical NLP Normalization (cleaning, tokenization, stopword removal, WordNet lemmatization).</a:t>
            </a:r>
          </a:p>
          <a:p>
            <a:r>
              <a:t>  2. Sublinear TF-IDF Feature Vectorization (unigrams + bigrams with L2 normalization).</a:t>
            </a:r>
          </a:p>
          <a:p>
            <a:r>
              <a:t>  3. Soft Voting Ensemble combining 4 diverse classifiers: Linear SVM, Random Forest, Multinomial Logistic Regression, and Multinomial Naive Bayes.</a:t>
            </a:r>
          </a:p>
          <a:p>
            <a:r>
              <a:t>  4. Lightweight Flask Web Deployment running in real-time on standard commodity CPU hardware without requiring expensive GPUs.</a:t>
            </a:r>
          </a:p>
          <a:p>
            <a:endParaRPr/>
          </a:p>
          <a:p>
            <a:r>
              <a:t>[TRANSITION TO NEXT SLIDE]</a:t>
            </a:r>
          </a:p>
          <a:p>
            <a:r>
              <a:t>Let us begin by examining the underlying problem statement and the core objectives guiding this project.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 PRESENTATION SCRIPT]</a:t>
            </a:r>
          </a:p>
          <a:p>
            <a:r>
              <a:t>Moving to Slide 2, let us look closely at why automated clinical specialty categorization is a vital healthcare informatics challenge.</a:t>
            </a:r>
          </a:p>
          <a:p>
            <a:endParaRPr/>
          </a:p>
          <a:p>
            <a:r>
              <a:t>As shown on the left, clinical narratives are inherently unstructured, written in dense physician shorthand with complex jargon, abbreviations, and variable lengths. In hospitals, medical coders manually inspect these narratives to assign departmental specialty tags. This process is time-consuming, prone to human fatigue, expensive, and inconsistent across coders.</a:t>
            </a:r>
          </a:p>
          <a:p>
            <a:endParaRPr/>
          </a:p>
          <a:p>
            <a:r>
              <a:t>Our objective, shown on the right, is to design and implement an end-to-end Machine Learning pipeline that automates this categorization, speeding up document routing and eliminating administrative bottlenecks.</a:t>
            </a:r>
          </a:p>
          <a:p>
            <a:endParaRPr/>
          </a:p>
          <a:p>
            <a:r>
              <a:t>[KEY OBJECTIVES EXPLAINED]</a:t>
            </a:r>
          </a:p>
          <a:p>
            <a:r>
              <a:t>1. Explore &amp; Analyze: Conduct exhaustive statistical and exploratory analysis on the Kaggle MTSamples clinical transcription dataset across all 40 specialties.</a:t>
            </a:r>
          </a:p>
          <a:p>
            <a:r>
              <a:t>2. Preprocess Text: Build a robust 5-step clinical NLP cleaning sequence to eliminate noise while preserving clinical root meanings.</a:t>
            </a:r>
          </a:p>
          <a:p>
            <a:r>
              <a:t>3. Extract Features: Transform raw text into standardized, high-dimensional numerical feature vectors using sublinear TF-IDF.</a:t>
            </a:r>
          </a:p>
          <a:p>
            <a:r>
              <a:t>4. Ensemble &amp; Deploy: Train and ensemble four diverse machine learning models via soft voting to handle severe class imbalance, deploying the finalized model through an interactive Flask web application.</a:t>
            </a:r>
          </a:p>
          <a:p>
            <a:endParaRPr/>
          </a:p>
          <a:p>
            <a:r>
              <a:t>[TRANSITION TO NEXT SLIDE]</a:t>
            </a:r>
          </a:p>
          <a:p>
            <a:r>
              <a:t>To ground our methodology in established research, I conducted an extensive review of the literature, summarized on Slide 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[FORMAL PRESENTATION SCRIPT]</a:t>
            </a:r>
          </a:p>
          <a:p>
            <a:r>
              <a:t>Slide 3 presents the academic context, theoretical foundation, and research landscape of clinical text classification.</a:t>
            </a:r>
          </a:p>
          <a:p>
            <a:endParaRPr/>
          </a:p>
          <a:p>
            <a:r>
              <a:t>The top phase bar outlines our research progression:</a:t>
            </a:r>
          </a:p>
          <a:p>
            <a:r>
              <a:t>1. Prior Literature: Validated the feasibility of supervised machine learning for clinical text classification.</a:t>
            </a:r>
          </a:p>
          <a:p>
            <a:r>
              <a:t>2. Key Methodologies: Established TF-IDF vectorization and linear classifiers as strong, interpretable baselines.</a:t>
            </a:r>
          </a:p>
          <a:p>
            <a:r>
              <a:t>3. Identified Gap: Deep learning approaches (such as BERT or ClinicalBERT) achieve high benchmarks but demand massive GPU compute, suffer from long inference latency, and show high variance when trained on severely imbalanced text data.</a:t>
            </a:r>
          </a:p>
          <a:p>
            <a:r>
              <a:t>4. Proposed Architecture: A lightweight Soft Voting Ensemble designed to achieve robust multi-class accuracy across all 40 specialties on standard CPU hardware.</a:t>
            </a:r>
          </a:p>
          <a:p>
            <a:endParaRPr/>
          </a:p>
          <a:p>
            <a:r>
              <a:t>[FOUR CORE METHODOLOGICAL PILLARS]</a:t>
            </a:r>
          </a:p>
          <a:p>
            <a:r>
              <a:t>• Clinical NLP &amp; Preprocessing: Clinical dictations contain non-standard abbreviations and punctuation noise. We implement a systematic 5-stage cleaning sequence (HTML/noise removal, case normalization, regex tokenization, clinical stopword removal, and morphological lemmatization) that normalizes inflected clinical terms to their diagnostic roots.</a:t>
            </a:r>
          </a:p>
          <a:p>
            <a:r>
              <a:t>• TF-IDF Feature Representation: Converts unstructured narratives into high-dimensional sparse numerical vectors. Sublinear scaling (1 + log(TF)) dampens repetitive non-informative terms while highlighting discriminative clinical tokens. L2 normalization handles document length variations.</a:t>
            </a:r>
          </a:p>
          <a:p>
            <a:r>
              <a:t>• Supervised ML Classifiers: Linear models (SVM, Logistic Regression) excel on high-dimensional sparse text vectors; Random Forest introduces non-linear decision boundaries and bagging variance reduction; Multinomial Naive Bayes provides fast probabilistic likelihood estimation.</a:t>
            </a:r>
          </a:p>
          <a:p>
            <a:r>
              <a:t>• Ensemble Learning &amp; Research Gap: Single models often struggle with rare classes under severe imbalance. Combining calibrated base models through soft probability voting balances variance and achieves superior generalization.</a:t>
            </a:r>
          </a:p>
          <a:p>
            <a:endParaRPr/>
          </a:p>
          <a:p>
            <a:r>
              <a:t>[TRANSITION TO NEXT SLIDE]</a:t>
            </a:r>
          </a:p>
          <a:p>
            <a:r>
              <a:t>Let us now examine three specific peer-reviewed papers that directly informed our methodological design on Slide 4.</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 PRESENTATION SCRIPT]</a:t>
            </a:r>
          </a:p>
          <a:p>
            <a:r>
              <a:t>On Slide 4, I have synthesized three pivotal research publications that directly influenced our pipeline design.</a:t>
            </a:r>
          </a:p>
          <a:p>
            <a:endParaRPr/>
          </a:p>
          <a:p>
            <a:r>
              <a:t>[PAPER 1: Omar et al. (2023, iJOE)]</a:t>
            </a:r>
          </a:p>
          <a:p>
            <a:r>
              <a:t>• Methodology: Compared classical feature representations (Bag-of-Words, TF-IDF, Word2Vec) across multiple classifiers including Logistic Regression, SVM, Naive Bayes, and k-NN.</a:t>
            </a:r>
          </a:p>
          <a:p>
            <a:r>
              <a:t>• Key Finding: Word2Vec + k-NN achieved the highest accuracy at 92%, but distance-based k-NN scales poorly during inference on large, expanding hospital databases.</a:t>
            </a:r>
          </a:p>
          <a:p>
            <a:r>
              <a:t>• Relevance: Validated the standard 4-phase preprocessing pipeline and guided us toward parametric, computationally lightweight linear and ensemble classifiers.</a:t>
            </a:r>
          </a:p>
          <a:p>
            <a:endParaRPr/>
          </a:p>
          <a:p>
            <a:r>
              <a:t>[PAPER 2: Zhang et al. (2023, Hindawi CIN)]</a:t>
            </a:r>
          </a:p>
          <a:p>
            <a:r>
              <a:t>• Methodology: Explored SemiADA synthetic data augmentation paired with BERT on an 18-class MTSamples subset.</a:t>
            </a:r>
          </a:p>
          <a:p>
            <a:r>
              <a:t>• Key Finding: Demonstrated that class imbalance is the primary cause of clinical classification error, achieving a +14.9% gain with augmentation, but at the cost of heavy GPU fine-tuning overhead.</a:t>
            </a:r>
          </a:p>
          <a:p>
            <a:r>
              <a:t>• Relevance: Highlighted the extreme class imbalance in MTSamples and motivated our approach: an accessible TF-IDF + soft voting ensemble that mitigates imbalance through probability calibration without requiring expensive GPU clusters.</a:t>
            </a:r>
          </a:p>
          <a:p>
            <a:endParaRPr/>
          </a:p>
          <a:p>
            <a:r>
              <a:t>[PAPER 3: Blanchard et al. (2022, IEEE JBHI)]</a:t>
            </a:r>
          </a:p>
          <a:p>
            <a:r>
              <a:t>• Methodology: Designed a CNN with keyword-constrained loss for cancer pathology text on the NCI SEER registry.</a:t>
            </a:r>
          </a:p>
          <a:p>
            <a:r>
              <a:t>• Key Finding: Proved that clinical keywords carry the bulk of diagnostic signal; keyword weighting significantly improved macro-F1 and recall on rare classes without hurting majority performance.</a:t>
            </a:r>
          </a:p>
          <a:p>
            <a:r>
              <a:t>• Relevance: Justified our choice of sublinear TF-IDF with n-gram weighting to preserve and amplify predictive medical terms for rare specialty classes.</a:t>
            </a:r>
          </a:p>
          <a:p>
            <a:endParaRPr/>
          </a:p>
          <a:p>
            <a:r>
              <a:t>[TRANSITION TO NEXT SLIDE]</a:t>
            </a:r>
          </a:p>
          <a:p>
            <a:r>
              <a:t>With this literature background established, let us inspect the empirical dataset used in this research, shown on Slide 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 PRESENTATION SCRIPT]</a:t>
            </a:r>
          </a:p>
          <a:p>
            <a:r>
              <a:t>Slide 5 introduces the dataset: the Kaggle MTSamples Medical Transcriptions dataset, a well-established open-source benchmark in healthcare text analytics.</a:t>
            </a:r>
          </a:p>
          <a:p>
            <a:endParaRPr/>
          </a:p>
          <a:p>
            <a:r>
              <a:t>[DATASET SPECIFICATIONS &amp; SCHEMA]</a:t>
            </a:r>
          </a:p>
          <a:p>
            <a:r>
              <a:t>• Source: Authentic clinical dictations transcribed from MTSamples.com, covering real-world patient histories, physical exams, diagnostic consultations, and operative notes.</a:t>
            </a:r>
          </a:p>
          <a:p>
            <a:r>
              <a:t>• Scale: Exactly 4,999 clinical records categorized into 40 distinct medical specialties.</a:t>
            </a:r>
          </a:p>
          <a:p>
            <a:r>
              <a:t>• 6 Attributes:</a:t>
            </a:r>
          </a:p>
          <a:p>
            <a:r>
              <a:t>  1. Unnamed: 0: Integer row identifier / index.</a:t>
            </a:r>
          </a:p>
          <a:p>
            <a:r>
              <a:t>  2. description: Short 1–2 sentence summary of the clinical encounter.</a:t>
            </a:r>
          </a:p>
          <a:p>
            <a:r>
              <a:t>  3. medical_specialty: The ground-truth categorical target label spanning 40 clinical classes.</a:t>
            </a:r>
          </a:p>
          <a:p>
            <a:r>
              <a:t>  4. sample_name: Specific clinical dictation or procedure heading.</a:t>
            </a:r>
          </a:p>
          <a:p>
            <a:r>
              <a:t>  5. transcription: The primary independent feature containing the unstructured narrative text.</a:t>
            </a:r>
          </a:p>
          <a:p>
            <a:r>
              <a:t>  6. keywords: Comma-separated extracted medical keywords.</a:t>
            </a:r>
          </a:p>
          <a:p>
            <a:endParaRPr/>
          </a:p>
          <a:p>
            <a:r>
              <a:t>[INITIAL QUALITY AUDIT]</a:t>
            </a:r>
          </a:p>
          <a:p>
            <a:r>
              <a:t>• Data Completeness: The target attribute `medical_specialty` has 0 missing values across all 4,999 rows (100% complete).</a:t>
            </a:r>
          </a:p>
          <a:p>
            <a:r>
              <a:t>• Feature Completeness: The `transcription` narrative is 99.34% complete, with only 33 null records (0.66%).</a:t>
            </a:r>
          </a:p>
          <a:p>
            <a:r>
              <a:t>• High Sparsity in Keywords: `keywords` is missing in 1,068 records (21.36%), confirming that we must extract features directly from raw transcription text rather than relying on keywords.</a:t>
            </a:r>
          </a:p>
          <a:p>
            <a:endParaRPr/>
          </a:p>
          <a:p>
            <a:r>
              <a:t>[TRANSITION TO NEXT SLIDE]</a:t>
            </a:r>
          </a:p>
          <a:p>
            <a:r>
              <a:t>On Slide 6, we examine the statistical verification and structural profiling performed on this dataset.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 PRESENTATION SCRIPT]</a:t>
            </a:r>
          </a:p>
          <a:p>
            <a:r>
              <a:t>Slide 6 presents the statistical profiling of the dataset conducted using Python's pandas and NumPy libraries.</a:t>
            </a:r>
          </a:p>
          <a:p>
            <a:endParaRPr/>
          </a:p>
          <a:p>
            <a:r>
              <a:t>[STATISTICAL VERIFICATION]</a:t>
            </a:r>
          </a:p>
          <a:p>
            <a:r>
              <a:t>• Programmatic Inspection: We applied standard DataFrame inspection methods: `df.shape`, `df.info()`, `df.dtypes`, `df.describe()`, `df.head()`, and `df.memory_usage(deep=True)`.</a:t>
            </a:r>
          </a:p>
          <a:p>
            <a:r>
              <a:t>• Dimensions: Verified exact dimensions of 4,999 observations and 6 attributes.</a:t>
            </a:r>
          </a:p>
          <a:p>
            <a:r>
              <a:t>• Data Types: Confirmed 1 integer index column and 5 object (string) columns. Total memory usage in pandas is approximately 25 megabytes.</a:t>
            </a:r>
          </a:p>
          <a:p>
            <a:r>
              <a:t>• Text Description Analysis: Descriptive statistics confirm that `transcription` is free-form natural language text of highly variable length and rich clinical vocabulary.</a:t>
            </a:r>
          </a:p>
          <a:p>
            <a:r>
              <a:t>• Deduplication Check: Checked via `df.duplicated(subset=['transcription'])`. Confirmed no duplicate clinical narratives in the corpus, ruling out artificial memorization or data leakage.</a:t>
            </a:r>
          </a:p>
          <a:p>
            <a:endParaRPr/>
          </a:p>
          <a:p>
            <a:r>
              <a:t>[TRANSITION TO NEXT SLIDE]</a:t>
            </a:r>
          </a:p>
          <a:p>
            <a:r>
              <a:t>Next, on Slide 7, we visualize our missing value audit across all dataset attributes.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 PRESENTATION SCRIPT]</a:t>
            </a:r>
          </a:p>
          <a:p>
            <a:r>
              <a:t>Slide 7 visualizes the data quality audit, specifically analyzing missing values across all dataset fields using pandas `isnull().sum()`, rendered with Seaborn and Matplotlib.</a:t>
            </a:r>
          </a:p>
          <a:p>
            <a:endParaRPr/>
          </a:p>
          <a:p>
            <a:r>
              <a:t>[DATA QUALITY AUDIT FINDINGS]</a:t>
            </a:r>
          </a:p>
          <a:p>
            <a:r>
              <a:t>• `transcription` (Primary Feature): 33 missing values out of 4,999 (0.66%). In text classification, imputing missing free-form narrative text is statistically invalid. Because 0.66% is negligible, dropping these 33 rows leaves 4,966 high-integrity records with zero synthetic distortion.</a:t>
            </a:r>
          </a:p>
          <a:p>
            <a:r>
              <a:t>• `keywords`: 1,068 missing records (21.36%). This severe sparsity validates our architectural choice to discard `keywords` and derive our own TF-IDF feature space directly from the full transcription text.</a:t>
            </a:r>
          </a:p>
          <a:p>
            <a:r>
              <a:t>• `description`: 6 missing records (0.12%).</a:t>
            </a:r>
          </a:p>
          <a:p>
            <a:r>
              <a:t>• `medical_specialty` (Target Label): 0 missing records (0.00%). Every record is deterministically labeled, providing a clean ground truth for supervised multi-class learning.</a:t>
            </a:r>
          </a:p>
          <a:p>
            <a:endParaRPr/>
          </a:p>
          <a:p>
            <a:r>
              <a:t>[TRANSITION TO NEXT SLIDE]</a:t>
            </a:r>
          </a:p>
          <a:p>
            <a:r>
              <a:t>Let us now turn to Slide 8 to analyze the distribution of our target variable, which reveals our primary modeling challenge: class imbalance.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 PRESENTATION SCRIPT]</a:t>
            </a:r>
          </a:p>
          <a:p>
            <a:r>
              <a:t>Slide 8 displays the complete distribution across all 40 medical specialty classes in the MTSamples dataset, generated using Seaborn and Matplotlib.</a:t>
            </a:r>
          </a:p>
          <a:p>
            <a:endParaRPr/>
          </a:p>
          <a:p>
            <a:r>
              <a:t>[CLASS IMBALANCE ANALYSIS]</a:t>
            </a:r>
          </a:p>
          <a:p>
            <a:r>
              <a:t>• Extreme Imbalance Ratio: The dataset exhibits a severe long-tail Pareto distribution:</a:t>
            </a:r>
          </a:p>
          <a:p>
            <a:r>
              <a:t>  - Majority Class: 'Surgery' dominates with 1,103 records (over 22% of the entire dataset).</a:t>
            </a:r>
          </a:p>
          <a:p>
            <a:r>
              <a:t>  - Next Largest Classes: 'Consult - History and Phy.' has 516 records, and 'Cardiovascular / Pulmonary' has 371 records.</a:t>
            </a:r>
          </a:p>
          <a:p>
            <a:r>
              <a:t>  - Minority Classes: Rare specialties at the tail have very few samples—'Autopsy' and 'Executive Evaluation' have only 2 records each; 'Hospice - Palliative Care' has only 6 records.</a:t>
            </a:r>
          </a:p>
          <a:p>
            <a:r>
              <a:t>• Why This Matters for Modeling:</a:t>
            </a:r>
          </a:p>
          <a:p>
            <a:r>
              <a:t>  1. Standard train/test splitting would randomly place rare classes entirely in the training set or test set, causing evaluation failure. A strictly stratified train-test split (`stratify=y`) is mandatory.</a:t>
            </a:r>
          </a:p>
          <a:p>
            <a:r>
              <a:t>  2. Standard Accuracy is a misleading metric under severe imbalance (a naive model predicting 'Surgery' always would achieve ~22% accuracy). Evaluation must rely on Macro-averaged Precision, Recall, and F1-score.</a:t>
            </a:r>
          </a:p>
          <a:p>
            <a:r>
              <a:t>  3. Classifiers must incorporate cost-sensitive weighting (`class_weight='balanced'`) and probability calibration.</a:t>
            </a:r>
          </a:p>
          <a:p>
            <a:endParaRPr/>
          </a:p>
          <a:p>
            <a:r>
              <a:t>[TRANSITION TO NEXT SLIDE]</a:t>
            </a:r>
          </a:p>
          <a:p>
            <a:r>
              <a:t>Having analyzed the target labels, on Slide 9 we inspect the linguistic characteristics of the clinical narratives.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 PRESENTATION SCRIPT]</a:t>
            </a:r>
          </a:p>
          <a:p>
            <a:r>
              <a:t>Slide 9 examines the word count distribution and clinical vocabulary extracted from the transcription narratives.</a:t>
            </a:r>
          </a:p>
          <a:p>
            <a:endParaRPr/>
          </a:p>
          <a:p>
            <a:r>
              <a:t>[TEXT LENGTH &amp; VOCABULARY INSIGHTS]</a:t>
            </a:r>
          </a:p>
          <a:p>
            <a:r>
              <a:t>• Word Count Distribution (Left Chart):</a:t>
            </a:r>
          </a:p>
          <a:p>
            <a:r>
              <a:t>  - Highly right-skewed distribution. The median narrative length is approximately 435 words, with the interquartile range between 210 and 680 words.</a:t>
            </a:r>
          </a:p>
          <a:p>
            <a:r>
              <a:t>  - However, comprehensive surgical and operative notes extend up to nearly 3,000 words.</a:t>
            </a:r>
          </a:p>
          <a:p>
            <a:r>
              <a:t>  - This extreme variability justifies document-level L2 normalization in TF-IDF, ensuring that lengthy documents do not artificially dominate feature magnitudes.</a:t>
            </a:r>
          </a:p>
          <a:p>
            <a:r>
              <a:t>• Word Cloud of High-Frequency Terms (Right Chart):</a:t>
            </a:r>
          </a:p>
          <a:p>
            <a:r>
              <a:t>  - Generated using the Python `wordcloud` library.</a:t>
            </a:r>
          </a:p>
          <a:p>
            <a:r>
              <a:t>  - Prominent terms include 'patient', 'procedure', 'left', 'right', 'placed', 'noted', 'history', 'normal', 'tolerated'.</a:t>
            </a:r>
          </a:p>
          <a:p>
            <a:r>
              <a:t>  - These ubiquitous terms represent generic clinical documentation boilerplate common across almost all hospital encounters.</a:t>
            </a:r>
          </a:p>
          <a:p>
            <a:r>
              <a:t>  - Without proper Inverse Document Frequency (IDF) down-weighting and clinical stopword filtering, these frequent words act as noise and overpower discriminative specialty terms (e.g., 'myocardial', 'laparoscopic', 'electroencephalogram').</a:t>
            </a:r>
          </a:p>
          <a:p>
            <a:endParaRPr/>
          </a:p>
          <a:p>
            <a:r>
              <a:t>[TRANSITION TO NEXT SLIDE]</a:t>
            </a:r>
          </a:p>
          <a:p>
            <a:r>
              <a:t>Slide 10 synthesizes these empirical findings into four foundational modeling conclusions.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 PRESENTATION SCRIPT]</a:t>
            </a:r>
          </a:p>
          <a:p>
            <a:r>
              <a:t>Slide 10 synthesizes the four key insights derived from our exploratory data analysis that directly dictate our preprocessing, feature engineering, and modeling strategies.</a:t>
            </a:r>
          </a:p>
          <a:p>
            <a:endParaRPr/>
          </a:p>
          <a:p>
            <a:r>
              <a:t>[FOUR CORE CONCLUSIONS]</a:t>
            </a:r>
          </a:p>
          <a:p>
            <a:r>
              <a:t>1. Severe Class Imbalance (1,103 vs. 2 records):</a:t>
            </a:r>
          </a:p>
          <a:p>
            <a:r>
              <a:t>   - Strategy: Mandatory stratified 80:20 data splitting, balanced cost-sensitive sample weighting, and ensemble voting to prevent majority class bias.</a:t>
            </a:r>
          </a:p>
          <a:p>
            <a:r>
              <a:t>2. Variable Text Length (200 to 3,000 words):</a:t>
            </a:r>
          </a:p>
          <a:p>
            <a:r>
              <a:t>   - Strategy: Sublinear TF scaling (1 + log(TF)) to dampen high-frequency repetition, paired with document-level L2 vector normalization.</a:t>
            </a:r>
          </a:p>
          <a:p>
            <a:r>
              <a:t>3. High-Dimensional Text Vocabulary:</a:t>
            </a:r>
          </a:p>
          <a:p>
            <a:r>
              <a:t>   - Strategy: Set minimum document frequency (`min_df=3`) to eliminate single-occurrence spelling noise, and maximum document frequency (`max_df=0.85`) to exclude ubiquitous words, capturing unigrams and bigrams.</a:t>
            </a:r>
          </a:p>
          <a:p>
            <a:r>
              <a:t>4. Generic Documentation Noise:</a:t>
            </a:r>
          </a:p>
          <a:p>
            <a:r>
              <a:t>   - Strategy: Combine NLTK standard English stopwords with clinical-specific boilerplate tokens, followed by WordNet morphological lemmatization.</a:t>
            </a:r>
          </a:p>
          <a:p>
            <a:r>
              <a:t>5. Evaluation Metric: Overall accuracy alone is deceptive under severe imbalance; model success will be evaluated using Macro-averaged Precision, Recall, and F1-Score.</a:t>
            </a:r>
          </a:p>
          <a:p>
            <a:endParaRPr/>
          </a:p>
          <a:p>
            <a:r>
              <a:t>[TRANSITION TO NEXT SLIDE]</a:t>
            </a:r>
          </a:p>
          <a:p>
            <a:r>
              <a:t>On Slide 11, we examine the pre-processed dataset structure ready for machine learning.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 PRESENTATION SCRIPT]</a:t>
            </a:r>
          </a:p>
          <a:p>
            <a:r>
              <a:t>Slide 11 contrasts the raw ingested dataset against the clean, preprocessed data structure established for model training.</a:t>
            </a:r>
          </a:p>
          <a:p>
            <a:endParaRPr/>
          </a:p>
          <a:p>
            <a:r>
              <a:t>[CLEANED DATASET STRUCTURE]</a:t>
            </a:r>
          </a:p>
          <a:p>
            <a:r>
              <a:t>• Drop Null Records: Removed the 33 records with missing transcriptions, yielding a clean dataset of 4,966 high-quality rows spanning all 40 original medical specialties.</a:t>
            </a:r>
          </a:p>
          <a:p>
            <a:r>
              <a:t>• Feature Matrix ($X$): The cleaned `transcription` narrative text.</a:t>
            </a:r>
          </a:p>
          <a:p>
            <a:r>
              <a:t>• Target Variable ($y$): The categorical `medical_specialty` label, encoded into numerical format via scikit-learn's `LabelEncoder`.</a:t>
            </a:r>
          </a:p>
          <a:p>
            <a:r>
              <a:t>• Stratified Train-Test Split:</a:t>
            </a:r>
          </a:p>
          <a:p>
            <a:r>
              <a:t>  - 80% Training Set (3,972 samples) : 20% Test Set (994 samples).</a:t>
            </a:r>
          </a:p>
          <a:p>
            <a:r>
              <a:t>  - Stratification ensures that all 40 specialties—including the rarest classes—are proportionally represented in both training and test partitions.</a:t>
            </a:r>
          </a:p>
          <a:p>
            <a:r>
              <a:t>• Strict Data Leakage Prevention: The TF-IDF Vectorizer is fitted strictly on the training partition (`fit_transform`). The test set is strictly transformed (`transform`) using frozen vocabulary and IDF weights, ensuring no data snooping or leakage occurs.</a:t>
            </a:r>
          </a:p>
          <a:p>
            <a:endParaRPr/>
          </a:p>
          <a:p>
            <a:r>
              <a:t>[TRANSITION TO NEXT SLIDE]</a:t>
            </a:r>
          </a:p>
          <a:p>
            <a:r>
              <a:t>Slide 12 introduces our proposed machine learning algorithms and ensemble architecture.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 PRESENTATION SCRIPT]</a:t>
            </a:r>
          </a:p>
          <a:p>
            <a:r>
              <a:t>Slide 12 presents our proposed classification architecture, combining four diverse base machine learning models into an overarching Soft Voting Ensemble.</a:t>
            </a:r>
          </a:p>
          <a:p>
            <a:endParaRPr/>
          </a:p>
          <a:p>
            <a:r>
              <a:t>[TOP 4 BASE CLASSIFIERS]</a:t>
            </a:r>
          </a:p>
          <a:p>
            <a:r>
              <a:t>1. Support Vector Machine (Linear Kernel): Finds the maximum-margin separating hyperplane. Proven mathematically to excel on sparse, high-dimensional text feature spaces where the number of features exceeds the number of samples.</a:t>
            </a:r>
          </a:p>
          <a:p>
            <a:r>
              <a:t>2. Random Forest Classifier: An ensemble of decision trees utilizing bootstrap aggregation (bagging). Captures non-linear keyword interactions and provides variance reduction.</a:t>
            </a:r>
          </a:p>
          <a:p>
            <a:r>
              <a:t>3. Logistic Regression (Multinomial / Softmax): Provides a well-calibrated probabilistic baseline with L2 regularization, generating interpretable posterior odds ratios for clinical features.</a:t>
            </a:r>
          </a:p>
          <a:p>
            <a:r>
              <a:t>4. Multinomial Naive Bayes: A fast, count-based probabilistic classifier using Laplace smoothing. Computationally efficient and highly effective on word frequency distributions.</a:t>
            </a:r>
          </a:p>
          <a:p>
            <a:endParaRPr/>
          </a:p>
          <a:p>
            <a:r>
              <a:t>[BOTTOM 3 STAGES: PIPELINE ARCHITECTURE]</a:t>
            </a:r>
          </a:p>
          <a:p>
            <a:r>
              <a:t>• Feature Extraction: TF-IDF vectorizer extracts unigrams and bigrams with sublinear TF scaling and L2 normalization, producing a standardized sparse matrix.</a:t>
            </a:r>
          </a:p>
          <a:p>
            <a:r>
              <a:t>• Classification: The four base estimators independently evaluate the sparse vector and generate class probability distributions.</a:t>
            </a:r>
          </a:p>
          <a:p>
            <a:r>
              <a:t>• Ensemble Aggregation: A Soft Voting Classifier aggregates consensus probabilities across all four base models: P_ensemble(c) = 1/4 * sum(P_m(c)). The predicted specialty corresponds to argmax(P_ensemble).</a:t>
            </a:r>
          </a:p>
          <a:p>
            <a:endParaRPr/>
          </a:p>
          <a:p>
            <a:r>
              <a:t>[TRANSITION TO NEXT SLIDE]</a:t>
            </a:r>
          </a:p>
          <a:p>
            <a:r>
              <a:t>Let us now examine the formal UML Activity Diagrams for each algorithm, starting with SVM and Naive Bayes on Slide 13.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 PRESENTATION SCRIPT]</a:t>
            </a:r>
          </a:p>
          <a:p>
            <a:r>
              <a:t>Slide 13 displays the formal UML Activity Diagrams for our first two classifiers—Support Vector Machine on the left and Multinomial Naive Bayes on the right—extracted directly from Figures 7 and 8 of our project report.</a:t>
            </a:r>
          </a:p>
          <a:p>
            <a:endParaRPr/>
          </a:p>
          <a:p>
            <a:r>
              <a:t>[DETAILED STEP-BY-STEP ACTIVITY DIAGRAM WALKTHROUGH]</a:t>
            </a:r>
          </a:p>
          <a:p>
            <a:endParaRPr/>
          </a:p>
          <a:p>
            <a:r>
              <a:t>• LEFT DIAGRAM: SVM Model Training &amp; Classification (Figure 7):</a:t>
            </a:r>
          </a:p>
          <a:p>
            <a:r>
              <a:t>  1. Initial Node (Black Circle): Ingestion of preprocessed clinical transcription text.</a:t>
            </a:r>
          </a:p>
          <a:p>
            <a:r>
              <a:t>  2. TF-IDF Vectorization Activity: Converts the clinical text into a high-dimensional numerical sparse feature vector.</a:t>
            </a:r>
          </a:p>
          <a:p>
            <a:r>
              <a:t>  3. Hyperplane Optimization: Solves the convex quadratic programming dual problem: finding the maximum-margin hyperplane separating specialty classes using a linear kernel K(x_i, x_j) = x_i^T x_j.</a:t>
            </a:r>
          </a:p>
          <a:p>
            <a:r>
              <a:t>  4. Decision Node (Platt Scaling / Probability Calibration): Because standard SVM outputs uncalibrated geometric margins, Platt scaling (logistic sigmoid fitting) is applied to convert margins into well-calibrated class probability distributions P(y|x) necessary for soft voting.</a:t>
            </a:r>
          </a:p>
          <a:p>
            <a:r>
              <a:t>  5. Multi-Class Decision: One-vs-Rest (OvR) decision strategy constructs 40 binary decision boundaries.</a:t>
            </a:r>
          </a:p>
          <a:p>
            <a:r>
              <a:t>  6. Output &amp; Terminal Node: Outputs the calibrated probability vector and predicted specialty class.</a:t>
            </a:r>
          </a:p>
          <a:p>
            <a:endParaRPr/>
          </a:p>
          <a:p>
            <a:r>
              <a:t>• RIGHT DIAGRAM: Multinomial Naive Bayes (Figure 8):</a:t>
            </a:r>
          </a:p>
          <a:p>
            <a:r>
              <a:t>  1. Initial Node: Ingestion of tokenized transcription feature vector.</a:t>
            </a:r>
          </a:p>
          <a:p>
            <a:r>
              <a:t>  2. Prior &amp; Likelihood Computation: Computes class prior log-probabilities log P(c) and feature likelihoods log P(w_i | c).</a:t>
            </a:r>
          </a:p>
          <a:p>
            <a:r>
              <a:t>  3. Laplace Smoothing Activity: Applies additive Laplace smoothing (alpha = 1.0) to prevent zero-probability errors on words absent in specific classes: P(w_i|c) = (N_ci + 1) / (N_c + |V|).</a:t>
            </a:r>
          </a:p>
          <a:p>
            <a:r>
              <a:t>  4. Posterior Likelihood Aggregation: Sums log-likelihoods over all tokens to prevent floating-point underflow: log P(c) + sum(log P(w_i | c)).</a:t>
            </a:r>
          </a:p>
          <a:p>
            <a:r>
              <a:t>  5. Softmax Normalization: Normalizes posterior log-odds into a calibrated probability distribution across all 40 specialties.</a:t>
            </a:r>
          </a:p>
          <a:p>
            <a:r>
              <a:t>  6. Terminal Node: Outputs probability distribution to the ensemble aggregator.</a:t>
            </a:r>
          </a:p>
          <a:p>
            <a:endParaRPr/>
          </a:p>
          <a:p>
            <a:r>
              <a:t>[TRANSITION TO NEXT SLIDE]</a:t>
            </a:r>
          </a:p>
          <a:p>
            <a:r>
              <a:t>Slide 14 presents the activity diagrams for our remaining two base estimators: Random Forest and Logistic Regression.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 PRESENTATION SCRIPT]</a:t>
            </a:r>
          </a:p>
          <a:p>
            <a:r>
              <a:t>Slide 14 displays the formal UML Activity Diagrams for Random Forest on the left and Logistic Regression on the right, corresponding to Figures 9 and 10 in our project report.</a:t>
            </a:r>
          </a:p>
          <a:p>
            <a:endParaRPr/>
          </a:p>
          <a:p>
            <a:r>
              <a:t>[DETAILED STEP-BY-STEP ACTIVITY DIAGRAM WALKTHROUGH]</a:t>
            </a:r>
          </a:p>
          <a:p>
            <a:endParaRPr/>
          </a:p>
          <a:p>
            <a:r>
              <a:t>• LEFT DIAGRAM: Random Forest Classifier (Figure 9):</a:t>
            </a:r>
          </a:p>
          <a:p>
            <a:r>
              <a:t>  1. Initial Node: Ingestion of TF-IDF feature matrix.</a:t>
            </a:r>
          </a:p>
          <a:p>
            <a:r>
              <a:t>  2. Fork Bar (Parallel Bootstrap Sampling): Splits the training process across an ensemble of B decision trees (n_estimators=100) via Bootstrap Aggregation (Bagging).</a:t>
            </a:r>
          </a:p>
          <a:p>
            <a:r>
              <a:t>  3. Random Feature Subspace Split: At each split node of every tree, a random subset of features (sqrt(D)) is evaluated to maximize Gini Impurity reduction: Gini = 1 - sum(p_i^2).</a:t>
            </a:r>
          </a:p>
          <a:p>
            <a:r>
              <a:t>  4. Tree Growing: Decision trees grow independently without pruning down to minimum leaf size.</a:t>
            </a:r>
          </a:p>
          <a:p>
            <a:r>
              <a:t>  5. Join Bar (Ensemble Synchronization): Gathers predictions across all parallel decision trees.</a:t>
            </a:r>
          </a:p>
          <a:p>
            <a:r>
              <a:t>  6. Probability Averaging Activity: Averages leaf node class distributions across all trees: P_RF(c) = 1/B * sum(p_b(c)).</a:t>
            </a:r>
          </a:p>
          <a:p>
            <a:r>
              <a:t>  7. Terminal Node: Outputs the aggregated ensemble probability distribution.</a:t>
            </a:r>
          </a:p>
          <a:p>
            <a:endParaRPr/>
          </a:p>
          <a:p>
            <a:r>
              <a:t>• RIGHT DIAGRAM: Multinomial Logistic Regression (Figure 10):</a:t>
            </a:r>
          </a:p>
          <a:p>
            <a:r>
              <a:t>  1. Initial Node: Ingestion of TF-IDF feature vector.</a:t>
            </a:r>
          </a:p>
          <a:p>
            <a:r>
              <a:t>  2. Logit Linear Combination: Evaluates linear log-odds for each specialty class: z_k = w_k^T x + b_k.</a:t>
            </a:r>
          </a:p>
          <a:p>
            <a:r>
              <a:t>  3. Multinomial Softmax Activation: Converts raw logit scores into valid probabilities summing to 1: P(y=k|x) = exp(z_k) / sum(exp(z_j)).</a:t>
            </a:r>
          </a:p>
          <a:p>
            <a:r>
              <a:t>  4. L2 Regularized Cross-Entropy Optimization: Optimizes the cross-entropy loss function with Ridge penalty (lambda/2 * ||w||^2) using the L-BFGS quasi-Newton optimization solver.</a:t>
            </a:r>
          </a:p>
          <a:p>
            <a:r>
              <a:t>  5. Class Weight Balancing Activity: Adjusts gradient weights inversely proportional to class frequencies to counteract class imbalance.</a:t>
            </a:r>
          </a:p>
          <a:p>
            <a:r>
              <a:t>  6. Terminal Node: Outputs calibrated multi-class posterior probability vector.</a:t>
            </a:r>
          </a:p>
          <a:p>
            <a:endParaRPr/>
          </a:p>
          <a:p>
            <a:r>
              <a:t>[TRANSITION TO NEXT SLIDE]</a:t>
            </a:r>
          </a:p>
          <a:p>
            <a:r>
              <a:t>On Slide 15, we see how these four streams converge into our Soft Voting Ensemble architecture.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 PRESENTATION SCRIPT]</a:t>
            </a:r>
          </a:p>
          <a:p>
            <a:r>
              <a:t>Slide 15 illustrates the architectural synthesis and complete UML Activity Diagram of our Soft Voting Ensemble Model, corresponding directly to Figure 12 in the project report.</a:t>
            </a:r>
          </a:p>
          <a:p>
            <a:endParaRPr/>
          </a:p>
          <a:p>
            <a:r>
              <a:t>[DETAILED STEP-BY-STEP ENSEMBLE ACTIVITY FLOW]</a:t>
            </a:r>
          </a:p>
          <a:p>
            <a:r>
              <a:t>1. Initial Node (Start): A raw clinical transcription text string is received by the system.</a:t>
            </a:r>
          </a:p>
          <a:p>
            <a:r>
              <a:t>2. Clinical NLP Preprocessing: The string is cleaned, lowercased, tokenized, filtered for stopwords, and morphologically lemmatized.</a:t>
            </a:r>
          </a:p>
          <a:p>
            <a:r>
              <a:t>3. TF-IDF Feature Extraction: The normalized token stream is transformed into a standardized numerical sparse vector x using the fitted vocabulary.</a:t>
            </a:r>
          </a:p>
          <a:p>
            <a:r>
              <a:t>4. Fork Bar (Concurrent Classifier Evaluation): The feature vector x is broadcast simultaneously to all four trained base estimators:</a:t>
            </a:r>
          </a:p>
          <a:p>
            <a:r>
              <a:t>   - Branch A: Linear SVM (Platt Calibrated) -&gt; computes P_SVM(c)</a:t>
            </a:r>
          </a:p>
          <a:p>
            <a:r>
              <a:t>   - Branch B: Random Forest Classifier -&gt; computes P_RF(c)</a:t>
            </a:r>
          </a:p>
          <a:p>
            <a:r>
              <a:t>   - Branch C: Logistic Regression (Softmax) -&gt; computes P_LR(c)</a:t>
            </a:r>
          </a:p>
          <a:p>
            <a:r>
              <a:t>   - Branch D: Multinomial Naive Bayes -&gt; computes P_MNB(c)</a:t>
            </a:r>
          </a:p>
          <a:p>
            <a:r>
              <a:t>5. Join Bar (Probability Matrix Collection): Synchronizes and collects the four 40-dimensional probability vectors into a unified consensus matrix.</a:t>
            </a:r>
          </a:p>
          <a:p>
            <a:r>
              <a:t>6. Soft Voting Aggregation Activity: Evaluates the unweighted/weighted arithmetic mean: P_ensemble(c) = 1/4 * [ P_SVM(c) + P_RF(c) + P_LR(c) + P_MNB(c) ].</a:t>
            </a:r>
          </a:p>
          <a:p>
            <a:r>
              <a:t>7. Argmax Decision Node: Evaluates y_hat = argmax_c P_ensemble(c) to select the specialty with the highest consensus confidence.</a:t>
            </a:r>
          </a:p>
          <a:p>
            <a:r>
              <a:t>8. Terminal Node (End): Returns the predicted medical specialty along with top-3 candidate confidence scores.</a:t>
            </a:r>
          </a:p>
          <a:p>
            <a:endParaRPr/>
          </a:p>
          <a:p>
            <a:r>
              <a:t>[THEORETICAL ADVANTAGE OF SOFT VOTING]</a:t>
            </a:r>
          </a:p>
          <a:p>
            <a:r>
              <a:t>Unlike Hard Majority Voting (which counts discrete votes and discards confidence), Soft Voting weights predictions by continuous model certainty. If SVM and Logistic Regression are 90% confident on 'Cardiology', they overpower weak 51% majority ties from other models, significantly reducing error variance.</a:t>
            </a:r>
          </a:p>
          <a:p>
            <a:endParaRPr/>
          </a:p>
          <a:p>
            <a:r>
              <a:t>[TRANSITION TO NEXT SLIDE]</a:t>
            </a:r>
          </a:p>
          <a:p>
            <a:r>
              <a:t>Slide 16 presents the complete end-to-end macro system pipeline covering training, persistence, and web deployment.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 PRESENTATION SCRIPT]</a:t>
            </a:r>
          </a:p>
          <a:p>
            <a:r>
              <a:t>Slide 16 presents the macro-level UML Activity Diagram for the complete project lifecycle, corresponding to Figure 13 of the project report.</a:t>
            </a:r>
          </a:p>
          <a:p>
            <a:endParaRPr/>
          </a:p>
          <a:p>
            <a:r>
              <a:t>[DETAILED END-TO-END PIPELINE WALKTHROUGH]</a:t>
            </a:r>
          </a:p>
          <a:p>
            <a:endParaRPr/>
          </a:p>
          <a:p>
            <a:r>
              <a:t>• STAGE 1: Offline Data Preparation &amp; Model Training:</a:t>
            </a:r>
          </a:p>
          <a:p>
            <a:r>
              <a:t>  1. Data Ingestion: Loads the raw Kaggle MTSamples CSV (4,999 records).</a:t>
            </a:r>
          </a:p>
          <a:p>
            <a:r>
              <a:t>  2. Data Audit &amp; Cleansing: Drops 33 null transcription records, retaining 4,966 clean rows.</a:t>
            </a:r>
          </a:p>
          <a:p>
            <a:r>
              <a:t>  3. Stratified Partitioning: Splits into 80% train (3,972) and 20% test (994) partitions with preserved class ratios.</a:t>
            </a:r>
          </a:p>
          <a:p>
            <a:r>
              <a:t>  4. TF-IDF Fitting: Fits vectorizer strictly on training data; transforms test data.</a:t>
            </a:r>
          </a:p>
          <a:p>
            <a:r>
              <a:t>  5. Multi-Model Training: Trains SVM, Random Forest, Logistic Regression, and Multinomial Naive Bayes.</a:t>
            </a:r>
          </a:p>
          <a:p>
            <a:r>
              <a:t>  6. Soft Voting Ensemble Assembly: Chains models into a scikit-learn VotingClassifier(voting='soft').</a:t>
            </a:r>
          </a:p>
          <a:p>
            <a:r>
              <a:t>  7. Evaluation &amp; Validation: Computes Precision, Recall, Macro-F1, and generates confusion matrices.</a:t>
            </a:r>
          </a:p>
          <a:p>
            <a:r>
              <a:t>  8. Model Serialization: Persists finalized pipeline objects (`voting_model.pkl` and `tfidf_vectorizer.pkl`) to disk via Python `joblib` / `pickle`.</a:t>
            </a:r>
          </a:p>
          <a:p>
            <a:endParaRPr/>
          </a:p>
          <a:p>
            <a:r>
              <a:t>• STAGE 2: Online Real-Time Inference &amp; Flask Web Deployment:</a:t>
            </a:r>
          </a:p>
          <a:p>
            <a:r>
              <a:t>  1. User Input: Clinician enters or pastes a clinical narrative into the web GUI.</a:t>
            </a:r>
          </a:p>
          <a:p>
            <a:r>
              <a:t>  2. HTTP Request: Browser dispatches POST request with text payload to Flask backend.</a:t>
            </a:r>
          </a:p>
          <a:p>
            <a:r>
              <a:t>  3. Deserialization &amp; Pipeline Execution: Flask loads serialized artifacts, executes identical NLP preprocessing and TF-IDF vectorization.</a:t>
            </a:r>
          </a:p>
          <a:p>
            <a:r>
              <a:t>  4. Soft Voting Inference: The ensemble predicts the top medical specialty and confidence scores in under 200 milliseconds.</a:t>
            </a:r>
          </a:p>
          <a:p>
            <a:r>
              <a:t>  5. Response Rendering: Formatted JSON/HTML results are displayed on the clinician's dashboard.</a:t>
            </a:r>
          </a:p>
          <a:p>
            <a:endParaRPr/>
          </a:p>
          <a:p>
            <a:r>
              <a:t>[TRANSITION TO NEXT SLIDE]</a:t>
            </a:r>
          </a:p>
          <a:p>
            <a:r>
              <a:t>Slide 17 summarizes our project progress and implementation roadmap.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 PRESENTATION SCRIPT]</a:t>
            </a:r>
          </a:p>
          <a:p>
            <a:r>
              <a:t>Slide 17 presents our current project implementation status and roadmap across all four project phases.</a:t>
            </a:r>
          </a:p>
          <a:p>
            <a:endParaRPr/>
          </a:p>
          <a:p>
            <a:r>
              <a:t>[PHASE-BY-PHASE STATUS]</a:t>
            </a:r>
          </a:p>
          <a:p>
            <a:r>
              <a:t>• Phase 1: Problem Formulation &amp; Literature Review (100% COMPLETED):</a:t>
            </a:r>
          </a:p>
          <a:p>
            <a:r>
              <a:t>  - Conducted extensive literature review of text mining in clinical domains.</a:t>
            </a:r>
          </a:p>
          <a:p>
            <a:r>
              <a:t>  - Formulated problem statement, technical objectives, and scope.</a:t>
            </a:r>
          </a:p>
          <a:p>
            <a:r>
              <a:t>  - Established project repository and version-controlled codebase.</a:t>
            </a:r>
          </a:p>
          <a:p>
            <a:r>
              <a:t>• Phase 2: Dataset Acquisition &amp; Exploratory Data Analysis (100% COMPLETED):</a:t>
            </a:r>
          </a:p>
          <a:p>
            <a:r>
              <a:t>  - Ingested and profiled all 4,999 MTSamples records across 40 classes.</a:t>
            </a:r>
          </a:p>
          <a:p>
            <a:r>
              <a:t>  - Completed missing value analysis, deduplication, and class distribution audits.</a:t>
            </a:r>
          </a:p>
          <a:p>
            <a:r>
              <a:t>  - Implemented 5-step clinical NLP cleaning pipeline and verified zero data leakage.</a:t>
            </a:r>
          </a:p>
          <a:p>
            <a:r>
              <a:t>• Phase 3: Model Development &amp; Ensemble Optimization (IN PROGRESS - 40% COMPLETED):</a:t>
            </a:r>
          </a:p>
          <a:p>
            <a:r>
              <a:t>  - Implemented baseline classifiers: Linear SVM, Random Forest, Logistic Regression, and MNB.</a:t>
            </a:r>
          </a:p>
          <a:p>
            <a:r>
              <a:t>  - Currently tuning hyperparameters using Stratified 5-fold cross-validation with GridSearchCV.</a:t>
            </a:r>
          </a:p>
          <a:p>
            <a:r>
              <a:t>  - Calibrating probability estimators for optimal soft voting weights.</a:t>
            </a:r>
          </a:p>
          <a:p>
            <a:r>
              <a:t>• Phase 4: Web Application Deployment &amp; Evaluation (UPCOMING - 0% COMPLETED):</a:t>
            </a:r>
          </a:p>
          <a:p>
            <a:r>
              <a:t>  - Building lightweight Flask application backend with REST API endpoint.</a:t>
            </a:r>
          </a:p>
          <a:p>
            <a:r>
              <a:t>  - Designing clean, responsive web interface for clinical text submission.</a:t>
            </a:r>
          </a:p>
          <a:p>
            <a:r>
              <a:t>  - Conducting stress testing, latency benchmarking, and final report compilation.</a:t>
            </a:r>
          </a:p>
          <a:p>
            <a:endParaRPr/>
          </a:p>
          <a:p>
            <a:r>
              <a:t>[CORE TECHNOLOGY STACK]</a:t>
            </a:r>
          </a:p>
          <a:p>
            <a:r>
              <a:t>Python 3.10+, Scikit-Learn, Pandas, NumPy, NLTK, Matplotlib, Seaborn, Flask, HTML5/CSS3.</a:t>
            </a:r>
          </a:p>
          <a:p>
            <a:endParaRPr/>
          </a:p>
          <a:p>
            <a:r>
              <a:t>[TRANSITION TO NEXT SLIDE]</a:t>
            </a:r>
          </a:p>
          <a:p>
            <a:r>
              <a:t>On Slide 18, we review the project execution timeline, milestone schedule, and risk management strategies.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 PRESENTATION SCRIPT]</a:t>
            </a:r>
          </a:p>
          <a:p>
            <a:r>
              <a:t>Slide 18 details our structured 16-week project execution timeline, key milestones M1 through M6, and risk management strategies.</a:t>
            </a:r>
          </a:p>
          <a:p>
            <a:endParaRPr/>
          </a:p>
          <a:p>
            <a:r>
              <a:t>[16-WEEK TIMELINE &amp; MILESTONES]</a:t>
            </a:r>
          </a:p>
          <a:p>
            <a:r>
              <a:t>• Weeks 1–4 (Month 1): Problem formulation, literature survey, environment setup. -&gt; Milestone M1: Topic Approval &amp; Feasibility Report.</a:t>
            </a:r>
          </a:p>
          <a:p>
            <a:r>
              <a:t>• Weeks 5–8 (Month 2): Dataset acquisition, EDA, data quality audit, baseline NLP pipeline. -&gt; Milestone M2: EDA Completion &amp; Initial Project Review (CURRENT REVIEW).</a:t>
            </a:r>
          </a:p>
          <a:p>
            <a:r>
              <a:t>• Weeks 9–12 (Month 3): Advanced feature engineering, ensemble optimization, hyperparameter tuning via GridSearchCV. -&gt; Milestone M3: Model Optimization &amp; Milestone M4: Internal Review.</a:t>
            </a:r>
          </a:p>
          <a:p>
            <a:r>
              <a:t>• Weeks 13–16 (Month 4): Flask web app development, UI integration, latency benchmarking, final documentation. -&gt; Milestone M5: Web Deployment &amp; Milestone M6: Final Defense.</a:t>
            </a:r>
          </a:p>
          <a:p>
            <a:endParaRPr/>
          </a:p>
          <a:p>
            <a:r>
              <a:t>[RISK MANAGEMENT &amp; MITIGATION STRATEGIES]</a:t>
            </a:r>
          </a:p>
          <a:p>
            <a:r>
              <a:t>• Risk 1 (Extreme Class Imbalance): Mitigated via stratified splitting, cost-sensitive class weighting (`class_weight='balanced'`), and soft probability aggregation.</a:t>
            </a:r>
          </a:p>
          <a:p>
            <a:r>
              <a:t>• Risk 2 (Inference Latency): Mitigated by choosing sublinear TF-IDF over heavy deep learning models, enabling sub-200ms CPU inference.</a:t>
            </a:r>
          </a:p>
          <a:p>
            <a:r>
              <a:t>• Risk 3 (Data Leakage): Mitigated by strictly fitting the vectorizer on training data and applying frozen transforms on test sets.</a:t>
            </a:r>
          </a:p>
          <a:p>
            <a:r>
              <a:t>• Risk 4 (High-Dimensional Sparsity): Mitigated by frequency pruning (`min_df=3`, `max_df=0.85`) and L2 regularization in base models.</a:t>
            </a:r>
          </a:p>
          <a:p>
            <a:endParaRPr/>
          </a:p>
          <a:p>
            <a:r>
              <a:t>[TRANSITION TO NEXT SLIDE]</a:t>
            </a:r>
          </a:p>
          <a:p>
            <a:r>
              <a:t>This brings me to the conclusion of my presentation on Slide 19.</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[FORMAL PRESENTATION SCRIPT]</a:t>
            </a:r>
          </a:p>
          <a:p>
            <a:r>
              <a:t>Thank you, respected Guide Prof. Biju Skaria, Chairperson, and distinguished members of the evaluation committee, for your time, patient listening, and constructive guidance.</a:t>
            </a:r>
          </a:p>
          <a:p>
            <a:endParaRPr/>
          </a:p>
          <a:p>
            <a:r>
              <a:t>[SUMMARY RECAP]</a:t>
            </a:r>
          </a:p>
          <a:p>
            <a:r>
              <a:t>In summary, this first review has demonstrated:</a:t>
            </a:r>
          </a:p>
          <a:p>
            <a:r>
              <a:t>1. A rigorous formulation of the automated clinical transcription classification problem.</a:t>
            </a:r>
          </a:p>
          <a:p>
            <a:r>
              <a:t>2. Comprehensive exploratory data analysis across all 4,999 records and 40 medical specialties.</a:t>
            </a:r>
          </a:p>
          <a:p>
            <a:r>
              <a:t>3. Concrete architectural solutions to mitigate severe class imbalance, high vocabulary dimensionality, and document length variance.</a:t>
            </a:r>
          </a:p>
          <a:p>
            <a:r>
              <a:t>4. A clear, scientifically validated UML activity workflow for our four base estimators and Soft Voting Ensemble.</a:t>
            </a:r>
          </a:p>
          <a:p>
            <a:endParaRPr/>
          </a:p>
          <a:p>
            <a:r>
              <a:t>I am deeply grateful for your feedback and now warmly open the floor for your questions, suggestions, and technical discussion.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a:effectLst/>
      </p:bgPr>
    </p:bg>
    <p:spTree>
      <p:nvGrpSpPr>
        <p:cNvPr id="1" name=""/>
        <p:cNvGrpSpPr/>
        <p:nvPr/>
      </p:nvGrpSpPr>
      <p:grpSpPr>
        <a:xfrm>
          <a:off x="0" y="0"/>
          <a:ext cx="0" cy="0"/>
          <a:chOff x="0" y="0"/>
          <a:chExt cx="0" cy="0"/>
        </a:xfrm>
      </p:grpSpPr>
      <p:sp>
        <p:nvSpPr>
          <p:cNvPr id="3" name="TextBox 2"/>
          <p:cNvSpPr txBox="1"/>
          <p:nvPr/>
        </p:nvSpPr>
        <p:spPr>
          <a:xfrm>
            <a:off x="822960" y="365760"/>
            <a:ext cx="10515600" cy="365760"/>
          </a:xfrm>
          <a:prstGeom prst="rect">
            <a:avLst/>
          </a:prstGeom>
          <a:noFill/>
        </p:spPr>
        <p:txBody>
          <a:bodyPr wrap="none">
            <a:spAutoFit/>
          </a:bodyPr>
          <a:lstStyle/>
          <a:p>
            <a:pPr>
              <a:defRPr sz="1300" b="1">
                <a:solidFill>
                  <a:srgbClr val="38BDF8"/>
                </a:solidFill>
                <a:latin typeface="Calibri"/>
              </a:defRPr>
            </a:pPr>
            <a:r>
              <a:t>MAR ATHANASIUS COLLEGE OF ENGINEERING, KOTHAMANGALAM</a:t>
            </a:r>
          </a:p>
        </p:txBody>
      </p:sp>
      <p:sp>
        <p:nvSpPr>
          <p:cNvPr id="4" name="Rounded Rectangle 3"/>
          <p:cNvSpPr/>
          <p:nvPr/>
        </p:nvSpPr>
        <p:spPr>
          <a:xfrm>
            <a:off x="822960" y="868680"/>
            <a:ext cx="3840480" cy="347472"/>
          </a:xfrm>
          <a:prstGeom prst="roundRect">
            <a:avLst/>
          </a:prstGeom>
          <a:solidFill>
            <a:srgbClr val="0E7C86"/>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MCA MINI PROJECT  |  FIRST PRESENTATION</a:t>
            </a:r>
          </a:p>
        </p:txBody>
      </p:sp>
      <p:sp>
        <p:nvSpPr>
          <p:cNvPr id="5" name="TextBox 4"/>
          <p:cNvSpPr txBox="1"/>
          <p:nvPr/>
        </p:nvSpPr>
        <p:spPr>
          <a:xfrm>
            <a:off x="822960" y="1371600"/>
            <a:ext cx="10515600" cy="1554480"/>
          </a:xfrm>
          <a:prstGeom prst="rect">
            <a:avLst/>
          </a:prstGeom>
          <a:noFill/>
        </p:spPr>
        <p:txBody>
          <a:bodyPr wrap="square">
            <a:spAutoFit/>
          </a:bodyPr>
          <a:lstStyle/>
          <a:p>
            <a:pPr>
              <a:defRPr sz="3400" b="1">
                <a:solidFill>
                  <a:srgbClr val="FFFFFF"/>
                </a:solidFill>
                <a:latin typeface="Cambria"/>
              </a:defRPr>
            </a:pPr>
            <a:r>
              <a:t>Medical Specialty Classification Using TF-IDF</a:t>
            </a:r>
            <a:br/>
            <a:r>
              <a:t>and Ensemble Machine Learning</a:t>
            </a:r>
          </a:p>
        </p:txBody>
      </p:sp>
      <p:sp>
        <p:nvSpPr>
          <p:cNvPr id="7" name="Rounded Rectangle 6"/>
          <p:cNvSpPr/>
          <p:nvPr/>
        </p:nvSpPr>
        <p:spPr>
          <a:xfrm>
            <a:off x="822960" y="3337560"/>
            <a:ext cx="5029200" cy="2240280"/>
          </a:xfrm>
          <a:prstGeom prst="roundRect">
            <a:avLst/>
          </a:prstGeom>
          <a:solidFill>
            <a:srgbClr val="112240"/>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spcAft>
                <a:spcPts val="600"/>
              </a:spcAft>
              <a:defRPr sz="1100" b="1">
                <a:solidFill>
                  <a:srgbClr val="38BDF8"/>
                </a:solidFill>
                <a:latin typeface="Calibri"/>
              </a:defRPr>
            </a:pPr>
            <a:r>
              <a:t>PRESENTED BY</a:t>
            </a:r>
          </a:p>
          <a:p>
            <a:pPr>
              <a:spcAft>
                <a:spcPts val="600"/>
              </a:spcAft>
              <a:defRPr sz="2400" b="1">
                <a:solidFill>
                  <a:srgbClr val="FFFFFF"/>
                </a:solidFill>
                <a:latin typeface="Cambria"/>
              </a:defRPr>
            </a:pPr>
            <a:r>
              <a:t>Jiphin George</a:t>
            </a:r>
          </a:p>
          <a:p>
            <a:pPr>
              <a:spcAft>
                <a:spcPts val="400"/>
              </a:spcAft>
              <a:defRPr sz="1300" b="0">
                <a:solidFill>
                  <a:srgbClr val="F1F5F9"/>
                </a:solidFill>
                <a:latin typeface="Calibri"/>
              </a:defRPr>
            </a:pPr>
            <a:r>
              <a:t>Register No: MAC25MCA-2033</a:t>
            </a:r>
          </a:p>
          <a:p>
            <a:pPr>
              <a:defRPr sz="1200" b="0">
                <a:solidFill>
                  <a:srgbClr val="94A3B8"/>
                </a:solidFill>
                <a:latin typeface="Calibri"/>
              </a:defRPr>
            </a:pPr>
            <a:r>
              <a:t>Course: Master of Computer Applications (MCA)</a:t>
            </a:r>
          </a:p>
        </p:txBody>
      </p:sp>
      <p:sp>
        <p:nvSpPr>
          <p:cNvPr id="8" name="Rounded Rectangle 7"/>
          <p:cNvSpPr/>
          <p:nvPr/>
        </p:nvSpPr>
        <p:spPr>
          <a:xfrm>
            <a:off x="6172200" y="3337560"/>
            <a:ext cx="5166360" cy="2240280"/>
          </a:xfrm>
          <a:prstGeom prst="roundRect">
            <a:avLst/>
          </a:prstGeom>
          <a:solidFill>
            <a:srgbClr val="112240"/>
          </a:solidFill>
          <a:ln w="25400">
            <a:solidFill>
              <a:srgbClr val="4ADE80"/>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spcAft>
                <a:spcPts val="600"/>
              </a:spcAft>
              <a:defRPr sz="1100" b="1">
                <a:solidFill>
                  <a:srgbClr val="4ADE80"/>
                </a:solidFill>
                <a:latin typeface="Calibri"/>
              </a:defRPr>
            </a:pPr>
            <a:r>
              <a:t>PROJECT GUIDE</a:t>
            </a:r>
          </a:p>
          <a:p>
            <a:pPr>
              <a:spcAft>
                <a:spcPts val="600"/>
              </a:spcAft>
              <a:defRPr sz="2400" b="1">
                <a:solidFill>
                  <a:srgbClr val="FFFFFF"/>
                </a:solidFill>
                <a:latin typeface="Cambria"/>
              </a:defRPr>
            </a:pPr>
            <a:r>
              <a:t>Prof. Biju Skaria</a:t>
            </a:r>
          </a:p>
          <a:p>
            <a:pPr>
              <a:spcAft>
                <a:spcPts val="400"/>
              </a:spcAft>
              <a:defRPr sz="1300" b="0">
                <a:solidFill>
                  <a:srgbClr val="F1F5F9"/>
                </a:solidFill>
                <a:latin typeface="Calibri"/>
              </a:defRPr>
            </a:pPr>
            <a:r>
              <a:t>Department of Computer Applications</a:t>
            </a:r>
          </a:p>
          <a:p>
            <a:pPr>
              <a:defRPr sz="1200" b="0">
                <a:solidFill>
                  <a:srgbClr val="94A3B8"/>
                </a:solidFill>
                <a:latin typeface="Calibri"/>
              </a:defRPr>
            </a:pPr>
            <a:r>
              <a:t>Mar Athanasius College of Engineering, Kothamangalam</a:t>
            </a:r>
          </a:p>
        </p:txBody>
      </p:sp>
      <p:sp>
        <p:nvSpPr>
          <p:cNvPr id="9" name="Rounded Rectangle 8"/>
          <p:cNvSpPr/>
          <p:nvPr/>
        </p:nvSpPr>
        <p:spPr>
          <a:xfrm>
            <a:off x="822960"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Clinical NLP</a:t>
            </a:r>
          </a:p>
        </p:txBody>
      </p:sp>
      <p:sp>
        <p:nvSpPr>
          <p:cNvPr id="10" name="Rounded Rectangle 9"/>
          <p:cNvSpPr/>
          <p:nvPr/>
        </p:nvSpPr>
        <p:spPr>
          <a:xfrm>
            <a:off x="2944368"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TF-IDF Vectorization</a:t>
            </a:r>
          </a:p>
        </p:txBody>
      </p:sp>
      <p:sp>
        <p:nvSpPr>
          <p:cNvPr id="11" name="Rounded Rectangle 10"/>
          <p:cNvSpPr/>
          <p:nvPr/>
        </p:nvSpPr>
        <p:spPr>
          <a:xfrm>
            <a:off x="5065776"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Supervised ML</a:t>
            </a:r>
          </a:p>
        </p:txBody>
      </p:sp>
      <p:sp>
        <p:nvSpPr>
          <p:cNvPr id="12" name="Rounded Rectangle 11"/>
          <p:cNvSpPr/>
          <p:nvPr/>
        </p:nvSpPr>
        <p:spPr>
          <a:xfrm>
            <a:off x="7187184"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Soft Voting Ensemble</a:t>
            </a:r>
          </a:p>
        </p:txBody>
      </p:sp>
      <p:sp>
        <p:nvSpPr>
          <p:cNvPr id="13" name="Rounded Rectangle 12"/>
          <p:cNvSpPr/>
          <p:nvPr/>
        </p:nvSpPr>
        <p:spPr>
          <a:xfrm>
            <a:off x="9308592"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Flask Deployment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lstStyle/>
          <a:p>
            <a:pPr>
              <a:defRPr>
                <a:solidFill/>
              </a:defRPr>
            </a:pPr>
            <a:endParaR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marL="0" indent="0" algn="ctr">
              <a:buNone/>
              <a:defRPr>
                <a:solidFill/>
              </a:defRPr>
            </a:pPr>
            <a:r>
              <a:rPr lang="en-US" sz="1050" b="1" kern="0" spc="100" dirty="0">
                <a:solidFill>
                  <a:srgbClr val="FFFFFF"/>
                </a:solidFill>
                <a:latin typeface="Calibri" pitchFamily="34" charset="0"/>
                <a:ea typeface="Calibri" pitchFamily="34" charset="-122"/>
                <a:cs typeface="Calibri" pitchFamily="34" charset="-120"/>
              </a:rPr>
              <a:t>MCA MINI PROJECT | INTRODUCTION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marL="0" indent="0" algn="l">
              <a:buNone/>
              <a:defRPr>
                <a:solidFill/>
              </a:defRPr>
            </a:pPr>
            <a:r>
              <a:rPr lang="en-US" sz="2700" b="1" dirty="0">
                <a:solidFill>
                  <a:srgbClr val="0B1F3A"/>
                </a:solidFill>
                <a:latin typeface="Cambria" pitchFamily="34" charset="0"/>
                <a:ea typeface="Cambria" pitchFamily="34" charset="-122"/>
                <a:cs typeface="Cambria" pitchFamily="34" charset="-120"/>
              </a:rPr>
              <a:t>Problem Statement &amp; Objectives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marL="0" indent="0" algn="l">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marL="0" indent="0" algn="ctr">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2 of 19</a:t>
            </a:r>
          </a:p>
        </p:txBody>
      </p:sp>
      <p:sp>
        <p:nvSpPr>
          <p:cNvPr id="18" name="Text 16"/>
          <p:cNvSpPr txBox="1"/>
          <p:nvPr/>
        </p:nvSpPr>
        <p:spPr>
          <a:xfrm>
            <a:off x="457200" y="3794760"/>
            <a:ext cx="5486400" cy="320040"/>
          </a:xfrm>
          <a:prstGeom prst="rect">
            <a:avLst/>
          </a:prstGeom>
          <a:noFill/>
          <a:ln/>
        </p:spPr>
        <p:txBody>
          <a:bodyPr wrap="square" lIns="0" tIns="0" rIns="0" bIns="0" rtlCol="0" anchor="ctr"/>
          <a:lstStyle/>
          <a:p>
            <a:pPr marL="0" indent="0">
              <a:buNone/>
              <a:defRPr>
                <a:solidFill/>
              </a:defRPr>
            </a:pPr>
            <a:r>
              <a:rPr lang="en-US" sz="1500" b="1" dirty="0">
                <a:solidFill>
                  <a:srgbClr val="0B1F3A"/>
                </a:solidFill>
                <a:latin typeface="Cambria" pitchFamily="34" charset="0"/>
                <a:ea typeface="Cambria" pitchFamily="34" charset="-122"/>
                <a:cs typeface="Cambria" pitchFamily="34" charset="-120"/>
              </a:rPr>
              <a:t>Key Project Objectives</a:t>
            </a:r>
            <a:endParaRPr lang="en-US" sz="1500" dirty="0"/>
          </a:p>
        </p:txBody>
      </p:sp>
      <p:sp>
        <p:nvSpPr>
          <p:cNvPr id="19" name="Shape 17"/>
          <p:cNvSpPr/>
          <p:nvPr/>
        </p:nvSpPr>
        <p:spPr>
          <a:xfrm>
            <a:off x="457200" y="4224528"/>
            <a:ext cx="2743200" cy="1965960"/>
          </a:xfrm>
          <a:prstGeom prst="roundRect">
            <a:avLst>
              <a:gd name="adj" fmla="val 4186"/>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20" name="Shape 18"/>
          <p:cNvSpPr/>
          <p:nvPr/>
        </p:nvSpPr>
        <p:spPr>
          <a:xfrm>
            <a:off x="1577340" y="4430268"/>
            <a:ext cx="502920" cy="502920"/>
          </a:xfrm>
          <a:prstGeom prst="ellipse">
            <a:avLst/>
          </a:prstGeom>
          <a:solidFill>
            <a:srgbClr val="6C4AB6"/>
          </a:solidFill>
          <a:ln/>
        </p:spPr>
        <p:txBody>
          <a:bodyPr/>
          <a:lstStyle/>
          <a:p>
            <a:pPr>
              <a:defRPr>
                <a:solidFill/>
              </a:defRPr>
            </a:pPr>
            <a:endParaRPr/>
          </a:p>
        </p:txBody>
      </p:sp>
      <p:sp>
        <p:nvSpPr>
          <p:cNvPr id="21" name="Text 19"/>
          <p:cNvSpPr txBox="1"/>
          <p:nvPr/>
        </p:nvSpPr>
        <p:spPr>
          <a:xfrm>
            <a:off x="1577340" y="4430268"/>
            <a:ext cx="502920" cy="502920"/>
          </a:xfrm>
          <a:prstGeom prst="rect">
            <a:avLst/>
          </a:prstGeom>
          <a:noFill/>
          <a:ln/>
        </p:spPr>
        <p:txBody>
          <a:bodyPr wrap="square" lIns="0" tIns="0" rIns="0" bIns="0" rtlCol="0" anchor="ctr"/>
          <a:lstStyle/>
          <a:p>
            <a:pPr marL="0" indent="0" algn="ctr">
              <a:buNone/>
              <a:defRPr>
                <a:solidFill/>
              </a:defRPr>
            </a:pPr>
            <a:r>
              <a:rPr lang="en-US" sz="1200" b="1" dirty="0">
                <a:solidFill>
                  <a:srgbClr val="FFFFFF"/>
                </a:solidFill>
                <a:latin typeface="Calibri" pitchFamily="34" charset="0"/>
                <a:ea typeface="Calibri" pitchFamily="34" charset="-122"/>
                <a:cs typeface="Calibri" pitchFamily="34" charset="-120"/>
              </a:rPr>
              <a:t>EDA</a:t>
            </a:r>
            <a:endParaRPr lang="en-US" sz="1200" dirty="0"/>
          </a:p>
        </p:txBody>
      </p:sp>
      <p:sp>
        <p:nvSpPr>
          <p:cNvPr id="22" name="Text 20"/>
          <p:cNvSpPr txBox="1"/>
          <p:nvPr/>
        </p:nvSpPr>
        <p:spPr>
          <a:xfrm>
            <a:off x="566928" y="5065776"/>
            <a:ext cx="2523744" cy="320040"/>
          </a:xfrm>
          <a:prstGeom prst="rect">
            <a:avLst/>
          </a:prstGeom>
          <a:noFill/>
          <a:ln/>
        </p:spPr>
        <p:txBody>
          <a:bodyPr wrap="square" lIns="0" tIns="0" rIns="0" bIns="0" rtlCol="0" anchor="ctr"/>
          <a:lstStyle/>
          <a:p>
            <a:pPr marL="0" indent="0" algn="ctr">
              <a:buNone/>
              <a:defRPr sz="1350" b="1">
                <a:solidFill/>
              </a:defRPr>
            </a:pPr>
            <a:r>
              <a:rPr lang="en-US" sz="1250" b="1" dirty="0">
                <a:solidFill>
                  <a:srgbClr val="0B1F3A"/>
                </a:solidFill>
                <a:latin typeface="Cambria" pitchFamily="34" charset="0"/>
                <a:ea typeface="Cambria" pitchFamily="34" charset="-122"/>
                <a:cs typeface="Cambria" pitchFamily="34" charset="-120"/>
              </a:rPr>
              <a:t>Explore &amp; Analyze</a:t>
            </a:r>
            <a:endParaRPr lang="en-US" sz="1250" dirty="0"/>
          </a:p>
        </p:txBody>
      </p:sp>
      <p:sp>
        <p:nvSpPr>
          <p:cNvPr id="23" name="Text 21"/>
          <p:cNvSpPr txBox="1"/>
          <p:nvPr/>
        </p:nvSpPr>
        <p:spPr>
          <a:xfrm>
            <a:off x="585216" y="5394960"/>
            <a:ext cx="2487168" cy="713232"/>
          </a:xfrm>
          <a:prstGeom prst="rect">
            <a:avLst/>
          </a:prstGeom>
          <a:noFill/>
          <a:ln/>
        </p:spPr>
        <p:txBody>
          <a:bodyPr wrap="square" lIns="0" tIns="0" rIns="0" bIns="0" rtlCol="0" anchor="t"/>
          <a:lstStyle/>
          <a:p>
            <a:pPr marL="0" indent="0" algn="ctr">
              <a:lnSpc>
                <a:spcPct val="110000"/>
              </a:lnSpc>
              <a:buNone/>
              <a:defRPr sz="1150">
                <a:solidFill>
                  <a:srgbClr val="000000"/>
                </a:solidFill>
              </a:defRPr>
            </a:pPr>
            <a:r>
              <a:rPr lang="en-US" sz="1150" dirty="0">
                <a:solidFill>
                  <a:srgbClr val="000000"/>
                </a:solidFill>
                <a:latin typeface="Calibri" pitchFamily="34" charset="0"/>
                <a:ea typeface="Calibri" pitchFamily="34" charset="-122"/>
                <a:cs typeface="Calibri" pitchFamily="34" charset="-120"/>
              </a:rPr>
              <a:t>Conduct EDA on the Kaggle MTSamples clinical transcription dataset.</a:t>
            </a:r>
            <a:endParaRPr lang="en-US" sz="1000" dirty="0"/>
          </a:p>
        </p:txBody>
      </p:sp>
      <p:sp>
        <p:nvSpPr>
          <p:cNvPr id="24" name="Shape 22"/>
          <p:cNvSpPr/>
          <p:nvPr/>
        </p:nvSpPr>
        <p:spPr>
          <a:xfrm>
            <a:off x="3337560" y="4224528"/>
            <a:ext cx="2743200" cy="1965960"/>
          </a:xfrm>
          <a:prstGeom prst="roundRect">
            <a:avLst>
              <a:gd name="adj" fmla="val 4186"/>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25" name="Shape 23"/>
          <p:cNvSpPr/>
          <p:nvPr/>
        </p:nvSpPr>
        <p:spPr>
          <a:xfrm>
            <a:off x="4457700" y="4430268"/>
            <a:ext cx="502920" cy="502920"/>
          </a:xfrm>
          <a:prstGeom prst="ellipse">
            <a:avLst/>
          </a:prstGeom>
          <a:solidFill>
            <a:srgbClr val="0E7C86"/>
          </a:solidFill>
          <a:ln/>
        </p:spPr>
        <p:txBody>
          <a:bodyPr/>
          <a:lstStyle/>
          <a:p>
            <a:pPr>
              <a:defRPr>
                <a:solidFill/>
              </a:defRPr>
            </a:pPr>
            <a:endParaRPr/>
          </a:p>
        </p:txBody>
      </p:sp>
      <p:sp>
        <p:nvSpPr>
          <p:cNvPr id="26" name="Text 24"/>
          <p:cNvSpPr txBox="1"/>
          <p:nvPr/>
        </p:nvSpPr>
        <p:spPr>
          <a:xfrm>
            <a:off x="4457700" y="4430268"/>
            <a:ext cx="502920" cy="502920"/>
          </a:xfrm>
          <a:prstGeom prst="rect">
            <a:avLst/>
          </a:prstGeom>
          <a:noFill/>
          <a:ln/>
        </p:spPr>
        <p:txBody>
          <a:bodyPr wrap="square" lIns="0" tIns="0" rIns="0" bIns="0" rtlCol="0" anchor="ctr"/>
          <a:lstStyle/>
          <a:p>
            <a:pPr marL="0" indent="0" algn="ctr">
              <a:buNone/>
              <a:defRPr>
                <a:solidFill/>
              </a:defRPr>
            </a:pPr>
            <a:r>
              <a:rPr lang="en-US" sz="1200" b="1" dirty="0">
                <a:solidFill>
                  <a:srgbClr val="FFFFFF"/>
                </a:solidFill>
                <a:latin typeface="Calibri" pitchFamily="34" charset="0"/>
                <a:ea typeface="Calibri" pitchFamily="34" charset="-122"/>
                <a:cs typeface="Calibri" pitchFamily="34" charset="-120"/>
              </a:rPr>
              <a:t>NLP</a:t>
            </a:r>
            <a:endParaRPr lang="en-US" sz="1200" dirty="0"/>
          </a:p>
        </p:txBody>
      </p:sp>
      <p:sp>
        <p:nvSpPr>
          <p:cNvPr id="27" name="Text 25"/>
          <p:cNvSpPr txBox="1"/>
          <p:nvPr/>
        </p:nvSpPr>
        <p:spPr>
          <a:xfrm>
            <a:off x="3447288" y="5065776"/>
            <a:ext cx="2523744" cy="320040"/>
          </a:xfrm>
          <a:prstGeom prst="rect">
            <a:avLst/>
          </a:prstGeom>
          <a:noFill/>
          <a:ln/>
        </p:spPr>
        <p:txBody>
          <a:bodyPr wrap="square" lIns="0" tIns="0" rIns="0" bIns="0" rtlCol="0" anchor="ctr"/>
          <a:lstStyle/>
          <a:p>
            <a:pPr marL="0" indent="0" algn="ctr">
              <a:buNone/>
              <a:defRPr sz="1350" b="1">
                <a:solidFill/>
              </a:defRPr>
            </a:pPr>
            <a:r>
              <a:rPr lang="en-US" sz="1250" b="1" dirty="0">
                <a:solidFill>
                  <a:srgbClr val="0B1F3A"/>
                </a:solidFill>
                <a:latin typeface="Cambria" pitchFamily="34" charset="0"/>
                <a:ea typeface="Cambria" pitchFamily="34" charset="-122"/>
                <a:cs typeface="Cambria" pitchFamily="34" charset="-120"/>
              </a:rPr>
              <a:t>Preprocess Text</a:t>
            </a:r>
            <a:endParaRPr lang="en-US" sz="1250" dirty="0"/>
          </a:p>
        </p:txBody>
      </p:sp>
      <p:sp>
        <p:nvSpPr>
          <p:cNvPr id="28" name="Text 26"/>
          <p:cNvSpPr txBox="1"/>
          <p:nvPr/>
        </p:nvSpPr>
        <p:spPr>
          <a:xfrm>
            <a:off x="3465576" y="5394960"/>
            <a:ext cx="2487168" cy="713232"/>
          </a:xfrm>
          <a:prstGeom prst="rect">
            <a:avLst/>
          </a:prstGeom>
          <a:noFill/>
          <a:ln/>
        </p:spPr>
        <p:txBody>
          <a:bodyPr wrap="square" lIns="0" tIns="0" rIns="0" bIns="0" rtlCol="0" anchor="t"/>
          <a:lstStyle/>
          <a:p>
            <a:pPr marL="0" indent="0" algn="ctr">
              <a:lnSpc>
                <a:spcPct val="110000"/>
              </a:lnSpc>
              <a:buNone/>
              <a:defRPr sz="1150">
                <a:solidFill>
                  <a:srgbClr val="000000"/>
                </a:solidFill>
              </a:defRPr>
            </a:pPr>
            <a:r>
              <a:rPr lang="en-US" sz="1150" dirty="0">
                <a:solidFill>
                  <a:srgbClr val="000000"/>
                </a:solidFill>
                <a:latin typeface="Calibri" pitchFamily="34" charset="0"/>
                <a:ea typeface="Calibri" pitchFamily="34" charset="-122"/>
                <a:cs typeface="Calibri" pitchFamily="34" charset="-120"/>
              </a:rPr>
              <a:t>Clean, tokenize, remove stop-words and lemmatize clinical narratives.</a:t>
            </a:r>
            <a:endParaRPr lang="en-US" sz="1000" dirty="0"/>
          </a:p>
        </p:txBody>
      </p:sp>
      <p:sp>
        <p:nvSpPr>
          <p:cNvPr id="29" name="Shape 27"/>
          <p:cNvSpPr/>
          <p:nvPr/>
        </p:nvSpPr>
        <p:spPr>
          <a:xfrm>
            <a:off x="6217920" y="4224528"/>
            <a:ext cx="2743200" cy="1965960"/>
          </a:xfrm>
          <a:prstGeom prst="roundRect">
            <a:avLst>
              <a:gd name="adj" fmla="val 4186"/>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30" name="Shape 28"/>
          <p:cNvSpPr/>
          <p:nvPr/>
        </p:nvSpPr>
        <p:spPr>
          <a:xfrm>
            <a:off x="7338060" y="4430268"/>
            <a:ext cx="502920" cy="502920"/>
          </a:xfrm>
          <a:prstGeom prst="ellipse">
            <a:avLst/>
          </a:prstGeom>
          <a:solidFill>
            <a:srgbClr val="13294B"/>
          </a:solidFill>
          <a:ln/>
        </p:spPr>
        <p:txBody>
          <a:bodyPr/>
          <a:lstStyle/>
          <a:p>
            <a:pPr>
              <a:defRPr>
                <a:solidFill/>
              </a:defRPr>
            </a:pPr>
            <a:endParaRPr/>
          </a:p>
        </p:txBody>
      </p:sp>
      <p:sp>
        <p:nvSpPr>
          <p:cNvPr id="31" name="Text 29"/>
          <p:cNvSpPr txBox="1"/>
          <p:nvPr/>
        </p:nvSpPr>
        <p:spPr>
          <a:xfrm>
            <a:off x="7338060" y="4430268"/>
            <a:ext cx="502920" cy="502920"/>
          </a:xfrm>
          <a:prstGeom prst="rect">
            <a:avLst/>
          </a:prstGeom>
          <a:noFill/>
          <a:ln/>
        </p:spPr>
        <p:txBody>
          <a:bodyPr wrap="square" lIns="0" tIns="0" rIns="0" bIns="0" rtlCol="0" anchor="ctr"/>
          <a:lstStyle/>
          <a:p>
            <a:pPr marL="0" indent="0" algn="ctr">
              <a:buNone/>
              <a:defRPr>
                <a:solidFill/>
              </a:defRPr>
            </a:pPr>
            <a:r>
              <a:rPr lang="en-US" sz="1200" b="1" dirty="0">
                <a:solidFill>
                  <a:srgbClr val="FFFFFF"/>
                </a:solidFill>
                <a:latin typeface="Calibri" pitchFamily="34" charset="0"/>
                <a:ea typeface="Calibri" pitchFamily="34" charset="-122"/>
                <a:cs typeface="Calibri" pitchFamily="34" charset="-120"/>
              </a:rPr>
              <a:t>TF</a:t>
            </a:r>
            <a:endParaRPr lang="en-US" sz="1200" dirty="0"/>
          </a:p>
        </p:txBody>
      </p:sp>
      <p:sp>
        <p:nvSpPr>
          <p:cNvPr id="32" name="Text 30"/>
          <p:cNvSpPr txBox="1"/>
          <p:nvPr/>
        </p:nvSpPr>
        <p:spPr>
          <a:xfrm>
            <a:off x="6327648" y="5065776"/>
            <a:ext cx="2523744" cy="320040"/>
          </a:xfrm>
          <a:prstGeom prst="rect">
            <a:avLst/>
          </a:prstGeom>
          <a:noFill/>
          <a:ln/>
        </p:spPr>
        <p:txBody>
          <a:bodyPr wrap="square" lIns="0" tIns="0" rIns="0" bIns="0" rtlCol="0" anchor="ctr"/>
          <a:lstStyle/>
          <a:p>
            <a:pPr marL="0" indent="0" algn="ctr">
              <a:buNone/>
              <a:defRPr sz="1350" b="1">
                <a:solidFill/>
              </a:defRPr>
            </a:pPr>
            <a:r>
              <a:rPr lang="en-US" sz="1250" b="1" dirty="0">
                <a:solidFill>
                  <a:srgbClr val="0B1F3A"/>
                </a:solidFill>
                <a:latin typeface="Cambria" pitchFamily="34" charset="0"/>
                <a:ea typeface="Cambria" pitchFamily="34" charset="-122"/>
                <a:cs typeface="Cambria" pitchFamily="34" charset="-120"/>
              </a:rPr>
              <a:t>Extract Features</a:t>
            </a:r>
            <a:endParaRPr lang="en-US" sz="1250" dirty="0"/>
          </a:p>
        </p:txBody>
      </p:sp>
      <p:sp>
        <p:nvSpPr>
          <p:cNvPr id="33" name="Text 31"/>
          <p:cNvSpPr txBox="1"/>
          <p:nvPr/>
        </p:nvSpPr>
        <p:spPr>
          <a:xfrm>
            <a:off x="6345936" y="5394960"/>
            <a:ext cx="2487168" cy="713232"/>
          </a:xfrm>
          <a:prstGeom prst="rect">
            <a:avLst/>
          </a:prstGeom>
          <a:noFill/>
          <a:ln/>
        </p:spPr>
        <p:txBody>
          <a:bodyPr wrap="square" lIns="0" tIns="0" rIns="0" bIns="0" rtlCol="0" anchor="t"/>
          <a:lstStyle/>
          <a:p>
            <a:pPr marL="0" indent="0" algn="ctr">
              <a:lnSpc>
                <a:spcPct val="110000"/>
              </a:lnSpc>
              <a:buNone/>
              <a:defRPr sz="1150">
                <a:solidFill>
                  <a:srgbClr val="000000"/>
                </a:solidFill>
              </a:defRPr>
            </a:pPr>
            <a:r>
              <a:rPr lang="en-US" sz="1150" dirty="0">
                <a:solidFill>
                  <a:srgbClr val="000000"/>
                </a:solidFill>
                <a:latin typeface="Calibri" pitchFamily="34" charset="0"/>
                <a:ea typeface="Calibri" pitchFamily="34" charset="-122"/>
                <a:cs typeface="Calibri" pitchFamily="34" charset="-120"/>
              </a:rPr>
              <a:t>Vectorize clinical text into numeric form using TF-IDF.</a:t>
            </a:r>
            <a:endParaRPr lang="en-US" sz="1000" dirty="0"/>
          </a:p>
        </p:txBody>
      </p:sp>
      <p:sp>
        <p:nvSpPr>
          <p:cNvPr id="34" name="Shape 32"/>
          <p:cNvSpPr/>
          <p:nvPr/>
        </p:nvSpPr>
        <p:spPr>
          <a:xfrm>
            <a:off x="9098280" y="4224528"/>
            <a:ext cx="2743200" cy="1965960"/>
          </a:xfrm>
          <a:prstGeom prst="roundRect">
            <a:avLst>
              <a:gd name="adj" fmla="val 4186"/>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35" name="Shape 33"/>
          <p:cNvSpPr/>
          <p:nvPr/>
        </p:nvSpPr>
        <p:spPr>
          <a:xfrm>
            <a:off x="10218420" y="4430268"/>
            <a:ext cx="502920" cy="502920"/>
          </a:xfrm>
          <a:prstGeom prst="ellipse">
            <a:avLst/>
          </a:prstGeom>
          <a:solidFill>
            <a:srgbClr val="6C4AB6"/>
          </a:solidFill>
          <a:ln/>
        </p:spPr>
        <p:txBody>
          <a:bodyPr/>
          <a:lstStyle/>
          <a:p>
            <a:pPr>
              <a:defRPr>
                <a:solidFill/>
              </a:defRPr>
            </a:pPr>
            <a:endParaRPr/>
          </a:p>
        </p:txBody>
      </p:sp>
      <p:sp>
        <p:nvSpPr>
          <p:cNvPr id="36" name="Text 34"/>
          <p:cNvSpPr txBox="1"/>
          <p:nvPr/>
        </p:nvSpPr>
        <p:spPr>
          <a:xfrm>
            <a:off x="10218420" y="4430268"/>
            <a:ext cx="502920" cy="502920"/>
          </a:xfrm>
          <a:prstGeom prst="rect">
            <a:avLst/>
          </a:prstGeom>
          <a:noFill/>
          <a:ln/>
        </p:spPr>
        <p:txBody>
          <a:bodyPr wrap="square" lIns="0" tIns="0" rIns="0" bIns="0" rtlCol="0" anchor="ctr"/>
          <a:lstStyle/>
          <a:p>
            <a:pPr marL="0" indent="0" algn="ctr">
              <a:buNone/>
              <a:defRPr>
                <a:solidFill/>
              </a:defRPr>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7" name="Text 35"/>
          <p:cNvSpPr txBox="1"/>
          <p:nvPr/>
        </p:nvSpPr>
        <p:spPr>
          <a:xfrm>
            <a:off x="9208008" y="5065776"/>
            <a:ext cx="2523744" cy="320040"/>
          </a:xfrm>
          <a:prstGeom prst="rect">
            <a:avLst/>
          </a:prstGeom>
          <a:noFill/>
          <a:ln/>
        </p:spPr>
        <p:txBody>
          <a:bodyPr wrap="square" lIns="0" tIns="0" rIns="0" bIns="0" rtlCol="0" anchor="ctr"/>
          <a:lstStyle/>
          <a:p>
            <a:pPr marL="0" indent="0" algn="ctr">
              <a:buNone/>
              <a:defRPr sz="1350" b="1">
                <a:solidFill/>
              </a:defRPr>
            </a:pPr>
            <a:r>
              <a:rPr lang="en-US" sz="1250" b="1" dirty="0">
                <a:solidFill>
                  <a:srgbClr val="0B1F3A"/>
                </a:solidFill>
                <a:latin typeface="Cambria" pitchFamily="34" charset="0"/>
                <a:ea typeface="Cambria" pitchFamily="34" charset="-122"/>
                <a:cs typeface="Cambria" pitchFamily="34" charset="-120"/>
              </a:rPr>
              <a:t>Ensemble &amp; Deploy</a:t>
            </a:r>
            <a:endParaRPr lang="en-US" sz="1250" dirty="0"/>
          </a:p>
        </p:txBody>
      </p:sp>
      <p:sp>
        <p:nvSpPr>
          <p:cNvPr id="38" name="Text 36"/>
          <p:cNvSpPr txBox="1"/>
          <p:nvPr/>
        </p:nvSpPr>
        <p:spPr>
          <a:xfrm>
            <a:off x="9226296" y="5394960"/>
            <a:ext cx="2487168" cy="713232"/>
          </a:xfrm>
          <a:prstGeom prst="rect">
            <a:avLst/>
          </a:prstGeom>
          <a:noFill/>
          <a:ln/>
        </p:spPr>
        <p:txBody>
          <a:bodyPr wrap="square" lIns="0" tIns="0" rIns="0" bIns="0" rtlCol="0" anchor="t"/>
          <a:lstStyle/>
          <a:p>
            <a:pPr marL="0" indent="0" algn="ctr">
              <a:lnSpc>
                <a:spcPct val="110000"/>
              </a:lnSpc>
              <a:buNone/>
              <a:defRPr sz="1150">
                <a:solidFill>
                  <a:srgbClr val="000000"/>
                </a:solidFill>
              </a:defRPr>
            </a:pPr>
            <a:r>
              <a:rPr lang="en-US" sz="1150" dirty="0">
                <a:solidFill>
                  <a:srgbClr val="000000"/>
                </a:solidFill>
                <a:latin typeface="Calibri" pitchFamily="34" charset="0"/>
                <a:ea typeface="Calibri" pitchFamily="34" charset="-122"/>
                <a:cs typeface="Calibri" pitchFamily="34" charset="-120"/>
              </a:rPr>
              <a:t>Combine SVM, RF, LR, MNB via Voting; deploy on a Flask web app.</a:t>
            </a:r>
            <a:endParaRPr lang="en-US" sz="1000" dirty="0"/>
          </a:p>
        </p:txBody>
      </p:sp>
      <p:sp>
        <p:nvSpPr>
          <p:cNvPr id="39" name="Rounded Rectangle 38"/>
          <p:cNvSpPr/>
          <p:nvPr/>
        </p:nvSpPr>
        <p:spPr>
          <a:xfrm>
            <a:off x="457200" y="1554480"/>
            <a:ext cx="539496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endParaRPr/>
          </a:p>
        </p:txBody>
      </p:sp>
      <p:sp>
        <p:nvSpPr>
          <p:cNvPr id="40" name="Oval 39"/>
          <p:cNvSpPr/>
          <p:nvPr/>
        </p:nvSpPr>
        <p:spPr>
          <a:xfrm>
            <a:off x="777240" y="1755648"/>
            <a:ext cx="438912" cy="438912"/>
          </a:xfrm>
          <a:prstGeom prst="ellipse">
            <a:avLst/>
          </a:prstGeom>
          <a:solidFill>
            <a:srgbClr val="6C4A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rPr>
                <a:solidFill/>
              </a:rPr>
              <a:t>!</a:t>
            </a:r>
          </a:p>
        </p:txBody>
      </p:sp>
      <p:sp>
        <p:nvSpPr>
          <p:cNvPr id="41" name="TextBox 40"/>
          <p:cNvSpPr txBox="1"/>
          <p:nvPr/>
        </p:nvSpPr>
        <p:spPr>
          <a:xfrm>
            <a:off x="1353312" y="1755648"/>
            <a:ext cx="4297680" cy="438912"/>
          </a:xfrm>
          <a:prstGeom prst="rect">
            <a:avLst/>
          </a:prstGeom>
          <a:noFill/>
        </p:spPr>
        <p:txBody>
          <a:bodyPr wrap="none" lIns="45720" anchor="ctr">
            <a:spAutoFit/>
          </a:bodyPr>
          <a:lstStyle/>
          <a:p>
            <a:pPr>
              <a:defRPr sz="2000" b="1">
                <a:solidFill>
                  <a:srgbClr val="0B1F3A"/>
                </a:solidFill>
                <a:latin typeface="Cambria"/>
              </a:defRPr>
            </a:pPr>
            <a:r>
              <a:rPr>
                <a:solidFill/>
              </a:rPr>
              <a:t>Problem</a:t>
            </a:r>
          </a:p>
        </p:txBody>
      </p:sp>
      <p:sp>
        <p:nvSpPr>
          <p:cNvPr id="42" name="TextBox 41"/>
          <p:cNvSpPr txBox="1"/>
          <p:nvPr/>
        </p:nvSpPr>
        <p:spPr>
          <a:xfrm>
            <a:off x="777240" y="2331720"/>
            <a:ext cx="4800600" cy="1097280"/>
          </a:xfrm>
          <a:prstGeom prst="rect">
            <a:avLst/>
          </a:prstGeom>
          <a:noFill/>
        </p:spPr>
        <p:txBody>
          <a:bodyPr wrap="square" lIns="0" tIns="0" rIns="0">
            <a:spAutoFit/>
          </a:bodyPr>
          <a:lstStyle/>
          <a:p>
            <a:pPr>
              <a:defRPr sz="1300">
                <a:solidFill>
                  <a:srgbClr val="000000"/>
                </a:solidFill>
                <a:latin typeface="Calibri"/>
              </a:defRPr>
            </a:pPr>
            <a:r>
              <a:rPr sz="1300">
                <a:solidFill>
                  <a:srgbClr val="000000"/>
                </a:solidFill>
              </a:rPr>
              <a:t>Clinical transcription data is unstructured and can belong to any of several medical specialties, making manual categorization by medical coders slow, inconsistent, and prone to human error as patient volumes grow.</a:t>
            </a:r>
          </a:p>
        </p:txBody>
      </p:sp>
      <p:sp>
        <p:nvSpPr>
          <p:cNvPr id="43" name="Rounded Rectangle 42"/>
          <p:cNvSpPr/>
          <p:nvPr/>
        </p:nvSpPr>
        <p:spPr>
          <a:xfrm>
            <a:off x="6035040" y="1554480"/>
            <a:ext cx="5696712"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endParaRPr/>
          </a:p>
        </p:txBody>
      </p:sp>
      <p:sp>
        <p:nvSpPr>
          <p:cNvPr id="44" name="Oval 43"/>
          <p:cNvSpPr/>
          <p:nvPr/>
        </p:nvSpPr>
        <p:spPr>
          <a:xfrm>
            <a:off x="6355080" y="1755648"/>
            <a:ext cx="438912" cy="438912"/>
          </a:xfrm>
          <a:prstGeom prst="ellipse">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rPr>
                <a:solidFill/>
              </a:rPr>
              <a:t>→</a:t>
            </a:r>
          </a:p>
        </p:txBody>
      </p:sp>
      <p:sp>
        <p:nvSpPr>
          <p:cNvPr id="45" name="TextBox 44"/>
          <p:cNvSpPr txBox="1"/>
          <p:nvPr/>
        </p:nvSpPr>
        <p:spPr>
          <a:xfrm>
            <a:off x="6931152" y="1755648"/>
            <a:ext cx="4572000" cy="438912"/>
          </a:xfrm>
          <a:prstGeom prst="rect">
            <a:avLst/>
          </a:prstGeom>
          <a:noFill/>
        </p:spPr>
        <p:txBody>
          <a:bodyPr wrap="none" lIns="45720" anchor="ctr">
            <a:spAutoFit/>
          </a:bodyPr>
          <a:lstStyle/>
          <a:p>
            <a:pPr>
              <a:defRPr sz="2000" b="1">
                <a:solidFill>
                  <a:srgbClr val="0B1F3A"/>
                </a:solidFill>
                <a:latin typeface="Cambria"/>
              </a:defRPr>
            </a:pPr>
            <a:r>
              <a:rPr>
                <a:solidFill/>
              </a:rPr>
              <a:t>Objective</a:t>
            </a:r>
          </a:p>
        </p:txBody>
      </p:sp>
      <p:sp>
        <p:nvSpPr>
          <p:cNvPr id="46" name="TextBox 45"/>
          <p:cNvSpPr txBox="1"/>
          <p:nvPr/>
        </p:nvSpPr>
        <p:spPr>
          <a:xfrm>
            <a:off x="6355080" y="2331720"/>
            <a:ext cx="5120640" cy="1097280"/>
          </a:xfrm>
          <a:prstGeom prst="rect">
            <a:avLst/>
          </a:prstGeom>
          <a:noFill/>
        </p:spPr>
        <p:txBody>
          <a:bodyPr wrap="square" lIns="0" tIns="0" rIns="0">
            <a:spAutoFit/>
          </a:bodyPr>
          <a:lstStyle/>
          <a:p>
            <a:pPr>
              <a:defRPr sz="1300">
                <a:solidFill>
                  <a:srgbClr val="000000"/>
                </a:solidFill>
                <a:latin typeface="Calibri"/>
              </a:defRPr>
            </a:pPr>
            <a:r>
              <a:rPr sz="1300">
                <a:solidFill>
                  <a:srgbClr val="000000"/>
                </a:solidFill>
              </a:rPr>
              <a:t>Develop an automated NLP and Ensemble Machine Learning system that predicts the correct medical specialty from a clinical transcription, reducing administrative overhead and speeding up document routing.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rPr>
                <a:solidFill/>
              </a:rPr>
              <a:t>MCA MINI PROJECT | LITERATURE REVIEW</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rPr>
                <a:solidFill/>
              </a:rPr>
              <a:t>Literature Review: Background &amp; Research Landscape</a:t>
            </a:r>
          </a:p>
        </p:txBody>
      </p:sp>
      <p:sp>
        <p:nvSpPr>
          <p:cNvPr id="4" name="Rounded Rectangle 3"/>
          <p:cNvSpPr/>
          <p:nvPr/>
        </p:nvSpPr>
        <p:spPr>
          <a:xfrm>
            <a:off x="457200" y="1371600"/>
            <a:ext cx="2651760" cy="685800"/>
          </a:xfrm>
          <a:prstGeom prst="roundRect">
            <a:avLst/>
          </a:prstGeom>
          <a:solidFill>
            <a:srgbClr val="F0FDFA"/>
          </a:solidFill>
          <a:ln w="15240">
            <a:solidFill>
              <a:srgbClr val="0E7C86"/>
            </a:solidFill>
          </a:ln>
        </p:spPr>
        <p:style>
          <a:lnRef idx="1">
            <a:schemeClr val="accent1"/>
          </a:lnRef>
          <a:fillRef idx="3">
            <a:schemeClr val="accent1"/>
          </a:fillRef>
          <a:effectRef idx="2">
            <a:schemeClr val="accent1"/>
          </a:effectRef>
          <a:fontRef idx="minor">
            <a:schemeClr val="lt1"/>
          </a:fontRef>
        </p:style>
        <p:txBody>
          <a:bodyPr wrap="square" lIns="36576" tIns="73152" rIns="36576" rtlCol="0" anchor="ctr"/>
          <a:lstStyle/>
          <a:p>
            <a:pPr algn="ctr">
              <a:spcAft>
                <a:spcPts val="200"/>
              </a:spcAft>
              <a:defRPr sz="1150" b="1">
                <a:solidFill>
                  <a:srgbClr val="0E7C86"/>
                </a:solidFill>
                <a:latin typeface="Calibri"/>
              </a:defRPr>
            </a:pPr>
            <a:r>
              <a:rPr sz="1150" b="1">
                <a:solidFill>
                  <a:srgbClr val="0E7C86"/>
                </a:solidFill>
              </a:rPr>
              <a:t>1. Prior Literature</a:t>
            </a:r>
          </a:p>
          <a:p>
            <a:pPr>
              <a:defRPr sz="980" b="1">
                <a:solidFill>
                  <a:srgbClr val="000000"/>
                </a:solidFill>
                <a:latin typeface="Calibri"/>
              </a:defRPr>
            </a:pPr>
            <a:r>
              <a:rPr sz="980" b="1">
                <a:solidFill>
                  <a:srgbClr val="000000"/>
                </a:solidFill>
              </a:rPr>
              <a:t>Validation of ML for clinical text</a:t>
            </a:r>
          </a:p>
        </p:txBody>
      </p:sp>
      <p:sp>
        <p:nvSpPr>
          <p:cNvPr id="5" name="Rounded Rectangle 4"/>
          <p:cNvSpPr/>
          <p:nvPr/>
        </p:nvSpPr>
        <p:spPr>
          <a:xfrm>
            <a:off x="3319272" y="1371600"/>
            <a:ext cx="2651760" cy="68580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wrap="square" lIns="36576" tIns="73152" rIns="36576" rtlCol="0" anchor="ctr"/>
          <a:lstStyle/>
          <a:p>
            <a:pPr algn="ctr">
              <a:spcAft>
                <a:spcPts val="200"/>
              </a:spcAft>
              <a:defRPr sz="1150" b="1">
                <a:solidFill>
                  <a:srgbClr val="2563EB"/>
                </a:solidFill>
                <a:latin typeface="Calibri"/>
              </a:defRPr>
            </a:pPr>
            <a:r>
              <a:rPr sz="1150" b="1">
                <a:solidFill>
                  <a:srgbClr val="2563EB"/>
                </a:solidFill>
              </a:rPr>
              <a:t>2. Key Methodologies</a:t>
            </a:r>
          </a:p>
          <a:p>
            <a:pPr>
              <a:defRPr sz="980" b="1">
                <a:solidFill>
                  <a:srgbClr val="000000"/>
                </a:solidFill>
                <a:latin typeface="Calibri"/>
              </a:defRPr>
            </a:pPr>
            <a:r>
              <a:rPr sz="980" b="1">
                <a:solidFill>
                  <a:srgbClr val="000000"/>
                </a:solidFill>
              </a:rPr>
              <a:t>TF-IDF vectorization &amp; linear classifiers</a:t>
            </a:r>
          </a:p>
        </p:txBody>
      </p:sp>
      <p:sp>
        <p:nvSpPr>
          <p:cNvPr id="6" name="Rounded Rectangle 5"/>
          <p:cNvSpPr/>
          <p:nvPr/>
        </p:nvSpPr>
        <p:spPr>
          <a:xfrm>
            <a:off x="6181344" y="1371600"/>
            <a:ext cx="2651760" cy="685800"/>
          </a:xfrm>
          <a:prstGeom prst="roundRect">
            <a:avLst/>
          </a:prstGeom>
          <a:solidFill>
            <a:srgbClr val="FAF5FF"/>
          </a:solidFill>
          <a:ln w="15240">
            <a:solidFill>
              <a:srgbClr val="9333EA"/>
            </a:solidFill>
          </a:ln>
        </p:spPr>
        <p:style>
          <a:lnRef idx="1">
            <a:schemeClr val="accent1"/>
          </a:lnRef>
          <a:fillRef idx="3">
            <a:schemeClr val="accent1"/>
          </a:fillRef>
          <a:effectRef idx="2">
            <a:schemeClr val="accent1"/>
          </a:effectRef>
          <a:fontRef idx="minor">
            <a:schemeClr val="lt1"/>
          </a:fontRef>
        </p:style>
        <p:txBody>
          <a:bodyPr wrap="square" lIns="36576" tIns="73152" rIns="36576" rtlCol="0" anchor="ctr"/>
          <a:lstStyle/>
          <a:p>
            <a:pPr algn="ctr">
              <a:spcAft>
                <a:spcPts val="200"/>
              </a:spcAft>
              <a:defRPr sz="1150" b="1">
                <a:solidFill>
                  <a:srgbClr val="9333EA"/>
                </a:solidFill>
                <a:latin typeface="Calibri"/>
              </a:defRPr>
            </a:pPr>
            <a:r>
              <a:rPr sz="1150" b="1">
                <a:solidFill>
                  <a:srgbClr val="9333EA"/>
                </a:solidFill>
              </a:rPr>
              <a:t>3. Identified Gap</a:t>
            </a:r>
          </a:p>
          <a:p>
            <a:pPr>
              <a:defRPr sz="980" b="1">
                <a:solidFill>
                  <a:srgbClr val="000000"/>
                </a:solidFill>
                <a:latin typeface="Calibri"/>
              </a:defRPr>
            </a:pPr>
            <a:r>
              <a:rPr sz="980" b="1">
                <a:solidFill>
                  <a:srgbClr val="000000"/>
                </a:solidFill>
              </a:rPr>
              <a:t>High compute requirements &amp; model variance</a:t>
            </a:r>
          </a:p>
        </p:txBody>
      </p:sp>
      <p:sp>
        <p:nvSpPr>
          <p:cNvPr id="7" name="Rounded Rectangle 6"/>
          <p:cNvSpPr/>
          <p:nvPr/>
        </p:nvSpPr>
        <p:spPr>
          <a:xfrm>
            <a:off x="9043416" y="1371600"/>
            <a:ext cx="2651760" cy="685800"/>
          </a:xfrm>
          <a:prstGeom prst="roundRect">
            <a:avLst/>
          </a:prstGeom>
          <a:solidFill>
            <a:srgbClr val="F0FDF4"/>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wrap="square" lIns="36576" tIns="73152" rIns="36576" rtlCol="0" anchor="ctr"/>
          <a:lstStyle/>
          <a:p>
            <a:pPr algn="ctr">
              <a:spcAft>
                <a:spcPts val="200"/>
              </a:spcAft>
              <a:defRPr sz="1150" b="1">
                <a:solidFill>
                  <a:srgbClr val="16A34A"/>
                </a:solidFill>
                <a:latin typeface="Calibri"/>
              </a:defRPr>
            </a:pPr>
            <a:r>
              <a:rPr sz="1150" b="1">
                <a:solidFill>
                  <a:srgbClr val="16A34A"/>
                </a:solidFill>
              </a:rPr>
              <a:t>4. Proposed Architecture</a:t>
            </a:r>
          </a:p>
          <a:p>
            <a:pPr>
              <a:defRPr sz="980" b="1">
                <a:solidFill>
                  <a:srgbClr val="000000"/>
                </a:solidFill>
                <a:latin typeface="Calibri"/>
              </a:defRPr>
            </a:pPr>
            <a:r>
              <a:rPr sz="980" b="1">
                <a:solidFill>
                  <a:srgbClr val="000000"/>
                </a:solidFill>
              </a:rPr>
              <a:t>Lightweight soft voting ensemble on web</a:t>
            </a:r>
          </a:p>
        </p:txBody>
      </p:sp>
      <p:sp>
        <p:nvSpPr>
          <p:cNvPr id="8" name="Rounded Rectangle 7"/>
          <p:cNvSpPr/>
          <p:nvPr/>
        </p:nvSpPr>
        <p:spPr>
          <a:xfrm>
            <a:off x="457200" y="2194560"/>
            <a:ext cx="5440680" cy="2011680"/>
          </a:xfrm>
          <a:prstGeom prst="roundRect">
            <a:avLst/>
          </a:prstGeom>
          <a:solidFill>
            <a:srgbClr val="FFFFFF"/>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wrap="square" lIns="201168" tIns="146304" rIns="201168" bIns="109728" rtlCol="0" anchor="ctr"/>
          <a:lstStyle/>
          <a:p>
            <a:pPr algn="ctr">
              <a:spcAft>
                <a:spcPts val="700"/>
              </a:spcAft>
              <a:defRPr sz="1500" b="1">
                <a:solidFill>
                  <a:srgbClr val="0E7C86"/>
                </a:solidFill>
                <a:latin typeface="Calibri"/>
              </a:defRPr>
            </a:pPr>
            <a:r>
              <a:rPr sz="1500" b="1">
                <a:solidFill>
                  <a:srgbClr val="0E7C86"/>
                </a:solidFill>
              </a:rPr>
              <a:t>Clinical NLP &amp; Preprocessing</a:t>
            </a:r>
          </a:p>
          <a:p>
            <a:pPr>
              <a:spcAft>
                <a:spcPts val="550"/>
              </a:spcAft>
            </a:pPr>
            <a:r>
              <a:rPr sz="1300" b="1">
                <a:solidFill>
                  <a:srgbClr val="0E7C86"/>
                </a:solidFill>
                <a:latin typeface="Calibri"/>
              </a:rPr>
              <a:t>• </a:t>
            </a:r>
            <a:r>
              <a:rPr sz="1250" b="0">
                <a:solidFill>
                  <a:srgbClr val="000000"/>
                </a:solidFill>
                <a:latin typeface="Calibri"/>
              </a:rPr>
              <a:t>Clinical narratives contain non-standard doctor shorthand, abbreviations, and punctuation noise.</a:t>
            </a:r>
          </a:p>
          <a:p>
            <a:pPr>
              <a:spcAft>
                <a:spcPts val="550"/>
              </a:spcAft>
            </a:pPr>
            <a:r>
              <a:rPr sz="1300" b="1">
                <a:solidFill>
                  <a:srgbClr val="0E7C86"/>
                </a:solidFill>
                <a:latin typeface="Calibri"/>
              </a:rPr>
              <a:t>• </a:t>
            </a:r>
            <a:r>
              <a:rPr sz="1250" b="0">
                <a:solidFill>
                  <a:srgbClr val="000000"/>
                </a:solidFill>
                <a:latin typeface="Calibri"/>
              </a:rPr>
              <a:t>Implements a 5-step sequence: Cleaning, Lowercasing, Tokenization, Stop-word removal, and Lemmatization.</a:t>
            </a:r>
          </a:p>
          <a:p>
            <a:pPr>
              <a:spcAft>
                <a:spcPts val="550"/>
              </a:spcAft>
            </a:pPr>
            <a:r>
              <a:rPr sz="1300" b="1">
                <a:solidFill>
                  <a:srgbClr val="0E7C86"/>
                </a:solidFill>
                <a:latin typeface="Calibri"/>
              </a:rPr>
              <a:t>• </a:t>
            </a:r>
            <a:r>
              <a:rPr sz="1250" b="0">
                <a:solidFill>
                  <a:srgbClr val="000000"/>
                </a:solidFill>
                <a:latin typeface="Calibri"/>
              </a:rPr>
              <a:t>Morphological lemmatization normalizes inflected clinical terms while preserving diagnostic root semantics.</a:t>
            </a:r>
          </a:p>
        </p:txBody>
      </p:sp>
      <p:sp>
        <p:nvSpPr>
          <p:cNvPr id="9" name="Rounded Rectangle 8"/>
          <p:cNvSpPr/>
          <p:nvPr/>
        </p:nvSpPr>
        <p:spPr>
          <a:xfrm>
            <a:off x="6263640" y="2194560"/>
            <a:ext cx="5440680" cy="2011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wrap="square" lIns="201168" tIns="146304" rIns="201168" bIns="109728" rtlCol="0" anchor="ctr"/>
          <a:lstStyle/>
          <a:p>
            <a:pPr algn="ctr">
              <a:spcAft>
                <a:spcPts val="700"/>
              </a:spcAft>
              <a:defRPr sz="1500" b="1">
                <a:solidFill>
                  <a:srgbClr val="2563EB"/>
                </a:solidFill>
                <a:latin typeface="Calibri"/>
              </a:defRPr>
            </a:pPr>
            <a:r>
              <a:rPr sz="1500" b="1">
                <a:solidFill>
                  <a:srgbClr val="2563EB"/>
                </a:solidFill>
              </a:rPr>
              <a:t>TF-IDF Feature Representation</a:t>
            </a:r>
          </a:p>
          <a:p>
            <a:pPr>
              <a:spcAft>
                <a:spcPts val="550"/>
              </a:spcAft>
            </a:pPr>
            <a:r>
              <a:rPr sz="1300" b="1">
                <a:solidFill>
                  <a:srgbClr val="2563EB"/>
                </a:solidFill>
                <a:latin typeface="Calibri"/>
              </a:rPr>
              <a:t>• </a:t>
            </a:r>
            <a:r>
              <a:rPr sz="1250" b="0">
                <a:solidFill>
                  <a:srgbClr val="000000"/>
                </a:solidFill>
                <a:latin typeface="Calibri"/>
              </a:rPr>
              <a:t>Converts unstructured medical text into standardized, high-dimensional sparse numerical feature vectors.</a:t>
            </a:r>
          </a:p>
          <a:p>
            <a:pPr>
              <a:spcAft>
                <a:spcPts val="550"/>
              </a:spcAft>
            </a:pPr>
            <a:r>
              <a:rPr sz="1300" b="1">
                <a:solidFill>
                  <a:srgbClr val="2563EB"/>
                </a:solidFill>
                <a:latin typeface="Calibri"/>
              </a:rPr>
              <a:t>• </a:t>
            </a:r>
            <a:r>
              <a:rPr sz="1250" b="0">
                <a:solidFill>
                  <a:srgbClr val="000000"/>
                </a:solidFill>
                <a:latin typeface="Calibri"/>
              </a:rPr>
              <a:t>Sublinear scaling (1 + log(TF)) dampens repetitive non-informative terms while highlighting discriminative tokens.</a:t>
            </a:r>
          </a:p>
          <a:p>
            <a:pPr>
              <a:spcAft>
                <a:spcPts val="550"/>
              </a:spcAft>
            </a:pPr>
            <a:r>
              <a:rPr sz="1300" b="1">
                <a:solidFill>
                  <a:srgbClr val="2563EB"/>
                </a:solidFill>
                <a:latin typeface="Calibri"/>
              </a:rPr>
              <a:t>• </a:t>
            </a:r>
            <a:r>
              <a:rPr sz="1250" b="0">
                <a:solidFill>
                  <a:srgbClr val="000000"/>
                </a:solidFill>
                <a:latin typeface="Calibri"/>
              </a:rPr>
              <a:t>Computationally lightweight; enables rapid CPU-based real-time inference on web platforms.</a:t>
            </a:r>
          </a:p>
        </p:txBody>
      </p:sp>
      <p:sp>
        <p:nvSpPr>
          <p:cNvPr id="10" name="Rounded Rectangle 9"/>
          <p:cNvSpPr/>
          <p:nvPr/>
        </p:nvSpPr>
        <p:spPr>
          <a:xfrm>
            <a:off x="457200" y="4343400"/>
            <a:ext cx="5440680" cy="20116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wrap="square" lIns="201168" tIns="146304" rIns="201168" bIns="109728" rtlCol="0" anchor="ctr"/>
          <a:lstStyle/>
          <a:p>
            <a:pPr algn="ctr">
              <a:spcAft>
                <a:spcPts val="700"/>
              </a:spcAft>
              <a:defRPr sz="1500" b="1">
                <a:solidFill>
                  <a:srgbClr val="16A34A"/>
                </a:solidFill>
                <a:latin typeface="Calibri"/>
              </a:defRPr>
            </a:pPr>
            <a:r>
              <a:rPr sz="1500" b="1">
                <a:solidFill>
                  <a:srgbClr val="16A34A"/>
                </a:solidFill>
              </a:rPr>
              <a:t>Supervised ML Classifiers</a:t>
            </a:r>
          </a:p>
          <a:p>
            <a:pPr>
              <a:spcAft>
                <a:spcPts val="550"/>
              </a:spcAft>
            </a:pPr>
            <a:r>
              <a:rPr sz="1300" b="1">
                <a:solidFill>
                  <a:srgbClr val="16A34A"/>
                </a:solidFill>
                <a:latin typeface="Calibri"/>
              </a:rPr>
              <a:t>• </a:t>
            </a:r>
            <a:r>
              <a:rPr sz="1250" b="0">
                <a:solidFill>
                  <a:srgbClr val="000000"/>
                </a:solidFill>
                <a:latin typeface="Calibri"/>
              </a:rPr>
              <a:t>Linear models (SVM, Logistic Regression) excel on high-dimensional sparse text representations.</a:t>
            </a:r>
          </a:p>
          <a:p>
            <a:pPr>
              <a:spcAft>
                <a:spcPts val="550"/>
              </a:spcAft>
            </a:pPr>
            <a:r>
              <a:rPr sz="1300" b="1">
                <a:solidFill>
                  <a:srgbClr val="16A34A"/>
                </a:solidFill>
                <a:latin typeface="Calibri"/>
              </a:rPr>
              <a:t>• </a:t>
            </a:r>
            <a:r>
              <a:rPr sz="1250" b="0">
                <a:solidFill>
                  <a:srgbClr val="000000"/>
                </a:solidFill>
                <a:latin typeface="Calibri"/>
              </a:rPr>
              <a:t>Random Forest introduces non-linear decision partitioning and bagging variance reduction.</a:t>
            </a:r>
          </a:p>
          <a:p>
            <a:pPr>
              <a:spcAft>
                <a:spcPts val="550"/>
              </a:spcAft>
            </a:pPr>
            <a:r>
              <a:rPr sz="1300" b="1">
                <a:solidFill>
                  <a:srgbClr val="16A34A"/>
                </a:solidFill>
                <a:latin typeface="Calibri"/>
              </a:rPr>
              <a:t>• </a:t>
            </a:r>
            <a:r>
              <a:rPr sz="1250" b="0">
                <a:solidFill>
                  <a:srgbClr val="000000"/>
                </a:solidFill>
                <a:latin typeface="Calibri"/>
              </a:rPr>
              <a:t>Multinomial Naive Bayes provides fast, effective probabilistic likelihood estimation for text vectors.</a:t>
            </a:r>
          </a:p>
        </p:txBody>
      </p:sp>
      <p:sp>
        <p:nvSpPr>
          <p:cNvPr id="11" name="Rounded Rectangle 10"/>
          <p:cNvSpPr/>
          <p:nvPr/>
        </p:nvSpPr>
        <p:spPr>
          <a:xfrm>
            <a:off x="6263640" y="4343400"/>
            <a:ext cx="5440680" cy="201168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wrap="square" lIns="201168" tIns="146304" rIns="201168" bIns="109728" rtlCol="0" anchor="ctr"/>
          <a:lstStyle/>
          <a:p>
            <a:pPr algn="ctr">
              <a:spcAft>
                <a:spcPts val="700"/>
              </a:spcAft>
              <a:defRPr sz="1500" b="1">
                <a:solidFill>
                  <a:srgbClr val="9333EA"/>
                </a:solidFill>
                <a:latin typeface="Calibri"/>
              </a:defRPr>
            </a:pPr>
            <a:r>
              <a:rPr sz="1500" b="1">
                <a:solidFill>
                  <a:srgbClr val="9333EA"/>
                </a:solidFill>
              </a:rPr>
              <a:t>Ensemble Learning &amp; Research Gap</a:t>
            </a:r>
          </a:p>
          <a:p>
            <a:pPr>
              <a:spcAft>
                <a:spcPts val="550"/>
              </a:spcAft>
            </a:pPr>
            <a:r>
              <a:rPr sz="1300" b="1">
                <a:solidFill>
                  <a:srgbClr val="9333EA"/>
                </a:solidFill>
                <a:latin typeface="Calibri"/>
              </a:rPr>
              <a:t>• </a:t>
            </a:r>
            <a:r>
              <a:rPr sz="1250" b="0">
                <a:solidFill>
                  <a:srgbClr val="000000"/>
                </a:solidFill>
                <a:latin typeface="Calibri"/>
              </a:rPr>
              <a:t>Identified Gap: Many deep learning approaches demand heavy GPU resources; single models show variance on rare classes.</a:t>
            </a:r>
          </a:p>
          <a:p>
            <a:pPr>
              <a:spcAft>
                <a:spcPts val="550"/>
              </a:spcAft>
            </a:pPr>
            <a:r>
              <a:rPr sz="1300" b="1">
                <a:solidFill>
                  <a:srgbClr val="9333EA"/>
                </a:solidFill>
                <a:latin typeface="Calibri"/>
              </a:rPr>
              <a:t>• </a:t>
            </a:r>
            <a:r>
              <a:rPr sz="1250" b="0">
                <a:solidFill>
                  <a:srgbClr val="000000"/>
                </a:solidFill>
                <a:latin typeface="Calibri"/>
              </a:rPr>
              <a:t>Proposed Solution: An accessible Soft Voting Ensemble combining calibrated base models for balanced classification.</a:t>
            </a:r>
          </a:p>
          <a:p>
            <a:pPr>
              <a:spcAft>
                <a:spcPts val="550"/>
              </a:spcAft>
            </a:pPr>
            <a:r>
              <a:rPr sz="1300" b="1">
                <a:solidFill>
                  <a:srgbClr val="9333EA"/>
                </a:solidFill>
                <a:latin typeface="Calibri"/>
              </a:rPr>
              <a:t>• </a:t>
            </a:r>
            <a:r>
              <a:rPr sz="1250" b="0">
                <a:solidFill>
                  <a:srgbClr val="000000"/>
                </a:solidFill>
                <a:latin typeface="Calibri"/>
              </a:rPr>
              <a:t>Practical Outcome: Achieves robust multi-class accuracy across all 40 specialties on standard CPU hardware.</a:t>
            </a:r>
          </a:p>
        </p:txBody>
      </p:sp>
      <p:sp>
        <p:nvSpPr>
          <p:cNvPr id="12" name="TextBox 11"/>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rPr>
                <a:solidFill/>
              </a:rPr>
              <a:t>Department of Computer Applications | MACE</a:t>
            </a:r>
          </a:p>
        </p:txBody>
      </p:sp>
      <p:sp>
        <p:nvSpPr>
          <p:cNvPr id="13" name="TextBox 12"/>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rPr>
                <a:solidFill/>
              </a:rPr>
              <a:t>Mar Athanasius College of Engineering, Kothamangalam</a:t>
            </a:r>
          </a:p>
        </p:txBody>
      </p:sp>
      <p:sp>
        <p:nvSpPr>
          <p:cNvPr id="14" name="TextBox 13"/>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rPr>
                <a:solidFill/>
              </a:rPr>
              <a:t>Slide 3 of 19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lstStyle/>
          <a:p>
            <a:pPr>
              <a:defRPr>
                <a:solidFill/>
              </a:defRPr>
            </a:pPr>
            <a:endParaR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defRPr sz="1050" b="1">
                <a:solidFill>
                  <a:srgbClr val="FFFFFF"/>
                </a:solidFill>
                <a:latin typeface="Calibri"/>
              </a:defRPr>
            </a:pPr>
            <a:r>
              <a:rPr>
                <a:solidFill/>
              </a:rPr>
              <a:t>MCA MINI PROJECT | LITERATURE REVIEW</a:t>
            </a:r>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defRPr sz="2600" b="1">
                <a:solidFill>
                  <a:srgbClr val="0B1F3A"/>
                </a:solidFill>
                <a:latin typeface="Cambria"/>
              </a:defRPr>
            </a:pPr>
            <a:r>
              <a:rPr>
                <a:solidFill/>
              </a:rPr>
              <a:t>Summary of Key Research Papers</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marL="0" indent="0" algn="l">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marL="0" indent="0" algn="ctr">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4 of 19</a:t>
            </a:r>
          </a:p>
        </p:txBody>
      </p:sp>
      <p:sp>
        <p:nvSpPr>
          <p:cNvPr id="8" name="Shape 6"/>
          <p:cNvSpPr/>
          <p:nvPr/>
        </p:nvSpPr>
        <p:spPr>
          <a:xfrm>
            <a:off x="457200" y="1536192"/>
            <a:ext cx="3675888" cy="4709160"/>
          </a:xfrm>
          <a:prstGeom prst="roundRect">
            <a:avLst>
              <a:gd name="adj" fmla="val 2239"/>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9" name="Shape 7"/>
          <p:cNvSpPr/>
          <p:nvPr/>
        </p:nvSpPr>
        <p:spPr>
          <a:xfrm>
            <a:off x="685800" y="1764792"/>
            <a:ext cx="3218688" cy="292608"/>
          </a:xfrm>
          <a:prstGeom prst="roundRect">
            <a:avLst>
              <a:gd name="adj" fmla="val 50000"/>
            </a:avLst>
          </a:prstGeom>
          <a:solidFill>
            <a:srgbClr val="0E7C86"/>
          </a:solidFill>
          <a:ln/>
        </p:spPr>
        <p:txBody>
          <a:bodyPr/>
          <a:lstStyle/>
          <a:p>
            <a:pPr>
              <a:defRPr>
                <a:solidFill/>
              </a:defRPr>
            </a:pPr>
            <a:endParaRPr/>
          </a:p>
        </p:txBody>
      </p:sp>
      <p:sp>
        <p:nvSpPr>
          <p:cNvPr id="10" name="Text 8"/>
          <p:cNvSpPr txBox="1"/>
          <p:nvPr/>
        </p:nvSpPr>
        <p:spPr>
          <a:xfrm>
            <a:off x="685800" y="1764792"/>
            <a:ext cx="3218688" cy="292608"/>
          </a:xfrm>
          <a:prstGeom prst="rect">
            <a:avLst/>
          </a:prstGeom>
          <a:noFill/>
          <a:ln/>
        </p:spPr>
        <p:txBody>
          <a:bodyPr wrap="square" lIns="0" tIns="0" rIns="0" bIns="0" rtlCol="0" anchor="ctr"/>
          <a:lstStyle/>
          <a:p>
            <a:pPr marL="0" indent="0" algn="ctr">
              <a:buNone/>
              <a:defRPr>
                <a:solidFill/>
              </a:defRPr>
            </a:pPr>
            <a:r>
              <a:rPr lang="en-US" sz="1000" b="1" dirty="0">
                <a:solidFill>
                  <a:srgbClr val="FFFFFF"/>
                </a:solidFill>
                <a:latin typeface="Calibri" pitchFamily="34" charset="0"/>
                <a:ea typeface="Calibri" pitchFamily="34" charset="-122"/>
                <a:cs typeface="Calibri" pitchFamily="34" charset="-120"/>
              </a:rPr>
              <a:t>Paper 1 • 2023</a:t>
            </a:r>
            <a:endParaRPr lang="en-US" sz="1000" dirty="0"/>
          </a:p>
        </p:txBody>
      </p:sp>
      <p:sp>
        <p:nvSpPr>
          <p:cNvPr id="11" name="Text 9"/>
          <p:cNvSpPr txBox="1"/>
          <p:nvPr/>
        </p:nvSpPr>
        <p:spPr>
          <a:xfrm>
            <a:off x="685800" y="2157984"/>
            <a:ext cx="3218688" cy="502920"/>
          </a:xfrm>
          <a:prstGeom prst="rect">
            <a:avLst/>
          </a:prstGeom>
          <a:noFill/>
          <a:ln/>
        </p:spPr>
        <p:txBody>
          <a:bodyPr wrap="square" lIns="0" tIns="0" rIns="0" bIns="0" rtlCol="0" anchor="t"/>
          <a:lstStyle/>
          <a:p>
            <a:pPr marL="0" indent="0" algn="l">
              <a:buNone/>
              <a:defRPr>
                <a:solidFill/>
              </a:defRPr>
            </a:pPr>
            <a:r>
              <a:rPr lang="en-US" sz="1450" b="1" dirty="0">
                <a:solidFill>
                  <a:srgbClr val="0B1F3A"/>
                </a:solidFill>
                <a:latin typeface="Cambria" pitchFamily="34" charset="0"/>
                <a:ea typeface="Cambria" pitchFamily="34" charset="-122"/>
                <a:cs typeface="Cambria" pitchFamily="34" charset="-120"/>
              </a:rPr>
              <a:t>Omar et al. — iJOE</a:t>
            </a:r>
            <a:endParaRPr lang="en-US" sz="1450" dirty="0"/>
          </a:p>
        </p:txBody>
      </p:sp>
      <p:sp>
        <p:nvSpPr>
          <p:cNvPr id="12" name="Text 10"/>
          <p:cNvSpPr txBox="1"/>
          <p:nvPr/>
        </p:nvSpPr>
        <p:spPr>
          <a:xfrm>
            <a:off x="685800" y="2743200"/>
            <a:ext cx="3218688" cy="219456"/>
          </a:xfrm>
          <a:prstGeom prst="rect">
            <a:avLst/>
          </a:prstGeom>
          <a:noFill/>
          <a:ln/>
        </p:spPr>
        <p:txBody>
          <a:bodyPr wrap="square" lIns="0" tIns="0" rIns="0" bIns="0" rtlCol="0" anchor="ctr"/>
          <a:lstStyle/>
          <a:p>
            <a:pPr marL="0" indent="0" algn="l">
              <a:buNone/>
              <a:defRPr>
                <a:solidFill/>
              </a:defRPr>
            </a:pPr>
            <a:r>
              <a:rPr lang="en-US" sz="950" b="1" kern="0" spc="50" dirty="0">
                <a:solidFill>
                  <a:srgbClr val="0E7C86"/>
                </a:solidFill>
                <a:latin typeface="Calibri" pitchFamily="34" charset="0"/>
                <a:ea typeface="Calibri" pitchFamily="34" charset="-122"/>
                <a:cs typeface="Calibri" pitchFamily="34" charset="-120"/>
              </a:rPr>
              <a:t>METHOD</a:t>
            </a:r>
            <a:endParaRPr lang="en-US" sz="950" dirty="0"/>
          </a:p>
        </p:txBody>
      </p:sp>
      <p:sp>
        <p:nvSpPr>
          <p:cNvPr id="13" name="Text 11"/>
          <p:cNvSpPr txBox="1"/>
          <p:nvPr/>
        </p:nvSpPr>
        <p:spPr>
          <a:xfrm>
            <a:off x="685800" y="2962656"/>
            <a:ext cx="3218688" cy="566928"/>
          </a:xfrm>
          <a:prstGeom prst="rect">
            <a:avLst/>
          </a:prstGeom>
          <a:noFill/>
          <a:ln/>
        </p:spPr>
        <p:txBody>
          <a:bodyPr wrap="square" lIns="0" tIns="0" rIns="0" bIns="0" rtlCol="0" anchor="t"/>
          <a:lstStyle/>
          <a:p>
            <a:pPr marL="0" indent="0" algn="l">
              <a:lnSpc>
                <a:spcPct val="112000"/>
              </a:lnSpc>
              <a:buNone/>
              <a:defRPr sz="1200">
                <a:solidFill>
                  <a:srgbClr val="000000"/>
                </a:solidFill>
              </a:defRPr>
            </a:pPr>
            <a:r>
              <a:rPr lang="en-US" sz="1200" dirty="0">
                <a:solidFill>
                  <a:srgbClr val="000000"/>
                </a:solidFill>
                <a:latin typeface="Calibri" pitchFamily="34" charset="0"/>
                <a:ea typeface="Calibri" pitchFamily="34" charset="-122"/>
                <a:cs typeface="Calibri" pitchFamily="34" charset="-120"/>
              </a:rPr>
              <a:t>BOW / TF-IDF / Word2Vec + LR, SVM, Naive Bayes, k-NN</a:t>
            </a:r>
            <a:endParaRPr lang="en-US" sz="1050" dirty="0"/>
          </a:p>
        </p:txBody>
      </p:sp>
      <p:sp>
        <p:nvSpPr>
          <p:cNvPr id="14" name="Text 12"/>
          <p:cNvSpPr txBox="1"/>
          <p:nvPr/>
        </p:nvSpPr>
        <p:spPr>
          <a:xfrm>
            <a:off x="685800" y="3657600"/>
            <a:ext cx="3218688" cy="219456"/>
          </a:xfrm>
          <a:prstGeom prst="rect">
            <a:avLst/>
          </a:prstGeom>
          <a:noFill/>
          <a:ln/>
        </p:spPr>
        <p:txBody>
          <a:bodyPr wrap="square" lIns="0" tIns="0" rIns="0" bIns="0" rtlCol="0" anchor="ctr"/>
          <a:lstStyle/>
          <a:p>
            <a:pPr marL="0" indent="0" algn="l">
              <a:buNone/>
              <a:defRPr>
                <a:solidFill/>
              </a:defRPr>
            </a:pPr>
            <a:r>
              <a:rPr lang="en-US" sz="950" b="1" kern="0" spc="50" dirty="0">
                <a:solidFill>
                  <a:srgbClr val="0E7C86"/>
                </a:solidFill>
                <a:latin typeface="Calibri" pitchFamily="34" charset="0"/>
                <a:ea typeface="Calibri" pitchFamily="34" charset="-122"/>
                <a:cs typeface="Calibri" pitchFamily="34" charset="-120"/>
              </a:rPr>
              <a:t>KEY FINDING</a:t>
            </a:r>
            <a:endParaRPr lang="en-US" sz="950" dirty="0"/>
          </a:p>
        </p:txBody>
      </p:sp>
      <p:sp>
        <p:nvSpPr>
          <p:cNvPr id="15" name="Text 13"/>
          <p:cNvSpPr txBox="1"/>
          <p:nvPr/>
        </p:nvSpPr>
        <p:spPr>
          <a:xfrm>
            <a:off x="685800" y="3877056"/>
            <a:ext cx="3218688" cy="658368"/>
          </a:xfrm>
          <a:prstGeom prst="rect">
            <a:avLst/>
          </a:prstGeom>
          <a:noFill/>
          <a:ln/>
        </p:spPr>
        <p:txBody>
          <a:bodyPr wrap="square" lIns="0" tIns="0" rIns="0" bIns="0" rtlCol="0" anchor="t"/>
          <a:lstStyle/>
          <a:p>
            <a:pPr marL="0" indent="0" algn="l">
              <a:lnSpc>
                <a:spcPct val="112000"/>
              </a:lnSpc>
              <a:buNone/>
              <a:defRPr sz="1200">
                <a:solidFill>
                  <a:srgbClr val="000000"/>
                </a:solidFill>
              </a:defRPr>
            </a:pPr>
            <a:r>
              <a:rPr lang="en-US" sz="1200" dirty="0">
                <a:solidFill>
                  <a:srgbClr val="000000"/>
                </a:solidFill>
                <a:latin typeface="Calibri" pitchFamily="34" charset="0"/>
                <a:ea typeface="Calibri" pitchFamily="34" charset="-122"/>
                <a:cs typeface="Calibri" pitchFamily="34" charset="-120"/>
              </a:rPr>
              <a:t>Word2Vec + k-NN achieved the highest accuracy of 92%, but k-NN scales poorly for large databases.</a:t>
            </a:r>
            <a:endParaRPr lang="en-US" sz="1050" dirty="0"/>
          </a:p>
        </p:txBody>
      </p:sp>
      <p:sp>
        <p:nvSpPr>
          <p:cNvPr id="16" name="Text 14"/>
          <p:cNvSpPr txBox="1"/>
          <p:nvPr/>
        </p:nvSpPr>
        <p:spPr>
          <a:xfrm>
            <a:off x="685800" y="4663440"/>
            <a:ext cx="3218688" cy="219456"/>
          </a:xfrm>
          <a:prstGeom prst="rect">
            <a:avLst/>
          </a:prstGeom>
          <a:noFill/>
          <a:ln/>
        </p:spPr>
        <p:txBody>
          <a:bodyPr wrap="square" lIns="0" tIns="0" rIns="0" bIns="0" rtlCol="0" anchor="ctr"/>
          <a:lstStyle/>
          <a:p>
            <a:pPr marL="0" indent="0" algn="l">
              <a:buNone/>
              <a:defRPr>
                <a:solidFill/>
              </a:defRPr>
            </a:pPr>
            <a:r>
              <a:rPr lang="en-US" sz="950" b="1" kern="0" spc="50" dirty="0">
                <a:solidFill>
                  <a:srgbClr val="0E7C86"/>
                </a:solidFill>
                <a:latin typeface="Calibri" pitchFamily="34" charset="0"/>
                <a:ea typeface="Calibri" pitchFamily="34" charset="-122"/>
                <a:cs typeface="Calibri" pitchFamily="34" charset="-120"/>
              </a:rPr>
              <a:t>RELEVANCE TO THIS PROJECT</a:t>
            </a:r>
            <a:endParaRPr lang="en-US" sz="950" dirty="0"/>
          </a:p>
        </p:txBody>
      </p:sp>
      <p:sp>
        <p:nvSpPr>
          <p:cNvPr id="17" name="Text 15"/>
          <p:cNvSpPr txBox="1"/>
          <p:nvPr/>
        </p:nvSpPr>
        <p:spPr>
          <a:xfrm>
            <a:off x="685800" y="4882896"/>
            <a:ext cx="3218688" cy="731520"/>
          </a:xfrm>
          <a:prstGeom prst="rect">
            <a:avLst/>
          </a:prstGeom>
          <a:noFill/>
          <a:ln/>
        </p:spPr>
        <p:txBody>
          <a:bodyPr wrap="square" lIns="0" tIns="0" rIns="0" bIns="0" rtlCol="0" anchor="t"/>
          <a:lstStyle/>
          <a:p>
            <a:pPr marL="0" indent="0" algn="l">
              <a:lnSpc>
                <a:spcPct val="112000"/>
              </a:lnSpc>
              <a:buNone/>
              <a:defRPr sz="1200">
                <a:solidFill>
                  <a:srgbClr val="000000"/>
                </a:solidFill>
              </a:defRPr>
            </a:pPr>
            <a:r>
              <a:rPr lang="en-US" sz="1200" dirty="0">
                <a:solidFill>
                  <a:srgbClr val="000000"/>
                </a:solidFill>
                <a:latin typeface="Calibri" pitchFamily="34" charset="0"/>
                <a:ea typeface="Calibri" pitchFamily="34" charset="-122"/>
                <a:cs typeface="Calibri" pitchFamily="34" charset="-120"/>
              </a:rPr>
              <a:t>Establishes the standard 4-phase text preprocessing &amp; vectorization pipeline used in this project.</a:t>
            </a:r>
            <a:endParaRPr lang="en-US" sz="1050" dirty="0"/>
          </a:p>
        </p:txBody>
      </p:sp>
      <p:sp>
        <p:nvSpPr>
          <p:cNvPr id="18" name="Shape 16"/>
          <p:cNvSpPr/>
          <p:nvPr/>
        </p:nvSpPr>
        <p:spPr>
          <a:xfrm>
            <a:off x="4251960" y="1536192"/>
            <a:ext cx="3675888" cy="4709160"/>
          </a:xfrm>
          <a:prstGeom prst="roundRect">
            <a:avLst>
              <a:gd name="adj" fmla="val 2239"/>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19" name="Shape 17"/>
          <p:cNvSpPr/>
          <p:nvPr/>
        </p:nvSpPr>
        <p:spPr>
          <a:xfrm>
            <a:off x="4480560" y="1764792"/>
            <a:ext cx="3218688" cy="292608"/>
          </a:xfrm>
          <a:prstGeom prst="roundRect">
            <a:avLst>
              <a:gd name="adj" fmla="val 50000"/>
            </a:avLst>
          </a:prstGeom>
          <a:solidFill>
            <a:srgbClr val="6C4AB6"/>
          </a:solidFill>
          <a:ln/>
        </p:spPr>
        <p:txBody>
          <a:bodyPr/>
          <a:lstStyle/>
          <a:p>
            <a:pPr>
              <a:defRPr>
                <a:solidFill/>
              </a:defRPr>
            </a:pPr>
            <a:endParaRPr/>
          </a:p>
        </p:txBody>
      </p:sp>
      <p:sp>
        <p:nvSpPr>
          <p:cNvPr id="20" name="Text 18"/>
          <p:cNvSpPr txBox="1"/>
          <p:nvPr/>
        </p:nvSpPr>
        <p:spPr>
          <a:xfrm>
            <a:off x="4480560" y="1764792"/>
            <a:ext cx="3218688" cy="292608"/>
          </a:xfrm>
          <a:prstGeom prst="rect">
            <a:avLst/>
          </a:prstGeom>
          <a:noFill/>
          <a:ln/>
        </p:spPr>
        <p:txBody>
          <a:bodyPr wrap="square" lIns="0" tIns="0" rIns="0" bIns="0" rtlCol="0" anchor="ctr"/>
          <a:lstStyle/>
          <a:p>
            <a:pPr marL="0" indent="0" algn="ctr">
              <a:buNone/>
              <a:defRPr>
                <a:solidFill/>
              </a:defRPr>
            </a:pPr>
            <a:r>
              <a:rPr lang="en-US" sz="1000" b="1" dirty="0">
                <a:solidFill>
                  <a:srgbClr val="FFFFFF"/>
                </a:solidFill>
                <a:latin typeface="Calibri" pitchFamily="34" charset="0"/>
                <a:ea typeface="Calibri" pitchFamily="34" charset="-122"/>
                <a:cs typeface="Calibri" pitchFamily="34" charset="-120"/>
              </a:rPr>
              <a:t>Paper 2 • 2023</a:t>
            </a:r>
            <a:endParaRPr lang="en-US" sz="1000" dirty="0"/>
          </a:p>
        </p:txBody>
      </p:sp>
      <p:sp>
        <p:nvSpPr>
          <p:cNvPr id="21" name="Text 19"/>
          <p:cNvSpPr txBox="1"/>
          <p:nvPr/>
        </p:nvSpPr>
        <p:spPr>
          <a:xfrm>
            <a:off x="4480560" y="2157984"/>
            <a:ext cx="3218688" cy="502920"/>
          </a:xfrm>
          <a:prstGeom prst="rect">
            <a:avLst/>
          </a:prstGeom>
          <a:noFill/>
          <a:ln/>
        </p:spPr>
        <p:txBody>
          <a:bodyPr wrap="square" lIns="0" tIns="0" rIns="0" bIns="0" rtlCol="0" anchor="t"/>
          <a:lstStyle/>
          <a:p>
            <a:pPr marL="0" indent="0" algn="l">
              <a:buNone/>
              <a:defRPr>
                <a:solidFill/>
              </a:defRPr>
            </a:pPr>
            <a:r>
              <a:rPr lang="en-US" sz="1450" b="1" dirty="0">
                <a:solidFill>
                  <a:srgbClr val="0B1F3A"/>
                </a:solidFill>
                <a:latin typeface="Cambria" pitchFamily="34" charset="0"/>
                <a:ea typeface="Cambria" pitchFamily="34" charset="-122"/>
                <a:cs typeface="Cambria" pitchFamily="34" charset="-120"/>
              </a:rPr>
              <a:t>Zhang et al. — Hindawi CIN</a:t>
            </a:r>
            <a:endParaRPr lang="en-US" sz="1450" dirty="0"/>
          </a:p>
        </p:txBody>
      </p:sp>
      <p:sp>
        <p:nvSpPr>
          <p:cNvPr id="22" name="Text 20"/>
          <p:cNvSpPr txBox="1"/>
          <p:nvPr/>
        </p:nvSpPr>
        <p:spPr>
          <a:xfrm>
            <a:off x="4480560" y="2743200"/>
            <a:ext cx="3218688" cy="219456"/>
          </a:xfrm>
          <a:prstGeom prst="rect">
            <a:avLst/>
          </a:prstGeom>
          <a:noFill/>
          <a:ln/>
        </p:spPr>
        <p:txBody>
          <a:bodyPr wrap="square" lIns="0" tIns="0" rIns="0" bIns="0" rtlCol="0" anchor="ctr"/>
          <a:lstStyle/>
          <a:p>
            <a:pPr marL="0" indent="0" algn="l">
              <a:buNone/>
              <a:defRPr>
                <a:solidFill/>
              </a:defRPr>
            </a:pPr>
            <a:r>
              <a:rPr lang="en-US" sz="950" b="1" kern="0" spc="50" dirty="0">
                <a:solidFill>
                  <a:srgbClr val="6C4AB6"/>
                </a:solidFill>
                <a:latin typeface="Calibri" pitchFamily="34" charset="0"/>
                <a:ea typeface="Calibri" pitchFamily="34" charset="-122"/>
                <a:cs typeface="Calibri" pitchFamily="34" charset="-120"/>
              </a:rPr>
              <a:t>METHOD</a:t>
            </a:r>
            <a:endParaRPr lang="en-US" sz="950" dirty="0"/>
          </a:p>
        </p:txBody>
      </p:sp>
      <p:sp>
        <p:nvSpPr>
          <p:cNvPr id="23" name="Text 21"/>
          <p:cNvSpPr txBox="1"/>
          <p:nvPr/>
        </p:nvSpPr>
        <p:spPr>
          <a:xfrm>
            <a:off x="4480560" y="2962656"/>
            <a:ext cx="3218688" cy="566928"/>
          </a:xfrm>
          <a:prstGeom prst="rect">
            <a:avLst/>
          </a:prstGeom>
          <a:noFill/>
          <a:ln/>
        </p:spPr>
        <p:txBody>
          <a:bodyPr wrap="square" lIns="0" tIns="0" rIns="0" bIns="0" rtlCol="0" anchor="t"/>
          <a:lstStyle/>
          <a:p>
            <a:pPr marL="0" indent="0" algn="l">
              <a:lnSpc>
                <a:spcPct val="112000"/>
              </a:lnSpc>
              <a:buNone/>
              <a:defRPr sz="1200">
                <a:solidFill>
                  <a:srgbClr val="000000"/>
                </a:solidFill>
              </a:defRPr>
            </a:pPr>
            <a:r>
              <a:rPr lang="en-US" sz="1200" dirty="0">
                <a:solidFill>
                  <a:srgbClr val="000000"/>
                </a:solidFill>
                <a:latin typeface="Calibri" pitchFamily="34" charset="0"/>
                <a:ea typeface="Calibri" pitchFamily="34" charset="-122"/>
                <a:cs typeface="Calibri" pitchFamily="34" charset="-120"/>
              </a:rPr>
              <a:t>SemiADA synthetic data augmentation + BERT, on an 18-class MTSamples subset</a:t>
            </a:r>
            <a:endParaRPr lang="en-US" sz="1050" dirty="0"/>
          </a:p>
        </p:txBody>
      </p:sp>
      <p:sp>
        <p:nvSpPr>
          <p:cNvPr id="24" name="Text 22"/>
          <p:cNvSpPr txBox="1"/>
          <p:nvPr/>
        </p:nvSpPr>
        <p:spPr>
          <a:xfrm>
            <a:off x="4480560" y="3657600"/>
            <a:ext cx="3218688" cy="219456"/>
          </a:xfrm>
          <a:prstGeom prst="rect">
            <a:avLst/>
          </a:prstGeom>
          <a:noFill/>
          <a:ln/>
        </p:spPr>
        <p:txBody>
          <a:bodyPr wrap="square" lIns="0" tIns="0" rIns="0" bIns="0" rtlCol="0" anchor="ctr"/>
          <a:lstStyle/>
          <a:p>
            <a:pPr marL="0" indent="0" algn="l">
              <a:buNone/>
              <a:defRPr>
                <a:solidFill/>
              </a:defRPr>
            </a:pPr>
            <a:r>
              <a:rPr lang="en-US" sz="950" b="1" kern="0" spc="50" dirty="0">
                <a:solidFill>
                  <a:srgbClr val="6C4AB6"/>
                </a:solidFill>
                <a:latin typeface="Calibri" pitchFamily="34" charset="0"/>
                <a:ea typeface="Calibri" pitchFamily="34" charset="-122"/>
                <a:cs typeface="Calibri" pitchFamily="34" charset="-120"/>
              </a:rPr>
              <a:t>KEY FINDING</a:t>
            </a:r>
            <a:endParaRPr lang="en-US" sz="950" dirty="0"/>
          </a:p>
        </p:txBody>
      </p:sp>
      <p:sp>
        <p:nvSpPr>
          <p:cNvPr id="25" name="Text 23"/>
          <p:cNvSpPr txBox="1"/>
          <p:nvPr/>
        </p:nvSpPr>
        <p:spPr>
          <a:xfrm>
            <a:off x="4480560" y="3877056"/>
            <a:ext cx="3218688" cy="658368"/>
          </a:xfrm>
          <a:prstGeom prst="rect">
            <a:avLst/>
          </a:prstGeom>
          <a:noFill/>
          <a:ln/>
        </p:spPr>
        <p:txBody>
          <a:bodyPr wrap="square" lIns="0" tIns="0" rIns="0" bIns="0" rtlCol="0" anchor="t"/>
          <a:lstStyle/>
          <a:p>
            <a:pPr marL="0" indent="0" algn="l">
              <a:lnSpc>
                <a:spcPct val="112000"/>
              </a:lnSpc>
              <a:buNone/>
              <a:defRPr sz="1200">
                <a:solidFill>
                  <a:srgbClr val="000000"/>
                </a:solidFill>
              </a:defRPr>
            </a:pPr>
            <a:r>
              <a:rPr lang="en-US" sz="1200" dirty="0">
                <a:solidFill>
                  <a:srgbClr val="000000"/>
                </a:solidFill>
                <a:latin typeface="Calibri" pitchFamily="34" charset="0"/>
                <a:ea typeface="Calibri" pitchFamily="34" charset="-122"/>
                <a:cs typeface="Calibri" pitchFamily="34" charset="-120"/>
              </a:rPr>
              <a:t>Achieved a +14.9% average gain in accuracy and F1-score over baseline, but needs GPU-heavy BERT fine-tuning.</a:t>
            </a:r>
            <a:endParaRPr lang="en-US" sz="1050" dirty="0"/>
          </a:p>
        </p:txBody>
      </p:sp>
      <p:sp>
        <p:nvSpPr>
          <p:cNvPr id="26" name="Text 24"/>
          <p:cNvSpPr txBox="1"/>
          <p:nvPr/>
        </p:nvSpPr>
        <p:spPr>
          <a:xfrm>
            <a:off x="4480560" y="4663440"/>
            <a:ext cx="3218688" cy="219456"/>
          </a:xfrm>
          <a:prstGeom prst="rect">
            <a:avLst/>
          </a:prstGeom>
          <a:noFill/>
          <a:ln/>
        </p:spPr>
        <p:txBody>
          <a:bodyPr wrap="square" lIns="0" tIns="0" rIns="0" bIns="0" rtlCol="0" anchor="ctr"/>
          <a:lstStyle/>
          <a:p>
            <a:pPr marL="0" indent="0" algn="l">
              <a:buNone/>
              <a:defRPr>
                <a:solidFill/>
              </a:defRPr>
            </a:pPr>
            <a:r>
              <a:rPr lang="en-US" sz="950" b="1" kern="0" spc="50" dirty="0">
                <a:solidFill>
                  <a:srgbClr val="6C4AB6"/>
                </a:solidFill>
                <a:latin typeface="Calibri" pitchFamily="34" charset="0"/>
                <a:ea typeface="Calibri" pitchFamily="34" charset="-122"/>
                <a:cs typeface="Calibri" pitchFamily="34" charset="-120"/>
              </a:rPr>
              <a:t>RELEVANCE TO THIS PROJECT</a:t>
            </a:r>
            <a:endParaRPr lang="en-US" sz="950" dirty="0"/>
          </a:p>
        </p:txBody>
      </p:sp>
      <p:sp>
        <p:nvSpPr>
          <p:cNvPr id="27" name="Text 25"/>
          <p:cNvSpPr txBox="1"/>
          <p:nvPr/>
        </p:nvSpPr>
        <p:spPr>
          <a:xfrm>
            <a:off x="4480560" y="4882896"/>
            <a:ext cx="3218688" cy="731520"/>
          </a:xfrm>
          <a:prstGeom prst="rect">
            <a:avLst/>
          </a:prstGeom>
          <a:noFill/>
          <a:ln/>
        </p:spPr>
        <p:txBody>
          <a:bodyPr wrap="square" lIns="0" tIns="0" rIns="0" bIns="0" rtlCol="0" anchor="t"/>
          <a:lstStyle/>
          <a:p>
            <a:pPr marL="0" indent="0" algn="l">
              <a:lnSpc>
                <a:spcPct val="112000"/>
              </a:lnSpc>
              <a:buNone/>
              <a:defRPr sz="1200">
                <a:solidFill>
                  <a:srgbClr val="000000"/>
                </a:solidFill>
              </a:defRPr>
            </a:pPr>
            <a:r>
              <a:rPr lang="en-US" sz="1200" dirty="0">
                <a:solidFill>
                  <a:srgbClr val="000000"/>
                </a:solidFill>
                <a:latin typeface="Calibri" pitchFamily="34" charset="0"/>
                <a:ea typeface="Calibri" pitchFamily="34" charset="-122"/>
                <a:cs typeface="Calibri" pitchFamily="34" charset="-120"/>
              </a:rPr>
              <a:t>Highlights class imbalance in MTSamples and motivates a lightweight TF-IDF + ensemble alternative.</a:t>
            </a:r>
            <a:endParaRPr lang="en-US" sz="1050" dirty="0"/>
          </a:p>
        </p:txBody>
      </p:sp>
      <p:sp>
        <p:nvSpPr>
          <p:cNvPr id="28" name="Shape 26"/>
          <p:cNvSpPr/>
          <p:nvPr/>
        </p:nvSpPr>
        <p:spPr>
          <a:xfrm>
            <a:off x="8046720" y="1536192"/>
            <a:ext cx="3675888" cy="4709160"/>
          </a:xfrm>
          <a:prstGeom prst="roundRect">
            <a:avLst>
              <a:gd name="adj" fmla="val 2239"/>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29" name="Shape 27"/>
          <p:cNvSpPr/>
          <p:nvPr/>
        </p:nvSpPr>
        <p:spPr>
          <a:xfrm>
            <a:off x="8275320" y="1764792"/>
            <a:ext cx="3218688" cy="292608"/>
          </a:xfrm>
          <a:prstGeom prst="roundRect">
            <a:avLst>
              <a:gd name="adj" fmla="val 50000"/>
            </a:avLst>
          </a:prstGeom>
          <a:solidFill>
            <a:srgbClr val="13294B"/>
          </a:solidFill>
          <a:ln/>
        </p:spPr>
        <p:txBody>
          <a:bodyPr/>
          <a:lstStyle/>
          <a:p>
            <a:pPr>
              <a:defRPr>
                <a:solidFill/>
              </a:defRPr>
            </a:pPr>
            <a:endParaRPr/>
          </a:p>
        </p:txBody>
      </p:sp>
      <p:sp>
        <p:nvSpPr>
          <p:cNvPr id="30" name="Text 28"/>
          <p:cNvSpPr txBox="1"/>
          <p:nvPr/>
        </p:nvSpPr>
        <p:spPr>
          <a:xfrm>
            <a:off x="8275320" y="1764792"/>
            <a:ext cx="3218688" cy="292608"/>
          </a:xfrm>
          <a:prstGeom prst="rect">
            <a:avLst/>
          </a:prstGeom>
          <a:noFill/>
          <a:ln/>
        </p:spPr>
        <p:txBody>
          <a:bodyPr wrap="square" lIns="0" tIns="0" rIns="0" bIns="0" rtlCol="0" anchor="ctr"/>
          <a:lstStyle/>
          <a:p>
            <a:pPr marL="0" indent="0" algn="ctr">
              <a:buNone/>
              <a:defRPr>
                <a:solidFill/>
              </a:defRPr>
            </a:pPr>
            <a:r>
              <a:rPr lang="en-US" sz="1000" b="1" dirty="0">
                <a:solidFill>
                  <a:srgbClr val="FFFFFF"/>
                </a:solidFill>
                <a:latin typeface="Calibri" pitchFamily="34" charset="0"/>
                <a:ea typeface="Calibri" pitchFamily="34" charset="-122"/>
                <a:cs typeface="Calibri" pitchFamily="34" charset="-120"/>
              </a:rPr>
              <a:t>Paper 3 • 2022</a:t>
            </a:r>
            <a:endParaRPr lang="en-US" sz="1000" dirty="0"/>
          </a:p>
        </p:txBody>
      </p:sp>
      <p:sp>
        <p:nvSpPr>
          <p:cNvPr id="31" name="Text 29"/>
          <p:cNvSpPr txBox="1"/>
          <p:nvPr/>
        </p:nvSpPr>
        <p:spPr>
          <a:xfrm>
            <a:off x="8275320" y="2157984"/>
            <a:ext cx="3218688" cy="502920"/>
          </a:xfrm>
          <a:prstGeom prst="rect">
            <a:avLst/>
          </a:prstGeom>
          <a:noFill/>
          <a:ln/>
        </p:spPr>
        <p:txBody>
          <a:bodyPr wrap="square" lIns="0" tIns="0" rIns="0" bIns="0" rtlCol="0" anchor="t"/>
          <a:lstStyle/>
          <a:p>
            <a:pPr marL="0" indent="0" algn="l">
              <a:buNone/>
              <a:defRPr>
                <a:solidFill/>
              </a:defRPr>
            </a:pPr>
            <a:r>
              <a:rPr lang="en-US" sz="1450" b="1" dirty="0">
                <a:solidFill>
                  <a:srgbClr val="0B1F3A"/>
                </a:solidFill>
                <a:latin typeface="Cambria" pitchFamily="34" charset="0"/>
                <a:ea typeface="Cambria" pitchFamily="34" charset="-122"/>
                <a:cs typeface="Cambria" pitchFamily="34" charset="-120"/>
              </a:rPr>
              <a:t>Blanchard et al. — IEEE JBHI</a:t>
            </a:r>
            <a:endParaRPr lang="en-US" sz="1450" dirty="0"/>
          </a:p>
        </p:txBody>
      </p:sp>
      <p:sp>
        <p:nvSpPr>
          <p:cNvPr id="32" name="Text 30"/>
          <p:cNvSpPr txBox="1"/>
          <p:nvPr/>
        </p:nvSpPr>
        <p:spPr>
          <a:xfrm>
            <a:off x="8275320" y="2743200"/>
            <a:ext cx="3218688" cy="219456"/>
          </a:xfrm>
          <a:prstGeom prst="rect">
            <a:avLst/>
          </a:prstGeom>
          <a:noFill/>
          <a:ln/>
        </p:spPr>
        <p:txBody>
          <a:bodyPr wrap="square" lIns="0" tIns="0" rIns="0" bIns="0" rtlCol="0" anchor="ctr"/>
          <a:lstStyle/>
          <a:p>
            <a:pPr marL="0" indent="0" algn="l">
              <a:buNone/>
              <a:defRPr>
                <a:solidFill/>
              </a:defRPr>
            </a:pPr>
            <a:r>
              <a:rPr lang="en-US" sz="950" b="1" kern="0" spc="50" dirty="0">
                <a:solidFill>
                  <a:srgbClr val="13294B"/>
                </a:solidFill>
                <a:latin typeface="Calibri" pitchFamily="34" charset="0"/>
                <a:ea typeface="Calibri" pitchFamily="34" charset="-122"/>
                <a:cs typeface="Calibri" pitchFamily="34" charset="-120"/>
              </a:rPr>
              <a:t>METHOD</a:t>
            </a:r>
            <a:endParaRPr lang="en-US" sz="950" dirty="0"/>
          </a:p>
        </p:txBody>
      </p:sp>
      <p:sp>
        <p:nvSpPr>
          <p:cNvPr id="33" name="Text 31"/>
          <p:cNvSpPr txBox="1"/>
          <p:nvPr/>
        </p:nvSpPr>
        <p:spPr>
          <a:xfrm>
            <a:off x="8275320" y="2962656"/>
            <a:ext cx="3218688" cy="566928"/>
          </a:xfrm>
          <a:prstGeom prst="rect">
            <a:avLst/>
          </a:prstGeom>
          <a:noFill/>
          <a:ln/>
        </p:spPr>
        <p:txBody>
          <a:bodyPr wrap="square" lIns="0" tIns="0" rIns="0" bIns="0" rtlCol="0" anchor="t"/>
          <a:lstStyle/>
          <a:p>
            <a:pPr marL="0" indent="0" algn="l">
              <a:lnSpc>
                <a:spcPct val="112000"/>
              </a:lnSpc>
              <a:buNone/>
              <a:defRPr sz="1200">
                <a:solidFill>
                  <a:srgbClr val="000000"/>
                </a:solidFill>
              </a:defRPr>
            </a:pPr>
            <a:r>
              <a:rPr lang="en-US" sz="1200" dirty="0">
                <a:solidFill>
                  <a:srgbClr val="000000"/>
                </a:solidFill>
                <a:latin typeface="Calibri" pitchFamily="34" charset="0"/>
                <a:ea typeface="Calibri" pitchFamily="34" charset="-122"/>
                <a:cs typeface="Calibri" pitchFamily="34" charset="-120"/>
              </a:rPr>
              <a:t>CNN with keyword-constrained loss on the NCI SEER pathology registry</a:t>
            </a:r>
            <a:endParaRPr lang="en-US" sz="1050" dirty="0"/>
          </a:p>
        </p:txBody>
      </p:sp>
      <p:sp>
        <p:nvSpPr>
          <p:cNvPr id="34" name="Text 32"/>
          <p:cNvSpPr txBox="1"/>
          <p:nvPr/>
        </p:nvSpPr>
        <p:spPr>
          <a:xfrm>
            <a:off x="8275320" y="3657600"/>
            <a:ext cx="3218688" cy="219456"/>
          </a:xfrm>
          <a:prstGeom prst="rect">
            <a:avLst/>
          </a:prstGeom>
          <a:noFill/>
          <a:ln/>
        </p:spPr>
        <p:txBody>
          <a:bodyPr wrap="square" lIns="0" tIns="0" rIns="0" bIns="0" rtlCol="0" anchor="ctr"/>
          <a:lstStyle/>
          <a:p>
            <a:pPr marL="0" indent="0" algn="l">
              <a:buNone/>
              <a:defRPr>
                <a:solidFill/>
              </a:defRPr>
            </a:pPr>
            <a:r>
              <a:rPr lang="en-US" sz="950" b="1" kern="0" spc="50" dirty="0">
                <a:solidFill>
                  <a:srgbClr val="13294B"/>
                </a:solidFill>
                <a:latin typeface="Calibri" pitchFamily="34" charset="0"/>
                <a:ea typeface="Calibri" pitchFamily="34" charset="-122"/>
                <a:cs typeface="Calibri" pitchFamily="34" charset="-120"/>
              </a:rPr>
              <a:t>KEY FINDING</a:t>
            </a:r>
            <a:endParaRPr lang="en-US" sz="950" dirty="0"/>
          </a:p>
        </p:txBody>
      </p:sp>
      <p:sp>
        <p:nvSpPr>
          <p:cNvPr id="35" name="Text 33"/>
          <p:cNvSpPr txBox="1"/>
          <p:nvPr/>
        </p:nvSpPr>
        <p:spPr>
          <a:xfrm>
            <a:off x="8275320" y="3877056"/>
            <a:ext cx="3218688" cy="658368"/>
          </a:xfrm>
          <a:prstGeom prst="rect">
            <a:avLst/>
          </a:prstGeom>
          <a:noFill/>
          <a:ln/>
        </p:spPr>
        <p:txBody>
          <a:bodyPr wrap="square" lIns="0" tIns="0" rIns="0" bIns="0" rtlCol="0" anchor="t"/>
          <a:lstStyle/>
          <a:p>
            <a:pPr marL="0" indent="0" algn="l">
              <a:lnSpc>
                <a:spcPct val="112000"/>
              </a:lnSpc>
              <a:buNone/>
              <a:defRPr sz="1200">
                <a:solidFill>
                  <a:srgbClr val="000000"/>
                </a:solidFill>
              </a:defRPr>
            </a:pPr>
            <a:r>
              <a:rPr lang="en-US" sz="1200" dirty="0">
                <a:solidFill>
                  <a:srgbClr val="000000"/>
                </a:solidFill>
                <a:latin typeface="Calibri" pitchFamily="34" charset="0"/>
                <a:ea typeface="Calibri" pitchFamily="34" charset="-122"/>
                <a:cs typeface="Calibri" pitchFamily="34" charset="-120"/>
              </a:rPr>
              <a:t>Keyword injection improved macro F1 and recall on rare classes without hurting majority performance.</a:t>
            </a:r>
            <a:endParaRPr lang="en-US" sz="1050" dirty="0"/>
          </a:p>
        </p:txBody>
      </p:sp>
      <p:sp>
        <p:nvSpPr>
          <p:cNvPr id="36" name="Text 34"/>
          <p:cNvSpPr txBox="1"/>
          <p:nvPr/>
        </p:nvSpPr>
        <p:spPr>
          <a:xfrm>
            <a:off x="8275320" y="4663440"/>
            <a:ext cx="3218688" cy="219456"/>
          </a:xfrm>
          <a:prstGeom prst="rect">
            <a:avLst/>
          </a:prstGeom>
          <a:noFill/>
          <a:ln/>
        </p:spPr>
        <p:txBody>
          <a:bodyPr wrap="square" lIns="0" tIns="0" rIns="0" bIns="0" rtlCol="0" anchor="ctr"/>
          <a:lstStyle/>
          <a:p>
            <a:pPr marL="0" indent="0" algn="l">
              <a:buNone/>
              <a:defRPr>
                <a:solidFill/>
              </a:defRPr>
            </a:pPr>
            <a:r>
              <a:rPr lang="en-US" sz="950" b="1" kern="0" spc="50" dirty="0">
                <a:solidFill>
                  <a:srgbClr val="13294B"/>
                </a:solidFill>
                <a:latin typeface="Calibri" pitchFamily="34" charset="0"/>
                <a:ea typeface="Calibri" pitchFamily="34" charset="-122"/>
                <a:cs typeface="Calibri" pitchFamily="34" charset="-120"/>
              </a:rPr>
              <a:t>RELEVANCE TO THIS PROJECT</a:t>
            </a:r>
            <a:endParaRPr lang="en-US" sz="950" dirty="0"/>
          </a:p>
        </p:txBody>
      </p:sp>
      <p:sp>
        <p:nvSpPr>
          <p:cNvPr id="37" name="Text 35"/>
          <p:cNvSpPr txBox="1"/>
          <p:nvPr/>
        </p:nvSpPr>
        <p:spPr>
          <a:xfrm>
            <a:off x="8275320" y="4882896"/>
            <a:ext cx="3218688" cy="731520"/>
          </a:xfrm>
          <a:prstGeom prst="rect">
            <a:avLst/>
          </a:prstGeom>
          <a:noFill/>
          <a:ln/>
        </p:spPr>
        <p:txBody>
          <a:bodyPr wrap="square" lIns="0" tIns="0" rIns="0" bIns="0" rtlCol="0" anchor="t"/>
          <a:lstStyle/>
          <a:p>
            <a:pPr marL="0" indent="0" algn="l">
              <a:lnSpc>
                <a:spcPct val="112000"/>
              </a:lnSpc>
              <a:buNone/>
              <a:defRPr sz="1200">
                <a:solidFill>
                  <a:srgbClr val="000000"/>
                </a:solidFill>
              </a:defRPr>
            </a:pPr>
            <a:r>
              <a:rPr lang="en-US" sz="1200" dirty="0">
                <a:solidFill>
                  <a:srgbClr val="000000"/>
                </a:solidFill>
                <a:latin typeface="Calibri" pitchFamily="34" charset="0"/>
                <a:ea typeface="Calibri" pitchFamily="34" charset="-122"/>
                <a:cs typeface="Calibri" pitchFamily="34" charset="-120"/>
              </a:rPr>
              <a:t>Justifies using TF-IDF keyword / n-gram weighting to preserve signal for rare specialty classes.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lstStyle/>
          <a:p>
            <a:pPr>
              <a:defRPr>
                <a:solidFill/>
              </a:defRPr>
            </a:pPr>
            <a:endParaR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marL="0" indent="0" algn="ctr">
              <a:buNone/>
              <a:defRPr>
                <a:solidFill/>
              </a:defRPr>
            </a:pPr>
            <a:r>
              <a:rPr lang="en-US" sz="1050" b="1" kern="0" spc="10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marL="0" indent="0" algn="l">
              <a:buNone/>
              <a:defRPr>
                <a:solidFill/>
              </a:defRPr>
            </a:pPr>
            <a:r>
              <a:rPr lang="en-US" sz="2700" b="1" dirty="0">
                <a:solidFill>
                  <a:srgbClr val="0B1F3A"/>
                </a:solidFill>
                <a:latin typeface="Cambria" pitchFamily="34" charset="0"/>
                <a:ea typeface="Cambria" pitchFamily="34" charset="-122"/>
                <a:cs typeface="Cambria" pitchFamily="34" charset="-120"/>
              </a:rPr>
              <a:t>Dataset Overview</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marL="0" indent="0" algn="l">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marL="0" indent="0" algn="ctr">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5 of 19</a:t>
            </a:r>
          </a:p>
        </p:txBody>
      </p:sp>
      <p:sp>
        <p:nvSpPr>
          <p:cNvPr id="8" name="Shape 6"/>
          <p:cNvSpPr/>
          <p:nvPr/>
        </p:nvSpPr>
        <p:spPr>
          <a:xfrm>
            <a:off x="457200" y="1508760"/>
            <a:ext cx="11274552" cy="1417320"/>
          </a:xfrm>
          <a:prstGeom prst="roundRect">
            <a:avLst>
              <a:gd name="adj" fmla="val 5806"/>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9" name="Text 7"/>
          <p:cNvSpPr txBox="1"/>
          <p:nvPr/>
        </p:nvSpPr>
        <p:spPr>
          <a:xfrm>
            <a:off x="777240" y="1691640"/>
            <a:ext cx="7772400" cy="365760"/>
          </a:xfrm>
          <a:prstGeom prst="rect">
            <a:avLst/>
          </a:prstGeom>
          <a:noFill/>
          <a:ln/>
        </p:spPr>
        <p:txBody>
          <a:bodyPr wrap="square" lIns="0" tIns="0" rIns="0" bIns="0" rtlCol="0" anchor="ctr"/>
          <a:lstStyle/>
          <a:p>
            <a:pPr marL="0" indent="0">
              <a:buNone/>
              <a:defRPr>
                <a:solidFill/>
              </a:defRPr>
            </a:pPr>
            <a:r>
              <a:rPr lang="en-US" sz="1600" b="1" dirty="0">
                <a:solidFill>
                  <a:srgbClr val="0B1F3A"/>
                </a:solidFill>
                <a:latin typeface="Cambria" pitchFamily="34" charset="0"/>
                <a:ea typeface="Cambria" pitchFamily="34" charset="-122"/>
                <a:cs typeface="Cambria" pitchFamily="34" charset="-120"/>
              </a:rPr>
              <a:t>Kaggle Medical Transcriptions (MTSamples) Dataset</a:t>
            </a:r>
            <a:endParaRPr lang="en-US" sz="1600" dirty="0"/>
          </a:p>
        </p:txBody>
      </p:sp>
      <p:sp>
        <p:nvSpPr>
          <p:cNvPr id="10" name="Text 8"/>
          <p:cNvSpPr txBox="1"/>
          <p:nvPr/>
        </p:nvSpPr>
        <p:spPr>
          <a:xfrm>
            <a:off x="777240" y="2084832"/>
            <a:ext cx="7772400" cy="274320"/>
          </a:xfrm>
          <a:prstGeom prst="rect">
            <a:avLst/>
          </a:prstGeom>
          <a:noFill/>
          <a:ln/>
        </p:spPr>
        <p:txBody>
          <a:bodyPr wrap="square" lIns="0" tIns="0" rIns="0" bIns="0" rtlCol="0" anchor="ctr"/>
          <a:lstStyle/>
          <a:p>
            <a:pPr marL="0" indent="0">
              <a:buNone/>
              <a:defRPr>
                <a:solidFill/>
              </a:defRPr>
            </a:pPr>
            <a:r>
              <a:rPr lang="en-US" sz="1250" i="1" dirty="0">
                <a:solidFill>
                  <a:srgbClr val="000000"/>
                </a:solidFill>
                <a:latin typeface="Calibri" pitchFamily="34" charset="0"/>
                <a:ea typeface="Calibri" pitchFamily="34" charset="-122"/>
                <a:cs typeface="Calibri" pitchFamily="34" charset="-120"/>
              </a:rPr>
              <a:t>Source: kaggle.com/datasets/tboyle10/medicaltranscriptions</a:t>
            </a:r>
            <a:endParaRPr lang="en-US" sz="1100" dirty="0"/>
          </a:p>
        </p:txBody>
      </p:sp>
      <p:sp>
        <p:nvSpPr>
          <p:cNvPr id="11" name="Text 9"/>
          <p:cNvSpPr txBox="1"/>
          <p:nvPr/>
        </p:nvSpPr>
        <p:spPr>
          <a:xfrm>
            <a:off x="777240" y="2395728"/>
            <a:ext cx="7680960" cy="457200"/>
          </a:xfrm>
          <a:prstGeom prst="rect">
            <a:avLst/>
          </a:prstGeom>
          <a:noFill/>
          <a:ln/>
        </p:spPr>
        <p:txBody>
          <a:bodyPr wrap="square" lIns="0" tIns="0" rIns="0" bIns="0" rtlCol="0" anchor="ctr"/>
          <a:lstStyle/>
          <a:p>
            <a:pPr marL="0" indent="0">
              <a:lnSpc>
                <a:spcPct val="110000"/>
              </a:lnSpc>
              <a:buNone/>
              <a:defRPr>
                <a:solidFill/>
              </a:defRPr>
            </a:pPr>
            <a:r>
              <a:rPr lang="en-US" sz="1250" dirty="0">
                <a:solidFill>
                  <a:srgbClr val="000000"/>
                </a:solidFill>
                <a:latin typeface="Calibri" pitchFamily="34" charset="0"/>
                <a:ea typeface="Calibri" pitchFamily="34" charset="-122"/>
                <a:cs typeface="Calibri" pitchFamily="34" charset="-120"/>
              </a:rPr>
              <a:t>Authentic clinical dictations covering patient histories, diagnostic evaluations, physical exams, and surgical procedures across many healthcare sub-disciplines.</a:t>
            </a:r>
            <a:endParaRPr lang="en-US" sz="1100" dirty="0"/>
          </a:p>
        </p:txBody>
      </p:sp>
      <p:sp>
        <p:nvSpPr>
          <p:cNvPr id="12" name="Text 10"/>
          <p:cNvSpPr txBox="1"/>
          <p:nvPr/>
        </p:nvSpPr>
        <p:spPr>
          <a:xfrm>
            <a:off x="8732520" y="1572768"/>
            <a:ext cx="960120" cy="502920"/>
          </a:xfrm>
          <a:prstGeom prst="rect">
            <a:avLst/>
          </a:prstGeom>
          <a:noFill/>
          <a:ln/>
        </p:spPr>
        <p:txBody>
          <a:bodyPr wrap="square" lIns="0" tIns="0" rIns="0" bIns="0" rtlCol="0" anchor="ctr"/>
          <a:lstStyle/>
          <a:p>
            <a:pPr marL="0" indent="0" algn="ctr">
              <a:buNone/>
              <a:defRPr>
                <a:solidFill/>
              </a:defRPr>
            </a:pPr>
            <a:r>
              <a:rPr lang="en-US" sz="2400" b="1" dirty="0">
                <a:solidFill>
                  <a:srgbClr val="0E7C86"/>
                </a:solidFill>
                <a:latin typeface="Cambria" pitchFamily="34" charset="0"/>
                <a:ea typeface="Cambria" pitchFamily="34" charset="-122"/>
                <a:cs typeface="Cambria" pitchFamily="34" charset="-120"/>
              </a:rPr>
              <a:t>4,999</a:t>
            </a:r>
            <a:endParaRPr lang="en-US" sz="2400" dirty="0"/>
          </a:p>
        </p:txBody>
      </p:sp>
      <p:sp>
        <p:nvSpPr>
          <p:cNvPr id="13" name="Text 11"/>
          <p:cNvSpPr txBox="1"/>
          <p:nvPr/>
        </p:nvSpPr>
        <p:spPr>
          <a:xfrm>
            <a:off x="8595360" y="2084832"/>
            <a:ext cx="1234440" cy="502920"/>
          </a:xfrm>
          <a:prstGeom prst="rect">
            <a:avLst/>
          </a:prstGeom>
          <a:noFill/>
          <a:ln/>
        </p:spPr>
        <p:txBody>
          <a:bodyPr wrap="square" lIns="0" tIns="0" rIns="0" bIns="0" rtlCol="0" anchor="t"/>
          <a:lstStyle/>
          <a:p>
            <a:pPr marL="0" indent="0" algn="ctr">
              <a:lnSpc>
                <a:spcPct val="100000"/>
              </a:lnSpc>
              <a:buNone/>
              <a:defRPr>
                <a:solidFill/>
              </a:defRPr>
            </a:pPr>
            <a:r>
              <a:rPr lang="en-US" sz="950" dirty="0">
                <a:solidFill>
                  <a:srgbClr val="000000"/>
                </a:solidFill>
                <a:latin typeface="Calibri" pitchFamily="34" charset="0"/>
                <a:ea typeface="Calibri" pitchFamily="34" charset="-122"/>
                <a:cs typeface="Calibri" pitchFamily="34" charset="-120"/>
              </a:rPr>
              <a:t>Clinical Records</a:t>
            </a:r>
            <a:endParaRPr lang="en-US" sz="800" dirty="0"/>
          </a:p>
        </p:txBody>
      </p:sp>
      <p:sp>
        <p:nvSpPr>
          <p:cNvPr id="14" name="Text 12"/>
          <p:cNvSpPr txBox="1"/>
          <p:nvPr/>
        </p:nvSpPr>
        <p:spPr>
          <a:xfrm>
            <a:off x="9784080" y="1572768"/>
            <a:ext cx="960120" cy="502920"/>
          </a:xfrm>
          <a:prstGeom prst="rect">
            <a:avLst/>
          </a:prstGeom>
          <a:noFill/>
          <a:ln/>
        </p:spPr>
        <p:txBody>
          <a:bodyPr wrap="square" lIns="0" tIns="0" rIns="0" bIns="0" rtlCol="0" anchor="ctr"/>
          <a:lstStyle/>
          <a:p>
            <a:pPr marL="0" indent="0" algn="ctr">
              <a:buNone/>
              <a:defRPr>
                <a:solidFill/>
              </a:defRPr>
            </a:pPr>
            <a:r>
              <a:rPr lang="en-US" sz="2400" b="1" dirty="0">
                <a:solidFill>
                  <a:srgbClr val="0E7C86"/>
                </a:solidFill>
                <a:latin typeface="Cambria" pitchFamily="34" charset="0"/>
                <a:ea typeface="Cambria" pitchFamily="34" charset="-122"/>
                <a:cs typeface="Cambria" pitchFamily="34" charset="-120"/>
              </a:rPr>
              <a:t>40</a:t>
            </a:r>
            <a:endParaRPr lang="en-US" sz="2400" dirty="0"/>
          </a:p>
        </p:txBody>
      </p:sp>
      <p:sp>
        <p:nvSpPr>
          <p:cNvPr id="15" name="Text 13"/>
          <p:cNvSpPr txBox="1"/>
          <p:nvPr/>
        </p:nvSpPr>
        <p:spPr>
          <a:xfrm>
            <a:off x="9646920" y="2084832"/>
            <a:ext cx="1234440" cy="502920"/>
          </a:xfrm>
          <a:prstGeom prst="rect">
            <a:avLst/>
          </a:prstGeom>
          <a:noFill/>
          <a:ln/>
        </p:spPr>
        <p:txBody>
          <a:bodyPr wrap="square" lIns="0" tIns="0" rIns="0" bIns="0" rtlCol="0" anchor="t"/>
          <a:lstStyle/>
          <a:p>
            <a:pPr marL="0" indent="0" algn="ctr">
              <a:lnSpc>
                <a:spcPct val="100000"/>
              </a:lnSpc>
              <a:buNone/>
              <a:defRPr>
                <a:solidFill/>
              </a:defRPr>
            </a:pPr>
            <a:r>
              <a:rPr lang="en-US" sz="950" dirty="0">
                <a:solidFill>
                  <a:srgbClr val="000000"/>
                </a:solidFill>
                <a:latin typeface="Calibri" pitchFamily="34" charset="0"/>
                <a:ea typeface="Calibri" pitchFamily="34" charset="-122"/>
                <a:cs typeface="Calibri" pitchFamily="34" charset="-120"/>
              </a:rPr>
              <a:t>Medical Specialties</a:t>
            </a:r>
            <a:endParaRPr lang="en-US" sz="800" dirty="0"/>
          </a:p>
        </p:txBody>
      </p:sp>
      <p:sp>
        <p:nvSpPr>
          <p:cNvPr id="16" name="Text 14"/>
          <p:cNvSpPr txBox="1"/>
          <p:nvPr/>
        </p:nvSpPr>
        <p:spPr>
          <a:xfrm>
            <a:off x="10835640" y="1572768"/>
            <a:ext cx="960120" cy="502920"/>
          </a:xfrm>
          <a:prstGeom prst="rect">
            <a:avLst/>
          </a:prstGeom>
          <a:noFill/>
          <a:ln/>
        </p:spPr>
        <p:txBody>
          <a:bodyPr wrap="square" lIns="0" tIns="0" rIns="0" bIns="0" rtlCol="0" anchor="ctr"/>
          <a:lstStyle/>
          <a:p>
            <a:pPr marL="0" indent="0" algn="ctr">
              <a:buNone/>
              <a:defRPr>
                <a:solidFill/>
              </a:defRPr>
            </a:pPr>
            <a:r>
              <a:rPr lang="en-US" sz="2400" b="1" dirty="0">
                <a:solidFill>
                  <a:srgbClr val="0E7C86"/>
                </a:solidFill>
                <a:latin typeface="Cambria" pitchFamily="34" charset="0"/>
                <a:ea typeface="Cambria" pitchFamily="34" charset="-122"/>
                <a:cs typeface="Cambria" pitchFamily="34" charset="-120"/>
              </a:rPr>
              <a:t>6</a:t>
            </a:r>
            <a:endParaRPr lang="en-US" sz="2400" dirty="0"/>
          </a:p>
        </p:txBody>
      </p:sp>
      <p:sp>
        <p:nvSpPr>
          <p:cNvPr id="17" name="Text 15"/>
          <p:cNvSpPr txBox="1"/>
          <p:nvPr/>
        </p:nvSpPr>
        <p:spPr>
          <a:xfrm>
            <a:off x="10698480" y="2084832"/>
            <a:ext cx="1234440" cy="502920"/>
          </a:xfrm>
          <a:prstGeom prst="rect">
            <a:avLst/>
          </a:prstGeom>
          <a:noFill/>
          <a:ln/>
        </p:spPr>
        <p:txBody>
          <a:bodyPr wrap="square" lIns="0" tIns="0" rIns="0" bIns="0" rtlCol="0" anchor="t"/>
          <a:lstStyle/>
          <a:p>
            <a:pPr marL="0" indent="0" algn="ctr">
              <a:lnSpc>
                <a:spcPct val="100000"/>
              </a:lnSpc>
              <a:buNone/>
              <a:defRPr>
                <a:solidFill/>
              </a:defRPr>
            </a:pPr>
            <a:r>
              <a:rPr lang="en-US" sz="950" dirty="0">
                <a:solidFill>
                  <a:srgbClr val="000000"/>
                </a:solidFill>
                <a:latin typeface="Calibri" pitchFamily="34" charset="0"/>
                <a:ea typeface="Calibri" pitchFamily="34" charset="-122"/>
                <a:cs typeface="Calibri" pitchFamily="34" charset="-120"/>
              </a:rPr>
              <a:t>Dataset Columns</a:t>
            </a:r>
            <a:endParaRPr lang="en-US" sz="800" dirty="0"/>
          </a:p>
        </p:txBody>
      </p:sp>
      <p:sp>
        <p:nvSpPr>
          <p:cNvPr id="18" name="Text 16"/>
          <p:cNvSpPr txBox="1"/>
          <p:nvPr/>
        </p:nvSpPr>
        <p:spPr>
          <a:xfrm>
            <a:off x="457200" y="3200400"/>
            <a:ext cx="4572000" cy="320040"/>
          </a:xfrm>
          <a:prstGeom prst="rect">
            <a:avLst/>
          </a:prstGeom>
          <a:noFill/>
          <a:ln/>
        </p:spPr>
        <p:txBody>
          <a:bodyPr wrap="square" lIns="0" tIns="0" rIns="0" bIns="0" rtlCol="0" anchor="ctr"/>
          <a:lstStyle/>
          <a:p>
            <a:pPr marL="0" indent="0">
              <a:buNone/>
              <a:defRPr>
                <a:solidFill/>
              </a:defRPr>
            </a:pPr>
            <a:r>
              <a:rPr lang="en-US" sz="1450" b="1" dirty="0">
                <a:solidFill>
                  <a:srgbClr val="0B1F3A"/>
                </a:solidFill>
                <a:latin typeface="Cambria" pitchFamily="34" charset="0"/>
                <a:ea typeface="Cambria" pitchFamily="34" charset="-122"/>
                <a:cs typeface="Cambria" pitchFamily="34" charset="-120"/>
              </a:rPr>
              <a:t>Dataset Columns</a:t>
            </a:r>
            <a:endParaRPr lang="en-US" sz="1450" dirty="0"/>
          </a:p>
        </p:txBody>
      </p:sp>
      <p:sp>
        <p:nvSpPr>
          <p:cNvPr id="19" name="Shape 17"/>
          <p:cNvSpPr/>
          <p:nvPr/>
        </p:nvSpPr>
        <p:spPr>
          <a:xfrm>
            <a:off x="457200" y="3611880"/>
            <a:ext cx="5532120" cy="384048"/>
          </a:xfrm>
          <a:prstGeom prst="rect">
            <a:avLst/>
          </a:prstGeom>
          <a:solidFill>
            <a:srgbClr val="EEF2F8"/>
          </a:solidFill>
          <a:ln/>
        </p:spPr>
        <p:txBody>
          <a:bodyPr/>
          <a:lstStyle/>
          <a:p>
            <a:pPr>
              <a:defRPr>
                <a:solidFill/>
              </a:defRPr>
            </a:pPr>
            <a:endParaRPr/>
          </a:p>
        </p:txBody>
      </p:sp>
      <p:sp>
        <p:nvSpPr>
          <p:cNvPr id="20" name="Text 18"/>
          <p:cNvSpPr txBox="1"/>
          <p:nvPr/>
        </p:nvSpPr>
        <p:spPr>
          <a:xfrm>
            <a:off x="621792" y="3611880"/>
            <a:ext cx="1737360" cy="384048"/>
          </a:xfrm>
          <a:prstGeom prst="rect">
            <a:avLst/>
          </a:prstGeom>
          <a:noFill/>
          <a:ln/>
        </p:spPr>
        <p:txBody>
          <a:bodyPr wrap="square" lIns="0" tIns="0" rIns="0" bIns="0" rtlCol="0" anchor="ctr"/>
          <a:lstStyle/>
          <a:p>
            <a:pPr marL="0" indent="0">
              <a:buNone/>
              <a:defRPr>
                <a:solidFill/>
              </a:defRPr>
            </a:pPr>
            <a:r>
              <a:rPr lang="en-US" sz="1050" b="1" dirty="0">
                <a:solidFill>
                  <a:srgbClr val="0B1F3A"/>
                </a:solidFill>
                <a:latin typeface="Calibri" pitchFamily="34" charset="0"/>
                <a:ea typeface="Calibri" pitchFamily="34" charset="-122"/>
                <a:cs typeface="Calibri" pitchFamily="34" charset="-120"/>
              </a:rPr>
              <a:t>Unnamed: 0</a:t>
            </a:r>
            <a:endParaRPr lang="en-US" sz="1050" dirty="0"/>
          </a:p>
        </p:txBody>
      </p:sp>
      <p:sp>
        <p:nvSpPr>
          <p:cNvPr id="21" name="Text 19"/>
          <p:cNvSpPr txBox="1"/>
          <p:nvPr/>
        </p:nvSpPr>
        <p:spPr>
          <a:xfrm>
            <a:off x="2377440" y="3611880"/>
            <a:ext cx="3566160" cy="384048"/>
          </a:xfrm>
          <a:prstGeom prst="rect">
            <a:avLst/>
          </a:prstGeom>
          <a:noFill/>
          <a:ln/>
        </p:spPr>
        <p:txBody>
          <a:bodyPr wrap="square" lIns="0" tIns="0" rIns="0" bIns="0" rtlCol="0" anchor="ctr"/>
          <a:lstStyle/>
          <a:p>
            <a:pPr marL="0" indent="0">
              <a:buNone/>
              <a:defRPr>
                <a:solidFill/>
              </a:defRPr>
            </a:pPr>
            <a:r>
              <a:rPr lang="en-US" sz="1120" dirty="0">
                <a:solidFill>
                  <a:srgbClr val="000000"/>
                </a:solidFill>
                <a:latin typeface="Calibri" pitchFamily="34" charset="0"/>
                <a:ea typeface="Calibri" pitchFamily="34" charset="-122"/>
                <a:cs typeface="Calibri" pitchFamily="34" charset="-120"/>
              </a:rPr>
              <a:t>Record index / row identifier</a:t>
            </a:r>
            <a:endParaRPr lang="en-US" sz="970" dirty="0"/>
          </a:p>
        </p:txBody>
      </p:sp>
      <p:sp>
        <p:nvSpPr>
          <p:cNvPr id="22" name="Text 20"/>
          <p:cNvSpPr txBox="1"/>
          <p:nvPr/>
        </p:nvSpPr>
        <p:spPr>
          <a:xfrm>
            <a:off x="621792" y="3995928"/>
            <a:ext cx="1737360" cy="384048"/>
          </a:xfrm>
          <a:prstGeom prst="rect">
            <a:avLst/>
          </a:prstGeom>
          <a:noFill/>
          <a:ln/>
        </p:spPr>
        <p:txBody>
          <a:bodyPr wrap="square" lIns="0" tIns="0" rIns="0" bIns="0" rtlCol="0" anchor="ctr"/>
          <a:lstStyle/>
          <a:p>
            <a:pPr marL="0" indent="0">
              <a:buNone/>
              <a:defRPr>
                <a:solidFill/>
              </a:defRPr>
            </a:pPr>
            <a:r>
              <a:rPr lang="en-US" sz="1050" b="1" dirty="0">
                <a:solidFill>
                  <a:srgbClr val="0B1F3A"/>
                </a:solidFill>
                <a:latin typeface="Calibri" pitchFamily="34" charset="0"/>
                <a:ea typeface="Calibri" pitchFamily="34" charset="-122"/>
                <a:cs typeface="Calibri" pitchFamily="34" charset="-120"/>
              </a:rPr>
              <a:t>description</a:t>
            </a:r>
            <a:endParaRPr lang="en-US" sz="1050" dirty="0"/>
          </a:p>
        </p:txBody>
      </p:sp>
      <p:sp>
        <p:nvSpPr>
          <p:cNvPr id="23" name="Text 21"/>
          <p:cNvSpPr txBox="1"/>
          <p:nvPr/>
        </p:nvSpPr>
        <p:spPr>
          <a:xfrm>
            <a:off x="2377440" y="3995928"/>
            <a:ext cx="3566160" cy="384048"/>
          </a:xfrm>
          <a:prstGeom prst="rect">
            <a:avLst/>
          </a:prstGeom>
          <a:noFill/>
          <a:ln/>
        </p:spPr>
        <p:txBody>
          <a:bodyPr wrap="square" lIns="0" tIns="0" rIns="0" bIns="0" rtlCol="0" anchor="ctr"/>
          <a:lstStyle/>
          <a:p>
            <a:pPr marL="0" indent="0">
              <a:buNone/>
              <a:defRPr>
                <a:solidFill/>
              </a:defRPr>
            </a:pPr>
            <a:r>
              <a:rPr lang="en-US" sz="1120" dirty="0">
                <a:solidFill>
                  <a:srgbClr val="000000"/>
                </a:solidFill>
                <a:latin typeface="Calibri" pitchFamily="34" charset="0"/>
                <a:ea typeface="Calibri" pitchFamily="34" charset="-122"/>
                <a:cs typeface="Calibri" pitchFamily="34" charset="-120"/>
              </a:rPr>
              <a:t>Short one–two sentence clinical abstract</a:t>
            </a:r>
            <a:endParaRPr lang="en-US" sz="970" dirty="0"/>
          </a:p>
        </p:txBody>
      </p:sp>
      <p:sp>
        <p:nvSpPr>
          <p:cNvPr id="24" name="Shape 22"/>
          <p:cNvSpPr/>
          <p:nvPr/>
        </p:nvSpPr>
        <p:spPr>
          <a:xfrm>
            <a:off x="457200" y="4379976"/>
            <a:ext cx="5532120" cy="384048"/>
          </a:xfrm>
          <a:prstGeom prst="rect">
            <a:avLst/>
          </a:prstGeom>
          <a:solidFill>
            <a:srgbClr val="EEF2F8"/>
          </a:solidFill>
          <a:ln/>
        </p:spPr>
        <p:txBody>
          <a:bodyPr/>
          <a:lstStyle/>
          <a:p>
            <a:pPr>
              <a:defRPr>
                <a:solidFill/>
              </a:defRPr>
            </a:pPr>
            <a:endParaRPr/>
          </a:p>
        </p:txBody>
      </p:sp>
      <p:sp>
        <p:nvSpPr>
          <p:cNvPr id="25" name="Text 23"/>
          <p:cNvSpPr txBox="1"/>
          <p:nvPr/>
        </p:nvSpPr>
        <p:spPr>
          <a:xfrm>
            <a:off x="621792" y="4379976"/>
            <a:ext cx="1737360" cy="384048"/>
          </a:xfrm>
          <a:prstGeom prst="rect">
            <a:avLst/>
          </a:prstGeom>
          <a:noFill/>
          <a:ln/>
        </p:spPr>
        <p:txBody>
          <a:bodyPr wrap="square" lIns="0" tIns="0" rIns="0" bIns="0" rtlCol="0" anchor="ctr"/>
          <a:lstStyle/>
          <a:p>
            <a:pPr marL="0" indent="0">
              <a:buNone/>
              <a:defRPr>
                <a:solidFill/>
              </a:defRPr>
            </a:pPr>
            <a:r>
              <a:rPr lang="en-US" sz="1050" b="1" dirty="0">
                <a:solidFill>
                  <a:srgbClr val="0B1F3A"/>
                </a:solidFill>
                <a:latin typeface="Calibri" pitchFamily="34" charset="0"/>
                <a:ea typeface="Calibri" pitchFamily="34" charset="-122"/>
                <a:cs typeface="Calibri" pitchFamily="34" charset="-120"/>
              </a:rPr>
              <a:t>medical_specialty</a:t>
            </a:r>
            <a:endParaRPr lang="en-US" sz="1050" dirty="0"/>
          </a:p>
        </p:txBody>
      </p:sp>
      <p:sp>
        <p:nvSpPr>
          <p:cNvPr id="26" name="Text 24"/>
          <p:cNvSpPr txBox="1"/>
          <p:nvPr/>
        </p:nvSpPr>
        <p:spPr>
          <a:xfrm>
            <a:off x="2377440" y="4379976"/>
            <a:ext cx="3566160" cy="384048"/>
          </a:xfrm>
          <a:prstGeom prst="rect">
            <a:avLst/>
          </a:prstGeom>
          <a:noFill/>
          <a:ln/>
        </p:spPr>
        <p:txBody>
          <a:bodyPr wrap="square" lIns="0" tIns="0" rIns="0" bIns="0" rtlCol="0" anchor="ctr"/>
          <a:lstStyle/>
          <a:p>
            <a:pPr marL="0" indent="0">
              <a:buNone/>
              <a:defRPr>
                <a:solidFill/>
              </a:defRPr>
            </a:pPr>
            <a:r>
              <a:rPr lang="en-US" sz="1120" dirty="0">
                <a:solidFill>
                  <a:srgbClr val="000000"/>
                </a:solidFill>
                <a:latin typeface="Calibri" pitchFamily="34" charset="0"/>
                <a:ea typeface="Calibri" pitchFamily="34" charset="-122"/>
                <a:cs typeface="Calibri" pitchFamily="34" charset="-120"/>
              </a:rPr>
              <a:t>Target label — 40 specialty classes</a:t>
            </a:r>
            <a:endParaRPr lang="en-US" sz="970" dirty="0"/>
          </a:p>
        </p:txBody>
      </p:sp>
      <p:sp>
        <p:nvSpPr>
          <p:cNvPr id="27" name="Text 25"/>
          <p:cNvSpPr txBox="1"/>
          <p:nvPr/>
        </p:nvSpPr>
        <p:spPr>
          <a:xfrm>
            <a:off x="621792" y="4764024"/>
            <a:ext cx="1737360" cy="384048"/>
          </a:xfrm>
          <a:prstGeom prst="rect">
            <a:avLst/>
          </a:prstGeom>
          <a:noFill/>
          <a:ln/>
        </p:spPr>
        <p:txBody>
          <a:bodyPr wrap="square" lIns="0" tIns="0" rIns="0" bIns="0" rtlCol="0" anchor="ctr"/>
          <a:lstStyle/>
          <a:p>
            <a:pPr marL="0" indent="0">
              <a:buNone/>
              <a:defRPr>
                <a:solidFill/>
              </a:defRPr>
            </a:pPr>
            <a:r>
              <a:rPr lang="en-US" sz="1050" b="1" dirty="0">
                <a:solidFill>
                  <a:srgbClr val="0B1F3A"/>
                </a:solidFill>
                <a:latin typeface="Calibri" pitchFamily="34" charset="0"/>
                <a:ea typeface="Calibri" pitchFamily="34" charset="-122"/>
                <a:cs typeface="Calibri" pitchFamily="34" charset="-120"/>
              </a:rPr>
              <a:t>sample_name</a:t>
            </a:r>
            <a:endParaRPr lang="en-US" sz="1050" dirty="0"/>
          </a:p>
        </p:txBody>
      </p:sp>
      <p:sp>
        <p:nvSpPr>
          <p:cNvPr id="28" name="Text 26"/>
          <p:cNvSpPr txBox="1"/>
          <p:nvPr/>
        </p:nvSpPr>
        <p:spPr>
          <a:xfrm>
            <a:off x="2377440" y="4764024"/>
            <a:ext cx="3566160" cy="384048"/>
          </a:xfrm>
          <a:prstGeom prst="rect">
            <a:avLst/>
          </a:prstGeom>
          <a:noFill/>
          <a:ln/>
        </p:spPr>
        <p:txBody>
          <a:bodyPr wrap="square" lIns="0" tIns="0" rIns="0" bIns="0" rtlCol="0" anchor="ctr"/>
          <a:lstStyle/>
          <a:p>
            <a:pPr marL="0" indent="0">
              <a:buNone/>
              <a:defRPr>
                <a:solidFill/>
              </a:defRPr>
            </a:pPr>
            <a:r>
              <a:rPr lang="en-US" sz="1120" dirty="0">
                <a:solidFill>
                  <a:srgbClr val="000000"/>
                </a:solidFill>
                <a:latin typeface="Calibri" pitchFamily="34" charset="0"/>
                <a:ea typeface="Calibri" pitchFamily="34" charset="-122"/>
                <a:cs typeface="Calibri" pitchFamily="34" charset="-120"/>
              </a:rPr>
              <a:t>Dictation / report title</a:t>
            </a:r>
            <a:endParaRPr lang="en-US" sz="970" dirty="0"/>
          </a:p>
        </p:txBody>
      </p:sp>
      <p:sp>
        <p:nvSpPr>
          <p:cNvPr id="29" name="Shape 27"/>
          <p:cNvSpPr/>
          <p:nvPr/>
        </p:nvSpPr>
        <p:spPr>
          <a:xfrm>
            <a:off x="457200" y="5148072"/>
            <a:ext cx="5532120" cy="384048"/>
          </a:xfrm>
          <a:prstGeom prst="rect">
            <a:avLst/>
          </a:prstGeom>
          <a:solidFill>
            <a:srgbClr val="EEF2F8"/>
          </a:solidFill>
          <a:ln/>
        </p:spPr>
        <p:txBody>
          <a:bodyPr/>
          <a:lstStyle/>
          <a:p>
            <a:pPr>
              <a:defRPr>
                <a:solidFill/>
              </a:defRPr>
            </a:pPr>
            <a:endParaRPr/>
          </a:p>
        </p:txBody>
      </p:sp>
      <p:sp>
        <p:nvSpPr>
          <p:cNvPr id="30" name="Text 28"/>
          <p:cNvSpPr txBox="1"/>
          <p:nvPr/>
        </p:nvSpPr>
        <p:spPr>
          <a:xfrm>
            <a:off x="621792" y="5148072"/>
            <a:ext cx="1737360" cy="384048"/>
          </a:xfrm>
          <a:prstGeom prst="rect">
            <a:avLst/>
          </a:prstGeom>
          <a:noFill/>
          <a:ln/>
        </p:spPr>
        <p:txBody>
          <a:bodyPr wrap="square" lIns="0" tIns="0" rIns="0" bIns="0" rtlCol="0" anchor="ctr"/>
          <a:lstStyle/>
          <a:p>
            <a:pPr marL="0" indent="0">
              <a:buNone/>
              <a:defRPr>
                <a:solidFill/>
              </a:defRPr>
            </a:pPr>
            <a:r>
              <a:rPr lang="en-US" sz="1050" b="1" dirty="0">
                <a:solidFill>
                  <a:srgbClr val="0B1F3A"/>
                </a:solidFill>
                <a:latin typeface="Calibri" pitchFamily="34" charset="0"/>
                <a:ea typeface="Calibri" pitchFamily="34" charset="-122"/>
                <a:cs typeface="Calibri" pitchFamily="34" charset="-120"/>
              </a:rPr>
              <a:t>transcription</a:t>
            </a:r>
            <a:endParaRPr lang="en-US" sz="1050" dirty="0"/>
          </a:p>
        </p:txBody>
      </p:sp>
      <p:sp>
        <p:nvSpPr>
          <p:cNvPr id="31" name="Text 29"/>
          <p:cNvSpPr txBox="1"/>
          <p:nvPr/>
        </p:nvSpPr>
        <p:spPr>
          <a:xfrm>
            <a:off x="2377440" y="5148072"/>
            <a:ext cx="3566160" cy="384048"/>
          </a:xfrm>
          <a:prstGeom prst="rect">
            <a:avLst/>
          </a:prstGeom>
          <a:noFill/>
          <a:ln/>
        </p:spPr>
        <p:txBody>
          <a:bodyPr wrap="square" lIns="0" tIns="0" rIns="0" bIns="0" rtlCol="0" anchor="ctr"/>
          <a:lstStyle/>
          <a:p>
            <a:pPr marL="0" indent="0">
              <a:buNone/>
              <a:defRPr>
                <a:solidFill/>
              </a:defRPr>
            </a:pPr>
            <a:r>
              <a:rPr lang="en-US" sz="1120" dirty="0">
                <a:solidFill>
                  <a:srgbClr val="000000"/>
                </a:solidFill>
                <a:latin typeface="Calibri" pitchFamily="34" charset="0"/>
                <a:ea typeface="Calibri" pitchFamily="34" charset="-122"/>
                <a:cs typeface="Calibri" pitchFamily="34" charset="-120"/>
              </a:rPr>
              <a:t>Primary clinical narrative (input feature)</a:t>
            </a:r>
            <a:endParaRPr lang="en-US" sz="970" dirty="0"/>
          </a:p>
        </p:txBody>
      </p:sp>
      <p:sp>
        <p:nvSpPr>
          <p:cNvPr id="32" name="Text 30"/>
          <p:cNvSpPr txBox="1"/>
          <p:nvPr/>
        </p:nvSpPr>
        <p:spPr>
          <a:xfrm>
            <a:off x="621792" y="5532120"/>
            <a:ext cx="1737360" cy="384048"/>
          </a:xfrm>
          <a:prstGeom prst="rect">
            <a:avLst/>
          </a:prstGeom>
          <a:noFill/>
          <a:ln/>
        </p:spPr>
        <p:txBody>
          <a:bodyPr wrap="square" lIns="0" tIns="0" rIns="0" bIns="0" rtlCol="0" anchor="ctr"/>
          <a:lstStyle/>
          <a:p>
            <a:pPr marL="0" indent="0">
              <a:buNone/>
              <a:defRPr>
                <a:solidFill/>
              </a:defRPr>
            </a:pPr>
            <a:r>
              <a:rPr lang="en-US" sz="1050" b="1" dirty="0">
                <a:solidFill>
                  <a:srgbClr val="0B1F3A"/>
                </a:solidFill>
                <a:latin typeface="Calibri" pitchFamily="34" charset="0"/>
                <a:ea typeface="Calibri" pitchFamily="34" charset="-122"/>
                <a:cs typeface="Calibri" pitchFamily="34" charset="-120"/>
              </a:rPr>
              <a:t>keywords</a:t>
            </a:r>
            <a:endParaRPr lang="en-US" sz="1050" dirty="0"/>
          </a:p>
        </p:txBody>
      </p:sp>
      <p:sp>
        <p:nvSpPr>
          <p:cNvPr id="33" name="Text 31"/>
          <p:cNvSpPr txBox="1"/>
          <p:nvPr/>
        </p:nvSpPr>
        <p:spPr>
          <a:xfrm>
            <a:off x="2377440" y="5532120"/>
            <a:ext cx="3566160" cy="384048"/>
          </a:xfrm>
          <a:prstGeom prst="rect">
            <a:avLst/>
          </a:prstGeom>
          <a:noFill/>
          <a:ln/>
        </p:spPr>
        <p:txBody>
          <a:bodyPr wrap="square" lIns="0" tIns="0" rIns="0" bIns="0" rtlCol="0" anchor="ctr"/>
          <a:lstStyle/>
          <a:p>
            <a:pPr marL="0" indent="0">
              <a:buNone/>
              <a:defRPr>
                <a:solidFill/>
              </a:defRPr>
            </a:pPr>
            <a:r>
              <a:rPr lang="en-US" sz="1120" dirty="0">
                <a:solidFill>
                  <a:srgbClr val="000000"/>
                </a:solidFill>
                <a:latin typeface="Calibri" pitchFamily="34" charset="0"/>
                <a:ea typeface="Calibri" pitchFamily="34" charset="-122"/>
                <a:cs typeface="Calibri" pitchFamily="34" charset="-120"/>
              </a:rPr>
              <a:t>Comma-delimited extracted clinical terms</a:t>
            </a:r>
            <a:endParaRPr lang="en-US" sz="970" dirty="0"/>
          </a:p>
        </p:txBody>
      </p:sp>
      <p:sp>
        <p:nvSpPr>
          <p:cNvPr id="34" name="Shape 32"/>
          <p:cNvSpPr/>
          <p:nvPr/>
        </p:nvSpPr>
        <p:spPr>
          <a:xfrm>
            <a:off x="6355080" y="3200400"/>
            <a:ext cx="5376672" cy="1042416"/>
          </a:xfrm>
          <a:prstGeom prst="roundRect">
            <a:avLst>
              <a:gd name="adj" fmla="val 7895"/>
            </a:avLst>
          </a:prstGeom>
          <a:solidFill>
            <a:srgbClr val="EAF6F5"/>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35" name="Shape 33"/>
          <p:cNvSpPr/>
          <p:nvPr/>
        </p:nvSpPr>
        <p:spPr>
          <a:xfrm>
            <a:off x="6675120" y="3493008"/>
            <a:ext cx="457200" cy="457200"/>
          </a:xfrm>
          <a:prstGeom prst="ellipse">
            <a:avLst/>
          </a:prstGeom>
          <a:solidFill>
            <a:srgbClr val="0E7C86"/>
          </a:solidFill>
          <a:ln/>
        </p:spPr>
        <p:txBody>
          <a:bodyPr/>
          <a:lstStyle/>
          <a:p>
            <a:pPr>
              <a:defRPr>
                <a:solidFill/>
              </a:defRPr>
            </a:pPr>
            <a:endParaRPr/>
          </a:p>
        </p:txBody>
      </p:sp>
      <p:sp>
        <p:nvSpPr>
          <p:cNvPr id="36" name="Text 34"/>
          <p:cNvSpPr txBox="1"/>
          <p:nvPr/>
        </p:nvSpPr>
        <p:spPr>
          <a:xfrm>
            <a:off x="6675120" y="3493008"/>
            <a:ext cx="457200" cy="457200"/>
          </a:xfrm>
          <a:prstGeom prst="rect">
            <a:avLst/>
          </a:prstGeom>
          <a:noFill/>
          <a:ln/>
        </p:spPr>
        <p:txBody>
          <a:bodyPr wrap="square" lIns="0" tIns="0" rIns="0" bIns="0" rtlCol="0" anchor="ctr"/>
          <a:lstStyle/>
          <a:p>
            <a:pPr marL="0" indent="0" algn="ctr">
              <a:buNone/>
              <a:defRPr>
                <a:solidFill/>
              </a:defRPr>
            </a:pPr>
            <a:r>
              <a:rPr lang="en-US" sz="1000" b="1" dirty="0">
                <a:solidFill>
                  <a:srgbClr val="FFFFFF"/>
                </a:solidFill>
                <a:latin typeface="Calibri" pitchFamily="34" charset="0"/>
                <a:ea typeface="Calibri" pitchFamily="34" charset="-122"/>
                <a:cs typeface="Calibri" pitchFamily="34" charset="-120"/>
              </a:rPr>
              <a:t>IN</a:t>
            </a:r>
            <a:endParaRPr lang="en-US" sz="1000" dirty="0"/>
          </a:p>
        </p:txBody>
      </p:sp>
      <p:sp>
        <p:nvSpPr>
          <p:cNvPr id="37" name="Text 35"/>
          <p:cNvSpPr txBox="1"/>
          <p:nvPr/>
        </p:nvSpPr>
        <p:spPr>
          <a:xfrm>
            <a:off x="7269480" y="3346704"/>
            <a:ext cx="4297680" cy="274320"/>
          </a:xfrm>
          <a:prstGeom prst="rect">
            <a:avLst/>
          </a:prstGeom>
          <a:noFill/>
          <a:ln/>
        </p:spPr>
        <p:txBody>
          <a:bodyPr wrap="square" lIns="0" tIns="0" rIns="0" bIns="0" rtlCol="0" anchor="ctr"/>
          <a:lstStyle/>
          <a:p>
            <a:pPr marL="0" indent="0">
              <a:buNone/>
              <a:defRPr>
                <a:solidFill/>
              </a:defRPr>
            </a:pPr>
            <a:r>
              <a:rPr lang="en-US" sz="1100" b="1" dirty="0">
                <a:solidFill>
                  <a:srgbClr val="0B1F3A"/>
                </a:solidFill>
                <a:latin typeface="Calibri" pitchFamily="34" charset="0"/>
                <a:ea typeface="Calibri" pitchFamily="34" charset="-122"/>
                <a:cs typeface="Calibri" pitchFamily="34" charset="-120"/>
              </a:rPr>
              <a:t>Input Variable</a:t>
            </a:r>
            <a:endParaRPr lang="en-US" sz="1100" dirty="0"/>
          </a:p>
        </p:txBody>
      </p:sp>
      <p:sp>
        <p:nvSpPr>
          <p:cNvPr id="38" name="Text 36"/>
          <p:cNvSpPr txBox="1"/>
          <p:nvPr/>
        </p:nvSpPr>
        <p:spPr>
          <a:xfrm>
            <a:off x="7269480" y="3611880"/>
            <a:ext cx="4297680" cy="457200"/>
          </a:xfrm>
          <a:prstGeom prst="rect">
            <a:avLst/>
          </a:prstGeom>
          <a:noFill/>
          <a:ln/>
        </p:spPr>
        <p:txBody>
          <a:bodyPr wrap="square" lIns="0" tIns="0" rIns="0" bIns="0" rtlCol="0" anchor="ctr"/>
          <a:lstStyle/>
          <a:p>
            <a:pPr marL="0" indent="0">
              <a:buNone/>
              <a:defRPr>
                <a:solidFill/>
              </a:defRPr>
            </a:pPr>
            <a:r>
              <a:rPr lang="en-US" sz="1200" dirty="0">
                <a:solidFill>
                  <a:srgbClr val="000000"/>
                </a:solidFill>
                <a:latin typeface="Calibri" pitchFamily="34" charset="0"/>
                <a:ea typeface="Calibri" pitchFamily="34" charset="-122"/>
                <a:cs typeface="Calibri" pitchFamily="34" charset="-120"/>
              </a:rPr>
              <a:t>transcription — the primary clinical narrative text</a:t>
            </a:r>
            <a:endParaRPr lang="en-US" sz="1050" dirty="0"/>
          </a:p>
        </p:txBody>
      </p:sp>
      <p:sp>
        <p:nvSpPr>
          <p:cNvPr id="39" name="Shape 37"/>
          <p:cNvSpPr/>
          <p:nvPr/>
        </p:nvSpPr>
        <p:spPr>
          <a:xfrm>
            <a:off x="6355080" y="4370832"/>
            <a:ext cx="5376672" cy="1042416"/>
          </a:xfrm>
          <a:prstGeom prst="roundRect">
            <a:avLst>
              <a:gd name="adj" fmla="val 7895"/>
            </a:avLst>
          </a:prstGeom>
          <a:solidFill>
            <a:srgbClr val="F2EEFA"/>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40" name="Shape 38"/>
          <p:cNvSpPr/>
          <p:nvPr/>
        </p:nvSpPr>
        <p:spPr>
          <a:xfrm>
            <a:off x="6675120" y="4663440"/>
            <a:ext cx="457200" cy="457200"/>
          </a:xfrm>
          <a:prstGeom prst="ellipse">
            <a:avLst/>
          </a:prstGeom>
          <a:solidFill>
            <a:srgbClr val="6C4AB6"/>
          </a:solidFill>
          <a:ln/>
        </p:spPr>
        <p:txBody>
          <a:bodyPr/>
          <a:lstStyle/>
          <a:p>
            <a:pPr>
              <a:defRPr>
                <a:solidFill/>
              </a:defRPr>
            </a:pPr>
            <a:endParaRPr/>
          </a:p>
        </p:txBody>
      </p:sp>
      <p:sp>
        <p:nvSpPr>
          <p:cNvPr id="41" name="Text 39"/>
          <p:cNvSpPr txBox="1"/>
          <p:nvPr/>
        </p:nvSpPr>
        <p:spPr>
          <a:xfrm>
            <a:off x="6675120" y="4663440"/>
            <a:ext cx="457200" cy="457200"/>
          </a:xfrm>
          <a:prstGeom prst="rect">
            <a:avLst/>
          </a:prstGeom>
          <a:noFill/>
          <a:ln/>
        </p:spPr>
        <p:txBody>
          <a:bodyPr wrap="square" lIns="0" tIns="0" rIns="0" bIns="0" rtlCol="0" anchor="ctr"/>
          <a:lstStyle/>
          <a:p>
            <a:pPr marL="0" indent="0" algn="ctr">
              <a:buNone/>
              <a:defRPr>
                <a:solidFill/>
              </a:defRPr>
            </a:pPr>
            <a:r>
              <a:rPr lang="en-US" sz="1300" b="1" dirty="0">
                <a:solidFill>
                  <a:srgbClr val="FFFFFF"/>
                </a:solidFill>
                <a:latin typeface="Calibri" pitchFamily="34" charset="0"/>
                <a:ea typeface="Calibri" pitchFamily="34" charset="-122"/>
                <a:cs typeface="Calibri" pitchFamily="34" charset="-120"/>
              </a:rPr>
              <a:t>Y</a:t>
            </a:r>
            <a:endParaRPr lang="en-US" sz="1300" dirty="0"/>
          </a:p>
        </p:txBody>
      </p:sp>
      <p:sp>
        <p:nvSpPr>
          <p:cNvPr id="42" name="Text 40"/>
          <p:cNvSpPr txBox="1"/>
          <p:nvPr/>
        </p:nvSpPr>
        <p:spPr>
          <a:xfrm>
            <a:off x="7269480" y="4517136"/>
            <a:ext cx="4297680" cy="274320"/>
          </a:xfrm>
          <a:prstGeom prst="rect">
            <a:avLst/>
          </a:prstGeom>
          <a:noFill/>
          <a:ln/>
        </p:spPr>
        <p:txBody>
          <a:bodyPr wrap="square" lIns="0" tIns="0" rIns="0" bIns="0" rtlCol="0" anchor="ctr"/>
          <a:lstStyle/>
          <a:p>
            <a:pPr marL="0" indent="0">
              <a:buNone/>
              <a:defRPr>
                <a:solidFill/>
              </a:defRPr>
            </a:pPr>
            <a:r>
              <a:rPr lang="en-US" sz="1100" b="1" dirty="0">
                <a:solidFill>
                  <a:srgbClr val="0B1F3A"/>
                </a:solidFill>
                <a:latin typeface="Calibri" pitchFamily="34" charset="0"/>
                <a:ea typeface="Calibri" pitchFamily="34" charset="-122"/>
                <a:cs typeface="Calibri" pitchFamily="34" charset="-120"/>
              </a:rPr>
              <a:t>Target Variable</a:t>
            </a:r>
            <a:endParaRPr lang="en-US" sz="1100" dirty="0"/>
          </a:p>
        </p:txBody>
      </p:sp>
      <p:sp>
        <p:nvSpPr>
          <p:cNvPr id="43" name="Text 41"/>
          <p:cNvSpPr txBox="1"/>
          <p:nvPr/>
        </p:nvSpPr>
        <p:spPr>
          <a:xfrm>
            <a:off x="7269480" y="4782312"/>
            <a:ext cx="4297680" cy="457200"/>
          </a:xfrm>
          <a:prstGeom prst="rect">
            <a:avLst/>
          </a:prstGeom>
          <a:noFill/>
          <a:ln/>
        </p:spPr>
        <p:txBody>
          <a:bodyPr wrap="square" lIns="0" tIns="0" rIns="0" bIns="0" rtlCol="0" anchor="ctr"/>
          <a:lstStyle/>
          <a:p>
            <a:pPr marL="0" indent="0">
              <a:buNone/>
              <a:defRPr>
                <a:solidFill/>
              </a:defRPr>
            </a:pPr>
            <a:r>
              <a:rPr lang="en-US" sz="1200" dirty="0">
                <a:solidFill>
                  <a:srgbClr val="000000"/>
                </a:solidFill>
                <a:latin typeface="Calibri" pitchFamily="34" charset="0"/>
                <a:ea typeface="Calibri" pitchFamily="34" charset="-122"/>
                <a:cs typeface="Calibri" pitchFamily="34" charset="-120"/>
              </a:rPr>
              <a:t>medical_specialty — 40 unique clinical specialty classes</a:t>
            </a:r>
            <a:endParaRPr lang="en-US" sz="1050" dirty="0"/>
          </a:p>
        </p:txBody>
      </p:sp>
      <p:sp>
        <p:nvSpPr>
          <p:cNvPr id="44" name="Shape 42"/>
          <p:cNvSpPr/>
          <p:nvPr/>
        </p:nvSpPr>
        <p:spPr>
          <a:xfrm>
            <a:off x="6355080" y="5559552"/>
            <a:ext cx="5376672" cy="777240"/>
          </a:xfrm>
          <a:prstGeom prst="roundRect">
            <a:avLst>
              <a:gd name="adj" fmla="val 10588"/>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45" name="Text 43"/>
          <p:cNvSpPr txBox="1"/>
          <p:nvPr/>
        </p:nvSpPr>
        <p:spPr>
          <a:xfrm>
            <a:off x="6583680" y="5559552"/>
            <a:ext cx="4937760" cy="777240"/>
          </a:xfrm>
          <a:prstGeom prst="rect">
            <a:avLst/>
          </a:prstGeom>
          <a:noFill/>
          <a:ln/>
        </p:spPr>
        <p:txBody>
          <a:bodyPr wrap="square" lIns="0" tIns="0" rIns="0" bIns="0" rtlCol="0" anchor="ctr"/>
          <a:lstStyle/>
          <a:p>
            <a:pPr marL="0" indent="0">
              <a:lnSpc>
                <a:spcPct val="110000"/>
              </a:lnSpc>
              <a:buNone/>
              <a:defRPr>
                <a:solidFill/>
              </a:defRPr>
            </a:pPr>
            <a:r>
              <a:rPr lang="en-US" sz="1150" i="1" dirty="0">
                <a:solidFill>
                  <a:srgbClr val="000000"/>
                </a:solidFill>
                <a:latin typeface="Calibri" pitchFamily="34" charset="0"/>
                <a:ea typeface="Calibri" pitchFamily="34" charset="-122"/>
                <a:cs typeface="Calibri" pitchFamily="34" charset="-120"/>
              </a:rPr>
              <a:t>Sparsity: transcription is 99.3% complete (33 missing); medical_specialty has zero missing values.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lstStyle/>
          <a:p>
            <a:pPr>
              <a:defRPr>
                <a:solidFill/>
              </a:defRPr>
            </a:pPr>
            <a:endParaR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marL="0" indent="0" algn="ctr">
              <a:buNone/>
              <a:defRPr>
                <a:solidFill/>
              </a:defRPr>
            </a:pPr>
            <a:r>
              <a:rPr lang="en-US" sz="1050" b="1" kern="0" spc="10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marL="0" indent="0" algn="l">
              <a:buNone/>
              <a:defRPr>
                <a:solidFill/>
              </a:defRPr>
            </a:pPr>
            <a:r>
              <a:rPr lang="en-US" sz="2700" b="1" dirty="0">
                <a:solidFill>
                  <a:srgbClr val="0B1F3A"/>
                </a:solidFill>
                <a:latin typeface="Cambria" pitchFamily="34" charset="0"/>
                <a:ea typeface="Cambria" pitchFamily="34" charset="-122"/>
                <a:cs typeface="Cambria" pitchFamily="34" charset="-120"/>
              </a:rPr>
              <a:t>Statistical Analysis of the Dataset</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marL="0" indent="0" algn="l">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marL="0" indent="0" algn="ctr">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6 of 19</a:t>
            </a:r>
          </a:p>
        </p:txBody>
      </p:sp>
      <p:sp>
        <p:nvSpPr>
          <p:cNvPr id="8" name="Text 6"/>
          <p:cNvSpPr txBox="1"/>
          <p:nvPr/>
        </p:nvSpPr>
        <p:spPr>
          <a:xfrm>
            <a:off x="457200" y="1481328"/>
            <a:ext cx="3291840" cy="292608"/>
          </a:xfrm>
          <a:prstGeom prst="rect">
            <a:avLst/>
          </a:prstGeom>
          <a:noFill/>
          <a:ln/>
        </p:spPr>
        <p:txBody>
          <a:bodyPr wrap="square" lIns="0" tIns="0" rIns="0" bIns="0" rtlCol="0" anchor="ctr"/>
          <a:lstStyle/>
          <a:p>
            <a:pPr marL="0" indent="0">
              <a:buNone/>
              <a:defRPr>
                <a:solidFill/>
              </a:defRPr>
            </a:pPr>
            <a:r>
              <a:rPr lang="en-US" sz="1350" b="1" dirty="0">
                <a:solidFill>
                  <a:srgbClr val="0B1F3A"/>
                </a:solidFill>
                <a:latin typeface="Cambria" pitchFamily="34" charset="0"/>
                <a:ea typeface="Cambria" pitchFamily="34" charset="-122"/>
                <a:cs typeface="Cambria" pitchFamily="34" charset="-120"/>
              </a:rPr>
              <a:t>Libraries Used</a:t>
            </a:r>
            <a:endParaRPr lang="en-US" sz="1350" dirty="0"/>
          </a:p>
        </p:txBody>
      </p:sp>
      <p:sp>
        <p:nvSpPr>
          <p:cNvPr id="9" name="Shape 7"/>
          <p:cNvSpPr/>
          <p:nvPr/>
        </p:nvSpPr>
        <p:spPr>
          <a:xfrm>
            <a:off x="457200" y="1828800"/>
            <a:ext cx="1261872" cy="365760"/>
          </a:xfrm>
          <a:prstGeom prst="roundRect">
            <a:avLst>
              <a:gd name="adj" fmla="val 50000"/>
            </a:avLst>
          </a:prstGeom>
          <a:solidFill>
            <a:srgbClr val="0B1F3A"/>
          </a:solidFill>
          <a:ln/>
        </p:spPr>
        <p:txBody>
          <a:bodyPr/>
          <a:lstStyle/>
          <a:p>
            <a:pPr>
              <a:defRPr>
                <a:solidFill/>
              </a:defRPr>
            </a:pPr>
            <a:endParaRPr/>
          </a:p>
        </p:txBody>
      </p:sp>
      <p:sp>
        <p:nvSpPr>
          <p:cNvPr id="10" name="Text 8"/>
          <p:cNvSpPr txBox="1"/>
          <p:nvPr/>
        </p:nvSpPr>
        <p:spPr>
          <a:xfrm>
            <a:off x="457200" y="1828800"/>
            <a:ext cx="1261872" cy="365760"/>
          </a:xfrm>
          <a:prstGeom prst="rect">
            <a:avLst/>
          </a:prstGeom>
          <a:noFill/>
          <a:ln/>
        </p:spPr>
        <p:txBody>
          <a:bodyPr wrap="square" lIns="0" tIns="0" rIns="0" bIns="0" rtlCol="0" anchor="ctr"/>
          <a:lstStyle/>
          <a:p>
            <a:pPr marL="0" indent="0" algn="ctr">
              <a:buNone/>
              <a:defRPr>
                <a:solidFill/>
              </a:defRPr>
            </a:pPr>
            <a:r>
              <a:rPr lang="en-US" sz="1100" dirty="0">
                <a:solidFill>
                  <a:srgbClr val="FFFFFF"/>
                </a:solidFill>
                <a:latin typeface="Consolas" pitchFamily="34" charset="0"/>
                <a:ea typeface="Consolas" pitchFamily="34" charset="-122"/>
                <a:cs typeface="Consolas" pitchFamily="34" charset="-120"/>
              </a:rPr>
              <a:t>pandas</a:t>
            </a:r>
            <a:endParaRPr lang="en-US" sz="1100" dirty="0"/>
          </a:p>
        </p:txBody>
      </p:sp>
      <p:sp>
        <p:nvSpPr>
          <p:cNvPr id="11" name="Shape 9"/>
          <p:cNvSpPr/>
          <p:nvPr/>
        </p:nvSpPr>
        <p:spPr>
          <a:xfrm>
            <a:off x="1856232" y="1828800"/>
            <a:ext cx="1188720" cy="365760"/>
          </a:xfrm>
          <a:prstGeom prst="roundRect">
            <a:avLst>
              <a:gd name="adj" fmla="val 50000"/>
            </a:avLst>
          </a:prstGeom>
          <a:solidFill>
            <a:srgbClr val="0B1F3A"/>
          </a:solidFill>
          <a:ln/>
        </p:spPr>
        <p:txBody>
          <a:bodyPr/>
          <a:lstStyle/>
          <a:p>
            <a:pPr>
              <a:defRPr>
                <a:solidFill/>
              </a:defRPr>
            </a:pPr>
            <a:endParaRPr/>
          </a:p>
        </p:txBody>
      </p:sp>
      <p:sp>
        <p:nvSpPr>
          <p:cNvPr id="12" name="Text 10"/>
          <p:cNvSpPr txBox="1"/>
          <p:nvPr/>
        </p:nvSpPr>
        <p:spPr>
          <a:xfrm>
            <a:off x="1856232" y="1828800"/>
            <a:ext cx="1188720" cy="365760"/>
          </a:xfrm>
          <a:prstGeom prst="rect">
            <a:avLst/>
          </a:prstGeom>
          <a:noFill/>
          <a:ln/>
        </p:spPr>
        <p:txBody>
          <a:bodyPr wrap="square" lIns="0" tIns="0" rIns="0" bIns="0" rtlCol="0" anchor="ctr"/>
          <a:lstStyle/>
          <a:p>
            <a:pPr marL="0" indent="0" algn="ctr">
              <a:buNone/>
              <a:defRPr>
                <a:solidFill/>
              </a:defRPr>
            </a:pPr>
            <a:r>
              <a:rPr lang="en-US" sz="1100" dirty="0">
                <a:solidFill>
                  <a:srgbClr val="FFFFFF"/>
                </a:solidFill>
                <a:latin typeface="Consolas" pitchFamily="34" charset="0"/>
                <a:ea typeface="Consolas" pitchFamily="34" charset="-122"/>
                <a:cs typeface="Consolas" pitchFamily="34" charset="-120"/>
              </a:rPr>
              <a:t>numpy</a:t>
            </a:r>
            <a:endParaRPr lang="en-US" sz="1100" dirty="0"/>
          </a:p>
        </p:txBody>
      </p:sp>
      <p:sp>
        <p:nvSpPr>
          <p:cNvPr id="13" name="Text 11"/>
          <p:cNvSpPr txBox="1"/>
          <p:nvPr/>
        </p:nvSpPr>
        <p:spPr>
          <a:xfrm>
            <a:off x="457200" y="2395728"/>
            <a:ext cx="3291840" cy="274320"/>
          </a:xfrm>
          <a:prstGeom prst="rect">
            <a:avLst/>
          </a:prstGeom>
          <a:noFill/>
          <a:ln/>
        </p:spPr>
        <p:txBody>
          <a:bodyPr wrap="square" lIns="0" tIns="0" rIns="0" bIns="0" rtlCol="0" anchor="ctr"/>
          <a:lstStyle/>
          <a:p>
            <a:pPr marL="0" indent="0">
              <a:buNone/>
              <a:defRPr>
                <a:solidFill/>
              </a:defRPr>
            </a:pPr>
            <a:r>
              <a:rPr lang="en-US" sz="1350" b="1" dirty="0">
                <a:solidFill>
                  <a:srgbClr val="0B1F3A"/>
                </a:solidFill>
                <a:latin typeface="Cambria" pitchFamily="34" charset="0"/>
                <a:ea typeface="Cambria" pitchFamily="34" charset="-122"/>
                <a:cs typeface="Cambria" pitchFamily="34" charset="-120"/>
              </a:rPr>
              <a:t>Exploration Functions Applied</a:t>
            </a:r>
            <a:endParaRPr lang="en-US" sz="1350" dirty="0"/>
          </a:p>
        </p:txBody>
      </p:sp>
      <p:sp>
        <p:nvSpPr>
          <p:cNvPr id="14" name="Shape 12"/>
          <p:cNvSpPr/>
          <p:nvPr/>
        </p:nvSpPr>
        <p:spPr>
          <a:xfrm>
            <a:off x="457200" y="2743200"/>
            <a:ext cx="1600200" cy="365760"/>
          </a:xfrm>
          <a:prstGeom prst="roundRect">
            <a:avLst>
              <a:gd name="adj" fmla="val 20000"/>
            </a:avLst>
          </a:prstGeom>
          <a:solidFill>
            <a:srgbClr val="EEF2F8"/>
          </a:solidFill>
          <a:ln w="12700">
            <a:solidFill>
              <a:srgbClr val="0E7C86"/>
            </a:solidFill>
            <a:prstDash val="solid"/>
          </a:ln>
        </p:spPr>
        <p:txBody>
          <a:bodyPr/>
          <a:lstStyle/>
          <a:p>
            <a:pPr>
              <a:defRPr>
                <a:solidFill/>
              </a:defRPr>
            </a:pPr>
            <a:endParaRPr/>
          </a:p>
        </p:txBody>
      </p:sp>
      <p:sp>
        <p:nvSpPr>
          <p:cNvPr id="15" name="Text 13"/>
          <p:cNvSpPr txBox="1"/>
          <p:nvPr/>
        </p:nvSpPr>
        <p:spPr>
          <a:xfrm>
            <a:off x="457200" y="2743200"/>
            <a:ext cx="1600200" cy="365760"/>
          </a:xfrm>
          <a:prstGeom prst="rect">
            <a:avLst/>
          </a:prstGeom>
          <a:noFill/>
          <a:ln/>
        </p:spPr>
        <p:txBody>
          <a:bodyPr wrap="square" lIns="0" tIns="0" rIns="0" bIns="0" rtlCol="0" anchor="ctr"/>
          <a:lstStyle/>
          <a:p>
            <a:pPr marL="0" indent="0" algn="ctr">
              <a:buNone/>
              <a:defRPr>
                <a:solidFill/>
              </a:defRPr>
            </a:pPr>
            <a:r>
              <a:rPr lang="en-US" sz="1050" dirty="0">
                <a:solidFill>
                  <a:srgbClr val="0B1F3A"/>
                </a:solidFill>
                <a:latin typeface="Consolas" pitchFamily="34" charset="0"/>
                <a:ea typeface="Consolas" pitchFamily="34" charset="-122"/>
                <a:cs typeface="Consolas" pitchFamily="34" charset="-120"/>
              </a:rPr>
              <a:t>shape</a:t>
            </a:r>
            <a:endParaRPr lang="en-US" sz="1050" dirty="0"/>
          </a:p>
        </p:txBody>
      </p:sp>
      <p:sp>
        <p:nvSpPr>
          <p:cNvPr id="16" name="Shape 14"/>
          <p:cNvSpPr/>
          <p:nvPr/>
        </p:nvSpPr>
        <p:spPr>
          <a:xfrm>
            <a:off x="2176272" y="2743200"/>
            <a:ext cx="1600200" cy="365760"/>
          </a:xfrm>
          <a:prstGeom prst="roundRect">
            <a:avLst>
              <a:gd name="adj" fmla="val 20000"/>
            </a:avLst>
          </a:prstGeom>
          <a:solidFill>
            <a:srgbClr val="EEF2F8"/>
          </a:solidFill>
          <a:ln w="12700">
            <a:solidFill>
              <a:srgbClr val="0E7C86"/>
            </a:solidFill>
            <a:prstDash val="solid"/>
          </a:ln>
        </p:spPr>
        <p:txBody>
          <a:bodyPr/>
          <a:lstStyle/>
          <a:p>
            <a:pPr>
              <a:defRPr>
                <a:solidFill/>
              </a:defRPr>
            </a:pPr>
            <a:endParaRPr/>
          </a:p>
        </p:txBody>
      </p:sp>
      <p:sp>
        <p:nvSpPr>
          <p:cNvPr id="17" name="Text 15"/>
          <p:cNvSpPr txBox="1"/>
          <p:nvPr/>
        </p:nvSpPr>
        <p:spPr>
          <a:xfrm>
            <a:off x="2176272" y="2743200"/>
            <a:ext cx="1600200" cy="365760"/>
          </a:xfrm>
          <a:prstGeom prst="rect">
            <a:avLst/>
          </a:prstGeom>
          <a:noFill/>
          <a:ln/>
        </p:spPr>
        <p:txBody>
          <a:bodyPr wrap="square" lIns="0" tIns="0" rIns="0" bIns="0" rtlCol="0" anchor="ctr"/>
          <a:lstStyle/>
          <a:p>
            <a:pPr marL="0" indent="0" algn="ctr">
              <a:buNone/>
              <a:defRPr>
                <a:solidFill/>
              </a:defRPr>
            </a:pPr>
            <a:r>
              <a:rPr lang="en-US" sz="1050" dirty="0">
                <a:solidFill>
                  <a:srgbClr val="0B1F3A"/>
                </a:solidFill>
                <a:latin typeface="Consolas" pitchFamily="34" charset="0"/>
                <a:ea typeface="Consolas" pitchFamily="34" charset="-122"/>
                <a:cs typeface="Consolas" pitchFamily="34" charset="-120"/>
              </a:rPr>
              <a:t>.info()</a:t>
            </a:r>
            <a:endParaRPr lang="en-US" sz="1050" dirty="0"/>
          </a:p>
        </p:txBody>
      </p:sp>
      <p:sp>
        <p:nvSpPr>
          <p:cNvPr id="18" name="Shape 16"/>
          <p:cNvSpPr/>
          <p:nvPr/>
        </p:nvSpPr>
        <p:spPr>
          <a:xfrm>
            <a:off x="3895344" y="2743200"/>
            <a:ext cx="1600200" cy="365760"/>
          </a:xfrm>
          <a:prstGeom prst="roundRect">
            <a:avLst>
              <a:gd name="adj" fmla="val 20000"/>
            </a:avLst>
          </a:prstGeom>
          <a:solidFill>
            <a:srgbClr val="EEF2F8"/>
          </a:solidFill>
          <a:ln w="12700">
            <a:solidFill>
              <a:srgbClr val="0E7C86"/>
            </a:solidFill>
            <a:prstDash val="solid"/>
          </a:ln>
        </p:spPr>
        <p:txBody>
          <a:bodyPr/>
          <a:lstStyle/>
          <a:p>
            <a:pPr>
              <a:defRPr>
                <a:solidFill/>
              </a:defRPr>
            </a:pPr>
            <a:endParaRPr/>
          </a:p>
        </p:txBody>
      </p:sp>
      <p:sp>
        <p:nvSpPr>
          <p:cNvPr id="19" name="Text 17"/>
          <p:cNvSpPr txBox="1"/>
          <p:nvPr/>
        </p:nvSpPr>
        <p:spPr>
          <a:xfrm>
            <a:off x="3895344" y="2743200"/>
            <a:ext cx="1600200" cy="365760"/>
          </a:xfrm>
          <a:prstGeom prst="rect">
            <a:avLst/>
          </a:prstGeom>
          <a:noFill/>
          <a:ln/>
        </p:spPr>
        <p:txBody>
          <a:bodyPr wrap="square" lIns="0" tIns="0" rIns="0" bIns="0" rtlCol="0" anchor="ctr"/>
          <a:lstStyle/>
          <a:p>
            <a:pPr marL="0" indent="0" algn="ctr">
              <a:buNone/>
              <a:defRPr>
                <a:solidFill/>
              </a:defRPr>
            </a:pPr>
            <a:r>
              <a:rPr lang="en-US" sz="1050" dirty="0">
                <a:solidFill>
                  <a:srgbClr val="0B1F3A"/>
                </a:solidFill>
                <a:latin typeface="Consolas" pitchFamily="34" charset="0"/>
                <a:ea typeface="Consolas" pitchFamily="34" charset="-122"/>
                <a:cs typeface="Consolas" pitchFamily="34" charset="-120"/>
              </a:rPr>
              <a:t>.dtypes</a:t>
            </a:r>
            <a:endParaRPr lang="en-US" sz="1050" dirty="0"/>
          </a:p>
        </p:txBody>
      </p:sp>
      <p:sp>
        <p:nvSpPr>
          <p:cNvPr id="20" name="Shape 18"/>
          <p:cNvSpPr/>
          <p:nvPr/>
        </p:nvSpPr>
        <p:spPr>
          <a:xfrm>
            <a:off x="457200" y="3163824"/>
            <a:ext cx="1600200" cy="365760"/>
          </a:xfrm>
          <a:prstGeom prst="roundRect">
            <a:avLst>
              <a:gd name="adj" fmla="val 20000"/>
            </a:avLst>
          </a:prstGeom>
          <a:solidFill>
            <a:srgbClr val="EEF2F8"/>
          </a:solidFill>
          <a:ln w="12700">
            <a:solidFill>
              <a:srgbClr val="0E7C86"/>
            </a:solidFill>
            <a:prstDash val="solid"/>
          </a:ln>
        </p:spPr>
        <p:txBody>
          <a:bodyPr/>
          <a:lstStyle/>
          <a:p>
            <a:pPr>
              <a:defRPr>
                <a:solidFill/>
              </a:defRPr>
            </a:pPr>
            <a:endParaRPr/>
          </a:p>
        </p:txBody>
      </p:sp>
      <p:sp>
        <p:nvSpPr>
          <p:cNvPr id="21" name="Text 19"/>
          <p:cNvSpPr txBox="1"/>
          <p:nvPr/>
        </p:nvSpPr>
        <p:spPr>
          <a:xfrm>
            <a:off x="457200" y="3163824"/>
            <a:ext cx="1600200" cy="365760"/>
          </a:xfrm>
          <a:prstGeom prst="rect">
            <a:avLst/>
          </a:prstGeom>
          <a:noFill/>
          <a:ln/>
        </p:spPr>
        <p:txBody>
          <a:bodyPr wrap="square" lIns="0" tIns="0" rIns="0" bIns="0" rtlCol="0" anchor="ctr"/>
          <a:lstStyle/>
          <a:p>
            <a:pPr marL="0" indent="0" algn="ctr">
              <a:buNone/>
              <a:defRPr>
                <a:solidFill/>
              </a:defRPr>
            </a:pPr>
            <a:r>
              <a:rPr lang="en-US" sz="1050" dirty="0">
                <a:solidFill>
                  <a:srgbClr val="0B1F3A"/>
                </a:solidFill>
                <a:latin typeface="Consolas" pitchFamily="34" charset="0"/>
                <a:ea typeface="Consolas" pitchFamily="34" charset="-122"/>
                <a:cs typeface="Consolas" pitchFamily="34" charset="-120"/>
              </a:rPr>
              <a:t>.describe()</a:t>
            </a:r>
            <a:endParaRPr lang="en-US" sz="1050" dirty="0"/>
          </a:p>
        </p:txBody>
      </p:sp>
      <p:sp>
        <p:nvSpPr>
          <p:cNvPr id="22" name="Shape 20"/>
          <p:cNvSpPr/>
          <p:nvPr/>
        </p:nvSpPr>
        <p:spPr>
          <a:xfrm>
            <a:off x="2176272" y="3163824"/>
            <a:ext cx="1600200" cy="365760"/>
          </a:xfrm>
          <a:prstGeom prst="roundRect">
            <a:avLst>
              <a:gd name="adj" fmla="val 20000"/>
            </a:avLst>
          </a:prstGeom>
          <a:solidFill>
            <a:srgbClr val="EEF2F8"/>
          </a:solidFill>
          <a:ln w="12700">
            <a:solidFill>
              <a:srgbClr val="0E7C86"/>
            </a:solidFill>
            <a:prstDash val="solid"/>
          </a:ln>
        </p:spPr>
        <p:txBody>
          <a:bodyPr/>
          <a:lstStyle/>
          <a:p>
            <a:pPr>
              <a:defRPr>
                <a:solidFill/>
              </a:defRPr>
            </a:pPr>
            <a:endParaRPr/>
          </a:p>
        </p:txBody>
      </p:sp>
      <p:sp>
        <p:nvSpPr>
          <p:cNvPr id="23" name="Text 21"/>
          <p:cNvSpPr txBox="1"/>
          <p:nvPr/>
        </p:nvSpPr>
        <p:spPr>
          <a:xfrm>
            <a:off x="2176272" y="3163824"/>
            <a:ext cx="1600200" cy="365760"/>
          </a:xfrm>
          <a:prstGeom prst="rect">
            <a:avLst/>
          </a:prstGeom>
          <a:noFill/>
          <a:ln/>
        </p:spPr>
        <p:txBody>
          <a:bodyPr wrap="square" lIns="0" tIns="0" rIns="0" bIns="0" rtlCol="0" anchor="ctr"/>
          <a:lstStyle/>
          <a:p>
            <a:pPr marL="0" indent="0" algn="ctr">
              <a:buNone/>
              <a:defRPr>
                <a:solidFill/>
              </a:defRPr>
            </a:pPr>
            <a:r>
              <a:rPr lang="en-US" sz="1050" dirty="0">
                <a:solidFill>
                  <a:srgbClr val="0B1F3A"/>
                </a:solidFill>
                <a:latin typeface="Consolas" pitchFamily="34" charset="0"/>
                <a:ea typeface="Consolas" pitchFamily="34" charset="-122"/>
                <a:cs typeface="Consolas" pitchFamily="34" charset="-120"/>
              </a:rPr>
              <a:t>.head()</a:t>
            </a:r>
            <a:endParaRPr lang="en-US" sz="1050" dirty="0"/>
          </a:p>
        </p:txBody>
      </p:sp>
      <p:sp>
        <p:nvSpPr>
          <p:cNvPr id="24" name="Shape 22"/>
          <p:cNvSpPr/>
          <p:nvPr/>
        </p:nvSpPr>
        <p:spPr>
          <a:xfrm>
            <a:off x="3895344" y="3163824"/>
            <a:ext cx="1600200" cy="365760"/>
          </a:xfrm>
          <a:prstGeom prst="roundRect">
            <a:avLst>
              <a:gd name="adj" fmla="val 20000"/>
            </a:avLst>
          </a:prstGeom>
          <a:solidFill>
            <a:srgbClr val="EEF2F8"/>
          </a:solidFill>
          <a:ln w="12700">
            <a:solidFill>
              <a:srgbClr val="0E7C86"/>
            </a:solidFill>
            <a:prstDash val="solid"/>
          </a:ln>
        </p:spPr>
        <p:txBody>
          <a:bodyPr/>
          <a:lstStyle/>
          <a:p>
            <a:pPr>
              <a:defRPr>
                <a:solidFill/>
              </a:defRPr>
            </a:pPr>
            <a:endParaRPr/>
          </a:p>
        </p:txBody>
      </p:sp>
      <p:sp>
        <p:nvSpPr>
          <p:cNvPr id="25" name="Text 23"/>
          <p:cNvSpPr txBox="1"/>
          <p:nvPr/>
        </p:nvSpPr>
        <p:spPr>
          <a:xfrm>
            <a:off x="3895344" y="3163824"/>
            <a:ext cx="1600200" cy="365760"/>
          </a:xfrm>
          <a:prstGeom prst="rect">
            <a:avLst/>
          </a:prstGeom>
          <a:noFill/>
          <a:ln/>
        </p:spPr>
        <p:txBody>
          <a:bodyPr wrap="square" lIns="0" tIns="0" rIns="0" bIns="0" rtlCol="0" anchor="ctr"/>
          <a:lstStyle/>
          <a:p>
            <a:pPr marL="0" indent="0" algn="ctr">
              <a:buNone/>
              <a:defRPr>
                <a:solidFill/>
              </a:defRPr>
            </a:pPr>
            <a:r>
              <a:rPr lang="en-US" sz="1050" dirty="0">
                <a:solidFill>
                  <a:srgbClr val="0B1F3A"/>
                </a:solidFill>
                <a:latin typeface="Consolas" pitchFamily="34" charset="0"/>
                <a:ea typeface="Consolas" pitchFamily="34" charset="-122"/>
                <a:cs typeface="Consolas" pitchFamily="34" charset="-120"/>
              </a:rPr>
              <a:t>.columns</a:t>
            </a:r>
            <a:endParaRPr lang="en-US" sz="1050" dirty="0"/>
          </a:p>
        </p:txBody>
      </p:sp>
      <p:sp>
        <p:nvSpPr>
          <p:cNvPr id="26" name="Shape 24"/>
          <p:cNvSpPr/>
          <p:nvPr/>
        </p:nvSpPr>
        <p:spPr>
          <a:xfrm>
            <a:off x="457200" y="3794760"/>
            <a:ext cx="5468112" cy="2331720"/>
          </a:xfrm>
          <a:prstGeom prst="roundRect">
            <a:avLst>
              <a:gd name="adj" fmla="val 3529"/>
            </a:avLst>
          </a:prstGeom>
          <a:solidFill>
            <a:srgbClr val="FDF6E9"/>
          </a:solidFill>
          <a:ln w="12700">
            <a:solidFill>
              <a:srgbClr val="F0DDA8"/>
            </a:solidFill>
            <a:prstDash val="solid"/>
          </a:ln>
        </p:spPr>
        <p:txBody>
          <a:bodyPr/>
          <a:lstStyle/>
          <a:p>
            <a:pPr>
              <a:defRPr>
                <a:solidFill/>
              </a:defRPr>
            </a:pPr>
            <a:endParaRPr/>
          </a:p>
        </p:txBody>
      </p:sp>
      <p:sp>
        <p:nvSpPr>
          <p:cNvPr id="27" name="Text 25"/>
          <p:cNvSpPr txBox="1"/>
          <p:nvPr/>
        </p:nvSpPr>
        <p:spPr>
          <a:xfrm>
            <a:off x="685800" y="3950208"/>
            <a:ext cx="5029200" cy="274320"/>
          </a:xfrm>
          <a:prstGeom prst="rect">
            <a:avLst/>
          </a:prstGeom>
          <a:noFill/>
          <a:ln/>
        </p:spPr>
        <p:txBody>
          <a:bodyPr wrap="square" lIns="0" tIns="0" rIns="0" bIns="0" rtlCol="0" anchor="ctr"/>
          <a:lstStyle/>
          <a:p>
            <a:pPr marL="0" indent="0">
              <a:buNone/>
              <a:defRPr>
                <a:solidFill/>
              </a:defRPr>
            </a:pPr>
            <a:r>
              <a:rPr lang="en-US" sz="1300" b="1" dirty="0">
                <a:solidFill>
                  <a:srgbClr val="8A5A00"/>
                </a:solidFill>
                <a:latin typeface="Cambria" pitchFamily="34" charset="0"/>
                <a:ea typeface="Cambria" pitchFamily="34" charset="-122"/>
                <a:cs typeface="Cambria" pitchFamily="34" charset="-120"/>
              </a:rPr>
              <a:t>Key Findings</a:t>
            </a:r>
            <a:endParaRPr lang="en-US" sz="1300" dirty="0"/>
          </a:p>
        </p:txBody>
      </p:sp>
      <p:sp>
        <p:nvSpPr>
          <p:cNvPr id="28" name="Text 26"/>
          <p:cNvSpPr txBox="1"/>
          <p:nvPr/>
        </p:nvSpPr>
        <p:spPr>
          <a:xfrm>
            <a:off x="685800" y="4251960"/>
            <a:ext cx="5029200" cy="1783080"/>
          </a:xfrm>
          <a:prstGeom prst="rect">
            <a:avLst/>
          </a:prstGeom>
          <a:noFill/>
          <a:ln/>
        </p:spPr>
        <p:txBody>
          <a:bodyPr wrap="square" rtlCol="0" anchor="t"/>
          <a:lstStyle/>
          <a:p>
            <a:pPr marL="177800" indent="-177800">
              <a:spcAft>
                <a:spcPts val="6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4,999 rows × 6 columns confirmed via shape and info() — no structural corruption</a:t>
            </a:r>
            <a:endParaRPr lang="en-US" sz="1100" dirty="0"/>
          </a:p>
          <a:p>
            <a:pPr marL="177800" indent="-177800">
              <a:spcAft>
                <a:spcPts val="6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medical_specialty (target) has zero missing values across all 4,999 records</a:t>
            </a:r>
            <a:endParaRPr lang="en-US" sz="1100" dirty="0"/>
          </a:p>
          <a:p>
            <a:pPr marL="177800" indent="-177800">
              <a:spcAft>
                <a:spcPts val="6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transcription has 33 missing records (0.66%)</a:t>
            </a:r>
            <a:endParaRPr lang="en-US" sz="1100" dirty="0"/>
          </a:p>
          <a:p>
            <a:pPr marL="177800" indent="-177800">
              <a:spcAft>
                <a:spcPts val="6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keywords has 1,068 missing records — too sparse for primary modeling</a:t>
            </a:r>
            <a:endParaRPr lang="en-US" sz="1100" dirty="0"/>
          </a:p>
          <a:p>
            <a:pPr marL="177800" indent="-177800">
              <a:spcAft>
                <a:spcPts val="6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describe() confirms transcription is free-form text of variable length</a:t>
            </a:r>
            <a:endParaRPr lang="en-US" sz="1100" dirty="0"/>
          </a:p>
        </p:txBody>
      </p:sp>
      <p:sp>
        <p:nvSpPr>
          <p:cNvPr id="29" name="Shape 27"/>
          <p:cNvSpPr/>
          <p:nvPr/>
        </p:nvSpPr>
        <p:spPr>
          <a:xfrm>
            <a:off x="6263640" y="1481328"/>
            <a:ext cx="5468112" cy="4645152"/>
          </a:xfrm>
          <a:prstGeom prst="roundRect">
            <a:avLst>
              <a:gd name="adj" fmla="val 1772"/>
            </a:avLst>
          </a:prstGeom>
          <a:solidFill>
            <a:srgbClr val="0B1F3A"/>
          </a:solidFill>
          <a:ln/>
        </p:spPr>
        <p:txBody>
          <a:bodyPr/>
          <a:lstStyle/>
          <a:p>
            <a:pPr>
              <a:defRPr>
                <a:solidFill/>
              </a:defRPr>
            </a:pPr>
            <a:endParaRPr/>
          </a:p>
        </p:txBody>
      </p:sp>
      <p:sp>
        <p:nvSpPr>
          <p:cNvPr id="30" name="Text 28"/>
          <p:cNvSpPr txBox="1"/>
          <p:nvPr/>
        </p:nvSpPr>
        <p:spPr>
          <a:xfrm>
            <a:off x="6492240" y="1627632"/>
            <a:ext cx="5029200" cy="274320"/>
          </a:xfrm>
          <a:prstGeom prst="rect">
            <a:avLst/>
          </a:prstGeom>
          <a:noFill/>
          <a:ln/>
        </p:spPr>
        <p:txBody>
          <a:bodyPr wrap="square" lIns="0" tIns="0" rIns="0" bIns="0" rtlCol="0" anchor="ctr"/>
          <a:lstStyle/>
          <a:p>
            <a:pPr marL="0" indent="0">
              <a:buNone/>
              <a:defRPr>
                <a:solidFill/>
              </a:defRPr>
            </a:pPr>
            <a:r>
              <a:rPr lang="en-US" sz="1050" b="1" dirty="0">
                <a:solidFill>
                  <a:srgbClr val="9FD8DB"/>
                </a:solidFill>
                <a:latin typeface="Consolas" pitchFamily="34" charset="0"/>
                <a:ea typeface="Consolas" pitchFamily="34" charset="-122"/>
                <a:cs typeface="Consolas" pitchFamily="34" charset="-120"/>
              </a:rPr>
              <a:t>df.info()  —  representative output</a:t>
            </a:r>
            <a:endParaRPr lang="en-US" sz="1050" dirty="0"/>
          </a:p>
        </p:txBody>
      </p:sp>
      <p:sp>
        <p:nvSpPr>
          <p:cNvPr id="31" name="Shape 29"/>
          <p:cNvSpPr/>
          <p:nvPr/>
        </p:nvSpPr>
        <p:spPr>
          <a:xfrm>
            <a:off x="6492240" y="2011680"/>
            <a:ext cx="5029200" cy="384048"/>
          </a:xfrm>
          <a:prstGeom prst="rect">
            <a:avLst/>
          </a:prstGeom>
          <a:solidFill>
            <a:srgbClr val="0E7C86"/>
          </a:solidFill>
          <a:ln/>
        </p:spPr>
        <p:txBody>
          <a:bodyPr/>
          <a:lstStyle/>
          <a:p>
            <a:pPr>
              <a:defRPr>
                <a:solidFill/>
              </a:defRPr>
            </a:pPr>
            <a:endParaRPr/>
          </a:p>
        </p:txBody>
      </p:sp>
      <p:sp>
        <p:nvSpPr>
          <p:cNvPr id="32" name="Text 30"/>
          <p:cNvSpPr txBox="1"/>
          <p:nvPr/>
        </p:nvSpPr>
        <p:spPr>
          <a:xfrm>
            <a:off x="6629400" y="2011680"/>
            <a:ext cx="2286000" cy="384048"/>
          </a:xfrm>
          <a:prstGeom prst="rect">
            <a:avLst/>
          </a:prstGeom>
          <a:noFill/>
          <a:ln/>
        </p:spPr>
        <p:txBody>
          <a:bodyPr wrap="square" lIns="0" tIns="0" rIns="0" bIns="0" rtlCol="0" anchor="ctr"/>
          <a:lstStyle/>
          <a:p>
            <a:pPr marL="0" indent="0">
              <a:buNone/>
              <a:defRPr>
                <a:solidFill/>
              </a:defRPr>
            </a:pPr>
            <a:r>
              <a:rPr lang="en-US" sz="1000" b="1" dirty="0">
                <a:solidFill>
                  <a:srgbClr val="FFFFFF"/>
                </a:solidFill>
                <a:latin typeface="Consolas" pitchFamily="34" charset="0"/>
                <a:ea typeface="Consolas" pitchFamily="34" charset="-122"/>
                <a:cs typeface="Consolas" pitchFamily="34" charset="-120"/>
              </a:rPr>
              <a:t>Column</a:t>
            </a:r>
            <a:endParaRPr lang="en-US" sz="1000" dirty="0"/>
          </a:p>
        </p:txBody>
      </p:sp>
      <p:sp>
        <p:nvSpPr>
          <p:cNvPr id="33" name="Text 31"/>
          <p:cNvSpPr txBox="1"/>
          <p:nvPr/>
        </p:nvSpPr>
        <p:spPr>
          <a:xfrm>
            <a:off x="8961120" y="2011680"/>
            <a:ext cx="1188720" cy="384048"/>
          </a:xfrm>
          <a:prstGeom prst="rect">
            <a:avLst/>
          </a:prstGeom>
          <a:noFill/>
          <a:ln/>
        </p:spPr>
        <p:txBody>
          <a:bodyPr wrap="square" lIns="0" tIns="0" rIns="0" bIns="0" rtlCol="0" anchor="ctr"/>
          <a:lstStyle/>
          <a:p>
            <a:pPr marL="0" indent="0">
              <a:buNone/>
              <a:defRPr>
                <a:solidFill/>
              </a:defRPr>
            </a:pPr>
            <a:r>
              <a:rPr lang="en-US" sz="1000" b="1" dirty="0">
                <a:solidFill>
                  <a:srgbClr val="FFFFFF"/>
                </a:solidFill>
                <a:latin typeface="Consolas" pitchFamily="34" charset="0"/>
                <a:ea typeface="Consolas" pitchFamily="34" charset="-122"/>
                <a:cs typeface="Consolas" pitchFamily="34" charset="-120"/>
              </a:rPr>
              <a:t>Dtype</a:t>
            </a:r>
            <a:endParaRPr lang="en-US" sz="1000" dirty="0"/>
          </a:p>
        </p:txBody>
      </p:sp>
      <p:sp>
        <p:nvSpPr>
          <p:cNvPr id="34" name="Text 32"/>
          <p:cNvSpPr txBox="1"/>
          <p:nvPr/>
        </p:nvSpPr>
        <p:spPr>
          <a:xfrm>
            <a:off x="10104120" y="2011680"/>
            <a:ext cx="1280160" cy="384048"/>
          </a:xfrm>
          <a:prstGeom prst="rect">
            <a:avLst/>
          </a:prstGeom>
          <a:noFill/>
          <a:ln/>
        </p:spPr>
        <p:txBody>
          <a:bodyPr wrap="square" lIns="0" tIns="0" rIns="0" bIns="0" rtlCol="0" anchor="ctr"/>
          <a:lstStyle/>
          <a:p>
            <a:pPr marL="0" indent="0">
              <a:buNone/>
              <a:defRPr>
                <a:solidFill/>
              </a:defRPr>
            </a:pPr>
            <a:r>
              <a:rPr lang="en-US" sz="1000" b="1" dirty="0">
                <a:solidFill>
                  <a:srgbClr val="FFFFFF"/>
                </a:solidFill>
                <a:latin typeface="Consolas" pitchFamily="34" charset="0"/>
                <a:ea typeface="Consolas" pitchFamily="34" charset="-122"/>
                <a:cs typeface="Consolas" pitchFamily="34" charset="-120"/>
              </a:rPr>
              <a:t>Missing</a:t>
            </a:r>
            <a:endParaRPr lang="en-US" sz="1000" dirty="0"/>
          </a:p>
        </p:txBody>
      </p:sp>
      <p:sp>
        <p:nvSpPr>
          <p:cNvPr id="35" name="Shape 33"/>
          <p:cNvSpPr/>
          <p:nvPr/>
        </p:nvSpPr>
        <p:spPr>
          <a:xfrm>
            <a:off x="6492240" y="2395728"/>
            <a:ext cx="5029200" cy="384048"/>
          </a:xfrm>
          <a:prstGeom prst="rect">
            <a:avLst/>
          </a:prstGeom>
          <a:solidFill>
            <a:srgbClr val="0B1F3A"/>
          </a:solidFill>
          <a:ln/>
        </p:spPr>
        <p:txBody>
          <a:bodyPr/>
          <a:lstStyle/>
          <a:p>
            <a:pPr>
              <a:defRPr>
                <a:solidFill/>
              </a:defRPr>
            </a:pPr>
            <a:endParaRPr/>
          </a:p>
        </p:txBody>
      </p:sp>
      <p:sp>
        <p:nvSpPr>
          <p:cNvPr id="36" name="Text 34"/>
          <p:cNvSpPr txBox="1"/>
          <p:nvPr/>
        </p:nvSpPr>
        <p:spPr>
          <a:xfrm>
            <a:off x="6629400" y="2395728"/>
            <a:ext cx="2286000" cy="384048"/>
          </a:xfrm>
          <a:prstGeom prst="rect">
            <a:avLst/>
          </a:prstGeom>
          <a:noFill/>
          <a:ln/>
        </p:spPr>
        <p:txBody>
          <a:bodyPr wrap="square" lIns="0" tIns="0" rIns="0" bIns="0" rtlCol="0" anchor="ctr"/>
          <a:lstStyle/>
          <a:p>
            <a:pPr marL="0" indent="0">
              <a:buNone/>
              <a:defRPr>
                <a:solidFill/>
              </a:defRPr>
            </a:pPr>
            <a:r>
              <a:rPr lang="en-US" sz="1000" dirty="0">
                <a:solidFill>
                  <a:srgbClr val="FFFFFF"/>
                </a:solidFill>
                <a:latin typeface="Consolas" pitchFamily="34" charset="0"/>
                <a:ea typeface="Consolas" pitchFamily="34" charset="-122"/>
                <a:cs typeface="Consolas" pitchFamily="34" charset="-120"/>
              </a:rPr>
              <a:t>Unnamed: 0</a:t>
            </a:r>
            <a:endParaRPr lang="en-US" sz="1000" dirty="0"/>
          </a:p>
        </p:txBody>
      </p:sp>
      <p:sp>
        <p:nvSpPr>
          <p:cNvPr id="37" name="Text 35"/>
          <p:cNvSpPr txBox="1"/>
          <p:nvPr/>
        </p:nvSpPr>
        <p:spPr>
          <a:xfrm>
            <a:off x="8961120" y="2395728"/>
            <a:ext cx="1188720" cy="384048"/>
          </a:xfrm>
          <a:prstGeom prst="rect">
            <a:avLst/>
          </a:prstGeom>
          <a:noFill/>
          <a:ln/>
        </p:spPr>
        <p:txBody>
          <a:bodyPr wrap="square" lIns="0" tIns="0" rIns="0" bIns="0" rtlCol="0" anchor="ctr"/>
          <a:lstStyle/>
          <a:p>
            <a:pPr marL="0" indent="0">
              <a:buNone/>
              <a:defRPr>
                <a:solidFill/>
              </a:defRPr>
            </a:pPr>
            <a:r>
              <a:rPr lang="en-US" sz="1000" dirty="0">
                <a:solidFill>
                  <a:srgbClr val="FFFFFF"/>
                </a:solidFill>
                <a:latin typeface="Consolas" pitchFamily="34" charset="0"/>
                <a:ea typeface="Consolas" pitchFamily="34" charset="-122"/>
                <a:cs typeface="Consolas" pitchFamily="34" charset="-120"/>
              </a:rPr>
              <a:t>int64</a:t>
            </a:r>
            <a:endParaRPr lang="en-US" sz="1000" dirty="0"/>
          </a:p>
        </p:txBody>
      </p:sp>
      <p:sp>
        <p:nvSpPr>
          <p:cNvPr id="38" name="Text 36"/>
          <p:cNvSpPr txBox="1"/>
          <p:nvPr/>
        </p:nvSpPr>
        <p:spPr>
          <a:xfrm>
            <a:off x="10104120" y="2395728"/>
            <a:ext cx="1280160" cy="384048"/>
          </a:xfrm>
          <a:prstGeom prst="rect">
            <a:avLst/>
          </a:prstGeom>
          <a:noFill/>
          <a:ln/>
        </p:spPr>
        <p:txBody>
          <a:bodyPr wrap="square" lIns="0" tIns="0" rIns="0" bIns="0" rtlCol="0" anchor="ctr"/>
          <a:lstStyle/>
          <a:p>
            <a:pPr marL="0" indent="0">
              <a:buNone/>
              <a:defRPr>
                <a:solidFill/>
              </a:defRPr>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39" name="Shape 37"/>
          <p:cNvSpPr/>
          <p:nvPr/>
        </p:nvSpPr>
        <p:spPr>
          <a:xfrm>
            <a:off x="6492240" y="2779776"/>
            <a:ext cx="5029200" cy="384048"/>
          </a:xfrm>
          <a:prstGeom prst="rect">
            <a:avLst/>
          </a:prstGeom>
          <a:solidFill>
            <a:srgbClr val="13294B"/>
          </a:solidFill>
          <a:ln/>
        </p:spPr>
        <p:txBody>
          <a:bodyPr/>
          <a:lstStyle/>
          <a:p>
            <a:pPr>
              <a:defRPr>
                <a:solidFill/>
              </a:defRPr>
            </a:pPr>
            <a:endParaRPr/>
          </a:p>
        </p:txBody>
      </p:sp>
      <p:sp>
        <p:nvSpPr>
          <p:cNvPr id="40" name="Text 38"/>
          <p:cNvSpPr txBox="1"/>
          <p:nvPr/>
        </p:nvSpPr>
        <p:spPr>
          <a:xfrm>
            <a:off x="6629400" y="2779776"/>
            <a:ext cx="2286000" cy="384048"/>
          </a:xfrm>
          <a:prstGeom prst="rect">
            <a:avLst/>
          </a:prstGeom>
          <a:noFill/>
          <a:ln/>
        </p:spPr>
        <p:txBody>
          <a:bodyPr wrap="square" lIns="0" tIns="0" rIns="0" bIns="0" rtlCol="0" anchor="ctr"/>
          <a:lstStyle/>
          <a:p>
            <a:pPr marL="0" indent="0">
              <a:buNone/>
              <a:defRPr>
                <a:solidFill/>
              </a:defRPr>
            </a:pPr>
            <a:r>
              <a:rPr lang="en-US" sz="1000" dirty="0">
                <a:solidFill>
                  <a:srgbClr val="FFFFFF"/>
                </a:solidFill>
                <a:latin typeface="Consolas" pitchFamily="34" charset="0"/>
                <a:ea typeface="Consolas" pitchFamily="34" charset="-122"/>
                <a:cs typeface="Consolas" pitchFamily="34" charset="-120"/>
              </a:rPr>
              <a:t>description</a:t>
            </a:r>
            <a:endParaRPr lang="en-US" sz="1000" dirty="0"/>
          </a:p>
        </p:txBody>
      </p:sp>
      <p:sp>
        <p:nvSpPr>
          <p:cNvPr id="41" name="Text 39"/>
          <p:cNvSpPr txBox="1"/>
          <p:nvPr/>
        </p:nvSpPr>
        <p:spPr>
          <a:xfrm>
            <a:off x="8961120" y="2779776"/>
            <a:ext cx="1188720" cy="384048"/>
          </a:xfrm>
          <a:prstGeom prst="rect">
            <a:avLst/>
          </a:prstGeom>
          <a:noFill/>
          <a:ln/>
        </p:spPr>
        <p:txBody>
          <a:bodyPr wrap="square" lIns="0" tIns="0" rIns="0" bIns="0" rtlCol="0" anchor="ctr"/>
          <a:lstStyle/>
          <a:p>
            <a:pPr marL="0" indent="0">
              <a:buNone/>
              <a:defRPr>
                <a:solidFill/>
              </a:defRPr>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42" name="Text 40"/>
          <p:cNvSpPr txBox="1"/>
          <p:nvPr/>
        </p:nvSpPr>
        <p:spPr>
          <a:xfrm>
            <a:off x="10104120" y="2779776"/>
            <a:ext cx="1280160" cy="384048"/>
          </a:xfrm>
          <a:prstGeom prst="rect">
            <a:avLst/>
          </a:prstGeom>
          <a:noFill/>
          <a:ln/>
        </p:spPr>
        <p:txBody>
          <a:bodyPr wrap="square" lIns="0" tIns="0" rIns="0" bIns="0" rtlCol="0" anchor="ctr"/>
          <a:lstStyle/>
          <a:p>
            <a:pPr marL="0" indent="0">
              <a:buNone/>
              <a:defRPr>
                <a:solidFill/>
              </a:defRPr>
            </a:pPr>
            <a:r>
              <a:rPr lang="en-US" sz="1000" dirty="0">
                <a:solidFill>
                  <a:srgbClr val="FFFFFF"/>
                </a:solidFill>
                <a:latin typeface="Consolas" pitchFamily="34" charset="0"/>
                <a:ea typeface="Consolas" pitchFamily="34" charset="-122"/>
                <a:cs typeface="Consolas" pitchFamily="34" charset="-120"/>
              </a:rPr>
              <a:t>6</a:t>
            </a:r>
            <a:endParaRPr lang="en-US" sz="1000" dirty="0"/>
          </a:p>
        </p:txBody>
      </p:sp>
      <p:sp>
        <p:nvSpPr>
          <p:cNvPr id="43" name="Shape 41"/>
          <p:cNvSpPr/>
          <p:nvPr/>
        </p:nvSpPr>
        <p:spPr>
          <a:xfrm>
            <a:off x="6492240" y="3163824"/>
            <a:ext cx="5029200" cy="384048"/>
          </a:xfrm>
          <a:prstGeom prst="rect">
            <a:avLst/>
          </a:prstGeom>
          <a:solidFill>
            <a:srgbClr val="0B1F3A"/>
          </a:solidFill>
          <a:ln/>
        </p:spPr>
        <p:txBody>
          <a:bodyPr/>
          <a:lstStyle/>
          <a:p>
            <a:pPr>
              <a:defRPr>
                <a:solidFill/>
              </a:defRPr>
            </a:pPr>
            <a:endParaRPr/>
          </a:p>
        </p:txBody>
      </p:sp>
      <p:sp>
        <p:nvSpPr>
          <p:cNvPr id="44" name="Text 42"/>
          <p:cNvSpPr txBox="1"/>
          <p:nvPr/>
        </p:nvSpPr>
        <p:spPr>
          <a:xfrm>
            <a:off x="6629400" y="3163824"/>
            <a:ext cx="2286000" cy="384048"/>
          </a:xfrm>
          <a:prstGeom prst="rect">
            <a:avLst/>
          </a:prstGeom>
          <a:noFill/>
          <a:ln/>
        </p:spPr>
        <p:txBody>
          <a:bodyPr wrap="square" lIns="0" tIns="0" rIns="0" bIns="0" rtlCol="0" anchor="ctr"/>
          <a:lstStyle/>
          <a:p>
            <a:pPr marL="0" indent="0">
              <a:buNone/>
              <a:defRPr>
                <a:solidFill/>
              </a:defRPr>
            </a:pPr>
            <a:r>
              <a:rPr lang="en-US" sz="1000" dirty="0">
                <a:solidFill>
                  <a:srgbClr val="FFFFFF"/>
                </a:solidFill>
                <a:latin typeface="Consolas" pitchFamily="34" charset="0"/>
                <a:ea typeface="Consolas" pitchFamily="34" charset="-122"/>
                <a:cs typeface="Consolas" pitchFamily="34" charset="-120"/>
              </a:rPr>
              <a:t>medical_specialty</a:t>
            </a:r>
            <a:endParaRPr lang="en-US" sz="1000" dirty="0"/>
          </a:p>
        </p:txBody>
      </p:sp>
      <p:sp>
        <p:nvSpPr>
          <p:cNvPr id="45" name="Text 43"/>
          <p:cNvSpPr txBox="1"/>
          <p:nvPr/>
        </p:nvSpPr>
        <p:spPr>
          <a:xfrm>
            <a:off x="8961120" y="3163824"/>
            <a:ext cx="1188720" cy="384048"/>
          </a:xfrm>
          <a:prstGeom prst="rect">
            <a:avLst/>
          </a:prstGeom>
          <a:noFill/>
          <a:ln/>
        </p:spPr>
        <p:txBody>
          <a:bodyPr wrap="square" lIns="0" tIns="0" rIns="0" bIns="0" rtlCol="0" anchor="ctr"/>
          <a:lstStyle/>
          <a:p>
            <a:pPr marL="0" indent="0">
              <a:buNone/>
              <a:defRPr>
                <a:solidFill/>
              </a:defRPr>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46" name="Text 44"/>
          <p:cNvSpPr txBox="1"/>
          <p:nvPr/>
        </p:nvSpPr>
        <p:spPr>
          <a:xfrm>
            <a:off x="10104120" y="3163824"/>
            <a:ext cx="1280160" cy="384048"/>
          </a:xfrm>
          <a:prstGeom prst="rect">
            <a:avLst/>
          </a:prstGeom>
          <a:noFill/>
          <a:ln/>
        </p:spPr>
        <p:txBody>
          <a:bodyPr wrap="square" lIns="0" tIns="0" rIns="0" bIns="0" rtlCol="0" anchor="ctr"/>
          <a:lstStyle/>
          <a:p>
            <a:pPr marL="0" indent="0">
              <a:buNone/>
              <a:defRPr>
                <a:solidFill/>
              </a:defRPr>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47" name="Shape 45"/>
          <p:cNvSpPr/>
          <p:nvPr/>
        </p:nvSpPr>
        <p:spPr>
          <a:xfrm>
            <a:off x="6492240" y="3547872"/>
            <a:ext cx="5029200" cy="384048"/>
          </a:xfrm>
          <a:prstGeom prst="rect">
            <a:avLst/>
          </a:prstGeom>
          <a:solidFill>
            <a:srgbClr val="13294B"/>
          </a:solidFill>
          <a:ln/>
        </p:spPr>
        <p:txBody>
          <a:bodyPr/>
          <a:lstStyle/>
          <a:p>
            <a:pPr>
              <a:defRPr>
                <a:solidFill/>
              </a:defRPr>
            </a:pPr>
            <a:endParaRPr/>
          </a:p>
        </p:txBody>
      </p:sp>
      <p:sp>
        <p:nvSpPr>
          <p:cNvPr id="48" name="Text 46"/>
          <p:cNvSpPr txBox="1"/>
          <p:nvPr/>
        </p:nvSpPr>
        <p:spPr>
          <a:xfrm>
            <a:off x="6629400" y="3547872"/>
            <a:ext cx="2286000" cy="384048"/>
          </a:xfrm>
          <a:prstGeom prst="rect">
            <a:avLst/>
          </a:prstGeom>
          <a:noFill/>
          <a:ln/>
        </p:spPr>
        <p:txBody>
          <a:bodyPr wrap="square" lIns="0" tIns="0" rIns="0" bIns="0" rtlCol="0" anchor="ctr"/>
          <a:lstStyle/>
          <a:p>
            <a:pPr marL="0" indent="0">
              <a:buNone/>
              <a:defRPr>
                <a:solidFill/>
              </a:defRPr>
            </a:pPr>
            <a:r>
              <a:rPr lang="en-US" sz="1000" dirty="0">
                <a:solidFill>
                  <a:srgbClr val="FFFFFF"/>
                </a:solidFill>
                <a:latin typeface="Consolas" pitchFamily="34" charset="0"/>
                <a:ea typeface="Consolas" pitchFamily="34" charset="-122"/>
                <a:cs typeface="Consolas" pitchFamily="34" charset="-120"/>
              </a:rPr>
              <a:t>sample_name</a:t>
            </a:r>
            <a:endParaRPr lang="en-US" sz="1000" dirty="0"/>
          </a:p>
        </p:txBody>
      </p:sp>
      <p:sp>
        <p:nvSpPr>
          <p:cNvPr id="49" name="Text 47"/>
          <p:cNvSpPr txBox="1"/>
          <p:nvPr/>
        </p:nvSpPr>
        <p:spPr>
          <a:xfrm>
            <a:off x="8961120" y="3547872"/>
            <a:ext cx="1188720" cy="384048"/>
          </a:xfrm>
          <a:prstGeom prst="rect">
            <a:avLst/>
          </a:prstGeom>
          <a:noFill/>
          <a:ln/>
        </p:spPr>
        <p:txBody>
          <a:bodyPr wrap="square" lIns="0" tIns="0" rIns="0" bIns="0" rtlCol="0" anchor="ctr"/>
          <a:lstStyle/>
          <a:p>
            <a:pPr marL="0" indent="0">
              <a:buNone/>
              <a:defRPr>
                <a:solidFill/>
              </a:defRPr>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0" name="Text 48"/>
          <p:cNvSpPr txBox="1"/>
          <p:nvPr/>
        </p:nvSpPr>
        <p:spPr>
          <a:xfrm>
            <a:off x="10104120" y="3547872"/>
            <a:ext cx="1280160" cy="384048"/>
          </a:xfrm>
          <a:prstGeom prst="rect">
            <a:avLst/>
          </a:prstGeom>
          <a:noFill/>
          <a:ln/>
        </p:spPr>
        <p:txBody>
          <a:bodyPr wrap="square" lIns="0" tIns="0" rIns="0" bIns="0" rtlCol="0" anchor="ctr"/>
          <a:lstStyle/>
          <a:p>
            <a:pPr marL="0" indent="0">
              <a:buNone/>
              <a:defRPr>
                <a:solidFill/>
              </a:defRPr>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51" name="Shape 49"/>
          <p:cNvSpPr/>
          <p:nvPr/>
        </p:nvSpPr>
        <p:spPr>
          <a:xfrm>
            <a:off x="6492240" y="3931920"/>
            <a:ext cx="5029200" cy="384048"/>
          </a:xfrm>
          <a:prstGeom prst="rect">
            <a:avLst/>
          </a:prstGeom>
          <a:solidFill>
            <a:srgbClr val="0B1F3A"/>
          </a:solidFill>
          <a:ln/>
        </p:spPr>
        <p:txBody>
          <a:bodyPr/>
          <a:lstStyle/>
          <a:p>
            <a:pPr>
              <a:defRPr>
                <a:solidFill/>
              </a:defRPr>
            </a:pPr>
            <a:endParaRPr/>
          </a:p>
        </p:txBody>
      </p:sp>
      <p:sp>
        <p:nvSpPr>
          <p:cNvPr id="52" name="Text 50"/>
          <p:cNvSpPr txBox="1"/>
          <p:nvPr/>
        </p:nvSpPr>
        <p:spPr>
          <a:xfrm>
            <a:off x="6629400" y="3931920"/>
            <a:ext cx="2286000" cy="384048"/>
          </a:xfrm>
          <a:prstGeom prst="rect">
            <a:avLst/>
          </a:prstGeom>
          <a:noFill/>
          <a:ln/>
        </p:spPr>
        <p:txBody>
          <a:bodyPr wrap="square" lIns="0" tIns="0" rIns="0" bIns="0" rtlCol="0" anchor="ctr"/>
          <a:lstStyle/>
          <a:p>
            <a:pPr marL="0" indent="0">
              <a:buNone/>
              <a:defRPr>
                <a:solidFill/>
              </a:defRPr>
            </a:pPr>
            <a:r>
              <a:rPr lang="en-US" sz="1000" dirty="0">
                <a:solidFill>
                  <a:srgbClr val="FFFFFF"/>
                </a:solidFill>
                <a:latin typeface="Consolas" pitchFamily="34" charset="0"/>
                <a:ea typeface="Consolas" pitchFamily="34" charset="-122"/>
                <a:cs typeface="Consolas" pitchFamily="34" charset="-120"/>
              </a:rPr>
              <a:t>transcription</a:t>
            </a:r>
            <a:endParaRPr lang="en-US" sz="1000" dirty="0"/>
          </a:p>
        </p:txBody>
      </p:sp>
      <p:sp>
        <p:nvSpPr>
          <p:cNvPr id="53" name="Text 51"/>
          <p:cNvSpPr txBox="1"/>
          <p:nvPr/>
        </p:nvSpPr>
        <p:spPr>
          <a:xfrm>
            <a:off x="8961120" y="3931920"/>
            <a:ext cx="1188720" cy="384048"/>
          </a:xfrm>
          <a:prstGeom prst="rect">
            <a:avLst/>
          </a:prstGeom>
          <a:noFill/>
          <a:ln/>
        </p:spPr>
        <p:txBody>
          <a:bodyPr wrap="square" lIns="0" tIns="0" rIns="0" bIns="0" rtlCol="0" anchor="ctr"/>
          <a:lstStyle/>
          <a:p>
            <a:pPr marL="0" indent="0">
              <a:buNone/>
              <a:defRPr>
                <a:solidFill/>
              </a:defRPr>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4" name="Text 52"/>
          <p:cNvSpPr txBox="1"/>
          <p:nvPr/>
        </p:nvSpPr>
        <p:spPr>
          <a:xfrm>
            <a:off x="10104120" y="3931920"/>
            <a:ext cx="1280160" cy="384048"/>
          </a:xfrm>
          <a:prstGeom prst="rect">
            <a:avLst/>
          </a:prstGeom>
          <a:noFill/>
          <a:ln/>
        </p:spPr>
        <p:txBody>
          <a:bodyPr wrap="square" lIns="0" tIns="0" rIns="0" bIns="0" rtlCol="0" anchor="ctr"/>
          <a:lstStyle/>
          <a:p>
            <a:pPr marL="0" indent="0">
              <a:buNone/>
              <a:defRPr>
                <a:solidFill/>
              </a:defRPr>
            </a:pPr>
            <a:r>
              <a:rPr lang="en-US" sz="1000" dirty="0">
                <a:solidFill>
                  <a:srgbClr val="FFFFFF"/>
                </a:solidFill>
                <a:latin typeface="Consolas" pitchFamily="34" charset="0"/>
                <a:ea typeface="Consolas" pitchFamily="34" charset="-122"/>
                <a:cs typeface="Consolas" pitchFamily="34" charset="-120"/>
              </a:rPr>
              <a:t>33</a:t>
            </a:r>
            <a:endParaRPr lang="en-US" sz="1000" dirty="0"/>
          </a:p>
        </p:txBody>
      </p:sp>
      <p:sp>
        <p:nvSpPr>
          <p:cNvPr id="55" name="Shape 53"/>
          <p:cNvSpPr/>
          <p:nvPr/>
        </p:nvSpPr>
        <p:spPr>
          <a:xfrm>
            <a:off x="6492240" y="4315968"/>
            <a:ext cx="5029200" cy="384048"/>
          </a:xfrm>
          <a:prstGeom prst="rect">
            <a:avLst/>
          </a:prstGeom>
          <a:solidFill>
            <a:srgbClr val="13294B"/>
          </a:solidFill>
          <a:ln/>
        </p:spPr>
        <p:txBody>
          <a:bodyPr/>
          <a:lstStyle/>
          <a:p>
            <a:pPr>
              <a:defRPr>
                <a:solidFill/>
              </a:defRPr>
            </a:pPr>
            <a:endParaRPr/>
          </a:p>
        </p:txBody>
      </p:sp>
      <p:sp>
        <p:nvSpPr>
          <p:cNvPr id="56" name="Text 54"/>
          <p:cNvSpPr txBox="1"/>
          <p:nvPr/>
        </p:nvSpPr>
        <p:spPr>
          <a:xfrm>
            <a:off x="6629400" y="4315968"/>
            <a:ext cx="2286000" cy="384048"/>
          </a:xfrm>
          <a:prstGeom prst="rect">
            <a:avLst/>
          </a:prstGeom>
          <a:noFill/>
          <a:ln/>
        </p:spPr>
        <p:txBody>
          <a:bodyPr wrap="square" lIns="0" tIns="0" rIns="0" bIns="0" rtlCol="0" anchor="ctr"/>
          <a:lstStyle/>
          <a:p>
            <a:pPr marL="0" indent="0">
              <a:buNone/>
              <a:defRPr>
                <a:solidFill/>
              </a:defRPr>
            </a:pPr>
            <a:r>
              <a:rPr lang="en-US" sz="1000" dirty="0">
                <a:solidFill>
                  <a:srgbClr val="FFFFFF"/>
                </a:solidFill>
                <a:latin typeface="Consolas" pitchFamily="34" charset="0"/>
                <a:ea typeface="Consolas" pitchFamily="34" charset="-122"/>
                <a:cs typeface="Consolas" pitchFamily="34" charset="-120"/>
              </a:rPr>
              <a:t>keywords</a:t>
            </a:r>
            <a:endParaRPr lang="en-US" sz="1000" dirty="0"/>
          </a:p>
        </p:txBody>
      </p:sp>
      <p:sp>
        <p:nvSpPr>
          <p:cNvPr id="57" name="Text 55"/>
          <p:cNvSpPr txBox="1"/>
          <p:nvPr/>
        </p:nvSpPr>
        <p:spPr>
          <a:xfrm>
            <a:off x="8961120" y="4315968"/>
            <a:ext cx="1188720" cy="384048"/>
          </a:xfrm>
          <a:prstGeom prst="rect">
            <a:avLst/>
          </a:prstGeom>
          <a:noFill/>
          <a:ln/>
        </p:spPr>
        <p:txBody>
          <a:bodyPr wrap="square" lIns="0" tIns="0" rIns="0" bIns="0" rtlCol="0" anchor="ctr"/>
          <a:lstStyle/>
          <a:p>
            <a:pPr marL="0" indent="0">
              <a:buNone/>
              <a:defRPr>
                <a:solidFill/>
              </a:defRPr>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8" name="Text 56"/>
          <p:cNvSpPr txBox="1"/>
          <p:nvPr/>
        </p:nvSpPr>
        <p:spPr>
          <a:xfrm>
            <a:off x="10104120" y="4315968"/>
            <a:ext cx="1280160" cy="384048"/>
          </a:xfrm>
          <a:prstGeom prst="rect">
            <a:avLst/>
          </a:prstGeom>
          <a:noFill/>
          <a:ln/>
        </p:spPr>
        <p:txBody>
          <a:bodyPr wrap="square" lIns="0" tIns="0" rIns="0" bIns="0" rtlCol="0" anchor="ctr"/>
          <a:lstStyle/>
          <a:p>
            <a:pPr marL="0" indent="0">
              <a:buNone/>
              <a:defRPr>
                <a:solidFill/>
              </a:defRPr>
            </a:pPr>
            <a:r>
              <a:rPr lang="en-US" sz="1000" dirty="0">
                <a:solidFill>
                  <a:srgbClr val="FFFFFF"/>
                </a:solidFill>
                <a:latin typeface="Consolas" pitchFamily="34" charset="0"/>
                <a:ea typeface="Consolas" pitchFamily="34" charset="-122"/>
                <a:cs typeface="Consolas" pitchFamily="34" charset="-120"/>
              </a:rPr>
              <a:t>1,068</a:t>
            </a:r>
            <a:endParaRPr lang="en-US" sz="1000" dirty="0"/>
          </a:p>
        </p:txBody>
      </p:sp>
      <p:sp>
        <p:nvSpPr>
          <p:cNvPr id="59" name="Text 57"/>
          <p:cNvSpPr txBox="1"/>
          <p:nvPr/>
        </p:nvSpPr>
        <p:spPr>
          <a:xfrm>
            <a:off x="6492240" y="4837176"/>
            <a:ext cx="5029200" cy="320040"/>
          </a:xfrm>
          <a:prstGeom prst="rect">
            <a:avLst/>
          </a:prstGeom>
          <a:noFill/>
          <a:ln/>
        </p:spPr>
        <p:txBody>
          <a:bodyPr wrap="square" lIns="0" tIns="0" rIns="0" bIns="0" rtlCol="0" anchor="ctr"/>
          <a:lstStyle/>
          <a:p>
            <a:pPr marL="0" indent="0">
              <a:buNone/>
              <a:defRPr>
                <a:solidFill/>
              </a:defRPr>
            </a:pPr>
            <a:r>
              <a:rPr lang="en-US" sz="950" i="1" dirty="0">
                <a:solidFill>
                  <a:srgbClr val="AEB9CC"/>
                </a:solidFill>
                <a:latin typeface="Consolas" pitchFamily="34" charset="0"/>
                <a:ea typeface="Consolas" pitchFamily="34" charset="-122"/>
                <a:cs typeface="Consolas" pitchFamily="34" charset="-120"/>
              </a:rPr>
              <a:t>Total: 4,999 entries, 6 columns (RangeIndex 0–4998)</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lstStyle/>
          <a:p>
            <a:pPr>
              <a:defRPr>
                <a:solidFill/>
              </a:defRPr>
            </a:pPr>
            <a:endParaR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marL="0" indent="0" algn="ctr">
              <a:buNone/>
              <a:defRPr>
                <a:solidFill/>
              </a:defRPr>
            </a:pPr>
            <a:r>
              <a:rPr lang="en-US" sz="1050" b="1" kern="0" spc="10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marL="0" indent="0" algn="l">
              <a:buNone/>
              <a:defRPr>
                <a:solidFill/>
              </a:defRPr>
            </a:pPr>
            <a:r>
              <a:rPr lang="en-US" sz="2700" b="1" dirty="0">
                <a:solidFill>
                  <a:srgbClr val="0B1F3A"/>
                </a:solidFill>
                <a:latin typeface="Cambria" pitchFamily="34" charset="0"/>
                <a:ea typeface="Cambria" pitchFamily="34" charset="-122"/>
                <a:cs typeface="Cambria" pitchFamily="34" charset="-120"/>
              </a:rPr>
              <a:t>Exploratory Data Analysis: Data Quality</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marL="0" indent="0" algn="l">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marL="0" indent="0" algn="ctr">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7 of 19</a:t>
            </a:r>
          </a:p>
        </p:txBody>
      </p:sp>
      <p:sp>
        <p:nvSpPr>
          <p:cNvPr id="8" name="Shape 6"/>
          <p:cNvSpPr/>
          <p:nvPr/>
        </p:nvSpPr>
        <p:spPr>
          <a:xfrm>
            <a:off x="457200" y="1508760"/>
            <a:ext cx="6675120" cy="4892040"/>
          </a:xfrm>
          <a:prstGeom prst="roundRect">
            <a:avLst>
              <a:gd name="adj" fmla="val 1682"/>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pic>
        <p:nvPicPr>
          <p:cNvPr id="9" name="Image 0" descr="/home/claude/imgs/img-000.png"/>
          <p:cNvPicPr>
            <a:picLocks noChangeAspect="1"/>
          </p:cNvPicPr>
          <p:nvPr/>
        </p:nvPicPr>
        <p:blipFill>
          <a:blip r:embed="rId3"/>
          <a:stretch>
            <a:fillRect/>
          </a:stretch>
        </p:blipFill>
        <p:spPr>
          <a:xfrm>
            <a:off x="685800" y="1783080"/>
            <a:ext cx="6217920" cy="3703320"/>
          </a:xfrm>
          <a:prstGeom prst="rect">
            <a:avLst/>
          </a:prstGeom>
        </p:spPr>
      </p:pic>
      <p:sp>
        <p:nvSpPr>
          <p:cNvPr id="10" name="Text 7"/>
          <p:cNvSpPr txBox="1"/>
          <p:nvPr/>
        </p:nvSpPr>
        <p:spPr>
          <a:xfrm>
            <a:off x="685800" y="5577840"/>
            <a:ext cx="6217920" cy="548640"/>
          </a:xfrm>
          <a:prstGeom prst="rect">
            <a:avLst/>
          </a:prstGeom>
          <a:noFill/>
          <a:ln/>
        </p:spPr>
        <p:txBody>
          <a:bodyPr wrap="square" lIns="0" tIns="0" rIns="0" bIns="0" rtlCol="0" anchor="ctr"/>
          <a:lstStyle/>
          <a:p>
            <a:pPr marL="0" indent="0" algn="ctr">
              <a:buNone/>
              <a:defRPr>
                <a:solidFill/>
              </a:defRPr>
            </a:pPr>
            <a:r>
              <a:rPr lang="en-US" sz="1150" i="1" dirty="0">
                <a:solidFill>
                  <a:srgbClr val="000000"/>
                </a:solidFill>
                <a:latin typeface="Calibri" pitchFamily="34" charset="0"/>
                <a:ea typeface="Calibri" pitchFamily="34" charset="-122"/>
                <a:cs typeface="Calibri" pitchFamily="34" charset="-120"/>
              </a:rPr>
              <a:t>Figure: Missing Values by Dataset Attribute (isnull().sum())</a:t>
            </a:r>
            <a:endParaRPr lang="en-US" sz="1000" dirty="0"/>
          </a:p>
        </p:txBody>
      </p:sp>
      <p:sp>
        <p:nvSpPr>
          <p:cNvPr id="11" name="Text 8"/>
          <p:cNvSpPr txBox="1"/>
          <p:nvPr/>
        </p:nvSpPr>
        <p:spPr>
          <a:xfrm>
            <a:off x="7360920" y="1508760"/>
            <a:ext cx="4389120" cy="292608"/>
          </a:xfrm>
          <a:prstGeom prst="rect">
            <a:avLst/>
          </a:prstGeom>
          <a:noFill/>
          <a:ln/>
        </p:spPr>
        <p:txBody>
          <a:bodyPr wrap="square" lIns="0" tIns="0" rIns="0" bIns="0" rtlCol="0" anchor="ctr"/>
          <a:lstStyle/>
          <a:p>
            <a:pPr marL="0" indent="0">
              <a:buNone/>
              <a:defRPr>
                <a:solidFill/>
              </a:defRPr>
            </a:pPr>
            <a:r>
              <a:rPr lang="en-US" sz="1400" b="1" dirty="0">
                <a:solidFill>
                  <a:srgbClr val="0B1F3A"/>
                </a:solidFill>
                <a:latin typeface="Cambria" pitchFamily="34" charset="0"/>
                <a:ea typeface="Cambria" pitchFamily="34" charset="-122"/>
                <a:cs typeface="Cambria" pitchFamily="34" charset="-120"/>
              </a:rPr>
              <a:t>Functions &amp; Libraries</a:t>
            </a:r>
            <a:endParaRPr lang="en-US" sz="1400" dirty="0"/>
          </a:p>
        </p:txBody>
      </p:sp>
      <p:sp>
        <p:nvSpPr>
          <p:cNvPr id="12" name="Text 9"/>
          <p:cNvSpPr txBox="1"/>
          <p:nvPr/>
        </p:nvSpPr>
        <p:spPr>
          <a:xfrm>
            <a:off x="7360920" y="1828800"/>
            <a:ext cx="4389120" cy="822960"/>
          </a:xfrm>
          <a:prstGeom prst="rect">
            <a:avLst/>
          </a:prstGeom>
          <a:noFill/>
          <a:ln/>
        </p:spPr>
        <p:txBody>
          <a:bodyPr wrap="square" rtlCol="0" anchor="t"/>
          <a:lstStyle/>
          <a:p>
            <a:pPr marL="177800" indent="-177800">
              <a:spcAft>
                <a:spcPts val="8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pandas: .isnull().sum(), .duplicated()</a:t>
            </a:r>
            <a:endParaRPr lang="en-US" sz="1100" dirty="0"/>
          </a:p>
          <a:p>
            <a:pPr marL="177800" indent="-177800">
              <a:spcAft>
                <a:spcPts val="8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matplotlib / seaborn for the bar chart</a:t>
            </a:r>
            <a:endParaRPr lang="en-US" sz="1100" dirty="0"/>
          </a:p>
        </p:txBody>
      </p:sp>
      <p:sp>
        <p:nvSpPr>
          <p:cNvPr id="13" name="Shape 10"/>
          <p:cNvSpPr/>
          <p:nvPr/>
        </p:nvSpPr>
        <p:spPr>
          <a:xfrm>
            <a:off x="7360920" y="2697480"/>
            <a:ext cx="4370832" cy="3566160"/>
          </a:xfrm>
          <a:prstGeom prst="roundRect">
            <a:avLst>
              <a:gd name="adj" fmla="val 2308"/>
            </a:avLst>
          </a:prstGeom>
          <a:solidFill>
            <a:srgbClr val="EAF6F5"/>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14" name="Text 11"/>
          <p:cNvSpPr txBox="1"/>
          <p:nvPr/>
        </p:nvSpPr>
        <p:spPr>
          <a:xfrm>
            <a:off x="7589520" y="2834640"/>
            <a:ext cx="3931920" cy="274320"/>
          </a:xfrm>
          <a:prstGeom prst="rect">
            <a:avLst/>
          </a:prstGeom>
          <a:noFill/>
          <a:ln/>
        </p:spPr>
        <p:txBody>
          <a:bodyPr wrap="square" lIns="0" tIns="0" rIns="0" bIns="0" rtlCol="0" anchor="ctr"/>
          <a:lstStyle/>
          <a:p>
            <a:pPr marL="0" indent="0">
              <a:buNone/>
              <a:defRPr>
                <a:solidFill/>
              </a:defRPr>
            </a:pPr>
            <a:r>
              <a:rPr lang="en-US" sz="1300" b="1" dirty="0">
                <a:solidFill>
                  <a:srgbClr val="0E7C86"/>
                </a:solidFill>
                <a:latin typeface="Cambria" pitchFamily="34" charset="0"/>
                <a:ea typeface="Cambria" pitchFamily="34" charset="-122"/>
                <a:cs typeface="Cambria" pitchFamily="34" charset="-120"/>
              </a:rPr>
              <a:t>Observations</a:t>
            </a:r>
            <a:endParaRPr lang="en-US" sz="1300" dirty="0"/>
          </a:p>
        </p:txBody>
      </p:sp>
      <p:sp>
        <p:nvSpPr>
          <p:cNvPr id="15" name="Text 12"/>
          <p:cNvSpPr txBox="1"/>
          <p:nvPr/>
        </p:nvSpPr>
        <p:spPr>
          <a:xfrm>
            <a:off x="7589520" y="3154680"/>
            <a:ext cx="3931920" cy="2971800"/>
          </a:xfrm>
          <a:prstGeom prst="rect">
            <a:avLst/>
          </a:prstGeom>
          <a:noFill/>
          <a:ln/>
        </p:spPr>
        <p:txBody>
          <a:bodyPr wrap="square" rtlCol="0" anchor="t"/>
          <a:lstStyle/>
          <a:p>
            <a:pPr marL="177800" indent="-177800">
              <a:spcAft>
                <a:spcPts val="8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transcription: 33 missing records (0.66%) — dropped during cleaning</a:t>
            </a:r>
            <a:endParaRPr lang="en-US" sz="1100" dirty="0"/>
          </a:p>
          <a:p>
            <a:pPr marL="177800" indent="-177800">
              <a:spcAft>
                <a:spcPts val="8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keywords: 1,068 missing records — excluded from primary features</a:t>
            </a:r>
            <a:endParaRPr lang="en-US" sz="1100" dirty="0"/>
          </a:p>
          <a:p>
            <a:pPr marL="177800" indent="-177800">
              <a:spcAft>
                <a:spcPts val="8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description: 6 missing records</a:t>
            </a:r>
            <a:endParaRPr lang="en-US" sz="1100" dirty="0"/>
          </a:p>
          <a:p>
            <a:pPr marL="177800" indent="-177800">
              <a:spcAft>
                <a:spcPts val="8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medical_specialty (target): 0 missing values</a:t>
            </a:r>
            <a:endParaRPr lang="en-US" sz="1100" dirty="0"/>
          </a:p>
          <a:p>
            <a:pPr marL="177800" indent="-177800">
              <a:spcAft>
                <a:spcPts val="800"/>
              </a:spcAft>
              <a:buSzPct val="100000"/>
              <a:buChar char="•"/>
              <a:defRPr>
                <a:solidFill/>
              </a:defRPr>
            </a:pPr>
            <a:r>
              <a:rPr lang="en-US" sz="1250" dirty="0">
                <a:solidFill>
                  <a:srgbClr val="000000"/>
                </a:solidFill>
                <a:latin typeface="Calibri" pitchFamily="34" charset="0"/>
                <a:ea typeface="Calibri" pitchFamily="34" charset="-122"/>
                <a:cs typeface="Calibri" pitchFamily="34" charset="-120"/>
              </a:rPr>
              <a:t>Duplicate check via .duplicated() confirmed no duplicate clinical reports in the corpus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lstStyle/>
          <a:p>
            <a:pPr>
              <a:defRPr>
                <a:solidFill/>
              </a:defRPr>
            </a:pPr>
            <a:endParaR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marL="0" indent="0" algn="ctr">
              <a:buNone/>
              <a:defRPr>
                <a:solidFill/>
              </a:defRPr>
            </a:pPr>
            <a:r>
              <a:rPr lang="en-US" sz="1050" b="1" kern="0" spc="100" dirty="0">
                <a:solidFill>
                  <a:srgbClr val="FFFFFF"/>
                </a:solidFill>
                <a:latin typeface="Calibri" pitchFamily="34" charset="0"/>
                <a:ea typeface="Calibri" pitchFamily="34" charset="-122"/>
                <a:cs typeface="Calibri" pitchFamily="34" charset="-120"/>
              </a:rPr>
              <a:t>MCA MINI PROJECT | DATA VISUALIZATION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marL="0" indent="0" algn="l">
              <a:buNone/>
              <a:defRPr>
                <a:solidFill/>
              </a:defRPr>
            </a:pPr>
            <a:r>
              <a:rPr lang="en-US" sz="2700" b="1" dirty="0">
                <a:solidFill>
                  <a:srgbClr val="0B1F3A"/>
                </a:solidFill>
                <a:latin typeface="Cambria" pitchFamily="34" charset="0"/>
                <a:ea typeface="Cambria" pitchFamily="34" charset="-122"/>
                <a:cs typeface="Cambria" pitchFamily="34" charset="-120"/>
              </a:rPr>
              <a:t>Class Distribution Across 40 Specialties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marL="0" indent="0" algn="l">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marL="0" indent="0" algn="ctr">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8 of 19</a:t>
            </a:r>
          </a:p>
        </p:txBody>
      </p:sp>
      <p:sp>
        <p:nvSpPr>
          <p:cNvPr id="8" name="Shape 6"/>
          <p:cNvSpPr/>
          <p:nvPr/>
        </p:nvSpPr>
        <p:spPr>
          <a:xfrm>
            <a:off x="457200" y="1508760"/>
            <a:ext cx="6949440" cy="4892040"/>
          </a:xfrm>
          <a:prstGeom prst="roundRect">
            <a:avLst>
              <a:gd name="adj" fmla="val 1682"/>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pic>
        <p:nvPicPr>
          <p:cNvPr id="9" name="Image 0" descr="/home/claude/imgs/img-004.png"/>
          <p:cNvPicPr>
            <a:picLocks noChangeAspect="1"/>
          </p:cNvPicPr>
          <p:nvPr/>
        </p:nvPicPr>
        <p:blipFill>
          <a:blip r:embed="rId3"/>
          <a:stretch>
            <a:fillRect/>
          </a:stretch>
        </p:blipFill>
        <p:spPr>
          <a:xfrm>
            <a:off x="1503590" y="1691640"/>
            <a:ext cx="4856661" cy="4160520"/>
          </a:xfrm>
          <a:prstGeom prst="rect">
            <a:avLst/>
          </a:prstGeom>
        </p:spPr>
      </p:pic>
      <p:sp>
        <p:nvSpPr>
          <p:cNvPr id="10" name="Text 7"/>
          <p:cNvSpPr txBox="1"/>
          <p:nvPr/>
        </p:nvSpPr>
        <p:spPr>
          <a:xfrm>
            <a:off x="640080" y="5943600"/>
            <a:ext cx="6492240" cy="274320"/>
          </a:xfrm>
          <a:prstGeom prst="rect">
            <a:avLst/>
          </a:prstGeom>
          <a:noFill/>
          <a:ln/>
        </p:spPr>
        <p:txBody>
          <a:bodyPr wrap="square" lIns="0" tIns="0" rIns="0" bIns="0" rtlCol="0" anchor="ctr"/>
          <a:lstStyle/>
          <a:p>
            <a:pPr marL="0" indent="0" algn="ctr">
              <a:buNone/>
              <a:defRPr>
                <a:solidFill/>
              </a:defRPr>
            </a:pPr>
            <a:r>
              <a:rPr lang="en-US" sz="1100" i="1" dirty="0">
                <a:solidFill>
                  <a:srgbClr val="000000"/>
                </a:solidFill>
                <a:latin typeface="Calibri" pitchFamily="34" charset="0"/>
                <a:ea typeface="Calibri" pitchFamily="34" charset="-122"/>
                <a:cs typeface="Calibri" pitchFamily="34" charset="-120"/>
              </a:rPr>
              <a:t>Figure: Full Distribution of Medical Specialties (40 classes)</a:t>
            </a:r>
            <a:endParaRPr lang="en-US" sz="950" dirty="0"/>
          </a:p>
        </p:txBody>
      </p:sp>
      <p:sp>
        <p:nvSpPr>
          <p:cNvPr id="11" name="Text 8"/>
          <p:cNvSpPr txBox="1"/>
          <p:nvPr/>
        </p:nvSpPr>
        <p:spPr>
          <a:xfrm>
            <a:off x="7571232" y="1508760"/>
            <a:ext cx="4160520" cy="274320"/>
          </a:xfrm>
          <a:prstGeom prst="rect">
            <a:avLst/>
          </a:prstGeom>
          <a:noFill/>
          <a:ln/>
        </p:spPr>
        <p:txBody>
          <a:bodyPr wrap="square" lIns="0" tIns="0" rIns="0" bIns="0" rtlCol="0" anchor="ctr"/>
          <a:lstStyle/>
          <a:p>
            <a:pPr marL="0" indent="0">
              <a:buNone/>
              <a:defRPr>
                <a:solidFill/>
              </a:defRPr>
            </a:pPr>
            <a:r>
              <a:rPr lang="en-US" sz="1250" i="1" dirty="0">
                <a:solidFill>
                  <a:srgbClr val="000000"/>
                </a:solidFill>
                <a:latin typeface="Calibri" pitchFamily="34" charset="0"/>
                <a:ea typeface="Calibri" pitchFamily="34" charset="-122"/>
                <a:cs typeface="Calibri" pitchFamily="34" charset="-120"/>
              </a:rPr>
              <a:t>Library: Matplotlib / Seaborn</a:t>
            </a:r>
            <a:endParaRPr lang="en-US" sz="1100" dirty="0"/>
          </a:p>
        </p:txBody>
      </p:sp>
      <p:sp>
        <p:nvSpPr>
          <p:cNvPr id="12" name="Shape 9"/>
          <p:cNvSpPr/>
          <p:nvPr/>
        </p:nvSpPr>
        <p:spPr>
          <a:xfrm>
            <a:off x="7571232" y="1874520"/>
            <a:ext cx="4160520" cy="1051560"/>
          </a:xfrm>
          <a:prstGeom prst="roundRect">
            <a:avLst>
              <a:gd name="adj" fmla="val 7826"/>
            </a:avLst>
          </a:prstGeom>
          <a:solidFill>
            <a:srgbClr val="EAF6F5"/>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13" name="Text 10"/>
          <p:cNvSpPr txBox="1"/>
          <p:nvPr/>
        </p:nvSpPr>
        <p:spPr>
          <a:xfrm>
            <a:off x="7772400" y="1965960"/>
            <a:ext cx="1463040" cy="502920"/>
          </a:xfrm>
          <a:prstGeom prst="rect">
            <a:avLst/>
          </a:prstGeom>
          <a:noFill/>
          <a:ln/>
        </p:spPr>
        <p:txBody>
          <a:bodyPr wrap="square" lIns="0" tIns="0" rIns="0" bIns="0" rtlCol="0" anchor="ctr"/>
          <a:lstStyle/>
          <a:p>
            <a:pPr marL="0" indent="0">
              <a:buNone/>
              <a:defRPr>
                <a:solidFill/>
              </a:defRPr>
            </a:pPr>
            <a:r>
              <a:rPr lang="en-US" sz="2400" b="1" dirty="0">
                <a:solidFill>
                  <a:srgbClr val="0E7C86"/>
                </a:solidFill>
                <a:latin typeface="Cambria" pitchFamily="34" charset="0"/>
                <a:ea typeface="Cambria" pitchFamily="34" charset="-122"/>
                <a:cs typeface="Cambria" pitchFamily="34" charset="-120"/>
              </a:rPr>
              <a:t>1,103</a:t>
            </a:r>
            <a:endParaRPr lang="en-US" sz="2400" dirty="0"/>
          </a:p>
        </p:txBody>
      </p:sp>
      <p:sp>
        <p:nvSpPr>
          <p:cNvPr id="14" name="Text 11"/>
          <p:cNvSpPr txBox="1"/>
          <p:nvPr/>
        </p:nvSpPr>
        <p:spPr>
          <a:xfrm>
            <a:off x="7772400" y="2487168"/>
            <a:ext cx="3566160" cy="365760"/>
          </a:xfrm>
          <a:prstGeom prst="rect">
            <a:avLst/>
          </a:prstGeom>
          <a:noFill/>
          <a:ln/>
        </p:spPr>
        <p:txBody>
          <a:bodyPr wrap="square" lIns="0" tIns="0" rIns="0" bIns="0" rtlCol="0" anchor="ctr"/>
          <a:lstStyle/>
          <a:p>
            <a:pPr marL="0" indent="0">
              <a:buNone/>
              <a:defRPr>
                <a:solidFill/>
              </a:defRPr>
            </a:pPr>
            <a:r>
              <a:rPr lang="en-US" sz="1200" dirty="0">
                <a:solidFill>
                  <a:srgbClr val="000000"/>
                </a:solidFill>
                <a:latin typeface="Calibri" pitchFamily="34" charset="0"/>
                <a:ea typeface="Calibri" pitchFamily="34" charset="-122"/>
                <a:cs typeface="Calibri" pitchFamily="34" charset="-120"/>
              </a:rPr>
              <a:t>Surgery — largest class</a:t>
            </a:r>
            <a:endParaRPr lang="en-US" sz="1050" dirty="0"/>
          </a:p>
        </p:txBody>
      </p:sp>
      <p:sp>
        <p:nvSpPr>
          <p:cNvPr id="15" name="Shape 12"/>
          <p:cNvSpPr/>
          <p:nvPr/>
        </p:nvSpPr>
        <p:spPr>
          <a:xfrm>
            <a:off x="7571232" y="3035808"/>
            <a:ext cx="4160520" cy="1051560"/>
          </a:xfrm>
          <a:prstGeom prst="roundRect">
            <a:avLst>
              <a:gd name="adj" fmla="val 7826"/>
            </a:avLst>
          </a:prstGeom>
          <a:solidFill>
            <a:srgbClr val="F2EEFA"/>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16" name="Text 13"/>
          <p:cNvSpPr txBox="1"/>
          <p:nvPr/>
        </p:nvSpPr>
        <p:spPr>
          <a:xfrm>
            <a:off x="7772400" y="3127248"/>
            <a:ext cx="1463040" cy="502920"/>
          </a:xfrm>
          <a:prstGeom prst="rect">
            <a:avLst/>
          </a:prstGeom>
          <a:noFill/>
          <a:ln/>
        </p:spPr>
        <p:txBody>
          <a:bodyPr wrap="square" lIns="0" tIns="0" rIns="0" bIns="0" rtlCol="0" anchor="ctr"/>
          <a:lstStyle/>
          <a:p>
            <a:pPr marL="0" indent="0">
              <a:buNone/>
              <a:defRPr>
                <a:solidFill/>
              </a:defRPr>
            </a:pPr>
            <a:r>
              <a:rPr lang="en-US" sz="2400" b="1" dirty="0">
                <a:solidFill>
                  <a:srgbClr val="6C4AB6"/>
                </a:solidFill>
                <a:latin typeface="Cambria" pitchFamily="34" charset="0"/>
                <a:ea typeface="Cambria" pitchFamily="34" charset="-122"/>
                <a:cs typeface="Cambria" pitchFamily="34" charset="-120"/>
              </a:rPr>
              <a:t>2</a:t>
            </a:r>
            <a:endParaRPr lang="en-US" sz="2400" dirty="0"/>
          </a:p>
        </p:txBody>
      </p:sp>
      <p:sp>
        <p:nvSpPr>
          <p:cNvPr id="17" name="Text 14"/>
          <p:cNvSpPr txBox="1"/>
          <p:nvPr/>
        </p:nvSpPr>
        <p:spPr>
          <a:xfrm>
            <a:off x="7772400" y="3648456"/>
            <a:ext cx="3566160" cy="384048"/>
          </a:xfrm>
          <a:prstGeom prst="rect">
            <a:avLst/>
          </a:prstGeom>
          <a:noFill/>
          <a:ln/>
        </p:spPr>
        <p:txBody>
          <a:bodyPr wrap="square" lIns="0" tIns="0" rIns="0" bIns="0" rtlCol="0" anchor="ctr"/>
          <a:lstStyle/>
          <a:p>
            <a:pPr marL="0" indent="0">
              <a:buNone/>
              <a:defRPr>
                <a:solidFill/>
              </a:defRPr>
            </a:pPr>
            <a:r>
              <a:rPr lang="en-US" sz="1200" dirty="0">
                <a:solidFill>
                  <a:srgbClr val="000000"/>
                </a:solidFill>
                <a:latin typeface="Calibri" pitchFamily="34" charset="0"/>
                <a:ea typeface="Calibri" pitchFamily="34" charset="-122"/>
                <a:cs typeface="Calibri" pitchFamily="34" charset="-120"/>
              </a:rPr>
              <a:t>Autopsy &amp; Executive Evaluation — smallest classes</a:t>
            </a:r>
            <a:endParaRPr lang="en-US" sz="1050" dirty="0"/>
          </a:p>
        </p:txBody>
      </p:sp>
      <p:sp>
        <p:nvSpPr>
          <p:cNvPr id="18" name="Shape 15"/>
          <p:cNvSpPr/>
          <p:nvPr/>
        </p:nvSpPr>
        <p:spPr>
          <a:xfrm>
            <a:off x="7571232" y="4197096"/>
            <a:ext cx="4160520" cy="2203704"/>
          </a:xfrm>
          <a:prstGeom prst="roundRect">
            <a:avLst>
              <a:gd name="adj" fmla="val 3734"/>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19" name="Text 16"/>
          <p:cNvSpPr txBox="1"/>
          <p:nvPr/>
        </p:nvSpPr>
        <p:spPr>
          <a:xfrm>
            <a:off x="7799832" y="4334256"/>
            <a:ext cx="3657600" cy="274320"/>
          </a:xfrm>
          <a:prstGeom prst="rect">
            <a:avLst/>
          </a:prstGeom>
          <a:noFill/>
          <a:ln/>
        </p:spPr>
        <p:txBody>
          <a:bodyPr wrap="square" lIns="0" tIns="0" rIns="0" bIns="0" rtlCol="0" anchor="ctr"/>
          <a:lstStyle/>
          <a:p>
            <a:pPr marL="0" indent="0">
              <a:buNone/>
              <a:defRPr>
                <a:solidFill/>
              </a:defRPr>
            </a:pPr>
            <a:r>
              <a:rPr lang="en-US" sz="1250" b="1" dirty="0">
                <a:solidFill>
                  <a:srgbClr val="0B1F3A"/>
                </a:solidFill>
                <a:latin typeface="Cambria" pitchFamily="34" charset="0"/>
                <a:ea typeface="Cambria" pitchFamily="34" charset="-122"/>
                <a:cs typeface="Cambria" pitchFamily="34" charset="-120"/>
              </a:rPr>
              <a:t>Insight</a:t>
            </a:r>
            <a:endParaRPr lang="en-US" sz="1250" dirty="0"/>
          </a:p>
        </p:txBody>
      </p:sp>
      <p:sp>
        <p:nvSpPr>
          <p:cNvPr id="20" name="Text 17"/>
          <p:cNvSpPr txBox="1"/>
          <p:nvPr/>
        </p:nvSpPr>
        <p:spPr>
          <a:xfrm>
            <a:off x="7799832" y="4645152"/>
            <a:ext cx="3703320" cy="1691640"/>
          </a:xfrm>
          <a:prstGeom prst="rect">
            <a:avLst/>
          </a:prstGeom>
          <a:noFill/>
          <a:ln/>
        </p:spPr>
        <p:txBody>
          <a:bodyPr wrap="square" lIns="0" tIns="0" rIns="0" bIns="0" rtlCol="0" anchor="t"/>
          <a:lstStyle/>
          <a:p>
            <a:pPr marL="0" indent="0">
              <a:lnSpc>
                <a:spcPct val="115000"/>
              </a:lnSpc>
              <a:buNone/>
              <a:defRPr>
                <a:solidFill/>
              </a:defRPr>
            </a:pPr>
            <a:r>
              <a:rPr lang="en-US" sz="1220" dirty="0">
                <a:solidFill>
                  <a:srgbClr val="000000"/>
                </a:solidFill>
                <a:latin typeface="Calibri" pitchFamily="34" charset="0"/>
                <a:ea typeface="Calibri" pitchFamily="34" charset="-122"/>
                <a:cs typeface="Calibri" pitchFamily="34" charset="-120"/>
              </a:rPr>
              <a:t>The dataset exhibits severe class imbalance — majority classes contain hundreds to over a thousand records while minority specialties have under 10. This motivates stratified 80:20 train-test splitting to preserve class proportions, and soft-voting ensemble consensus to avoid bias toward majority classes.</a:t>
            </a:r>
            <a:endParaRPr lang="en-US" sz="107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lstStyle/>
          <a:p>
            <a:pPr>
              <a:defRPr>
                <a:solidFill/>
              </a:defRPr>
            </a:pPr>
            <a:endParaR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marL="0" indent="0" algn="ctr">
              <a:buNone/>
              <a:defRPr>
                <a:solidFill/>
              </a:defRPr>
            </a:pPr>
            <a:r>
              <a:rPr lang="en-US" sz="1050" b="1" kern="0" spc="100" dirty="0">
                <a:solidFill>
                  <a:srgbClr val="FFFFFF"/>
                </a:solidFill>
                <a:latin typeface="Calibri" pitchFamily="34" charset="0"/>
                <a:ea typeface="Calibri" pitchFamily="34" charset="-122"/>
                <a:cs typeface="Calibri" pitchFamily="34" charset="-120"/>
              </a:rPr>
              <a:t>MCA MINI PROJECT | DATA VISUALIZATION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marL="0" indent="0" algn="l">
              <a:buNone/>
              <a:defRPr>
                <a:solidFill/>
              </a:defRPr>
            </a:pPr>
            <a:r>
              <a:rPr lang="en-US" sz="2700" b="1" dirty="0">
                <a:solidFill>
                  <a:srgbClr val="0B1F3A"/>
                </a:solidFill>
                <a:latin typeface="Cambria" pitchFamily="34" charset="0"/>
                <a:ea typeface="Cambria" pitchFamily="34" charset="-122"/>
                <a:cs typeface="Cambria" pitchFamily="34" charset="-120"/>
              </a:rPr>
              <a:t>Clinical Transcription Text Analysis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marL="0" indent="0" algn="l">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marL="0" indent="0" algn="ctr">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9 of 19</a:t>
            </a:r>
          </a:p>
        </p:txBody>
      </p:sp>
      <p:sp>
        <p:nvSpPr>
          <p:cNvPr id="8" name="Text 6"/>
          <p:cNvSpPr txBox="1"/>
          <p:nvPr/>
        </p:nvSpPr>
        <p:spPr>
          <a:xfrm>
            <a:off x="457200" y="1417320"/>
            <a:ext cx="5486400" cy="274320"/>
          </a:xfrm>
          <a:prstGeom prst="rect">
            <a:avLst/>
          </a:prstGeom>
          <a:noFill/>
          <a:ln/>
        </p:spPr>
        <p:txBody>
          <a:bodyPr wrap="square" lIns="0" tIns="0" rIns="0" bIns="0" rtlCol="0" anchor="ctr"/>
          <a:lstStyle/>
          <a:p>
            <a:pPr marL="0" indent="0">
              <a:buNone/>
              <a:defRPr>
                <a:solidFill/>
              </a:defRPr>
            </a:pPr>
            <a:r>
              <a:rPr lang="en-US" sz="1250" i="1" dirty="0">
                <a:solidFill>
                  <a:srgbClr val="000000"/>
                </a:solidFill>
                <a:latin typeface="Calibri" pitchFamily="34" charset="0"/>
                <a:ea typeface="Calibri" pitchFamily="34" charset="-122"/>
                <a:cs typeface="Calibri" pitchFamily="34" charset="-120"/>
              </a:rPr>
              <a:t>Library: Matplotlib / Seaborn / WordCloud</a:t>
            </a:r>
            <a:endParaRPr lang="en-US" sz="1100" dirty="0"/>
          </a:p>
        </p:txBody>
      </p:sp>
      <p:sp>
        <p:nvSpPr>
          <p:cNvPr id="9" name="Shape 7"/>
          <p:cNvSpPr/>
          <p:nvPr/>
        </p:nvSpPr>
        <p:spPr>
          <a:xfrm>
            <a:off x="457200" y="1737360"/>
            <a:ext cx="5623560" cy="2788920"/>
          </a:xfrm>
          <a:prstGeom prst="roundRect">
            <a:avLst>
              <a:gd name="adj" fmla="val 2951"/>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pic>
        <p:nvPicPr>
          <p:cNvPr id="10" name="Image 0" descr="/home/claude/imgs/img-006.png"/>
          <p:cNvPicPr>
            <a:picLocks noChangeAspect="1"/>
          </p:cNvPicPr>
          <p:nvPr/>
        </p:nvPicPr>
        <p:blipFill>
          <a:blip r:embed="rId3"/>
          <a:stretch>
            <a:fillRect/>
          </a:stretch>
        </p:blipFill>
        <p:spPr>
          <a:xfrm>
            <a:off x="964878" y="1874520"/>
            <a:ext cx="4608204" cy="2286000"/>
          </a:xfrm>
          <a:prstGeom prst="rect">
            <a:avLst/>
          </a:prstGeom>
        </p:spPr>
      </p:pic>
      <p:sp>
        <p:nvSpPr>
          <p:cNvPr id="11" name="Text 8"/>
          <p:cNvSpPr txBox="1"/>
          <p:nvPr/>
        </p:nvSpPr>
        <p:spPr>
          <a:xfrm>
            <a:off x="548640" y="4233672"/>
            <a:ext cx="5486400" cy="228600"/>
          </a:xfrm>
          <a:prstGeom prst="rect">
            <a:avLst/>
          </a:prstGeom>
          <a:noFill/>
          <a:ln/>
        </p:spPr>
        <p:txBody>
          <a:bodyPr wrap="square" lIns="0" tIns="0" rIns="0" bIns="0" rtlCol="0" anchor="ctr"/>
          <a:lstStyle/>
          <a:p>
            <a:pPr marL="0" indent="0" algn="ctr">
              <a:buNone/>
              <a:defRPr>
                <a:solidFill/>
              </a:defRPr>
            </a:pPr>
            <a:r>
              <a:rPr lang="en-US" sz="1100" i="1" dirty="0">
                <a:solidFill>
                  <a:srgbClr val="000000"/>
                </a:solidFill>
                <a:latin typeface="Calibri" pitchFamily="34" charset="0"/>
                <a:ea typeface="Calibri" pitchFamily="34" charset="-122"/>
                <a:cs typeface="Calibri" pitchFamily="34" charset="-120"/>
              </a:rPr>
              <a:t>Fig: Transcription Length Distribution</a:t>
            </a:r>
            <a:endParaRPr lang="en-US" sz="950" dirty="0"/>
          </a:p>
        </p:txBody>
      </p:sp>
      <p:sp>
        <p:nvSpPr>
          <p:cNvPr id="12" name="Shape 9"/>
          <p:cNvSpPr/>
          <p:nvPr/>
        </p:nvSpPr>
        <p:spPr>
          <a:xfrm>
            <a:off x="6245352" y="1737360"/>
            <a:ext cx="5486400" cy="2788920"/>
          </a:xfrm>
          <a:prstGeom prst="roundRect">
            <a:avLst>
              <a:gd name="adj" fmla="val 2951"/>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pic>
        <p:nvPicPr>
          <p:cNvPr id="13" name="Image 1" descr="/home/claude/imgs/img-010.png"/>
          <p:cNvPicPr>
            <a:picLocks noChangeAspect="1"/>
          </p:cNvPicPr>
          <p:nvPr/>
        </p:nvPicPr>
        <p:blipFill>
          <a:blip r:embed="rId4"/>
          <a:stretch>
            <a:fillRect/>
          </a:stretch>
        </p:blipFill>
        <p:spPr>
          <a:xfrm>
            <a:off x="7044424" y="1874520"/>
            <a:ext cx="3888256" cy="2286000"/>
          </a:xfrm>
          <a:prstGeom prst="rect">
            <a:avLst/>
          </a:prstGeom>
        </p:spPr>
      </p:pic>
      <p:sp>
        <p:nvSpPr>
          <p:cNvPr id="14" name="Text 10"/>
          <p:cNvSpPr txBox="1"/>
          <p:nvPr/>
        </p:nvSpPr>
        <p:spPr>
          <a:xfrm>
            <a:off x="6336792" y="4233672"/>
            <a:ext cx="5303520" cy="228600"/>
          </a:xfrm>
          <a:prstGeom prst="rect">
            <a:avLst/>
          </a:prstGeom>
          <a:noFill/>
          <a:ln/>
        </p:spPr>
        <p:txBody>
          <a:bodyPr wrap="square" lIns="0" tIns="0" rIns="0" bIns="0" rtlCol="0" anchor="ctr"/>
          <a:lstStyle/>
          <a:p>
            <a:pPr marL="0" indent="0" algn="ctr">
              <a:buNone/>
              <a:defRPr>
                <a:solidFill/>
              </a:defRPr>
            </a:pPr>
            <a:r>
              <a:rPr lang="en-US" sz="1100" i="1" dirty="0">
                <a:solidFill>
                  <a:srgbClr val="000000"/>
                </a:solidFill>
                <a:latin typeface="Calibri" pitchFamily="34" charset="0"/>
                <a:ea typeface="Calibri" pitchFamily="34" charset="-122"/>
                <a:cs typeface="Calibri" pitchFamily="34" charset="-120"/>
              </a:rPr>
              <a:t>Fig: Word Cloud of Common Clinical Terms</a:t>
            </a:r>
            <a:endParaRPr lang="en-US" sz="950" dirty="0"/>
          </a:p>
        </p:txBody>
      </p:sp>
      <p:sp>
        <p:nvSpPr>
          <p:cNvPr id="15" name="Shape 11"/>
          <p:cNvSpPr/>
          <p:nvPr/>
        </p:nvSpPr>
        <p:spPr>
          <a:xfrm>
            <a:off x="457200" y="4709160"/>
            <a:ext cx="11274552" cy="1554480"/>
          </a:xfrm>
          <a:prstGeom prst="roundRect">
            <a:avLst>
              <a:gd name="adj" fmla="val 5294"/>
            </a:avLst>
          </a:prstGeom>
          <a:solidFill>
            <a:srgbClr val="EAF6F5"/>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16" name="Text 12"/>
          <p:cNvSpPr txBox="1"/>
          <p:nvPr/>
        </p:nvSpPr>
        <p:spPr>
          <a:xfrm>
            <a:off x="685800" y="4828032"/>
            <a:ext cx="3657600" cy="274320"/>
          </a:xfrm>
          <a:prstGeom prst="rect">
            <a:avLst/>
          </a:prstGeom>
          <a:noFill/>
          <a:ln/>
        </p:spPr>
        <p:txBody>
          <a:bodyPr wrap="square" lIns="0" tIns="0" rIns="0" bIns="0" rtlCol="0" anchor="ctr"/>
          <a:lstStyle/>
          <a:p>
            <a:pPr marL="0" indent="0">
              <a:buNone/>
              <a:defRPr>
                <a:solidFill/>
              </a:defRPr>
            </a:pPr>
            <a:r>
              <a:rPr lang="en-US" sz="1300" b="1" dirty="0">
                <a:solidFill>
                  <a:srgbClr val="0E7C86"/>
                </a:solidFill>
                <a:latin typeface="Cambria" pitchFamily="34" charset="0"/>
                <a:ea typeface="Cambria" pitchFamily="34" charset="-122"/>
                <a:cs typeface="Cambria" pitchFamily="34" charset="-120"/>
              </a:rPr>
              <a:t>Key Insights</a:t>
            </a:r>
            <a:endParaRPr lang="en-US" sz="1300" dirty="0"/>
          </a:p>
        </p:txBody>
      </p:sp>
      <p:sp>
        <p:nvSpPr>
          <p:cNvPr id="17" name="Text 13"/>
          <p:cNvSpPr txBox="1"/>
          <p:nvPr/>
        </p:nvSpPr>
        <p:spPr>
          <a:xfrm>
            <a:off x="685800" y="5120640"/>
            <a:ext cx="10835640" cy="1097280"/>
          </a:xfrm>
          <a:prstGeom prst="rect">
            <a:avLst/>
          </a:prstGeom>
          <a:noFill/>
          <a:ln/>
        </p:spPr>
        <p:txBody>
          <a:bodyPr wrap="square" rtlCol="0" anchor="t"/>
          <a:lstStyle/>
          <a:p>
            <a:pPr marL="177800" indent="-177800">
              <a:spcAft>
                <a:spcPts val="500"/>
              </a:spcAft>
              <a:buSzPct val="100000"/>
              <a:buChar char="•"/>
              <a:defRPr>
                <a:solidFill/>
              </a:defRPr>
            </a:pPr>
            <a:r>
              <a:rPr lang="en-US" sz="1200" dirty="0">
                <a:solidFill>
                  <a:srgbClr val="000000"/>
                </a:solidFill>
                <a:latin typeface="Calibri" pitchFamily="34" charset="0"/>
                <a:ea typeface="Calibri" pitchFamily="34" charset="-122"/>
                <a:cs typeface="Calibri" pitchFamily="34" charset="-120"/>
              </a:rPr>
              <a:t>Median narrative length is ~350–500 words; distribution is right-skewed, extending up to ~3,000 words</a:t>
            </a:r>
            <a:endParaRPr lang="en-US" sz="1050" dirty="0"/>
          </a:p>
          <a:p>
            <a:pPr marL="177800" indent="-177800">
              <a:spcAft>
                <a:spcPts val="500"/>
              </a:spcAft>
              <a:buSzPct val="100000"/>
              <a:buChar char="•"/>
              <a:defRPr>
                <a:solidFill/>
              </a:defRPr>
            </a:pPr>
            <a:r>
              <a:rPr lang="en-US" sz="1200" dirty="0">
                <a:solidFill>
                  <a:srgbClr val="000000"/>
                </a:solidFill>
                <a:latin typeface="Calibri" pitchFamily="34" charset="0"/>
                <a:ea typeface="Calibri" pitchFamily="34" charset="-122"/>
                <a:cs typeface="Calibri" pitchFamily="34" charset="-120"/>
              </a:rPr>
              <a:t>Frequent terms (“placed”, “noted”, “used”, “time”, “removed”) are generic clinical-documentation vocabulary shared across specialties</a:t>
            </a:r>
            <a:endParaRPr lang="en-US" sz="1050" dirty="0"/>
          </a:p>
          <a:p>
            <a:pPr marL="177800" indent="-177800">
              <a:spcAft>
                <a:spcPts val="500"/>
              </a:spcAft>
              <a:buSzPct val="100000"/>
              <a:buChar char="•"/>
              <a:defRPr>
                <a:solidFill/>
              </a:defRPr>
            </a:pPr>
            <a:r>
              <a:rPr lang="en-US" sz="1200" dirty="0">
                <a:solidFill>
                  <a:srgbClr val="000000"/>
                </a:solidFill>
                <a:latin typeface="Calibri" pitchFamily="34" charset="0"/>
                <a:ea typeface="Calibri" pitchFamily="34" charset="-122"/>
                <a:cs typeface="Calibri" pitchFamily="34" charset="-120"/>
              </a:rPr>
              <a:t>Variable length and generic high-frequency terms motivate TF-IDF's IDF weighting and L2 normalization to emphasize specialty-specific vocabulary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lstStyle/>
          <a:p>
            <a:pPr>
              <a:defRPr>
                <a:solidFill/>
              </a:defRPr>
            </a:pPr>
            <a:endParaR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marL="0" indent="0" algn="ctr">
              <a:buNone/>
              <a:defRPr>
                <a:solidFill/>
              </a:defRPr>
            </a:pPr>
            <a:r>
              <a:rPr lang="en-US" sz="1050" b="1" kern="0" spc="10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marL="0" indent="0" algn="l">
              <a:buNone/>
              <a:defRPr>
                <a:solidFill/>
              </a:defRPr>
            </a:pPr>
            <a:r>
              <a:rPr lang="en-US" sz="2700" b="1" dirty="0">
                <a:solidFill>
                  <a:srgbClr val="0B1F3A"/>
                </a:solidFill>
                <a:latin typeface="Cambria" pitchFamily="34" charset="0"/>
                <a:ea typeface="Cambria" pitchFamily="34" charset="-122"/>
                <a:cs typeface="Cambria" pitchFamily="34" charset="-120"/>
              </a:rPr>
              <a:t>EDA Insights &amp; Conclusions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marL="0" indent="0" algn="l">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marL="0" indent="0" algn="ctr">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10 of 19</a:t>
            </a:r>
          </a:p>
        </p:txBody>
      </p:sp>
      <p:sp>
        <p:nvSpPr>
          <p:cNvPr id="8" name="Shape 6"/>
          <p:cNvSpPr/>
          <p:nvPr/>
        </p:nvSpPr>
        <p:spPr>
          <a:xfrm>
            <a:off x="457200" y="1572768"/>
            <a:ext cx="3639312" cy="2148840"/>
          </a:xfrm>
          <a:prstGeom prst="roundRect">
            <a:avLst>
              <a:gd name="adj" fmla="val 3830"/>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9" name="Shape 7"/>
          <p:cNvSpPr/>
          <p:nvPr/>
        </p:nvSpPr>
        <p:spPr>
          <a:xfrm>
            <a:off x="640080" y="1755648"/>
            <a:ext cx="548640" cy="548640"/>
          </a:xfrm>
          <a:prstGeom prst="ellipse">
            <a:avLst/>
          </a:prstGeom>
          <a:solidFill>
            <a:srgbClr val="6C4AB6"/>
          </a:solidFill>
          <a:ln/>
        </p:spPr>
        <p:txBody>
          <a:bodyPr/>
          <a:lstStyle/>
          <a:p>
            <a:pPr>
              <a:defRPr>
                <a:solidFill/>
              </a:defRPr>
            </a:pPr>
            <a:endParaRPr/>
          </a:p>
        </p:txBody>
      </p:sp>
      <p:sp>
        <p:nvSpPr>
          <p:cNvPr id="10" name="Text 8"/>
          <p:cNvSpPr txBox="1"/>
          <p:nvPr/>
        </p:nvSpPr>
        <p:spPr>
          <a:xfrm>
            <a:off x="640080" y="1755648"/>
            <a:ext cx="548640" cy="548640"/>
          </a:xfrm>
          <a:prstGeom prst="rect">
            <a:avLst/>
          </a:prstGeom>
          <a:noFill/>
          <a:ln/>
        </p:spPr>
        <p:txBody>
          <a:bodyPr wrap="square" lIns="0" tIns="0" rIns="0" bIns="0" rtlCol="0" anchor="ctr"/>
          <a:lstStyle/>
          <a:p>
            <a:pPr marL="0" indent="0" algn="ctr">
              <a:buNone/>
              <a:defRPr>
                <a:solidFill/>
              </a:defRPr>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1280160" y="1773936"/>
            <a:ext cx="2633472" cy="548640"/>
          </a:xfrm>
          <a:prstGeom prst="rect">
            <a:avLst/>
          </a:prstGeom>
          <a:noFill/>
          <a:ln/>
        </p:spPr>
        <p:txBody>
          <a:bodyPr wrap="square" lIns="0" tIns="0" rIns="0" bIns="0" rtlCol="0" anchor="t"/>
          <a:lstStyle/>
          <a:p>
            <a:pPr marL="0" indent="0">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Severe Class Imbalance</a:t>
            </a:r>
            <a:endParaRPr lang="en-US" sz="1250" dirty="0"/>
          </a:p>
        </p:txBody>
      </p:sp>
      <p:sp>
        <p:nvSpPr>
          <p:cNvPr id="12" name="Text 10"/>
          <p:cNvSpPr txBox="1"/>
          <p:nvPr/>
        </p:nvSpPr>
        <p:spPr>
          <a:xfrm>
            <a:off x="713232" y="2414016"/>
            <a:ext cx="3127248" cy="1188720"/>
          </a:xfrm>
          <a:prstGeom prst="rect">
            <a:avLst/>
          </a:prstGeom>
          <a:noFill/>
          <a:ln/>
        </p:spPr>
        <p:txBody>
          <a:bodyPr wrap="square" lIns="0" tIns="0" rIns="0" bIns="0" rtlCol="0" anchor="t"/>
          <a:lstStyle/>
          <a:p>
            <a:pPr marL="0" indent="0">
              <a:lnSpc>
                <a:spcPct val="115000"/>
              </a:lnSpc>
              <a:buNone/>
              <a:defRPr>
                <a:solidFill/>
              </a:defRPr>
            </a:pPr>
            <a:r>
              <a:rPr lang="en-US" sz="1180" dirty="0">
                <a:solidFill>
                  <a:srgbClr val="000000"/>
                </a:solidFill>
                <a:latin typeface="Calibri" pitchFamily="34" charset="0"/>
                <a:ea typeface="Calibri" pitchFamily="34" charset="-122"/>
                <a:cs typeface="Calibri" pitchFamily="34" charset="-120"/>
              </a:rPr>
              <a:t>Surgery (1,103) vs. Autopsy (2) — requires stratified splitting &amp; ensemble voting.</a:t>
            </a:r>
            <a:endParaRPr lang="en-US" sz="1030" dirty="0"/>
          </a:p>
        </p:txBody>
      </p:sp>
      <p:sp>
        <p:nvSpPr>
          <p:cNvPr id="13" name="Shape 11"/>
          <p:cNvSpPr/>
          <p:nvPr/>
        </p:nvSpPr>
        <p:spPr>
          <a:xfrm>
            <a:off x="4233672" y="1572768"/>
            <a:ext cx="3639312" cy="2148840"/>
          </a:xfrm>
          <a:prstGeom prst="roundRect">
            <a:avLst>
              <a:gd name="adj" fmla="val 3830"/>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14" name="Shape 12"/>
          <p:cNvSpPr/>
          <p:nvPr/>
        </p:nvSpPr>
        <p:spPr>
          <a:xfrm>
            <a:off x="4416552" y="1755648"/>
            <a:ext cx="548640" cy="548640"/>
          </a:xfrm>
          <a:prstGeom prst="ellipse">
            <a:avLst/>
          </a:prstGeom>
          <a:solidFill>
            <a:srgbClr val="0E7C86"/>
          </a:solidFill>
          <a:ln/>
        </p:spPr>
        <p:txBody>
          <a:bodyPr/>
          <a:lstStyle/>
          <a:p>
            <a:pPr>
              <a:defRPr>
                <a:solidFill/>
              </a:defRPr>
            </a:pPr>
            <a:endParaRPr/>
          </a:p>
        </p:txBody>
      </p:sp>
      <p:sp>
        <p:nvSpPr>
          <p:cNvPr id="15" name="Text 13"/>
          <p:cNvSpPr txBox="1"/>
          <p:nvPr/>
        </p:nvSpPr>
        <p:spPr>
          <a:xfrm>
            <a:off x="4416552" y="1755648"/>
            <a:ext cx="548640" cy="548640"/>
          </a:xfrm>
          <a:prstGeom prst="rect">
            <a:avLst/>
          </a:prstGeom>
          <a:noFill/>
          <a:ln/>
        </p:spPr>
        <p:txBody>
          <a:bodyPr wrap="square" lIns="0" tIns="0" rIns="0" bIns="0" rtlCol="0" anchor="ctr"/>
          <a:lstStyle/>
          <a:p>
            <a:pPr marL="0" indent="0" algn="ctr">
              <a:buNone/>
              <a:defRPr>
                <a:solidFill/>
              </a:defRPr>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Text 14"/>
          <p:cNvSpPr txBox="1"/>
          <p:nvPr/>
        </p:nvSpPr>
        <p:spPr>
          <a:xfrm>
            <a:off x="5056632" y="1773936"/>
            <a:ext cx="2633472" cy="548640"/>
          </a:xfrm>
          <a:prstGeom prst="rect">
            <a:avLst/>
          </a:prstGeom>
          <a:noFill/>
          <a:ln/>
        </p:spPr>
        <p:txBody>
          <a:bodyPr wrap="square" lIns="0" tIns="0" rIns="0" bIns="0" rtlCol="0" anchor="t"/>
          <a:lstStyle/>
          <a:p>
            <a:pPr marL="0" indent="0">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Variable Text Length</a:t>
            </a:r>
            <a:endParaRPr lang="en-US" sz="1250" dirty="0"/>
          </a:p>
        </p:txBody>
      </p:sp>
      <p:sp>
        <p:nvSpPr>
          <p:cNvPr id="17" name="Text 15"/>
          <p:cNvSpPr txBox="1"/>
          <p:nvPr/>
        </p:nvSpPr>
        <p:spPr>
          <a:xfrm>
            <a:off x="4489704" y="2414016"/>
            <a:ext cx="3127248" cy="1188720"/>
          </a:xfrm>
          <a:prstGeom prst="rect">
            <a:avLst/>
          </a:prstGeom>
          <a:noFill/>
          <a:ln/>
        </p:spPr>
        <p:txBody>
          <a:bodyPr wrap="square" lIns="0" tIns="0" rIns="0" bIns="0" rtlCol="0" anchor="t"/>
          <a:lstStyle/>
          <a:p>
            <a:pPr marL="0" indent="0">
              <a:lnSpc>
                <a:spcPct val="115000"/>
              </a:lnSpc>
              <a:buNone/>
              <a:defRPr>
                <a:solidFill/>
              </a:defRPr>
            </a:pPr>
            <a:r>
              <a:rPr lang="en-US" sz="1180" dirty="0">
                <a:solidFill>
                  <a:srgbClr val="000000"/>
                </a:solidFill>
                <a:latin typeface="Calibri" pitchFamily="34" charset="0"/>
                <a:ea typeface="Calibri" pitchFamily="34" charset="-122"/>
                <a:cs typeface="Calibri" pitchFamily="34" charset="-120"/>
              </a:rPr>
              <a:t>200–3,000 words per report — needs TF-IDF with L2 normalization.</a:t>
            </a:r>
            <a:endParaRPr lang="en-US" sz="1030" dirty="0"/>
          </a:p>
        </p:txBody>
      </p:sp>
      <p:sp>
        <p:nvSpPr>
          <p:cNvPr id="18" name="Shape 16"/>
          <p:cNvSpPr/>
          <p:nvPr/>
        </p:nvSpPr>
        <p:spPr>
          <a:xfrm>
            <a:off x="8010144" y="1572768"/>
            <a:ext cx="3639312" cy="2148840"/>
          </a:xfrm>
          <a:prstGeom prst="roundRect">
            <a:avLst>
              <a:gd name="adj" fmla="val 3830"/>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19" name="Shape 17"/>
          <p:cNvSpPr/>
          <p:nvPr/>
        </p:nvSpPr>
        <p:spPr>
          <a:xfrm>
            <a:off x="8193024" y="1755648"/>
            <a:ext cx="548640" cy="548640"/>
          </a:xfrm>
          <a:prstGeom prst="ellipse">
            <a:avLst/>
          </a:prstGeom>
          <a:solidFill>
            <a:srgbClr val="13294B"/>
          </a:solidFill>
          <a:ln/>
        </p:spPr>
        <p:txBody>
          <a:bodyPr/>
          <a:lstStyle/>
          <a:p>
            <a:pPr>
              <a:defRPr>
                <a:solidFill/>
              </a:defRPr>
            </a:pPr>
            <a:endParaRPr/>
          </a:p>
        </p:txBody>
      </p:sp>
      <p:sp>
        <p:nvSpPr>
          <p:cNvPr id="20" name="Text 18"/>
          <p:cNvSpPr txBox="1"/>
          <p:nvPr/>
        </p:nvSpPr>
        <p:spPr>
          <a:xfrm>
            <a:off x="8193024" y="1755648"/>
            <a:ext cx="548640" cy="548640"/>
          </a:xfrm>
          <a:prstGeom prst="rect">
            <a:avLst/>
          </a:prstGeom>
          <a:noFill/>
          <a:ln/>
        </p:spPr>
        <p:txBody>
          <a:bodyPr wrap="square" lIns="0" tIns="0" rIns="0" bIns="0" rtlCol="0" anchor="ctr"/>
          <a:lstStyle/>
          <a:p>
            <a:pPr marL="0" indent="0" algn="ctr">
              <a:buNone/>
              <a:defRPr>
                <a:solidFill/>
              </a:defRPr>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1" name="Text 19"/>
          <p:cNvSpPr txBox="1"/>
          <p:nvPr/>
        </p:nvSpPr>
        <p:spPr>
          <a:xfrm>
            <a:off x="8833104" y="1773936"/>
            <a:ext cx="2633472" cy="548640"/>
          </a:xfrm>
          <a:prstGeom prst="rect">
            <a:avLst/>
          </a:prstGeom>
          <a:noFill/>
          <a:ln/>
        </p:spPr>
        <p:txBody>
          <a:bodyPr wrap="square" lIns="0" tIns="0" rIns="0" bIns="0" rtlCol="0" anchor="t"/>
          <a:lstStyle/>
          <a:p>
            <a:pPr marL="0" indent="0">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High-Dimensional Text</a:t>
            </a:r>
            <a:endParaRPr lang="en-US" sz="1250" dirty="0"/>
          </a:p>
        </p:txBody>
      </p:sp>
      <p:sp>
        <p:nvSpPr>
          <p:cNvPr id="22" name="Text 20"/>
          <p:cNvSpPr txBox="1"/>
          <p:nvPr/>
        </p:nvSpPr>
        <p:spPr>
          <a:xfrm>
            <a:off x="8266176" y="2414016"/>
            <a:ext cx="3127248" cy="1188720"/>
          </a:xfrm>
          <a:prstGeom prst="rect">
            <a:avLst/>
          </a:prstGeom>
          <a:noFill/>
          <a:ln/>
        </p:spPr>
        <p:txBody>
          <a:bodyPr wrap="square" lIns="0" tIns="0" rIns="0" bIns="0" rtlCol="0" anchor="t"/>
          <a:lstStyle/>
          <a:p>
            <a:pPr marL="0" indent="0">
              <a:lnSpc>
                <a:spcPct val="115000"/>
              </a:lnSpc>
              <a:buNone/>
              <a:defRPr>
                <a:solidFill/>
              </a:defRPr>
            </a:pPr>
            <a:r>
              <a:rPr lang="en-US" sz="1180" dirty="0">
                <a:solidFill>
                  <a:srgbClr val="000000"/>
                </a:solidFill>
                <a:latin typeface="Calibri" pitchFamily="34" charset="0"/>
                <a:ea typeface="Calibri" pitchFamily="34" charset="-122"/>
                <a:cs typeface="Calibri" pitchFamily="34" charset="-120"/>
              </a:rPr>
              <a:t>Large free-text vocabulary → sparse, high-dimensional TF-IDF vectors.</a:t>
            </a:r>
            <a:endParaRPr lang="en-US" sz="1030" dirty="0"/>
          </a:p>
        </p:txBody>
      </p:sp>
      <p:sp>
        <p:nvSpPr>
          <p:cNvPr id="23" name="Shape 21"/>
          <p:cNvSpPr/>
          <p:nvPr/>
        </p:nvSpPr>
        <p:spPr>
          <a:xfrm>
            <a:off x="457200" y="3858768"/>
            <a:ext cx="3639312" cy="2148840"/>
          </a:xfrm>
          <a:prstGeom prst="roundRect">
            <a:avLst>
              <a:gd name="adj" fmla="val 3830"/>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24" name="Shape 22"/>
          <p:cNvSpPr/>
          <p:nvPr/>
        </p:nvSpPr>
        <p:spPr>
          <a:xfrm>
            <a:off x="640080" y="4041648"/>
            <a:ext cx="548640" cy="548640"/>
          </a:xfrm>
          <a:prstGeom prst="ellipse">
            <a:avLst/>
          </a:prstGeom>
          <a:solidFill>
            <a:srgbClr val="6C4AB6"/>
          </a:solidFill>
          <a:ln/>
        </p:spPr>
        <p:txBody>
          <a:bodyPr/>
          <a:lstStyle/>
          <a:p>
            <a:pPr>
              <a:defRPr>
                <a:solidFill/>
              </a:defRPr>
            </a:pPr>
            <a:endParaRPr/>
          </a:p>
        </p:txBody>
      </p:sp>
      <p:sp>
        <p:nvSpPr>
          <p:cNvPr id="25" name="Text 23"/>
          <p:cNvSpPr txBox="1"/>
          <p:nvPr/>
        </p:nvSpPr>
        <p:spPr>
          <a:xfrm>
            <a:off x="640080" y="4041648"/>
            <a:ext cx="548640" cy="548640"/>
          </a:xfrm>
          <a:prstGeom prst="rect">
            <a:avLst/>
          </a:prstGeom>
          <a:noFill/>
          <a:ln/>
        </p:spPr>
        <p:txBody>
          <a:bodyPr wrap="square" lIns="0" tIns="0" rIns="0" bIns="0" rtlCol="0" anchor="ctr"/>
          <a:lstStyle/>
          <a:p>
            <a:pPr marL="0" indent="0" algn="ctr">
              <a:buNone/>
              <a:defRPr>
                <a:solidFill/>
              </a:defRPr>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6" name="Text 24"/>
          <p:cNvSpPr txBox="1"/>
          <p:nvPr/>
        </p:nvSpPr>
        <p:spPr>
          <a:xfrm>
            <a:off x="1280160" y="4059936"/>
            <a:ext cx="2633472" cy="548640"/>
          </a:xfrm>
          <a:prstGeom prst="rect">
            <a:avLst/>
          </a:prstGeom>
          <a:noFill/>
          <a:ln/>
        </p:spPr>
        <p:txBody>
          <a:bodyPr wrap="square" lIns="0" tIns="0" rIns="0" bIns="0" rtlCol="0" anchor="t"/>
          <a:lstStyle/>
          <a:p>
            <a:pPr marL="0" indent="0">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Generic Vocabulary Noise</a:t>
            </a:r>
            <a:endParaRPr lang="en-US" sz="1250" dirty="0"/>
          </a:p>
        </p:txBody>
      </p:sp>
      <p:sp>
        <p:nvSpPr>
          <p:cNvPr id="27" name="Text 25"/>
          <p:cNvSpPr txBox="1"/>
          <p:nvPr/>
        </p:nvSpPr>
        <p:spPr>
          <a:xfrm>
            <a:off x="713232" y="4700016"/>
            <a:ext cx="3127248" cy="1188720"/>
          </a:xfrm>
          <a:prstGeom prst="rect">
            <a:avLst/>
          </a:prstGeom>
          <a:noFill/>
          <a:ln/>
        </p:spPr>
        <p:txBody>
          <a:bodyPr wrap="square" lIns="0" tIns="0" rIns="0" bIns="0" rtlCol="0" anchor="t"/>
          <a:lstStyle/>
          <a:p>
            <a:pPr marL="0" indent="0">
              <a:lnSpc>
                <a:spcPct val="115000"/>
              </a:lnSpc>
              <a:buNone/>
              <a:defRPr>
                <a:solidFill/>
              </a:defRPr>
            </a:pPr>
            <a:r>
              <a:rPr lang="en-US" sz="1180" dirty="0">
                <a:solidFill>
                  <a:srgbClr val="000000"/>
                </a:solidFill>
                <a:latin typeface="Calibri" pitchFamily="34" charset="0"/>
                <a:ea typeface="Calibri" pitchFamily="34" charset="-122"/>
                <a:cs typeface="Calibri" pitchFamily="34" charset="-120"/>
              </a:rPr>
              <a:t>Common words dominate raw counts → IDF weighting needed to surface specialty terms.</a:t>
            </a:r>
            <a:endParaRPr lang="en-US" sz="1030" dirty="0"/>
          </a:p>
        </p:txBody>
      </p:sp>
      <p:sp>
        <p:nvSpPr>
          <p:cNvPr id="28" name="Shape 26"/>
          <p:cNvSpPr/>
          <p:nvPr/>
        </p:nvSpPr>
        <p:spPr>
          <a:xfrm>
            <a:off x="4233672" y="3858768"/>
            <a:ext cx="3639312" cy="2148840"/>
          </a:xfrm>
          <a:prstGeom prst="roundRect">
            <a:avLst>
              <a:gd name="adj" fmla="val 3830"/>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29" name="Shape 27"/>
          <p:cNvSpPr/>
          <p:nvPr/>
        </p:nvSpPr>
        <p:spPr>
          <a:xfrm>
            <a:off x="4416552" y="4041648"/>
            <a:ext cx="548640" cy="548640"/>
          </a:xfrm>
          <a:prstGeom prst="ellipse">
            <a:avLst/>
          </a:prstGeom>
          <a:solidFill>
            <a:srgbClr val="0E7C86"/>
          </a:solidFill>
          <a:ln/>
        </p:spPr>
        <p:txBody>
          <a:bodyPr/>
          <a:lstStyle/>
          <a:p>
            <a:pPr>
              <a:defRPr>
                <a:solidFill/>
              </a:defRPr>
            </a:pPr>
            <a:endParaRPr/>
          </a:p>
        </p:txBody>
      </p:sp>
      <p:sp>
        <p:nvSpPr>
          <p:cNvPr id="30" name="Text 28"/>
          <p:cNvSpPr txBox="1"/>
          <p:nvPr/>
        </p:nvSpPr>
        <p:spPr>
          <a:xfrm>
            <a:off x="4416552" y="4041648"/>
            <a:ext cx="548640" cy="548640"/>
          </a:xfrm>
          <a:prstGeom prst="rect">
            <a:avLst/>
          </a:prstGeom>
          <a:noFill/>
          <a:ln/>
        </p:spPr>
        <p:txBody>
          <a:bodyPr wrap="square" lIns="0" tIns="0" rIns="0" bIns="0" rtlCol="0" anchor="ctr"/>
          <a:lstStyle/>
          <a:p>
            <a:pPr marL="0" indent="0" algn="ctr">
              <a:buNone/>
              <a:defRPr>
                <a:solidFill/>
              </a:defRPr>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1" name="Text 29"/>
          <p:cNvSpPr txBox="1"/>
          <p:nvPr/>
        </p:nvSpPr>
        <p:spPr>
          <a:xfrm>
            <a:off x="5056632" y="4059936"/>
            <a:ext cx="2633472" cy="548640"/>
          </a:xfrm>
          <a:prstGeom prst="rect">
            <a:avLst/>
          </a:prstGeom>
          <a:noFill/>
          <a:ln/>
        </p:spPr>
        <p:txBody>
          <a:bodyPr wrap="square" lIns="0" tIns="0" rIns="0" bIns="0" rtlCol="0" anchor="t"/>
          <a:lstStyle/>
          <a:p>
            <a:pPr marL="0" indent="0">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Sparse Keywords Field</a:t>
            </a:r>
            <a:endParaRPr lang="en-US" sz="1250" dirty="0"/>
          </a:p>
        </p:txBody>
      </p:sp>
      <p:sp>
        <p:nvSpPr>
          <p:cNvPr id="32" name="Text 30"/>
          <p:cNvSpPr txBox="1"/>
          <p:nvPr/>
        </p:nvSpPr>
        <p:spPr>
          <a:xfrm>
            <a:off x="4489704" y="4700016"/>
            <a:ext cx="3127248" cy="1188720"/>
          </a:xfrm>
          <a:prstGeom prst="rect">
            <a:avLst/>
          </a:prstGeom>
          <a:noFill/>
          <a:ln/>
        </p:spPr>
        <p:txBody>
          <a:bodyPr wrap="square" lIns="0" tIns="0" rIns="0" bIns="0" rtlCol="0" anchor="t"/>
          <a:lstStyle/>
          <a:p>
            <a:pPr marL="0" indent="0">
              <a:lnSpc>
                <a:spcPct val="115000"/>
              </a:lnSpc>
              <a:buNone/>
              <a:defRPr>
                <a:solidFill/>
              </a:defRPr>
            </a:pPr>
            <a:r>
              <a:rPr lang="en-US" sz="1180" dirty="0">
                <a:solidFill>
                  <a:srgbClr val="000000"/>
                </a:solidFill>
                <a:latin typeface="Calibri" pitchFamily="34" charset="0"/>
                <a:ea typeface="Calibri" pitchFamily="34" charset="-122"/>
                <a:cs typeface="Calibri" pitchFamily="34" charset="-120"/>
              </a:rPr>
              <a:t>1,068 missing keyword entries — excluded from the primary feature set.</a:t>
            </a:r>
            <a:endParaRPr lang="en-US" sz="1030" dirty="0"/>
          </a:p>
        </p:txBody>
      </p:sp>
      <p:sp>
        <p:nvSpPr>
          <p:cNvPr id="33" name="Shape 31"/>
          <p:cNvSpPr/>
          <p:nvPr/>
        </p:nvSpPr>
        <p:spPr>
          <a:xfrm>
            <a:off x="8010144" y="3858768"/>
            <a:ext cx="3639312" cy="2148840"/>
          </a:xfrm>
          <a:prstGeom prst="roundRect">
            <a:avLst>
              <a:gd name="adj" fmla="val 3830"/>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34" name="Shape 32"/>
          <p:cNvSpPr/>
          <p:nvPr/>
        </p:nvSpPr>
        <p:spPr>
          <a:xfrm>
            <a:off x="8193024" y="4041648"/>
            <a:ext cx="548640" cy="548640"/>
          </a:xfrm>
          <a:prstGeom prst="ellipse">
            <a:avLst/>
          </a:prstGeom>
          <a:solidFill>
            <a:srgbClr val="13294B"/>
          </a:solidFill>
          <a:ln/>
        </p:spPr>
        <p:txBody>
          <a:bodyPr/>
          <a:lstStyle/>
          <a:p>
            <a:pPr>
              <a:defRPr>
                <a:solidFill/>
              </a:defRPr>
            </a:pPr>
            <a:endParaRPr/>
          </a:p>
        </p:txBody>
      </p:sp>
      <p:sp>
        <p:nvSpPr>
          <p:cNvPr id="35" name="Text 33"/>
          <p:cNvSpPr txBox="1"/>
          <p:nvPr/>
        </p:nvSpPr>
        <p:spPr>
          <a:xfrm>
            <a:off x="8193024" y="4041648"/>
            <a:ext cx="548640" cy="548640"/>
          </a:xfrm>
          <a:prstGeom prst="rect">
            <a:avLst/>
          </a:prstGeom>
          <a:noFill/>
          <a:ln/>
        </p:spPr>
        <p:txBody>
          <a:bodyPr wrap="square" lIns="0" tIns="0" rIns="0" bIns="0" rtlCol="0" anchor="ctr"/>
          <a:lstStyle/>
          <a:p>
            <a:pPr marL="0" indent="0" algn="ctr">
              <a:buNone/>
              <a:defRPr>
                <a:solidFill/>
              </a:defRPr>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6" name="Text 34"/>
          <p:cNvSpPr txBox="1"/>
          <p:nvPr/>
        </p:nvSpPr>
        <p:spPr>
          <a:xfrm>
            <a:off x="8833104" y="4059936"/>
            <a:ext cx="2633472" cy="548640"/>
          </a:xfrm>
          <a:prstGeom prst="rect">
            <a:avLst/>
          </a:prstGeom>
          <a:noFill/>
          <a:ln/>
        </p:spPr>
        <p:txBody>
          <a:bodyPr wrap="square" lIns="0" tIns="0" rIns="0" bIns="0" rtlCol="0" anchor="t"/>
          <a:lstStyle/>
          <a:p>
            <a:pPr marL="0" indent="0">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Multi-Metric Evaluation</a:t>
            </a:r>
            <a:endParaRPr lang="en-US" sz="1250" dirty="0"/>
          </a:p>
        </p:txBody>
      </p:sp>
      <p:sp>
        <p:nvSpPr>
          <p:cNvPr id="37" name="Text 35"/>
          <p:cNvSpPr txBox="1"/>
          <p:nvPr/>
        </p:nvSpPr>
        <p:spPr>
          <a:xfrm>
            <a:off x="8266176" y="4700016"/>
            <a:ext cx="3127248" cy="1188720"/>
          </a:xfrm>
          <a:prstGeom prst="rect">
            <a:avLst/>
          </a:prstGeom>
          <a:noFill/>
          <a:ln/>
        </p:spPr>
        <p:txBody>
          <a:bodyPr wrap="square" lIns="0" tIns="0" rIns="0" bIns="0" rtlCol="0" anchor="t"/>
          <a:lstStyle/>
          <a:p>
            <a:pPr marL="0" indent="0">
              <a:lnSpc>
                <a:spcPct val="115000"/>
              </a:lnSpc>
              <a:buNone/>
              <a:defRPr>
                <a:solidFill/>
              </a:defRPr>
            </a:pPr>
            <a:r>
              <a:rPr lang="en-US" sz="1180" dirty="0">
                <a:solidFill>
                  <a:srgbClr val="000000"/>
                </a:solidFill>
                <a:latin typeface="Calibri" pitchFamily="34" charset="0"/>
                <a:ea typeface="Calibri" pitchFamily="34" charset="-122"/>
                <a:cs typeface="Calibri" pitchFamily="34" charset="-120"/>
              </a:rPr>
              <a:t>Accuracy alone is misleading under imbalance — use precision, recall &amp; F1.</a:t>
            </a:r>
            <a:endParaRPr lang="en-US" sz="10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lstStyle/>
          <a:p>
            <a:pPr>
              <a:defRPr>
                <a:solidFill/>
              </a:defRPr>
            </a:pPr>
            <a:endParaR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marL="0" indent="0" algn="ctr">
              <a:buNone/>
              <a:defRPr>
                <a:solidFill/>
              </a:defRPr>
            </a:pPr>
            <a:r>
              <a:rPr lang="en-US" sz="1050" b="1" kern="0" spc="10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marL="0" indent="0" algn="l">
              <a:buNone/>
              <a:defRPr>
                <a:solidFill/>
              </a:defRPr>
            </a:pPr>
            <a:r>
              <a:rPr lang="en-US" sz="2700" b="1" dirty="0">
                <a:solidFill>
                  <a:srgbClr val="0B1F3A"/>
                </a:solidFill>
                <a:latin typeface="Cambria" pitchFamily="34" charset="0"/>
                <a:ea typeface="Cambria" pitchFamily="34" charset="-122"/>
                <a:cs typeface="Cambria" pitchFamily="34" charset="-120"/>
              </a:rPr>
              <a:t>Pre-Processed Dataset Structure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marL="0" indent="0" algn="l">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marL="0" indent="0" algn="ctr">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11 of 19</a:t>
            </a:r>
          </a:p>
        </p:txBody>
      </p:sp>
      <p:sp>
        <p:nvSpPr>
          <p:cNvPr id="8" name="Shape 6"/>
          <p:cNvSpPr/>
          <p:nvPr/>
        </p:nvSpPr>
        <p:spPr>
          <a:xfrm>
            <a:off x="457200" y="1463040"/>
            <a:ext cx="5486400" cy="566928"/>
          </a:xfrm>
          <a:prstGeom prst="roundRect">
            <a:avLst>
              <a:gd name="adj" fmla="val 50000"/>
            </a:avLst>
          </a:prstGeom>
          <a:solidFill>
            <a:srgbClr val="EAF6F5"/>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9" name="Text 7"/>
          <p:cNvSpPr txBox="1"/>
          <p:nvPr/>
        </p:nvSpPr>
        <p:spPr>
          <a:xfrm>
            <a:off x="457200" y="1463040"/>
            <a:ext cx="5486400" cy="566928"/>
          </a:xfrm>
          <a:prstGeom prst="rect">
            <a:avLst/>
          </a:prstGeom>
          <a:noFill/>
          <a:ln/>
        </p:spPr>
        <p:txBody>
          <a:bodyPr wrap="square" lIns="0" tIns="0" rIns="0" bIns="0" rtlCol="0" anchor="ctr"/>
          <a:lstStyle/>
          <a:p>
            <a:pPr marL="0" indent="0" algn="ctr">
              <a:buNone/>
              <a:defRPr>
                <a:solidFill/>
              </a:defRPr>
            </a:pPr>
            <a:r>
              <a:rPr lang="en-US" sz="1150" b="1" dirty="0">
                <a:solidFill>
                  <a:srgbClr val="0E7C86"/>
                </a:solidFill>
                <a:latin typeface="Calibri" pitchFamily="34" charset="0"/>
                <a:ea typeface="Calibri" pitchFamily="34" charset="-122"/>
                <a:cs typeface="Calibri" pitchFamily="34" charset="-120"/>
              </a:rPr>
              <a:t>CURRENT: Explored &amp; Cleaned Dataset</a:t>
            </a:r>
            <a:endParaRPr lang="en-US" sz="1150" dirty="0"/>
          </a:p>
        </p:txBody>
      </p:sp>
      <p:sp>
        <p:nvSpPr>
          <p:cNvPr id="10" name="Shape 8"/>
          <p:cNvSpPr/>
          <p:nvPr/>
        </p:nvSpPr>
        <p:spPr>
          <a:xfrm>
            <a:off x="6217920" y="1463040"/>
            <a:ext cx="5513832" cy="566928"/>
          </a:xfrm>
          <a:prstGeom prst="roundRect">
            <a:avLst>
              <a:gd name="adj" fmla="val 50000"/>
            </a:avLst>
          </a:prstGeom>
          <a:solidFill>
            <a:srgbClr val="F2EEFA"/>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11" name="Text 9"/>
          <p:cNvSpPr txBox="1"/>
          <p:nvPr/>
        </p:nvSpPr>
        <p:spPr>
          <a:xfrm>
            <a:off x="6217920" y="1463040"/>
            <a:ext cx="5513832" cy="566928"/>
          </a:xfrm>
          <a:prstGeom prst="rect">
            <a:avLst/>
          </a:prstGeom>
          <a:noFill/>
          <a:ln/>
        </p:spPr>
        <p:txBody>
          <a:bodyPr wrap="square" lIns="0" tIns="0" rIns="0" bIns="0" rtlCol="0" anchor="ctr"/>
          <a:lstStyle/>
          <a:p>
            <a:pPr marL="0" indent="0" algn="ctr">
              <a:buNone/>
              <a:defRPr>
                <a:solidFill/>
              </a:defRPr>
            </a:pPr>
            <a:r>
              <a:rPr lang="en-US" sz="1150" b="1" dirty="0">
                <a:solidFill>
                  <a:srgbClr val="6C4AB6"/>
                </a:solidFill>
                <a:latin typeface="Calibri" pitchFamily="34" charset="0"/>
                <a:ea typeface="Calibri" pitchFamily="34" charset="-122"/>
                <a:cs typeface="Calibri" pitchFamily="34" charset="-120"/>
              </a:rPr>
              <a:t>PROPOSED: Fully Text-Preprocessed Output</a:t>
            </a:r>
            <a:endParaRPr lang="en-US" sz="1150" dirty="0"/>
          </a:p>
        </p:txBody>
      </p:sp>
      <p:sp>
        <p:nvSpPr>
          <p:cNvPr id="12" name="Shape 10"/>
          <p:cNvSpPr/>
          <p:nvPr/>
        </p:nvSpPr>
        <p:spPr>
          <a:xfrm>
            <a:off x="457200" y="2212848"/>
            <a:ext cx="5486400" cy="4069080"/>
          </a:xfrm>
          <a:prstGeom prst="roundRect">
            <a:avLst>
              <a:gd name="adj" fmla="val 2022"/>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13" name="Text 11"/>
          <p:cNvSpPr txBox="1"/>
          <p:nvPr/>
        </p:nvSpPr>
        <p:spPr>
          <a:xfrm>
            <a:off x="685800" y="2359152"/>
            <a:ext cx="5029200" cy="365760"/>
          </a:xfrm>
          <a:prstGeom prst="rect">
            <a:avLst/>
          </a:prstGeom>
          <a:noFill/>
          <a:ln/>
        </p:spPr>
        <p:txBody>
          <a:bodyPr wrap="square" lIns="0" tIns="0" rIns="0" bIns="0" rtlCol="0" anchor="ctr"/>
          <a:lstStyle/>
          <a:p>
            <a:pPr marL="0" indent="0">
              <a:buNone/>
              <a:defRPr>
                <a:solidFill/>
              </a:defRPr>
            </a:pPr>
            <a:r>
              <a:rPr lang="en-US" sz="1200" i="1" dirty="0">
                <a:solidFill>
                  <a:srgbClr val="000000"/>
                </a:solidFill>
                <a:latin typeface="Calibri" pitchFamily="34" charset="0"/>
                <a:ea typeface="Calibri" pitchFamily="34" charset="-122"/>
                <a:cs typeface="Calibri" pitchFamily="34" charset="-120"/>
              </a:rPr>
              <a:t>After removing 33 records with missing transcription (Table 6 audit):</a:t>
            </a:r>
            <a:endParaRPr lang="en-US" sz="1050" dirty="0"/>
          </a:p>
        </p:txBody>
      </p:sp>
      <p:sp>
        <p:nvSpPr>
          <p:cNvPr id="14" name="Text 12"/>
          <p:cNvSpPr txBox="1"/>
          <p:nvPr/>
        </p:nvSpPr>
        <p:spPr>
          <a:xfrm>
            <a:off x="685800" y="2788920"/>
            <a:ext cx="2011680" cy="310896"/>
          </a:xfrm>
          <a:prstGeom prst="rect">
            <a:avLst/>
          </a:prstGeom>
          <a:noFill/>
          <a:ln/>
        </p:spPr>
        <p:txBody>
          <a:bodyPr wrap="square" lIns="0" tIns="0" rIns="0" bIns="0" rtlCol="0" anchor="ctr"/>
          <a:lstStyle/>
          <a:p>
            <a:pPr marL="0" indent="0">
              <a:buNone/>
              <a:defRPr>
                <a:solidFill/>
              </a:defRPr>
            </a:pPr>
            <a:r>
              <a:rPr lang="en-US" sz="1100" b="1" dirty="0">
                <a:solidFill>
                  <a:srgbClr val="0B1F3A"/>
                </a:solidFill>
                <a:latin typeface="Consolas" pitchFamily="34" charset="0"/>
                <a:ea typeface="Consolas" pitchFamily="34" charset="-122"/>
                <a:cs typeface="Consolas" pitchFamily="34" charset="-120"/>
              </a:rPr>
              <a:t>shape</a:t>
            </a:r>
            <a:endParaRPr lang="en-US" sz="1100" dirty="0"/>
          </a:p>
        </p:txBody>
      </p:sp>
      <p:sp>
        <p:nvSpPr>
          <p:cNvPr id="15" name="Text 13"/>
          <p:cNvSpPr txBox="1"/>
          <p:nvPr/>
        </p:nvSpPr>
        <p:spPr>
          <a:xfrm>
            <a:off x="2697480" y="2788920"/>
            <a:ext cx="2926080" cy="310896"/>
          </a:xfrm>
          <a:prstGeom prst="rect">
            <a:avLst/>
          </a:prstGeom>
          <a:noFill/>
          <a:ln/>
        </p:spPr>
        <p:txBody>
          <a:bodyPr wrap="square" lIns="0" tIns="0" rIns="0" bIns="0" rtlCol="0" anchor="ctr"/>
          <a:lstStyle/>
          <a:p>
            <a:pPr marL="0" indent="0">
              <a:buNone/>
              <a:defRPr>
                <a:solidFill/>
              </a:defRPr>
            </a:pPr>
            <a:r>
              <a:rPr lang="en-US" sz="1250" dirty="0">
                <a:solidFill>
                  <a:srgbClr val="000000"/>
                </a:solidFill>
                <a:latin typeface="Consolas" pitchFamily="34" charset="0"/>
                <a:ea typeface="Consolas" pitchFamily="34" charset="-122"/>
                <a:cs typeface="Consolas" pitchFamily="34" charset="-120"/>
              </a:rPr>
              <a:t>(4,966, 6)</a:t>
            </a:r>
            <a:endParaRPr lang="en-US" sz="1100" dirty="0"/>
          </a:p>
        </p:txBody>
      </p:sp>
      <p:sp>
        <p:nvSpPr>
          <p:cNvPr id="16" name="Text 14"/>
          <p:cNvSpPr txBox="1"/>
          <p:nvPr/>
        </p:nvSpPr>
        <p:spPr>
          <a:xfrm>
            <a:off x="685800" y="3154680"/>
            <a:ext cx="2011680" cy="310896"/>
          </a:xfrm>
          <a:prstGeom prst="rect">
            <a:avLst/>
          </a:prstGeom>
          <a:noFill/>
          <a:ln/>
        </p:spPr>
        <p:txBody>
          <a:bodyPr wrap="square" lIns="0" tIns="0" rIns="0" bIns="0" rtlCol="0" anchor="ctr"/>
          <a:lstStyle/>
          <a:p>
            <a:pPr marL="0" indent="0">
              <a:buNone/>
              <a:defRPr>
                <a:solidFill/>
              </a:defRPr>
            </a:pPr>
            <a:r>
              <a:rPr lang="en-US" sz="1100" b="1" dirty="0">
                <a:solidFill>
                  <a:srgbClr val="0B1F3A"/>
                </a:solidFill>
                <a:latin typeface="Consolas" pitchFamily="34" charset="0"/>
                <a:ea typeface="Consolas" pitchFamily="34" charset="-122"/>
                <a:cs typeface="Consolas" pitchFamily="34" charset="-120"/>
              </a:rPr>
              <a:t>columns</a:t>
            </a:r>
            <a:endParaRPr lang="en-US" sz="1100" dirty="0"/>
          </a:p>
        </p:txBody>
      </p:sp>
      <p:sp>
        <p:nvSpPr>
          <p:cNvPr id="17" name="Text 15"/>
          <p:cNvSpPr txBox="1"/>
          <p:nvPr/>
        </p:nvSpPr>
        <p:spPr>
          <a:xfrm>
            <a:off x="2697480" y="3154680"/>
            <a:ext cx="2926080" cy="310896"/>
          </a:xfrm>
          <a:prstGeom prst="rect">
            <a:avLst/>
          </a:prstGeom>
          <a:noFill/>
          <a:ln/>
        </p:spPr>
        <p:txBody>
          <a:bodyPr wrap="square" lIns="0" tIns="0" rIns="0" bIns="0" rtlCol="0" anchor="ctr"/>
          <a:lstStyle/>
          <a:p>
            <a:pPr marL="0" indent="0">
              <a:buNone/>
              <a:defRPr>
                <a:solidFill/>
              </a:defRPr>
            </a:pPr>
            <a:r>
              <a:rPr lang="en-US" sz="1250" dirty="0">
                <a:solidFill>
                  <a:srgbClr val="000000"/>
                </a:solidFill>
                <a:latin typeface="Consolas" pitchFamily="34" charset="0"/>
                <a:ea typeface="Consolas" pitchFamily="34" charset="-122"/>
                <a:cs typeface="Consolas" pitchFamily="34" charset="-120"/>
              </a:rPr>
              <a:t>6 fields</a:t>
            </a:r>
            <a:endParaRPr lang="en-US" sz="1100" dirty="0"/>
          </a:p>
        </p:txBody>
      </p:sp>
      <p:sp>
        <p:nvSpPr>
          <p:cNvPr id="18" name="Text 16"/>
          <p:cNvSpPr txBox="1"/>
          <p:nvPr/>
        </p:nvSpPr>
        <p:spPr>
          <a:xfrm>
            <a:off x="685800" y="3520440"/>
            <a:ext cx="2011680" cy="310896"/>
          </a:xfrm>
          <a:prstGeom prst="rect">
            <a:avLst/>
          </a:prstGeom>
          <a:noFill/>
          <a:ln/>
        </p:spPr>
        <p:txBody>
          <a:bodyPr wrap="square" lIns="0" tIns="0" rIns="0" bIns="0" rtlCol="0" anchor="ctr"/>
          <a:lstStyle/>
          <a:p>
            <a:pPr marL="0" indent="0">
              <a:buNone/>
              <a:defRPr>
                <a:solidFill/>
              </a:defRPr>
            </a:pPr>
            <a:r>
              <a:rPr lang="en-US" sz="1100" b="1" dirty="0">
                <a:solidFill>
                  <a:srgbClr val="0B1F3A"/>
                </a:solidFill>
                <a:latin typeface="Consolas" pitchFamily="34" charset="0"/>
                <a:ea typeface="Consolas" pitchFamily="34" charset="-122"/>
                <a:cs typeface="Consolas" pitchFamily="34" charset="-120"/>
              </a:rPr>
              <a:t>target classes</a:t>
            </a:r>
            <a:endParaRPr lang="en-US" sz="1100" dirty="0"/>
          </a:p>
        </p:txBody>
      </p:sp>
      <p:sp>
        <p:nvSpPr>
          <p:cNvPr id="19" name="Text 17"/>
          <p:cNvSpPr txBox="1"/>
          <p:nvPr/>
        </p:nvSpPr>
        <p:spPr>
          <a:xfrm>
            <a:off x="2697480" y="3520440"/>
            <a:ext cx="2926080" cy="310896"/>
          </a:xfrm>
          <a:prstGeom prst="rect">
            <a:avLst/>
          </a:prstGeom>
          <a:noFill/>
          <a:ln/>
        </p:spPr>
        <p:txBody>
          <a:bodyPr wrap="square" lIns="0" tIns="0" rIns="0" bIns="0" rtlCol="0" anchor="ctr"/>
          <a:lstStyle/>
          <a:p>
            <a:pPr marL="0" indent="0">
              <a:buNone/>
              <a:defRPr>
                <a:solidFill/>
              </a:defRPr>
            </a:pPr>
            <a:r>
              <a:rPr lang="en-US" sz="1250" dirty="0">
                <a:solidFill>
                  <a:srgbClr val="000000"/>
                </a:solidFill>
                <a:latin typeface="Consolas" pitchFamily="34" charset="0"/>
                <a:ea typeface="Consolas" pitchFamily="34" charset="-122"/>
                <a:cs typeface="Consolas" pitchFamily="34" charset="-120"/>
              </a:rPr>
              <a:t>40</a:t>
            </a:r>
            <a:endParaRPr lang="en-US" sz="1100" dirty="0"/>
          </a:p>
        </p:txBody>
      </p:sp>
      <p:sp>
        <p:nvSpPr>
          <p:cNvPr id="20" name="Text 18"/>
          <p:cNvSpPr txBox="1"/>
          <p:nvPr/>
        </p:nvSpPr>
        <p:spPr>
          <a:xfrm>
            <a:off x="685800" y="3959352"/>
            <a:ext cx="4937760" cy="274320"/>
          </a:xfrm>
          <a:prstGeom prst="rect">
            <a:avLst/>
          </a:prstGeom>
          <a:noFill/>
          <a:ln/>
        </p:spPr>
        <p:txBody>
          <a:bodyPr wrap="square" lIns="0" tIns="0" rIns="0" bIns="0" rtlCol="0" anchor="ctr"/>
          <a:lstStyle/>
          <a:p>
            <a:pPr marL="0" indent="0">
              <a:buNone/>
              <a:defRPr>
                <a:solidFill/>
              </a:defRPr>
            </a:pPr>
            <a:r>
              <a:rPr lang="en-US" sz="1200" b="1" dirty="0">
                <a:solidFill>
                  <a:srgbClr val="0B1F3A"/>
                </a:solidFill>
                <a:latin typeface="Cambria" pitchFamily="34" charset="0"/>
                <a:ea typeface="Cambria" pitchFamily="34" charset="-122"/>
                <a:cs typeface="Cambria" pitchFamily="34" charset="-120"/>
              </a:rPr>
              <a:t>dtypes</a:t>
            </a:r>
            <a:endParaRPr lang="en-US" sz="1200" dirty="0"/>
          </a:p>
        </p:txBody>
      </p:sp>
      <p:sp>
        <p:nvSpPr>
          <p:cNvPr id="21" name="Shape 19"/>
          <p:cNvSpPr/>
          <p:nvPr/>
        </p:nvSpPr>
        <p:spPr>
          <a:xfrm>
            <a:off x="685800" y="4270248"/>
            <a:ext cx="5029200" cy="274320"/>
          </a:xfrm>
          <a:prstGeom prst="rect">
            <a:avLst/>
          </a:prstGeom>
          <a:solidFill>
            <a:srgbClr val="EEF2F8"/>
          </a:solidFill>
          <a:ln/>
        </p:spPr>
        <p:txBody>
          <a:bodyPr/>
          <a:lstStyle/>
          <a:p>
            <a:pPr>
              <a:defRPr>
                <a:solidFill/>
              </a:defRPr>
            </a:pPr>
            <a:endParaRPr/>
          </a:p>
        </p:txBody>
      </p:sp>
      <p:sp>
        <p:nvSpPr>
          <p:cNvPr id="22" name="Text 20"/>
          <p:cNvSpPr txBox="1"/>
          <p:nvPr/>
        </p:nvSpPr>
        <p:spPr>
          <a:xfrm>
            <a:off x="777240" y="4270248"/>
            <a:ext cx="2926080" cy="274320"/>
          </a:xfrm>
          <a:prstGeom prst="rect">
            <a:avLst/>
          </a:prstGeom>
          <a:noFill/>
          <a:ln/>
        </p:spPr>
        <p:txBody>
          <a:bodyPr wrap="square" lIns="0" tIns="0" rIns="0" bIns="0" rtlCol="0" anchor="ctr"/>
          <a:lstStyle/>
          <a:p>
            <a:pPr marL="0" indent="0">
              <a:buNone/>
              <a:defRPr>
                <a:solidFill/>
              </a:defRPr>
            </a:pPr>
            <a:r>
              <a:rPr lang="en-US" sz="950" dirty="0">
                <a:solidFill>
                  <a:srgbClr val="0B1F3A"/>
                </a:solidFill>
                <a:latin typeface="Consolas" pitchFamily="34" charset="0"/>
                <a:ea typeface="Consolas" pitchFamily="34" charset="-122"/>
                <a:cs typeface="Consolas" pitchFamily="34" charset="-120"/>
              </a:rPr>
              <a:t>Unnamed: 0</a:t>
            </a:r>
            <a:endParaRPr lang="en-US" sz="950" dirty="0"/>
          </a:p>
        </p:txBody>
      </p:sp>
      <p:sp>
        <p:nvSpPr>
          <p:cNvPr id="23" name="Text 21"/>
          <p:cNvSpPr txBox="1"/>
          <p:nvPr/>
        </p:nvSpPr>
        <p:spPr>
          <a:xfrm>
            <a:off x="3749040" y="4270248"/>
            <a:ext cx="1828800" cy="274320"/>
          </a:xfrm>
          <a:prstGeom prst="rect">
            <a:avLst/>
          </a:prstGeom>
          <a:noFill/>
          <a:ln/>
        </p:spPr>
        <p:txBody>
          <a:bodyPr wrap="square" lIns="0" tIns="0" rIns="0" bIns="0" rtlCol="0" anchor="ctr"/>
          <a:lstStyle/>
          <a:p>
            <a:pPr marL="0" indent="0">
              <a:buNone/>
              <a:defRPr>
                <a:solidFill/>
              </a:defRPr>
            </a:pPr>
            <a:r>
              <a:rPr lang="en-US" sz="1100" dirty="0">
                <a:solidFill>
                  <a:srgbClr val="000000"/>
                </a:solidFill>
                <a:latin typeface="Consolas" pitchFamily="34" charset="0"/>
                <a:ea typeface="Consolas" pitchFamily="34" charset="-122"/>
                <a:cs typeface="Consolas" pitchFamily="34" charset="-120"/>
              </a:rPr>
              <a:t>int64</a:t>
            </a:r>
            <a:endParaRPr lang="en-US" sz="950" dirty="0"/>
          </a:p>
        </p:txBody>
      </p:sp>
      <p:sp>
        <p:nvSpPr>
          <p:cNvPr id="24" name="Text 22"/>
          <p:cNvSpPr txBox="1"/>
          <p:nvPr/>
        </p:nvSpPr>
        <p:spPr>
          <a:xfrm>
            <a:off x="777240" y="4544568"/>
            <a:ext cx="2926080" cy="274320"/>
          </a:xfrm>
          <a:prstGeom prst="rect">
            <a:avLst/>
          </a:prstGeom>
          <a:noFill/>
          <a:ln/>
        </p:spPr>
        <p:txBody>
          <a:bodyPr wrap="square" lIns="0" tIns="0" rIns="0" bIns="0" rtlCol="0" anchor="ctr"/>
          <a:lstStyle/>
          <a:p>
            <a:pPr marL="0" indent="0">
              <a:buNone/>
              <a:defRPr>
                <a:solidFill/>
              </a:defRPr>
            </a:pPr>
            <a:r>
              <a:rPr lang="en-US" sz="950" dirty="0">
                <a:solidFill>
                  <a:srgbClr val="0B1F3A"/>
                </a:solidFill>
                <a:latin typeface="Consolas" pitchFamily="34" charset="0"/>
                <a:ea typeface="Consolas" pitchFamily="34" charset="-122"/>
                <a:cs typeface="Consolas" pitchFamily="34" charset="-120"/>
              </a:rPr>
              <a:t>description</a:t>
            </a:r>
            <a:endParaRPr lang="en-US" sz="950" dirty="0"/>
          </a:p>
        </p:txBody>
      </p:sp>
      <p:sp>
        <p:nvSpPr>
          <p:cNvPr id="25" name="Text 23"/>
          <p:cNvSpPr txBox="1"/>
          <p:nvPr/>
        </p:nvSpPr>
        <p:spPr>
          <a:xfrm>
            <a:off x="3749040" y="4544568"/>
            <a:ext cx="1828800" cy="274320"/>
          </a:xfrm>
          <a:prstGeom prst="rect">
            <a:avLst/>
          </a:prstGeom>
          <a:noFill/>
          <a:ln/>
        </p:spPr>
        <p:txBody>
          <a:bodyPr wrap="square" lIns="0" tIns="0" rIns="0" bIns="0" rtlCol="0" anchor="ctr"/>
          <a:lstStyle/>
          <a:p>
            <a:pPr marL="0" indent="0">
              <a:buNone/>
              <a:defRPr>
                <a:solidFill/>
              </a:defRPr>
            </a:pPr>
            <a:r>
              <a:rPr lang="en-US" sz="1100" dirty="0">
                <a:solidFill>
                  <a:srgbClr val="000000"/>
                </a:solidFill>
                <a:latin typeface="Consolas" pitchFamily="34" charset="0"/>
                <a:ea typeface="Consolas" pitchFamily="34" charset="-122"/>
                <a:cs typeface="Consolas" pitchFamily="34" charset="-120"/>
              </a:rPr>
              <a:t>object</a:t>
            </a:r>
            <a:endParaRPr lang="en-US" sz="950" dirty="0"/>
          </a:p>
        </p:txBody>
      </p:sp>
      <p:sp>
        <p:nvSpPr>
          <p:cNvPr id="26" name="Shape 24"/>
          <p:cNvSpPr/>
          <p:nvPr/>
        </p:nvSpPr>
        <p:spPr>
          <a:xfrm>
            <a:off x="685800" y="4818888"/>
            <a:ext cx="5029200" cy="274320"/>
          </a:xfrm>
          <a:prstGeom prst="rect">
            <a:avLst/>
          </a:prstGeom>
          <a:solidFill>
            <a:srgbClr val="EEF2F8"/>
          </a:solidFill>
          <a:ln/>
        </p:spPr>
        <p:txBody>
          <a:bodyPr/>
          <a:lstStyle/>
          <a:p>
            <a:pPr>
              <a:defRPr>
                <a:solidFill/>
              </a:defRPr>
            </a:pPr>
            <a:endParaRPr/>
          </a:p>
        </p:txBody>
      </p:sp>
      <p:sp>
        <p:nvSpPr>
          <p:cNvPr id="27" name="Text 25"/>
          <p:cNvSpPr txBox="1"/>
          <p:nvPr/>
        </p:nvSpPr>
        <p:spPr>
          <a:xfrm>
            <a:off x="777240" y="4818888"/>
            <a:ext cx="2926080" cy="274320"/>
          </a:xfrm>
          <a:prstGeom prst="rect">
            <a:avLst/>
          </a:prstGeom>
          <a:noFill/>
          <a:ln/>
        </p:spPr>
        <p:txBody>
          <a:bodyPr wrap="square" lIns="0" tIns="0" rIns="0" bIns="0" rtlCol="0" anchor="ctr"/>
          <a:lstStyle/>
          <a:p>
            <a:pPr marL="0" indent="0">
              <a:buNone/>
              <a:defRPr>
                <a:solidFill/>
              </a:defRPr>
            </a:pPr>
            <a:r>
              <a:rPr lang="en-US" sz="950" dirty="0">
                <a:solidFill>
                  <a:srgbClr val="0B1F3A"/>
                </a:solidFill>
                <a:latin typeface="Consolas" pitchFamily="34" charset="0"/>
                <a:ea typeface="Consolas" pitchFamily="34" charset="-122"/>
                <a:cs typeface="Consolas" pitchFamily="34" charset="-120"/>
              </a:rPr>
              <a:t>medical_specialty</a:t>
            </a:r>
            <a:endParaRPr lang="en-US" sz="950" dirty="0"/>
          </a:p>
        </p:txBody>
      </p:sp>
      <p:sp>
        <p:nvSpPr>
          <p:cNvPr id="28" name="Text 26"/>
          <p:cNvSpPr txBox="1"/>
          <p:nvPr/>
        </p:nvSpPr>
        <p:spPr>
          <a:xfrm>
            <a:off x="3749040" y="4818888"/>
            <a:ext cx="1828800" cy="274320"/>
          </a:xfrm>
          <a:prstGeom prst="rect">
            <a:avLst/>
          </a:prstGeom>
          <a:noFill/>
          <a:ln/>
        </p:spPr>
        <p:txBody>
          <a:bodyPr wrap="square" lIns="0" tIns="0" rIns="0" bIns="0" rtlCol="0" anchor="ctr"/>
          <a:lstStyle/>
          <a:p>
            <a:pPr marL="0" indent="0">
              <a:buNone/>
              <a:defRPr>
                <a:solidFill/>
              </a:defRPr>
            </a:pPr>
            <a:r>
              <a:rPr lang="en-US" sz="1100" dirty="0">
                <a:solidFill>
                  <a:srgbClr val="000000"/>
                </a:solidFill>
                <a:latin typeface="Consolas" pitchFamily="34" charset="0"/>
                <a:ea typeface="Consolas" pitchFamily="34" charset="-122"/>
                <a:cs typeface="Consolas" pitchFamily="34" charset="-120"/>
              </a:rPr>
              <a:t>object</a:t>
            </a:r>
            <a:endParaRPr lang="en-US" sz="950" dirty="0"/>
          </a:p>
        </p:txBody>
      </p:sp>
      <p:sp>
        <p:nvSpPr>
          <p:cNvPr id="29" name="Text 27"/>
          <p:cNvSpPr txBox="1"/>
          <p:nvPr/>
        </p:nvSpPr>
        <p:spPr>
          <a:xfrm>
            <a:off x="777240" y="5093208"/>
            <a:ext cx="2926080" cy="274320"/>
          </a:xfrm>
          <a:prstGeom prst="rect">
            <a:avLst/>
          </a:prstGeom>
          <a:noFill/>
          <a:ln/>
        </p:spPr>
        <p:txBody>
          <a:bodyPr wrap="square" lIns="0" tIns="0" rIns="0" bIns="0" rtlCol="0" anchor="ctr"/>
          <a:lstStyle/>
          <a:p>
            <a:pPr marL="0" indent="0">
              <a:buNone/>
              <a:defRPr>
                <a:solidFill/>
              </a:defRPr>
            </a:pPr>
            <a:r>
              <a:rPr lang="en-US" sz="950" dirty="0">
                <a:solidFill>
                  <a:srgbClr val="0B1F3A"/>
                </a:solidFill>
                <a:latin typeface="Consolas" pitchFamily="34" charset="0"/>
                <a:ea typeface="Consolas" pitchFamily="34" charset="-122"/>
                <a:cs typeface="Consolas" pitchFamily="34" charset="-120"/>
              </a:rPr>
              <a:t>sample_name</a:t>
            </a:r>
            <a:endParaRPr lang="en-US" sz="950" dirty="0"/>
          </a:p>
        </p:txBody>
      </p:sp>
      <p:sp>
        <p:nvSpPr>
          <p:cNvPr id="30" name="Text 28"/>
          <p:cNvSpPr txBox="1"/>
          <p:nvPr/>
        </p:nvSpPr>
        <p:spPr>
          <a:xfrm>
            <a:off x="3749040" y="5093208"/>
            <a:ext cx="1828800" cy="274320"/>
          </a:xfrm>
          <a:prstGeom prst="rect">
            <a:avLst/>
          </a:prstGeom>
          <a:noFill/>
          <a:ln/>
        </p:spPr>
        <p:txBody>
          <a:bodyPr wrap="square" lIns="0" tIns="0" rIns="0" bIns="0" rtlCol="0" anchor="ctr"/>
          <a:lstStyle/>
          <a:p>
            <a:pPr marL="0" indent="0">
              <a:buNone/>
              <a:defRPr>
                <a:solidFill/>
              </a:defRPr>
            </a:pPr>
            <a:r>
              <a:rPr lang="en-US" sz="1100" dirty="0">
                <a:solidFill>
                  <a:srgbClr val="000000"/>
                </a:solidFill>
                <a:latin typeface="Consolas" pitchFamily="34" charset="0"/>
                <a:ea typeface="Consolas" pitchFamily="34" charset="-122"/>
                <a:cs typeface="Consolas" pitchFamily="34" charset="-120"/>
              </a:rPr>
              <a:t>object</a:t>
            </a:r>
            <a:endParaRPr lang="en-US" sz="950" dirty="0"/>
          </a:p>
        </p:txBody>
      </p:sp>
      <p:sp>
        <p:nvSpPr>
          <p:cNvPr id="31" name="Shape 29"/>
          <p:cNvSpPr/>
          <p:nvPr/>
        </p:nvSpPr>
        <p:spPr>
          <a:xfrm>
            <a:off x="685800" y="5367528"/>
            <a:ext cx="5029200" cy="274320"/>
          </a:xfrm>
          <a:prstGeom prst="rect">
            <a:avLst/>
          </a:prstGeom>
          <a:solidFill>
            <a:srgbClr val="EEF2F8"/>
          </a:solidFill>
          <a:ln/>
        </p:spPr>
        <p:txBody>
          <a:bodyPr/>
          <a:lstStyle/>
          <a:p>
            <a:pPr>
              <a:defRPr>
                <a:solidFill/>
              </a:defRPr>
            </a:pPr>
            <a:endParaRPr/>
          </a:p>
        </p:txBody>
      </p:sp>
      <p:sp>
        <p:nvSpPr>
          <p:cNvPr id="32" name="Text 30"/>
          <p:cNvSpPr txBox="1"/>
          <p:nvPr/>
        </p:nvSpPr>
        <p:spPr>
          <a:xfrm>
            <a:off x="777240" y="5367528"/>
            <a:ext cx="2926080" cy="274320"/>
          </a:xfrm>
          <a:prstGeom prst="rect">
            <a:avLst/>
          </a:prstGeom>
          <a:noFill/>
          <a:ln/>
        </p:spPr>
        <p:txBody>
          <a:bodyPr wrap="square" lIns="0" tIns="0" rIns="0" bIns="0" rtlCol="0" anchor="ctr"/>
          <a:lstStyle/>
          <a:p>
            <a:pPr marL="0" indent="0">
              <a:buNone/>
              <a:defRPr>
                <a:solidFill/>
              </a:defRPr>
            </a:pPr>
            <a:r>
              <a:rPr lang="en-US" sz="950" dirty="0">
                <a:solidFill>
                  <a:srgbClr val="0B1F3A"/>
                </a:solidFill>
                <a:latin typeface="Consolas" pitchFamily="34" charset="0"/>
                <a:ea typeface="Consolas" pitchFamily="34" charset="-122"/>
                <a:cs typeface="Consolas" pitchFamily="34" charset="-120"/>
              </a:rPr>
              <a:t>transcription</a:t>
            </a:r>
            <a:endParaRPr lang="en-US" sz="950" dirty="0"/>
          </a:p>
        </p:txBody>
      </p:sp>
      <p:sp>
        <p:nvSpPr>
          <p:cNvPr id="33" name="Text 31"/>
          <p:cNvSpPr txBox="1"/>
          <p:nvPr/>
        </p:nvSpPr>
        <p:spPr>
          <a:xfrm>
            <a:off x="3749040" y="5367528"/>
            <a:ext cx="1828800" cy="274320"/>
          </a:xfrm>
          <a:prstGeom prst="rect">
            <a:avLst/>
          </a:prstGeom>
          <a:noFill/>
          <a:ln/>
        </p:spPr>
        <p:txBody>
          <a:bodyPr wrap="square" lIns="0" tIns="0" rIns="0" bIns="0" rtlCol="0" anchor="ctr"/>
          <a:lstStyle/>
          <a:p>
            <a:pPr marL="0" indent="0">
              <a:buNone/>
              <a:defRPr>
                <a:solidFill/>
              </a:defRPr>
            </a:pPr>
            <a:r>
              <a:rPr lang="en-US" sz="1100" dirty="0">
                <a:solidFill>
                  <a:srgbClr val="000000"/>
                </a:solidFill>
                <a:latin typeface="Consolas" pitchFamily="34" charset="0"/>
                <a:ea typeface="Consolas" pitchFamily="34" charset="-122"/>
                <a:cs typeface="Consolas" pitchFamily="34" charset="-120"/>
              </a:rPr>
              <a:t>object</a:t>
            </a:r>
            <a:endParaRPr lang="en-US" sz="950" dirty="0"/>
          </a:p>
        </p:txBody>
      </p:sp>
      <p:sp>
        <p:nvSpPr>
          <p:cNvPr id="34" name="Text 32"/>
          <p:cNvSpPr txBox="1"/>
          <p:nvPr/>
        </p:nvSpPr>
        <p:spPr>
          <a:xfrm>
            <a:off x="777240" y="5641848"/>
            <a:ext cx="2926080" cy="274320"/>
          </a:xfrm>
          <a:prstGeom prst="rect">
            <a:avLst/>
          </a:prstGeom>
          <a:noFill/>
          <a:ln/>
        </p:spPr>
        <p:txBody>
          <a:bodyPr wrap="square" lIns="0" tIns="0" rIns="0" bIns="0" rtlCol="0" anchor="ctr"/>
          <a:lstStyle/>
          <a:p>
            <a:pPr marL="0" indent="0">
              <a:buNone/>
              <a:defRPr>
                <a:solidFill/>
              </a:defRPr>
            </a:pPr>
            <a:r>
              <a:rPr lang="en-US" sz="950" dirty="0">
                <a:solidFill>
                  <a:srgbClr val="0B1F3A"/>
                </a:solidFill>
                <a:latin typeface="Consolas" pitchFamily="34" charset="0"/>
                <a:ea typeface="Consolas" pitchFamily="34" charset="-122"/>
                <a:cs typeface="Consolas" pitchFamily="34" charset="-120"/>
              </a:rPr>
              <a:t>keywords</a:t>
            </a:r>
            <a:endParaRPr lang="en-US" sz="950" dirty="0"/>
          </a:p>
        </p:txBody>
      </p:sp>
      <p:sp>
        <p:nvSpPr>
          <p:cNvPr id="35" name="Text 33"/>
          <p:cNvSpPr txBox="1"/>
          <p:nvPr/>
        </p:nvSpPr>
        <p:spPr>
          <a:xfrm>
            <a:off x="3749040" y="5641848"/>
            <a:ext cx="1828800" cy="274320"/>
          </a:xfrm>
          <a:prstGeom prst="rect">
            <a:avLst/>
          </a:prstGeom>
          <a:noFill/>
          <a:ln/>
        </p:spPr>
        <p:txBody>
          <a:bodyPr wrap="square" lIns="0" tIns="0" rIns="0" bIns="0" rtlCol="0" anchor="ctr"/>
          <a:lstStyle/>
          <a:p>
            <a:pPr marL="0" indent="0">
              <a:buNone/>
              <a:defRPr>
                <a:solidFill/>
              </a:defRPr>
            </a:pPr>
            <a:r>
              <a:rPr lang="en-US" sz="1100" dirty="0">
                <a:solidFill>
                  <a:srgbClr val="000000"/>
                </a:solidFill>
                <a:latin typeface="Consolas" pitchFamily="34" charset="0"/>
                <a:ea typeface="Consolas" pitchFamily="34" charset="-122"/>
                <a:cs typeface="Consolas" pitchFamily="34" charset="-120"/>
              </a:rPr>
              <a:t>object</a:t>
            </a:r>
            <a:endParaRPr lang="en-US" sz="950" dirty="0"/>
          </a:p>
        </p:txBody>
      </p:sp>
      <p:sp>
        <p:nvSpPr>
          <p:cNvPr id="36" name="Shape 34"/>
          <p:cNvSpPr/>
          <p:nvPr/>
        </p:nvSpPr>
        <p:spPr>
          <a:xfrm>
            <a:off x="6217920" y="2212848"/>
            <a:ext cx="5513832" cy="4069080"/>
          </a:xfrm>
          <a:prstGeom prst="roundRect">
            <a:avLst>
              <a:gd name="adj" fmla="val 2022"/>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37" name="Text 35"/>
          <p:cNvSpPr txBox="1"/>
          <p:nvPr/>
        </p:nvSpPr>
        <p:spPr>
          <a:xfrm>
            <a:off x="6446520" y="2359152"/>
            <a:ext cx="5029200" cy="685800"/>
          </a:xfrm>
          <a:prstGeom prst="rect">
            <a:avLst/>
          </a:prstGeom>
          <a:noFill/>
          <a:ln/>
        </p:spPr>
        <p:txBody>
          <a:bodyPr wrap="square" lIns="0" tIns="0" rIns="0" bIns="0" rtlCol="0" anchor="t"/>
          <a:lstStyle/>
          <a:p>
            <a:pPr marL="0" indent="0">
              <a:lnSpc>
                <a:spcPct val="115000"/>
              </a:lnSpc>
              <a:buNone/>
              <a:defRPr>
                <a:solidFill/>
              </a:defRPr>
            </a:pPr>
            <a:r>
              <a:rPr lang="en-US" sz="1200" dirty="0">
                <a:solidFill>
                  <a:srgbClr val="000000"/>
                </a:solidFill>
                <a:latin typeface="Calibri"/>
                <a:ea typeface="Calibri"/>
                <a:cs typeface="Calibri"/>
              </a:rPr>
              <a:t>Once the full cleaning pipeline and lemmatization are executed, the transcription column will hold clean, lowercase, lemmatized token text — ready for TF-IDF fitting.</a:t>
            </a:r>
            <a:endParaRPr lang="en-US" sz="1050" dirty="0">
              <a:latin typeface="Calibri"/>
              <a:ea typeface="Calibri"/>
              <a:cs typeface="Calibri"/>
            </a:endParaRPr>
          </a:p>
        </p:txBody>
      </p:sp>
      <p:sp>
        <p:nvSpPr>
          <p:cNvPr id="38" name="Text 36"/>
          <p:cNvSpPr txBox="1"/>
          <p:nvPr/>
        </p:nvSpPr>
        <p:spPr>
          <a:xfrm>
            <a:off x="6446520" y="3127248"/>
            <a:ext cx="5029200" cy="274320"/>
          </a:xfrm>
          <a:prstGeom prst="rect">
            <a:avLst/>
          </a:prstGeom>
          <a:noFill/>
          <a:ln/>
        </p:spPr>
        <p:txBody>
          <a:bodyPr wrap="square" lIns="0" tIns="0" rIns="0" bIns="0" rtlCol="0" anchor="ctr"/>
          <a:lstStyle/>
          <a:p>
            <a:pPr marL="0" indent="0">
              <a:buNone/>
              <a:defRPr>
                <a:solidFill/>
              </a:defRPr>
            </a:pPr>
            <a:r>
              <a:rPr lang="en-US" sz="1200" b="1" dirty="0">
                <a:solidFill>
                  <a:srgbClr val="0B1F3A"/>
                </a:solidFill>
                <a:latin typeface="Cambria" pitchFamily="34" charset="0"/>
                <a:ea typeface="Cambria" pitchFamily="34" charset="-122"/>
                <a:cs typeface="Cambria" pitchFamily="34" charset="-120"/>
              </a:rPr>
              <a:t>Planned verification functions:</a:t>
            </a:r>
            <a:endParaRPr lang="en-US" sz="1200" dirty="0"/>
          </a:p>
        </p:txBody>
      </p:sp>
      <p:sp>
        <p:nvSpPr>
          <p:cNvPr id="39" name="Text 37"/>
          <p:cNvSpPr txBox="1"/>
          <p:nvPr/>
        </p:nvSpPr>
        <p:spPr>
          <a:xfrm>
            <a:off x="6446520" y="3456432"/>
            <a:ext cx="5029200" cy="1463040"/>
          </a:xfrm>
          <a:prstGeom prst="rect">
            <a:avLst/>
          </a:prstGeom>
          <a:noFill/>
          <a:ln/>
        </p:spPr>
        <p:txBody>
          <a:bodyPr wrap="square" rtlCol="0" anchor="t"/>
          <a:lstStyle/>
          <a:p>
            <a:pPr marL="177800" indent="-177800">
              <a:spcAft>
                <a:spcPts val="700"/>
              </a:spcAft>
              <a:buSzPct val="100000"/>
              <a:buChar char="•"/>
              <a:defRPr>
                <a:solidFill/>
              </a:defRPr>
            </a:pPr>
            <a:r>
              <a:rPr lang="en-US" sz="1220" dirty="0">
                <a:solidFill>
                  <a:srgbClr val="000000"/>
                </a:solidFill>
                <a:latin typeface="Calibri" pitchFamily="34" charset="0"/>
                <a:ea typeface="Calibri" pitchFamily="34" charset="-122"/>
                <a:cs typeface="Calibri" pitchFamily="34" charset="-120"/>
              </a:rPr>
              <a:t>head() / tail() — preview cleaned narrative text</a:t>
            </a:r>
            <a:endParaRPr lang="en-US" sz="1070" dirty="0"/>
          </a:p>
          <a:p>
            <a:pPr marL="177800" indent="-177800">
              <a:spcAft>
                <a:spcPts val="700"/>
              </a:spcAft>
              <a:buSzPct val="100000"/>
              <a:buChar char="•"/>
              <a:defRPr>
                <a:solidFill/>
              </a:defRPr>
            </a:pPr>
            <a:r>
              <a:rPr lang="en-US" sz="1220" dirty="0">
                <a:solidFill>
                  <a:srgbClr val="000000"/>
                </a:solidFill>
                <a:latin typeface="Calibri" pitchFamily="34" charset="0"/>
                <a:ea typeface="Calibri" pitchFamily="34" charset="-122"/>
                <a:cs typeface="Calibri" pitchFamily="34" charset="-120"/>
              </a:rPr>
              <a:t>shape — confirm 4,966 rows retained post-cleaning</a:t>
            </a:r>
            <a:endParaRPr lang="en-US" sz="1070" dirty="0"/>
          </a:p>
          <a:p>
            <a:pPr marL="177800" indent="-177800">
              <a:spcAft>
                <a:spcPts val="700"/>
              </a:spcAft>
              <a:buSzPct val="100000"/>
              <a:buChar char="•"/>
              <a:defRPr>
                <a:solidFill/>
              </a:defRPr>
            </a:pPr>
            <a:r>
              <a:rPr lang="en-US" sz="1220" dirty="0">
                <a:solidFill>
                  <a:srgbClr val="000000"/>
                </a:solidFill>
                <a:latin typeface="Calibri" pitchFamily="34" charset="0"/>
                <a:ea typeface="Calibri" pitchFamily="34" charset="-122"/>
                <a:cs typeface="Calibri" pitchFamily="34" charset="-120"/>
              </a:rPr>
              <a:t>info() / dtypes — confirm object dtype for text columns</a:t>
            </a:r>
            <a:endParaRPr lang="en-US" sz="1070" dirty="0"/>
          </a:p>
          <a:p>
            <a:pPr marL="177800" indent="-177800">
              <a:spcAft>
                <a:spcPts val="700"/>
              </a:spcAft>
              <a:buSzPct val="100000"/>
              <a:buChar char="•"/>
              <a:defRPr>
                <a:solidFill/>
              </a:defRPr>
            </a:pPr>
            <a:r>
              <a:rPr lang="en-US" sz="1220" dirty="0">
                <a:solidFill>
                  <a:srgbClr val="000000"/>
                </a:solidFill>
                <a:latin typeface="Calibri" pitchFamily="34" charset="0"/>
                <a:ea typeface="Calibri" pitchFamily="34" charset="-122"/>
                <a:cs typeface="Calibri" pitchFamily="34" charset="-120"/>
              </a:rPr>
              <a:t>describe() — summarize categorical target distribution</a:t>
            </a:r>
            <a:endParaRPr lang="en-US" sz="1070" dirty="0"/>
          </a:p>
        </p:txBody>
      </p:sp>
      <p:sp>
        <p:nvSpPr>
          <p:cNvPr id="40" name="Shape 38"/>
          <p:cNvSpPr/>
          <p:nvPr/>
        </p:nvSpPr>
        <p:spPr>
          <a:xfrm>
            <a:off x="6217920" y="5074920"/>
            <a:ext cx="5513832" cy="1051560"/>
          </a:xfrm>
          <a:prstGeom prst="roundRect">
            <a:avLst>
              <a:gd name="adj" fmla="val 7826"/>
            </a:avLst>
          </a:prstGeom>
          <a:solidFill>
            <a:srgbClr val="FDF6E9"/>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41" name="Text 39"/>
          <p:cNvSpPr txBox="1"/>
          <p:nvPr/>
        </p:nvSpPr>
        <p:spPr>
          <a:xfrm>
            <a:off x="6446520" y="5193792"/>
            <a:ext cx="5074920" cy="822960"/>
          </a:xfrm>
          <a:prstGeom prst="rect">
            <a:avLst/>
          </a:prstGeom>
          <a:noFill/>
          <a:ln/>
        </p:spPr>
        <p:txBody>
          <a:bodyPr wrap="square" lIns="0" tIns="0" rIns="0" bIns="0" rtlCol="0" anchor="ctr"/>
          <a:lstStyle/>
          <a:p>
            <a:pPr marL="0" indent="0">
              <a:lnSpc>
                <a:spcPct val="115000"/>
              </a:lnSpc>
              <a:buNone/>
              <a:defRPr>
                <a:solidFill/>
              </a:defRPr>
            </a:pPr>
            <a:r>
              <a:rPr lang="en-US" sz="1000" i="1" dirty="0">
                <a:solidFill>
                  <a:srgbClr val="6B4A00"/>
                </a:solidFill>
                <a:latin typeface="Calibri" pitchFamily="34" charset="0"/>
                <a:ea typeface="Calibri" pitchFamily="34" charset="-122"/>
                <a:cs typeface="Calibri" pitchFamily="34" charset="-120"/>
              </a:rPr>
              <a:t>This stage is a proposed methodology step — not yet executed as final results. It will be implemented in the upcoming model-development phase.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lstStyle/>
          <a:p>
            <a:pPr>
              <a:defRPr>
                <a:solidFill/>
              </a:defRPr>
            </a:pPr>
            <a:endParaR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marL="0" indent="0" algn="ctr">
              <a:buNone/>
              <a:defRPr>
                <a:solidFill/>
              </a:defRPr>
            </a:pPr>
            <a:r>
              <a:rPr lang="en-US" sz="1050" b="1" kern="0" spc="100" dirty="0">
                <a:solidFill>
                  <a:srgbClr val="FFFFFF"/>
                </a:solidFill>
                <a:latin typeface="Calibri" pitchFamily="34" charset="0"/>
                <a:ea typeface="Calibri" pitchFamily="34" charset="-122"/>
                <a:cs typeface="Calibri" pitchFamily="34" charset="-120"/>
              </a:rPr>
              <a:t>MCA MINI PROJECT | PROPOSED ALGORITHMS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marL="0" indent="0" algn="l">
              <a:buNone/>
              <a:defRPr>
                <a:solidFill/>
              </a:defRPr>
            </a:pPr>
            <a:r>
              <a:rPr lang="en-US" sz="2700" b="1" dirty="0">
                <a:solidFill>
                  <a:srgbClr val="0B1F3A"/>
                </a:solidFill>
                <a:latin typeface="Cambria" pitchFamily="34" charset="0"/>
                <a:ea typeface="Cambria" pitchFamily="34" charset="-122"/>
                <a:cs typeface="Cambria" pitchFamily="34" charset="-120"/>
              </a:rPr>
              <a:t>Proposed Machine Learning Algorithms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marL="0" indent="0" algn="l">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marL="0" indent="0" algn="ctr">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12 of 19</a:t>
            </a:r>
          </a:p>
        </p:txBody>
      </p:sp>
      <p:sp>
        <p:nvSpPr>
          <p:cNvPr id="8" name="Shape 6"/>
          <p:cNvSpPr/>
          <p:nvPr/>
        </p:nvSpPr>
        <p:spPr>
          <a:xfrm>
            <a:off x="457200" y="1508760"/>
            <a:ext cx="2724912" cy="2331720"/>
          </a:xfrm>
          <a:prstGeom prst="roundRect">
            <a:avLst>
              <a:gd name="adj" fmla="val 3922"/>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9" name="Shape 7"/>
          <p:cNvSpPr/>
          <p:nvPr/>
        </p:nvSpPr>
        <p:spPr>
          <a:xfrm>
            <a:off x="1490472" y="1682496"/>
            <a:ext cx="658368" cy="658368"/>
          </a:xfrm>
          <a:prstGeom prst="ellipse">
            <a:avLst/>
          </a:prstGeom>
          <a:solidFill>
            <a:srgbClr val="0E7C86"/>
          </a:solidFill>
          <a:ln/>
        </p:spPr>
        <p:txBody>
          <a:bodyPr/>
          <a:lstStyle/>
          <a:p>
            <a:pPr>
              <a:defRPr>
                <a:solidFill/>
              </a:defRPr>
            </a:pPr>
            <a:endParaRPr/>
          </a:p>
        </p:txBody>
      </p:sp>
      <p:sp>
        <p:nvSpPr>
          <p:cNvPr id="10" name="Text 8"/>
          <p:cNvSpPr txBox="1"/>
          <p:nvPr/>
        </p:nvSpPr>
        <p:spPr>
          <a:xfrm>
            <a:off x="1490472" y="1682496"/>
            <a:ext cx="658368" cy="658368"/>
          </a:xfrm>
          <a:prstGeom prst="rect">
            <a:avLst/>
          </a:prstGeom>
          <a:noFill/>
          <a:ln/>
        </p:spPr>
        <p:txBody>
          <a:bodyPr wrap="square" lIns="0" tIns="0" rIns="0" bIns="0" rtlCol="0" anchor="ctr"/>
          <a:lstStyle/>
          <a:p>
            <a:pPr marL="0" indent="0" algn="ctr">
              <a:buNone/>
              <a:defRPr>
                <a:solidFill/>
              </a:defRPr>
            </a:pPr>
            <a:r>
              <a:rPr lang="en-US" sz="1300" b="1" dirty="0">
                <a:solidFill>
                  <a:srgbClr val="FFFFFF"/>
                </a:solidFill>
                <a:latin typeface="Calibri" pitchFamily="34" charset="0"/>
                <a:ea typeface="Calibri" pitchFamily="34" charset="-122"/>
                <a:cs typeface="Calibri" pitchFamily="34" charset="-120"/>
              </a:rPr>
              <a:t>SVM</a:t>
            </a:r>
            <a:endParaRPr lang="en-US" sz="1300" dirty="0"/>
          </a:p>
        </p:txBody>
      </p:sp>
      <p:sp>
        <p:nvSpPr>
          <p:cNvPr id="11" name="Text 9"/>
          <p:cNvSpPr txBox="1"/>
          <p:nvPr/>
        </p:nvSpPr>
        <p:spPr>
          <a:xfrm>
            <a:off x="594360" y="2441448"/>
            <a:ext cx="2450592" cy="502920"/>
          </a:xfrm>
          <a:prstGeom prst="rect">
            <a:avLst/>
          </a:prstGeom>
          <a:noFill/>
          <a:ln/>
        </p:spPr>
        <p:txBody>
          <a:bodyPr wrap="square" lIns="0" tIns="0" rIns="0" bIns="0" rtlCol="0" anchor="t"/>
          <a:lstStyle/>
          <a:p>
            <a:pPr marL="0" indent="0" algn="ctr">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Support Vector Machine</a:t>
            </a:r>
            <a:endParaRPr lang="en-US" sz="1250" dirty="0"/>
          </a:p>
        </p:txBody>
      </p:sp>
      <p:sp>
        <p:nvSpPr>
          <p:cNvPr id="12" name="Text 10"/>
          <p:cNvSpPr txBox="1"/>
          <p:nvPr/>
        </p:nvSpPr>
        <p:spPr>
          <a:xfrm>
            <a:off x="621792" y="2926080"/>
            <a:ext cx="2395728" cy="868680"/>
          </a:xfrm>
          <a:prstGeom prst="rect">
            <a:avLst/>
          </a:prstGeom>
          <a:noFill/>
          <a:ln/>
        </p:spPr>
        <p:txBody>
          <a:bodyPr wrap="square" lIns="0" tIns="0" rIns="0" bIns="0" rtlCol="0" anchor="t"/>
          <a:lstStyle/>
          <a:p>
            <a:pPr marL="0" indent="0" algn="ctr">
              <a:lnSpc>
                <a:spcPct val="112000"/>
              </a:lnSpc>
              <a:buNone/>
              <a:defRPr>
                <a:solidFill/>
              </a:defRPr>
            </a:pPr>
            <a:r>
              <a:rPr lang="en-US" sz="1110" dirty="0">
                <a:solidFill>
                  <a:srgbClr val="000000"/>
                </a:solidFill>
                <a:latin typeface="Calibri" pitchFamily="34" charset="0"/>
                <a:ea typeface="Calibri" pitchFamily="34" charset="-122"/>
                <a:cs typeface="Calibri" pitchFamily="34" charset="-120"/>
              </a:rPr>
              <a:t>Finds the maximum-margin hyperplane; excels on sparse, high-dimensional TF-IDF vectors with natural linear separability.</a:t>
            </a:r>
            <a:endParaRPr lang="en-US" sz="960" dirty="0"/>
          </a:p>
        </p:txBody>
      </p:sp>
      <p:sp>
        <p:nvSpPr>
          <p:cNvPr id="13" name="Shape 11"/>
          <p:cNvSpPr/>
          <p:nvPr/>
        </p:nvSpPr>
        <p:spPr>
          <a:xfrm>
            <a:off x="3300984" y="1508760"/>
            <a:ext cx="2724912" cy="2331720"/>
          </a:xfrm>
          <a:prstGeom prst="roundRect">
            <a:avLst>
              <a:gd name="adj" fmla="val 3922"/>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14" name="Shape 12"/>
          <p:cNvSpPr/>
          <p:nvPr/>
        </p:nvSpPr>
        <p:spPr>
          <a:xfrm>
            <a:off x="4334256" y="1682496"/>
            <a:ext cx="658368" cy="658368"/>
          </a:xfrm>
          <a:prstGeom prst="ellipse">
            <a:avLst/>
          </a:prstGeom>
          <a:solidFill>
            <a:srgbClr val="6C4AB6"/>
          </a:solidFill>
          <a:ln/>
        </p:spPr>
        <p:txBody>
          <a:bodyPr/>
          <a:lstStyle/>
          <a:p>
            <a:pPr>
              <a:defRPr>
                <a:solidFill/>
              </a:defRPr>
            </a:pPr>
            <a:endParaRPr/>
          </a:p>
        </p:txBody>
      </p:sp>
      <p:sp>
        <p:nvSpPr>
          <p:cNvPr id="15" name="Text 13"/>
          <p:cNvSpPr txBox="1"/>
          <p:nvPr/>
        </p:nvSpPr>
        <p:spPr>
          <a:xfrm>
            <a:off x="4334256" y="1682496"/>
            <a:ext cx="658368" cy="658368"/>
          </a:xfrm>
          <a:prstGeom prst="rect">
            <a:avLst/>
          </a:prstGeom>
          <a:noFill/>
          <a:ln/>
        </p:spPr>
        <p:txBody>
          <a:bodyPr wrap="square" lIns="0" tIns="0" rIns="0" bIns="0" rtlCol="0" anchor="ctr"/>
          <a:lstStyle/>
          <a:p>
            <a:pPr marL="0" indent="0" algn="ctr">
              <a:buNone/>
              <a:defRPr>
                <a:solidFill/>
              </a:defRPr>
            </a:pPr>
            <a:r>
              <a:rPr lang="en-US" sz="1300" b="1" dirty="0">
                <a:solidFill>
                  <a:srgbClr val="FFFFFF"/>
                </a:solidFill>
                <a:latin typeface="Calibri" pitchFamily="34" charset="0"/>
                <a:ea typeface="Calibri" pitchFamily="34" charset="-122"/>
                <a:cs typeface="Calibri" pitchFamily="34" charset="-120"/>
              </a:rPr>
              <a:t>RF</a:t>
            </a:r>
            <a:endParaRPr lang="en-US" sz="1300" dirty="0"/>
          </a:p>
        </p:txBody>
      </p:sp>
      <p:sp>
        <p:nvSpPr>
          <p:cNvPr id="16" name="Text 14"/>
          <p:cNvSpPr txBox="1"/>
          <p:nvPr/>
        </p:nvSpPr>
        <p:spPr>
          <a:xfrm>
            <a:off x="3438144" y="2441448"/>
            <a:ext cx="2450592" cy="502920"/>
          </a:xfrm>
          <a:prstGeom prst="rect">
            <a:avLst/>
          </a:prstGeom>
          <a:noFill/>
          <a:ln/>
        </p:spPr>
        <p:txBody>
          <a:bodyPr wrap="square" lIns="0" tIns="0" rIns="0" bIns="0" rtlCol="0" anchor="t"/>
          <a:lstStyle/>
          <a:p>
            <a:pPr marL="0" indent="0" algn="ctr">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Random Forest</a:t>
            </a:r>
            <a:endParaRPr lang="en-US" sz="1250" dirty="0"/>
          </a:p>
        </p:txBody>
      </p:sp>
      <p:sp>
        <p:nvSpPr>
          <p:cNvPr id="17" name="Text 15"/>
          <p:cNvSpPr txBox="1"/>
          <p:nvPr/>
        </p:nvSpPr>
        <p:spPr>
          <a:xfrm>
            <a:off x="3465576" y="2926080"/>
            <a:ext cx="2395728" cy="868680"/>
          </a:xfrm>
          <a:prstGeom prst="rect">
            <a:avLst/>
          </a:prstGeom>
          <a:noFill/>
          <a:ln/>
        </p:spPr>
        <p:txBody>
          <a:bodyPr wrap="square" lIns="0" tIns="0" rIns="0" bIns="0" rtlCol="0" anchor="t"/>
          <a:lstStyle/>
          <a:p>
            <a:pPr marL="0" indent="0" algn="ctr">
              <a:lnSpc>
                <a:spcPct val="112000"/>
              </a:lnSpc>
              <a:buNone/>
              <a:defRPr>
                <a:solidFill/>
              </a:defRPr>
            </a:pPr>
            <a:r>
              <a:rPr lang="en-US" sz="1110" dirty="0">
                <a:solidFill>
                  <a:srgbClr val="000000"/>
                </a:solidFill>
                <a:latin typeface="Calibri" pitchFamily="34" charset="0"/>
                <a:ea typeface="Calibri" pitchFamily="34" charset="-122"/>
                <a:cs typeface="Calibri" pitchFamily="34" charset="-120"/>
              </a:rPr>
              <a:t>Aggregates many decision trees via bagging; captures non-linear keyword interactions other models may miss.</a:t>
            </a:r>
            <a:endParaRPr lang="en-US" sz="960" dirty="0"/>
          </a:p>
        </p:txBody>
      </p:sp>
      <p:sp>
        <p:nvSpPr>
          <p:cNvPr id="18" name="Shape 16"/>
          <p:cNvSpPr/>
          <p:nvPr/>
        </p:nvSpPr>
        <p:spPr>
          <a:xfrm>
            <a:off x="6144768" y="1508760"/>
            <a:ext cx="2724912" cy="2331720"/>
          </a:xfrm>
          <a:prstGeom prst="roundRect">
            <a:avLst>
              <a:gd name="adj" fmla="val 3922"/>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19" name="Shape 17"/>
          <p:cNvSpPr/>
          <p:nvPr/>
        </p:nvSpPr>
        <p:spPr>
          <a:xfrm>
            <a:off x="7178040" y="1682496"/>
            <a:ext cx="658368" cy="658368"/>
          </a:xfrm>
          <a:prstGeom prst="ellipse">
            <a:avLst/>
          </a:prstGeom>
          <a:solidFill>
            <a:srgbClr val="13294B"/>
          </a:solidFill>
          <a:ln/>
        </p:spPr>
        <p:txBody>
          <a:bodyPr/>
          <a:lstStyle/>
          <a:p>
            <a:pPr>
              <a:defRPr>
                <a:solidFill/>
              </a:defRPr>
            </a:pPr>
            <a:endParaRPr/>
          </a:p>
        </p:txBody>
      </p:sp>
      <p:sp>
        <p:nvSpPr>
          <p:cNvPr id="20" name="Text 18"/>
          <p:cNvSpPr txBox="1"/>
          <p:nvPr/>
        </p:nvSpPr>
        <p:spPr>
          <a:xfrm>
            <a:off x="7178040" y="1682496"/>
            <a:ext cx="658368" cy="658368"/>
          </a:xfrm>
          <a:prstGeom prst="rect">
            <a:avLst/>
          </a:prstGeom>
          <a:noFill/>
          <a:ln/>
        </p:spPr>
        <p:txBody>
          <a:bodyPr wrap="square" lIns="0" tIns="0" rIns="0" bIns="0" rtlCol="0" anchor="ctr"/>
          <a:lstStyle/>
          <a:p>
            <a:pPr marL="0" indent="0" algn="ctr">
              <a:buNone/>
              <a:defRPr>
                <a:solidFill/>
              </a:defRPr>
            </a:pPr>
            <a:r>
              <a:rPr lang="en-US" sz="1300" b="1" dirty="0">
                <a:solidFill>
                  <a:srgbClr val="FFFFFF"/>
                </a:solidFill>
                <a:latin typeface="Calibri" pitchFamily="34" charset="0"/>
                <a:ea typeface="Calibri" pitchFamily="34" charset="-122"/>
                <a:cs typeface="Calibri" pitchFamily="34" charset="-120"/>
              </a:rPr>
              <a:t>LR</a:t>
            </a:r>
            <a:endParaRPr lang="en-US" sz="1300" dirty="0"/>
          </a:p>
        </p:txBody>
      </p:sp>
      <p:sp>
        <p:nvSpPr>
          <p:cNvPr id="21" name="Text 19"/>
          <p:cNvSpPr txBox="1"/>
          <p:nvPr/>
        </p:nvSpPr>
        <p:spPr>
          <a:xfrm>
            <a:off x="6281928" y="2441448"/>
            <a:ext cx="2450592" cy="502920"/>
          </a:xfrm>
          <a:prstGeom prst="rect">
            <a:avLst/>
          </a:prstGeom>
          <a:noFill/>
          <a:ln/>
        </p:spPr>
        <p:txBody>
          <a:bodyPr wrap="square" lIns="0" tIns="0" rIns="0" bIns="0" rtlCol="0" anchor="t"/>
          <a:lstStyle/>
          <a:p>
            <a:pPr marL="0" indent="0" algn="ctr">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Logistic Regression</a:t>
            </a:r>
            <a:endParaRPr lang="en-US" sz="1250" dirty="0"/>
          </a:p>
        </p:txBody>
      </p:sp>
      <p:sp>
        <p:nvSpPr>
          <p:cNvPr id="22" name="Text 20"/>
          <p:cNvSpPr txBox="1"/>
          <p:nvPr/>
        </p:nvSpPr>
        <p:spPr>
          <a:xfrm>
            <a:off x="6309360" y="2926080"/>
            <a:ext cx="2395728" cy="868680"/>
          </a:xfrm>
          <a:prstGeom prst="rect">
            <a:avLst/>
          </a:prstGeom>
          <a:noFill/>
          <a:ln/>
        </p:spPr>
        <p:txBody>
          <a:bodyPr wrap="square" lIns="0" tIns="0" rIns="0" bIns="0" rtlCol="0" anchor="t"/>
          <a:lstStyle/>
          <a:p>
            <a:pPr marL="0" indent="0" algn="ctr">
              <a:lnSpc>
                <a:spcPct val="112000"/>
              </a:lnSpc>
              <a:buNone/>
              <a:defRPr>
                <a:solidFill/>
              </a:defRPr>
            </a:pPr>
            <a:r>
              <a:rPr lang="en-US" sz="1110" dirty="0">
                <a:solidFill>
                  <a:srgbClr val="000000"/>
                </a:solidFill>
                <a:latin typeface="Calibri" pitchFamily="34" charset="0"/>
                <a:ea typeface="Calibri" pitchFamily="34" charset="-122"/>
                <a:cs typeface="Calibri" pitchFamily="34" charset="-120"/>
              </a:rPr>
              <a:t>Multinomial Softmax baseline; highly interpretable odds ratios for clinical term importance.</a:t>
            </a:r>
            <a:endParaRPr lang="en-US" sz="960" dirty="0"/>
          </a:p>
        </p:txBody>
      </p:sp>
      <p:sp>
        <p:nvSpPr>
          <p:cNvPr id="23" name="Shape 21"/>
          <p:cNvSpPr/>
          <p:nvPr/>
        </p:nvSpPr>
        <p:spPr>
          <a:xfrm>
            <a:off x="8988552" y="1508760"/>
            <a:ext cx="2724912" cy="2331720"/>
          </a:xfrm>
          <a:prstGeom prst="roundRect">
            <a:avLst>
              <a:gd name="adj" fmla="val 3922"/>
            </a:avLst>
          </a:prstGeom>
          <a:solidFill>
            <a:srgbClr val="FFFFFF"/>
          </a:solidFill>
          <a:ln w="12700">
            <a:solidFill>
              <a:srgbClr val="E3E8F0"/>
            </a:solidFill>
            <a:prstDash val="solid"/>
          </a:ln>
          <a:effectLst>
            <a:outerShdw blurRad="101600" dist="25400" dir="5400000" algn="bl" rotWithShape="0">
              <a:srgbClr val="1B2A4A">
                <a:alpha val="16000"/>
              </a:srgbClr>
            </a:outerShdw>
          </a:effectLst>
        </p:spPr>
        <p:txBody>
          <a:bodyPr/>
          <a:lstStyle/>
          <a:p>
            <a:pPr>
              <a:defRPr>
                <a:solidFill/>
              </a:defRPr>
            </a:pPr>
            <a:endParaRPr/>
          </a:p>
        </p:txBody>
      </p:sp>
      <p:sp>
        <p:nvSpPr>
          <p:cNvPr id="24" name="Shape 22"/>
          <p:cNvSpPr/>
          <p:nvPr/>
        </p:nvSpPr>
        <p:spPr>
          <a:xfrm>
            <a:off x="10021824" y="1682496"/>
            <a:ext cx="658368" cy="658368"/>
          </a:xfrm>
          <a:prstGeom prst="ellipse">
            <a:avLst/>
          </a:prstGeom>
          <a:solidFill>
            <a:srgbClr val="0E7C86"/>
          </a:solidFill>
          <a:ln/>
        </p:spPr>
        <p:txBody>
          <a:bodyPr/>
          <a:lstStyle/>
          <a:p>
            <a:pPr>
              <a:defRPr>
                <a:solidFill/>
              </a:defRPr>
            </a:pPr>
            <a:endParaRPr/>
          </a:p>
        </p:txBody>
      </p:sp>
      <p:sp>
        <p:nvSpPr>
          <p:cNvPr id="25" name="Text 23"/>
          <p:cNvSpPr txBox="1"/>
          <p:nvPr/>
        </p:nvSpPr>
        <p:spPr>
          <a:xfrm>
            <a:off x="10021824" y="1682496"/>
            <a:ext cx="658368" cy="658368"/>
          </a:xfrm>
          <a:prstGeom prst="rect">
            <a:avLst/>
          </a:prstGeom>
          <a:noFill/>
          <a:ln/>
        </p:spPr>
        <p:txBody>
          <a:bodyPr wrap="square" lIns="0" tIns="0" rIns="0" bIns="0" rtlCol="0" anchor="ctr"/>
          <a:lstStyle/>
          <a:p>
            <a:pPr marL="0" indent="0" algn="ctr">
              <a:buNone/>
              <a:defRPr>
                <a:solidFill/>
              </a:defRPr>
            </a:pPr>
            <a:r>
              <a:rPr lang="en-US" sz="1300" b="1" dirty="0">
                <a:solidFill>
                  <a:srgbClr val="FFFFFF"/>
                </a:solidFill>
                <a:latin typeface="Calibri" pitchFamily="34" charset="0"/>
                <a:ea typeface="Calibri" pitchFamily="34" charset="-122"/>
                <a:cs typeface="Calibri" pitchFamily="34" charset="-120"/>
              </a:rPr>
              <a:t>MNB</a:t>
            </a:r>
            <a:endParaRPr lang="en-US" sz="1300" dirty="0"/>
          </a:p>
        </p:txBody>
      </p:sp>
      <p:sp>
        <p:nvSpPr>
          <p:cNvPr id="26" name="Text 24"/>
          <p:cNvSpPr txBox="1"/>
          <p:nvPr/>
        </p:nvSpPr>
        <p:spPr>
          <a:xfrm>
            <a:off x="9125712" y="2441448"/>
            <a:ext cx="2450592" cy="502920"/>
          </a:xfrm>
          <a:prstGeom prst="rect">
            <a:avLst/>
          </a:prstGeom>
          <a:noFill/>
          <a:ln/>
        </p:spPr>
        <p:txBody>
          <a:bodyPr wrap="square" lIns="0" tIns="0" rIns="0" bIns="0" rtlCol="0" anchor="t"/>
          <a:lstStyle/>
          <a:p>
            <a:pPr marL="0" indent="0" algn="ctr">
              <a:lnSpc>
                <a:spcPct val="100000"/>
              </a:lnSpc>
              <a:buNone/>
              <a:defRPr>
                <a:solidFill/>
              </a:defRPr>
            </a:pPr>
            <a:r>
              <a:rPr lang="en-US" sz="1250" b="1" dirty="0">
                <a:solidFill>
                  <a:srgbClr val="0B1F3A"/>
                </a:solidFill>
                <a:latin typeface="Cambria" pitchFamily="34" charset="0"/>
                <a:ea typeface="Cambria" pitchFamily="34" charset="-122"/>
                <a:cs typeface="Cambria" pitchFamily="34" charset="-120"/>
              </a:rPr>
              <a:t>Multinomial Naive Bayes</a:t>
            </a:r>
            <a:endParaRPr lang="en-US" sz="1250" dirty="0"/>
          </a:p>
        </p:txBody>
      </p:sp>
      <p:sp>
        <p:nvSpPr>
          <p:cNvPr id="27" name="Text 25"/>
          <p:cNvSpPr txBox="1"/>
          <p:nvPr/>
        </p:nvSpPr>
        <p:spPr>
          <a:xfrm>
            <a:off x="9153144" y="2926080"/>
            <a:ext cx="2395728" cy="868680"/>
          </a:xfrm>
          <a:prstGeom prst="rect">
            <a:avLst/>
          </a:prstGeom>
          <a:noFill/>
          <a:ln/>
        </p:spPr>
        <p:txBody>
          <a:bodyPr wrap="square" lIns="0" tIns="0" rIns="0" bIns="0" rtlCol="0" anchor="t"/>
          <a:lstStyle/>
          <a:p>
            <a:pPr marL="0" indent="0" algn="ctr">
              <a:lnSpc>
                <a:spcPct val="112000"/>
              </a:lnSpc>
              <a:buNone/>
              <a:defRPr>
                <a:solidFill/>
              </a:defRPr>
            </a:pPr>
            <a:r>
              <a:rPr lang="en-US" sz="1110" dirty="0">
                <a:solidFill>
                  <a:srgbClr val="000000"/>
                </a:solidFill>
                <a:latin typeface="Calibri" pitchFamily="34" charset="0"/>
                <a:ea typeface="Calibri" pitchFamily="34" charset="-122"/>
                <a:cs typeface="Calibri" pitchFamily="34" charset="-120"/>
              </a:rPr>
              <a:t>Probabilistic, count-based model; computationally efficient and reliable even on smaller class subsets.</a:t>
            </a:r>
            <a:endParaRPr lang="en-US" sz="960" dirty="0"/>
          </a:p>
        </p:txBody>
      </p:sp>
      <p:sp>
        <p:nvSpPr>
          <p:cNvPr id="28" name="Rounded Rectangle 27"/>
          <p:cNvSpPr/>
          <p:nvPr/>
        </p:nvSpPr>
        <p:spPr>
          <a:xfrm>
            <a:off x="457200" y="4343400"/>
            <a:ext cx="2468880" cy="1600200"/>
          </a:xfrm>
          <a:prstGeom prst="roundRect">
            <a:avLst/>
          </a:prstGeom>
          <a:solidFill>
            <a:srgbClr val="13294B"/>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37160" rtlCol="0" anchor="ctr"/>
          <a:lstStyle/>
          <a:p>
            <a:pPr algn="ctr">
              <a:spcAft>
                <a:spcPts val="400"/>
              </a:spcAft>
              <a:defRPr sz="1000" b="1">
                <a:solidFill>
                  <a:srgbClr val="FFFFFF"/>
                </a:solidFill>
                <a:latin typeface="Calibri"/>
              </a:defRPr>
            </a:pPr>
            <a:r>
              <a:rPr>
                <a:solidFill>
                  <a:srgbClr val="FFFFFF"/>
                </a:solidFill>
              </a:rPr>
              <a:t>FEATURE EXTRACTION</a:t>
            </a:r>
          </a:p>
          <a:p>
            <a:pPr>
              <a:spcAft>
                <a:spcPts val="400"/>
              </a:spcAft>
              <a:defRPr sz="1600" b="1">
                <a:solidFill>
                  <a:srgbClr val="FFFFFF"/>
                </a:solidFill>
                <a:latin typeface="Cambria"/>
              </a:defRPr>
            </a:pPr>
            <a:r>
              <a:rPr>
                <a:solidFill>
                  <a:srgbClr val="FFFFFF"/>
                </a:solidFill>
              </a:rPr>
              <a:t>TF-IDF Vectorizer</a:t>
            </a:r>
          </a:p>
          <a:p>
            <a:pPr>
              <a:defRPr sz="1100">
                <a:solidFill>
                  <a:srgbClr val="FFFFFF"/>
                </a:solidFill>
                <a:latin typeface="Calibri"/>
              </a:defRPr>
            </a:pPr>
            <a:r>
              <a:rPr sz="1100">
                <a:solidFill>
                  <a:srgbClr val="FFFFFF"/>
                </a:solidFill>
              </a:rPr>
              <a:t>Unigrams &amp; bigrams with sublinear TF scaling and L2 normalization.</a:t>
            </a:r>
          </a:p>
        </p:txBody>
      </p:sp>
      <p:sp>
        <p:nvSpPr>
          <p:cNvPr id="29" name="Rounded Rectangle 28"/>
          <p:cNvSpPr/>
          <p:nvPr/>
        </p:nvSpPr>
        <p:spPr>
          <a:xfrm>
            <a:off x="3108960" y="4343400"/>
            <a:ext cx="5623560" cy="1600200"/>
          </a:xfrm>
          <a:prstGeom prst="roundRect">
            <a:avLst/>
          </a:prstGeom>
          <a:solidFill>
            <a:srgbClr val="0E7C86"/>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wrap="square" lIns="201168" tIns="164592" rIns="201168" bIns="137160" rtlCol="0" anchor="ctr"/>
          <a:lstStyle/>
          <a:p>
            <a:pPr algn="ctr">
              <a:spcAft>
                <a:spcPts val="400"/>
              </a:spcAft>
              <a:defRPr sz="1000" b="1">
                <a:solidFill>
                  <a:srgbClr val="FFFFFF"/>
                </a:solidFill>
                <a:latin typeface="Calibri"/>
              </a:defRPr>
            </a:pPr>
            <a:r>
              <a:rPr>
                <a:solidFill>
                  <a:srgbClr val="FFFFFF"/>
                </a:solidFill>
              </a:rPr>
              <a:t>CLASSIFICATION (4 DIVERSE BASE ESTIMATORS)</a:t>
            </a:r>
          </a:p>
          <a:p>
            <a:pPr>
              <a:spcAft>
                <a:spcPts val="400"/>
              </a:spcAft>
              <a:defRPr sz="1550" b="1">
                <a:solidFill>
                  <a:srgbClr val="FFFFFF"/>
                </a:solidFill>
                <a:latin typeface="Cambria"/>
              </a:defRPr>
            </a:pPr>
            <a:r>
              <a:rPr>
                <a:solidFill>
                  <a:srgbClr val="FFFFFF"/>
                </a:solidFill>
              </a:rPr>
              <a:t>SVM + Random Forest + Logistic Regression + Multinomial NB</a:t>
            </a:r>
          </a:p>
          <a:p>
            <a:pPr>
              <a:defRPr sz="1100">
                <a:solidFill>
                  <a:srgbClr val="FFFFFF"/>
                </a:solidFill>
                <a:latin typeface="Calibri"/>
              </a:defRPr>
            </a:pPr>
            <a:r>
              <a:rPr sz="1100">
                <a:solidFill>
                  <a:srgbClr val="FFFFFF"/>
                </a:solidFill>
              </a:rPr>
              <a:t>Each model independently evaluates high-dimensional sparse vectors and outputs class probabilities.</a:t>
            </a:r>
          </a:p>
        </p:txBody>
      </p:sp>
      <p:sp>
        <p:nvSpPr>
          <p:cNvPr id="30" name="Rounded Rectangle 29"/>
          <p:cNvSpPr/>
          <p:nvPr/>
        </p:nvSpPr>
        <p:spPr>
          <a:xfrm>
            <a:off x="8915400" y="4343400"/>
            <a:ext cx="2816352" cy="1600200"/>
          </a:xfrm>
          <a:prstGeom prst="roundRect">
            <a:avLst/>
          </a:prstGeom>
          <a:solidFill>
            <a:srgbClr val="5B21B6"/>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37160" rtlCol="0" anchor="ctr"/>
          <a:lstStyle/>
          <a:p>
            <a:pPr algn="ctr">
              <a:spcAft>
                <a:spcPts val="400"/>
              </a:spcAft>
              <a:defRPr sz="1000" b="1">
                <a:solidFill>
                  <a:srgbClr val="FFFFFF"/>
                </a:solidFill>
                <a:latin typeface="Calibri"/>
              </a:defRPr>
            </a:pPr>
            <a:r>
              <a:rPr>
                <a:solidFill>
                  <a:srgbClr val="FFFFFF"/>
                </a:solidFill>
              </a:rPr>
              <a:t>ENSEMBLE AGGREGATION</a:t>
            </a:r>
          </a:p>
          <a:p>
            <a:pPr>
              <a:spcAft>
                <a:spcPts val="400"/>
              </a:spcAft>
              <a:defRPr sz="1600" b="1">
                <a:solidFill>
                  <a:srgbClr val="FFFFFF"/>
                </a:solidFill>
                <a:latin typeface="Cambria"/>
              </a:defRPr>
            </a:pPr>
            <a:r>
              <a:rPr>
                <a:solidFill>
                  <a:srgbClr val="FFFFFF"/>
                </a:solidFill>
              </a:rPr>
              <a:t>Voting Classifier (Soft)</a:t>
            </a:r>
          </a:p>
          <a:p>
            <a:pPr>
              <a:defRPr sz="1100">
                <a:solidFill>
                  <a:srgbClr val="FFFFFF"/>
                </a:solidFill>
                <a:latin typeface="Calibri"/>
              </a:defRPr>
            </a:pPr>
            <a:r>
              <a:rPr sz="1100">
                <a:solidFill>
                  <a:srgbClr val="FFFFFF"/>
                </a:solidFill>
              </a:rPr>
              <a:t>Aggregates consensus probabilities to output final specialty prediction.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rPr>
                <a:solidFill/>
              </a:rP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rPr>
                <a:solidFill/>
              </a:rPr>
              <a:t>Algorithm Activity Diagrams: SVM &amp; Multinomial Naive Bayes</a:t>
            </a:r>
          </a:p>
        </p:txBody>
      </p:sp>
      <p:sp>
        <p:nvSpPr>
          <p:cNvPr id="4" name="TextBox 3"/>
          <p:cNvSpPr txBox="1"/>
          <p:nvPr/>
        </p:nvSpPr>
        <p:spPr>
          <a:xfrm>
            <a:off x="457200" y="6519672"/>
            <a:ext cx="4206240" cy="274320"/>
          </a:xfrm>
          <a:prstGeom prst="rect">
            <a:avLst/>
          </a:prstGeom>
          <a:noFill/>
        </p:spPr>
        <p:txBody>
          <a:bodyPr wrap="none">
            <a:spAutoFit/>
          </a:bodyPr>
          <a:lstStyle/>
          <a:p>
            <a:pPr>
              <a:defRPr sz="1050">
                <a:solidFill>
                  <a:srgbClr val="000000"/>
                </a:solidFill>
                <a:latin typeface="Calibri"/>
              </a:defRPr>
            </a:pPr>
            <a:r>
              <a:rPr>
                <a:solidFill/>
              </a:rP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1050">
                <a:solidFill>
                  <a:srgbClr val="000000"/>
                </a:solidFill>
                <a:latin typeface="Calibri"/>
              </a:defRPr>
            </a:pPr>
            <a:r>
              <a:rPr>
                <a:solidFill/>
              </a:rP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1050">
                <a:solidFill>
                  <a:srgbClr val="000000"/>
                </a:solidFill>
                <a:latin typeface="Calibri"/>
              </a:defRPr>
            </a:pPr>
            <a:r>
              <a:rPr>
                <a:solidFill/>
              </a:rPr>
              <a:t>Slide 13 of 19</a:t>
            </a:r>
          </a:p>
        </p:txBody>
      </p:sp>
      <p:sp>
        <p:nvSpPr>
          <p:cNvPr id="7" name="Rounded Rectangle 6"/>
          <p:cNvSpPr/>
          <p:nvPr/>
        </p:nvSpPr>
        <p:spPr>
          <a:xfrm>
            <a:off x="457200" y="1234440"/>
            <a:ext cx="5440680" cy="5074920"/>
          </a:xfrm>
          <a:prstGeom prst="roundRect">
            <a:avLst/>
          </a:prstGeom>
          <a:solidFill>
            <a:srgbClr val="FFFFFF"/>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endParaRPr/>
          </a:p>
        </p:txBody>
      </p:sp>
      <p:sp>
        <p:nvSpPr>
          <p:cNvPr id="8" name="Rounded Rectangle 7"/>
          <p:cNvSpPr/>
          <p:nvPr/>
        </p:nvSpPr>
        <p:spPr>
          <a:xfrm>
            <a:off x="594360" y="1417320"/>
            <a:ext cx="5166360" cy="38404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rPr>
                <a:solidFill/>
              </a:rPr>
              <a:t>SUPPORT VECTOR MACHINE (SVM) — ACTIVITY DIAGRAM</a:t>
            </a:r>
          </a:p>
        </p:txBody>
      </p:sp>
      <p:pic>
        <p:nvPicPr>
          <p:cNvPr id="9" name="Picture 8" descr="svm.png"/>
          <p:cNvPicPr>
            <a:picLocks noChangeAspect="1"/>
          </p:cNvPicPr>
          <p:nvPr/>
        </p:nvPicPr>
        <p:blipFill>
          <a:blip r:embed="rId3"/>
          <a:stretch>
            <a:fillRect/>
          </a:stretch>
        </p:blipFill>
        <p:spPr>
          <a:xfrm>
            <a:off x="1892807" y="1874519"/>
            <a:ext cx="2560320" cy="4437888"/>
          </a:xfrm>
          <a:prstGeom prst="rect">
            <a:avLst/>
          </a:prstGeom>
        </p:spPr>
      </p:pic>
      <p:sp>
        <p:nvSpPr>
          <p:cNvPr id="10" name="Rounded Rectangle 9"/>
          <p:cNvSpPr/>
          <p:nvPr/>
        </p:nvSpPr>
        <p:spPr>
          <a:xfrm>
            <a:off x="6217920" y="1325880"/>
            <a:ext cx="5486400" cy="50749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endParaRPr/>
          </a:p>
        </p:txBody>
      </p:sp>
      <p:sp>
        <p:nvSpPr>
          <p:cNvPr id="11" name="Rounded Rectangle 10"/>
          <p:cNvSpPr/>
          <p:nvPr/>
        </p:nvSpPr>
        <p:spPr>
          <a:xfrm>
            <a:off x="6355080" y="1417320"/>
            <a:ext cx="5212080"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rPr>
                <a:solidFill/>
              </a:rPr>
              <a:t>MULTINOMIAL NAIVE BAYES (MNB) — ACTIVITY DIAGRAM</a:t>
            </a:r>
          </a:p>
        </p:txBody>
      </p:sp>
      <p:pic>
        <p:nvPicPr>
          <p:cNvPr id="12" name="Picture 11" descr="mnb.png"/>
          <p:cNvPicPr>
            <a:picLocks noChangeAspect="1"/>
          </p:cNvPicPr>
          <p:nvPr/>
        </p:nvPicPr>
        <p:blipFill>
          <a:blip r:embed="rId4"/>
          <a:stretch>
            <a:fillRect/>
          </a:stretch>
        </p:blipFill>
        <p:spPr>
          <a:xfrm>
            <a:off x="7379208" y="1920240"/>
            <a:ext cx="3154680" cy="433960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rPr>
                <a:solidFill/>
              </a:rP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rPr>
                <a:solidFill/>
              </a:rPr>
              <a:t>Algorithm Activity Diagrams: Random Forest &amp; Logistic Regression</a:t>
            </a:r>
          </a:p>
        </p:txBody>
      </p:sp>
      <p:sp>
        <p:nvSpPr>
          <p:cNvPr id="4" name="TextBox 3"/>
          <p:cNvSpPr txBox="1"/>
          <p:nvPr/>
        </p:nvSpPr>
        <p:spPr>
          <a:xfrm>
            <a:off x="457200" y="6519672"/>
            <a:ext cx="4206240" cy="274320"/>
          </a:xfrm>
          <a:prstGeom prst="rect">
            <a:avLst/>
          </a:prstGeom>
          <a:noFill/>
        </p:spPr>
        <p:txBody>
          <a:bodyPr wrap="none">
            <a:spAutoFit/>
          </a:bodyPr>
          <a:lstStyle/>
          <a:p>
            <a:pPr>
              <a:defRPr sz="1050">
                <a:solidFill>
                  <a:srgbClr val="000000"/>
                </a:solidFill>
                <a:latin typeface="Calibri"/>
              </a:defRPr>
            </a:pPr>
            <a:r>
              <a:rPr>
                <a:solidFill/>
              </a:rP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1050">
                <a:solidFill>
                  <a:srgbClr val="000000"/>
                </a:solidFill>
                <a:latin typeface="Calibri"/>
              </a:defRPr>
            </a:pPr>
            <a:r>
              <a:rPr>
                <a:solidFill/>
              </a:rP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1050">
                <a:solidFill>
                  <a:srgbClr val="000000"/>
                </a:solidFill>
                <a:latin typeface="Calibri"/>
              </a:defRPr>
            </a:pPr>
            <a:r>
              <a:rPr>
                <a:solidFill/>
              </a:rPr>
              <a:t>Slide 14 of 19</a:t>
            </a:r>
          </a:p>
        </p:txBody>
      </p:sp>
      <p:sp>
        <p:nvSpPr>
          <p:cNvPr id="7" name="Rounded Rectangle 6"/>
          <p:cNvSpPr/>
          <p:nvPr/>
        </p:nvSpPr>
        <p:spPr>
          <a:xfrm>
            <a:off x="457200" y="1325880"/>
            <a:ext cx="5440680" cy="507492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endParaRPr/>
          </a:p>
        </p:txBody>
      </p:sp>
      <p:sp>
        <p:nvSpPr>
          <p:cNvPr id="8" name="Rounded Rectangle 7"/>
          <p:cNvSpPr/>
          <p:nvPr/>
        </p:nvSpPr>
        <p:spPr>
          <a:xfrm>
            <a:off x="594360" y="1417320"/>
            <a:ext cx="5166360" cy="384048"/>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rPr>
                <a:solidFill/>
              </a:rPr>
              <a:t>RANDOM FOREST (RF) — ACTIVITY DIAGRAM</a:t>
            </a:r>
          </a:p>
        </p:txBody>
      </p:sp>
      <p:pic>
        <p:nvPicPr>
          <p:cNvPr id="9" name="Picture 8" descr="rf.png"/>
          <p:cNvPicPr>
            <a:picLocks noChangeAspect="1"/>
          </p:cNvPicPr>
          <p:nvPr/>
        </p:nvPicPr>
        <p:blipFill>
          <a:blip r:embed="rId3"/>
          <a:stretch>
            <a:fillRect/>
          </a:stretch>
        </p:blipFill>
        <p:spPr>
          <a:xfrm>
            <a:off x="1828800" y="1874519"/>
            <a:ext cx="2697480" cy="4339946"/>
          </a:xfrm>
          <a:prstGeom prst="rect">
            <a:avLst/>
          </a:prstGeom>
        </p:spPr>
      </p:pic>
      <p:sp>
        <p:nvSpPr>
          <p:cNvPr id="10" name="Rounded Rectangle 9"/>
          <p:cNvSpPr/>
          <p:nvPr/>
        </p:nvSpPr>
        <p:spPr>
          <a:xfrm>
            <a:off x="6217920" y="1325880"/>
            <a:ext cx="5486400" cy="507492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endParaRPr/>
          </a:p>
        </p:txBody>
      </p:sp>
      <p:sp>
        <p:nvSpPr>
          <p:cNvPr id="11" name="Rounded Rectangle 10"/>
          <p:cNvSpPr/>
          <p:nvPr/>
        </p:nvSpPr>
        <p:spPr>
          <a:xfrm>
            <a:off x="6355080" y="1417320"/>
            <a:ext cx="5212080" cy="384048"/>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rPr>
                <a:solidFill/>
              </a:rPr>
              <a:t>LOGISTIC REGRESSION (LR) — ACTIVITY DIAGRAM</a:t>
            </a:r>
          </a:p>
        </p:txBody>
      </p:sp>
      <p:pic>
        <p:nvPicPr>
          <p:cNvPr id="12" name="Picture 11" descr="lr.png"/>
          <p:cNvPicPr>
            <a:picLocks noChangeAspect="1"/>
          </p:cNvPicPr>
          <p:nvPr/>
        </p:nvPicPr>
        <p:blipFill>
          <a:blip r:embed="rId4"/>
          <a:stretch>
            <a:fillRect/>
          </a:stretch>
        </p:blipFill>
        <p:spPr>
          <a:xfrm>
            <a:off x="7744968" y="1874519"/>
            <a:ext cx="2423160" cy="44478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rPr>
                <a:solidFill/>
              </a:rP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rPr>
                <a:solidFill/>
              </a:rPr>
              <a:t>Soft Voting Ensemble: Architecture &amp; Activity Flow</a:t>
            </a:r>
          </a:p>
        </p:txBody>
      </p:sp>
      <p:sp>
        <p:nvSpPr>
          <p:cNvPr id="4" name="TextBox 3"/>
          <p:cNvSpPr txBox="1"/>
          <p:nvPr/>
        </p:nvSpPr>
        <p:spPr>
          <a:xfrm>
            <a:off x="457200" y="6519672"/>
            <a:ext cx="4206240" cy="274320"/>
          </a:xfrm>
          <a:prstGeom prst="rect">
            <a:avLst/>
          </a:prstGeom>
          <a:noFill/>
        </p:spPr>
        <p:txBody>
          <a:bodyPr wrap="none">
            <a:spAutoFit/>
          </a:bodyPr>
          <a:lstStyle/>
          <a:p>
            <a:pPr>
              <a:defRPr sz="1050">
                <a:solidFill>
                  <a:srgbClr val="000000"/>
                </a:solidFill>
                <a:latin typeface="Calibri"/>
              </a:defRPr>
            </a:pPr>
            <a:r>
              <a:rPr>
                <a:solidFill/>
              </a:rP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1050">
                <a:solidFill>
                  <a:srgbClr val="000000"/>
                </a:solidFill>
                <a:latin typeface="Calibri"/>
              </a:defRPr>
            </a:pPr>
            <a:r>
              <a:rPr>
                <a:solidFill/>
              </a:rP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1050">
                <a:solidFill>
                  <a:srgbClr val="000000"/>
                </a:solidFill>
                <a:latin typeface="Calibri"/>
              </a:defRPr>
            </a:pPr>
            <a:r>
              <a:rPr>
                <a:solidFill/>
              </a:rPr>
              <a:t>Slide 15 of 19</a:t>
            </a:r>
          </a:p>
        </p:txBody>
      </p:sp>
      <p:sp>
        <p:nvSpPr>
          <p:cNvPr id="7" name="Rounded Rectangle 6"/>
          <p:cNvSpPr/>
          <p:nvPr/>
        </p:nvSpPr>
        <p:spPr>
          <a:xfrm>
            <a:off x="457200" y="1325880"/>
            <a:ext cx="6858000" cy="5074920"/>
          </a:xfrm>
          <a:prstGeom prst="roundRect">
            <a:avLst/>
          </a:prstGeom>
          <a:solidFill>
            <a:srgbClr val="FFFFFF"/>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endParaRPr/>
          </a:p>
        </p:txBody>
      </p:sp>
      <p:sp>
        <p:nvSpPr>
          <p:cNvPr id="8" name="Rounded Rectangle 7"/>
          <p:cNvSpPr/>
          <p:nvPr/>
        </p:nvSpPr>
        <p:spPr>
          <a:xfrm>
            <a:off x="594360" y="1417320"/>
            <a:ext cx="6583680" cy="38404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rPr>
                <a:solidFill/>
              </a:rPr>
              <a:t>VOTING ENSEMBLE CLASSIFIER — ACTIVITY DIAGRAM</a:t>
            </a:r>
          </a:p>
        </p:txBody>
      </p:sp>
      <p:pic>
        <p:nvPicPr>
          <p:cNvPr id="9" name="Picture 8" descr="ensemble.png"/>
          <p:cNvPicPr>
            <a:picLocks noChangeAspect="1"/>
          </p:cNvPicPr>
          <p:nvPr/>
        </p:nvPicPr>
        <p:blipFill>
          <a:blip r:embed="rId3"/>
          <a:stretch>
            <a:fillRect/>
          </a:stretch>
        </p:blipFill>
        <p:spPr>
          <a:xfrm>
            <a:off x="640080" y="1874519"/>
            <a:ext cx="6492240" cy="4440372"/>
          </a:xfrm>
          <a:prstGeom prst="rect">
            <a:avLst/>
          </a:prstGeom>
        </p:spPr>
      </p:pic>
      <p:sp>
        <p:nvSpPr>
          <p:cNvPr id="10" name="Rounded Rectangle 9"/>
          <p:cNvSpPr/>
          <p:nvPr/>
        </p:nvSpPr>
        <p:spPr>
          <a:xfrm>
            <a:off x="7543800" y="1325880"/>
            <a:ext cx="4160520" cy="5074920"/>
          </a:xfrm>
          <a:prstGeom prst="roundRect">
            <a:avLst/>
          </a:prstGeom>
          <a:solidFill>
            <a:srgbClr val="FA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wrap="square" lIns="201168" tIns="182880" rIns="201168" bIns="45720" rtlCol="0" anchor="ctr"/>
          <a:lstStyle/>
          <a:p>
            <a:pPr algn="ctr">
              <a:spcAft>
                <a:spcPts val="600"/>
              </a:spcAft>
              <a:defRPr sz="1150" b="1">
                <a:solidFill>
                  <a:srgbClr val="0E7C86"/>
                </a:solidFill>
                <a:latin typeface="Calibri"/>
              </a:defRPr>
            </a:pPr>
            <a:r>
              <a:rPr sz="1400" dirty="0">
                <a:solidFill/>
              </a:rPr>
              <a:t>ENSEMBLE ARCHITECTURE</a:t>
            </a:r>
            <a:endParaRPr sz="1400" b="1" dirty="0">
              <a:solidFill/>
              <a:latin typeface="Calibri"/>
              <a:ea typeface="Calibri"/>
              <a:cs typeface="Calibri"/>
            </a:endParaRPr>
          </a:p>
          <a:p>
            <a:pPr>
              <a:spcAft>
                <a:spcPts val="400"/>
              </a:spcAft>
              <a:defRPr>
                <a:solidFill/>
              </a:defRPr>
            </a:pPr>
            <a:r>
              <a:rPr sz="1200" b="1" dirty="0">
                <a:solidFill>
                  <a:srgbClr val="0B1F3A"/>
                </a:solidFill>
                <a:latin typeface="Calibri"/>
              </a:rPr>
              <a:t>• Parallel Execution: </a:t>
            </a:r>
            <a:r>
              <a:rPr sz="1200" dirty="0">
                <a:solidFill>
                  <a:srgbClr val="000000"/>
                </a:solidFill>
                <a:latin typeface="Calibri"/>
              </a:rPr>
              <a:t>All 4 base classifiers (LR, SVM, RF, MNB) ingest identical TF-IDF vectors simultaneously.</a:t>
            </a:r>
            <a:endParaRPr sz="1200" dirty="0">
              <a:solidFill>
                <a:srgbClr val="000000"/>
              </a:solidFill>
              <a:latin typeface="Calibri"/>
              <a:ea typeface="Calibri"/>
              <a:cs typeface="Calibri"/>
            </a:endParaRPr>
          </a:p>
          <a:p>
            <a:pPr>
              <a:spcAft>
                <a:spcPts val="400"/>
              </a:spcAft>
              <a:defRPr>
                <a:solidFill/>
              </a:defRPr>
            </a:pPr>
            <a:r>
              <a:rPr sz="1200" b="1" dirty="0">
                <a:solidFill>
                  <a:srgbClr val="0B1F3A"/>
                </a:solidFill>
                <a:latin typeface="Calibri"/>
              </a:rPr>
              <a:t>• Probability Calibration: </a:t>
            </a:r>
            <a:r>
              <a:rPr sz="1200" dirty="0">
                <a:solidFill>
                  <a:srgbClr val="000000"/>
                </a:solidFill>
                <a:latin typeface="Calibri"/>
              </a:rPr>
              <a:t>Logistic Regression, RF, and MNB output natural probabilities; SVM decision scores are calibrated to produce true probability distributions.</a:t>
            </a:r>
            <a:endParaRPr sz="1200" dirty="0">
              <a:solidFill>
                <a:srgbClr val="000000"/>
              </a:solidFill>
              <a:latin typeface="Calibri"/>
              <a:ea typeface="Calibri"/>
              <a:cs typeface="Calibri"/>
            </a:endParaRPr>
          </a:p>
          <a:p>
            <a:pPr>
              <a:spcAft>
                <a:spcPts val="400"/>
              </a:spcAft>
              <a:defRPr>
                <a:solidFill/>
              </a:defRPr>
            </a:pPr>
            <a:r>
              <a:rPr sz="1200" b="1" dirty="0">
                <a:solidFill>
                  <a:srgbClr val="0B1F3A"/>
                </a:solidFill>
                <a:latin typeface="Calibri"/>
              </a:rPr>
              <a:t>• Soft Voting Consensus: </a:t>
            </a:r>
            <a:r>
              <a:rPr sz="1200" dirty="0" err="1">
                <a:solidFill>
                  <a:srgbClr val="000000"/>
                </a:solidFill>
                <a:latin typeface="Calibri"/>
              </a:rPr>
              <a:t>P_ensemble</a:t>
            </a:r>
            <a:r>
              <a:rPr sz="1200" dirty="0">
                <a:solidFill>
                  <a:srgbClr val="000000"/>
                </a:solidFill>
                <a:latin typeface="Calibri"/>
              </a:rPr>
              <a:t>(c | x) = 1/4 Σ </a:t>
            </a:r>
            <a:r>
              <a:rPr sz="1200" dirty="0" err="1">
                <a:solidFill>
                  <a:srgbClr val="000000"/>
                </a:solidFill>
                <a:latin typeface="Calibri"/>
              </a:rPr>
              <a:t>P_m</a:t>
            </a:r>
            <a:r>
              <a:rPr sz="1200" dirty="0">
                <a:solidFill>
                  <a:srgbClr val="000000"/>
                </a:solidFill>
                <a:latin typeface="Calibri"/>
              </a:rPr>
              <a:t>(c | x) averages predicted probabilities across all 40 categories.</a:t>
            </a:r>
            <a:endParaRPr sz="1200" dirty="0">
              <a:solidFill>
                <a:srgbClr val="000000"/>
              </a:solidFill>
              <a:latin typeface="Calibri"/>
              <a:ea typeface="Calibri"/>
              <a:cs typeface="Calibri"/>
            </a:endParaRPr>
          </a:p>
          <a:p>
            <a:pPr>
              <a:spcAft>
                <a:spcPts val="400"/>
              </a:spcAft>
              <a:defRPr>
                <a:solidFill/>
              </a:defRPr>
            </a:pPr>
            <a:r>
              <a:rPr sz="1200" b="1" dirty="0">
                <a:solidFill>
                  <a:srgbClr val="0B1F3A"/>
                </a:solidFill>
                <a:latin typeface="Calibri"/>
              </a:rPr>
              <a:t>• Argmax Decision Rule: </a:t>
            </a:r>
            <a:r>
              <a:rPr sz="1200" dirty="0">
                <a:solidFill>
                  <a:srgbClr val="000000"/>
                </a:solidFill>
                <a:latin typeface="Calibri"/>
              </a:rPr>
              <a:t>The final medical specialty is selected as the class that maximizes the aggregated ensemble probability: ŷ = argmax </a:t>
            </a:r>
            <a:r>
              <a:rPr sz="1200" dirty="0" err="1">
                <a:solidFill>
                  <a:srgbClr val="000000"/>
                </a:solidFill>
                <a:latin typeface="Calibri"/>
              </a:rPr>
              <a:t>P_ensemble</a:t>
            </a:r>
            <a:r>
              <a:rPr sz="1200" dirty="0">
                <a:solidFill>
                  <a:srgbClr val="000000"/>
                </a:solidFill>
                <a:latin typeface="Calibri"/>
              </a:rPr>
              <a:t>(c | x).</a:t>
            </a:r>
            <a:endParaRPr sz="1200" dirty="0">
              <a:solidFill>
                <a:srgbClr val="000000"/>
              </a:solidFill>
              <a:latin typeface="Calibri"/>
              <a:ea typeface="Calibri"/>
              <a:cs typeface="Calibri"/>
            </a:endParaRPr>
          </a:p>
          <a:p>
            <a:pPr>
              <a:spcAft>
                <a:spcPts val="400"/>
              </a:spcAft>
              <a:defRPr>
                <a:solidFill/>
              </a:defRPr>
            </a:pPr>
            <a:r>
              <a:rPr sz="1200" b="1" dirty="0">
                <a:solidFill>
                  <a:srgbClr val="0B1F3A"/>
                </a:solidFill>
                <a:latin typeface="Calibri"/>
              </a:rPr>
              <a:t>• Variance Reduction: </a:t>
            </a:r>
            <a:r>
              <a:rPr sz="1200" dirty="0">
                <a:solidFill>
                  <a:srgbClr val="000000"/>
                </a:solidFill>
                <a:latin typeface="Calibri"/>
              </a:rPr>
              <a:t>Compensates for individual estimator weaknesses, smoothing noise and stabilizing prediction on rare specialty classes.</a:t>
            </a:r>
            <a:endParaRPr sz="1200" dirty="0">
              <a:solidFill>
                <a:srgbClr val="000000"/>
              </a:solidFill>
              <a:latin typeface="Calibri"/>
              <a:ea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lstStyle/>
          <a:p>
            <a:pPr>
              <a:defRPr>
                <a:solidFill/>
              </a:defRPr>
            </a:pPr>
            <a:endParaR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marL="0" indent="0" algn="ctr">
              <a:buNone/>
              <a:defRPr>
                <a:solidFill/>
              </a:defRPr>
            </a:pPr>
            <a:r>
              <a:rPr lang="en-US" sz="1050" b="1" kern="0" spc="100" dirty="0">
                <a:solidFill>
                  <a:srgbClr val="FFFFFF"/>
                </a:solidFill>
                <a:latin typeface="Calibri" pitchFamily="34" charset="0"/>
                <a:ea typeface="Calibri" pitchFamily="34" charset="-122"/>
                <a:cs typeface="Calibri" pitchFamily="34" charset="-120"/>
              </a:rPr>
              <a:t>MCA MINI PROJECT | PROJECT PIPELINE</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marL="0" indent="0" algn="l">
              <a:buNone/>
              <a:defRPr>
                <a:solidFill/>
              </a:defRPr>
            </a:pPr>
            <a:r>
              <a:rPr lang="en-US" sz="2700" b="1" dirty="0">
                <a:solidFill>
                  <a:srgbClr val="0B1F3A"/>
                </a:solidFill>
                <a:latin typeface="Cambria" pitchFamily="34" charset="0"/>
                <a:ea typeface="Cambria" pitchFamily="34" charset="-122"/>
                <a:cs typeface="Cambria" pitchFamily="34" charset="-120"/>
              </a:rPr>
              <a:t>Complete End-to-End Project Pipeline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marL="0" indent="0" algn="l">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marL="0" indent="0" algn="ctr">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16 of 19</a:t>
            </a:r>
          </a:p>
        </p:txBody>
      </p:sp>
      <p:sp>
        <p:nvSpPr>
          <p:cNvPr id="8" name="Rounded Rectangle 7"/>
          <p:cNvSpPr/>
          <p:nvPr/>
        </p:nvSpPr>
        <p:spPr>
          <a:xfrm>
            <a:off x="206828" y="1140823"/>
            <a:ext cx="11726091" cy="5162005"/>
          </a:xfrm>
          <a:prstGeom prst="roundRect">
            <a:avLst/>
          </a:prstGeom>
          <a:solidFill>
            <a:srgbClr val="FFFFFF"/>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endParaRPr/>
          </a:p>
        </p:txBody>
      </p:sp>
      <p:pic>
        <p:nvPicPr>
          <p:cNvPr id="10" name="Picture 9" descr="diagram_page_35_img_1.png"/>
          <p:cNvPicPr>
            <a:picLocks noChangeAspect="1"/>
          </p:cNvPicPr>
          <p:nvPr/>
        </p:nvPicPr>
        <p:blipFill>
          <a:blip r:embed="rId3"/>
          <a:stretch>
            <a:fillRect/>
          </a:stretch>
        </p:blipFill>
        <p:spPr>
          <a:xfrm>
            <a:off x="1691793" y="1145177"/>
            <a:ext cx="8252938" cy="515982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6F8FB"/>
        </a:solidFill>
        <a:effectLst/>
      </p:bgPr>
    </p:bg>
    <p:spTree>
      <p:nvGrpSpPr>
        <p:cNvPr id="1" name=""/>
        <p:cNvGrpSpPr/>
        <p:nvPr/>
      </p:nvGrpSpPr>
      <p:grpSpPr>
        <a:xfrm>
          <a:off x="0" y="0"/>
          <a:ext cx="0" cy="0"/>
          <a:chOff x="0" y="0"/>
          <a:chExt cx="0" cy="0"/>
        </a:xfrm>
      </p:grpSpPr>
      <p:sp>
        <p:nvSpPr>
          <p:cNvPr id="4" name="Text 2"/>
          <p:cNvSpPr txBox="1"/>
          <p:nvPr/>
        </p:nvSpPr>
        <p:spPr>
          <a:xfrm>
            <a:off x="457200" y="676656"/>
            <a:ext cx="11247120" cy="658368"/>
          </a:xfrm>
          <a:prstGeom prst="rect">
            <a:avLst/>
          </a:prstGeom>
          <a:noFill/>
          <a:ln/>
        </p:spPr>
        <p:txBody>
          <a:bodyPr wrap="square" lIns="0" tIns="0" rIns="0" bIns="0" rtlCol="0" anchor="t"/>
          <a:lstStyle/>
          <a:p>
            <a:pPr>
              <a:defRPr sz="2700" b="1">
                <a:solidFill>
                  <a:srgbClr val="0B1F3A"/>
                </a:solidFill>
                <a:latin typeface="Cambria"/>
              </a:defRPr>
            </a:pPr>
            <a:r>
              <a:rPr>
                <a:solidFill/>
              </a:rPr>
              <a:t>Current Project Progress &amp; Implementation Roadmap</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marL="0" indent="0" algn="l">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marL="0" indent="0" algn="ctr">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17 of 19</a:t>
            </a:r>
          </a:p>
        </p:txBody>
      </p:sp>
      <p:sp>
        <p:nvSpPr>
          <p:cNvPr id="8" name="Rounded Rectangle 7"/>
          <p:cNvSpPr/>
          <p:nvPr/>
        </p:nvSpPr>
        <p:spPr>
          <a:xfrm>
            <a:off x="457200" y="1463040"/>
            <a:ext cx="544068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64592" rIns="182880" bIns="137160" rtlCol="0" anchor="ctr"/>
          <a:lstStyle/>
          <a:p>
            <a:pPr algn="ctr">
              <a:spcAft>
                <a:spcPts val="600"/>
              </a:spcAft>
              <a:defRPr sz="1200" b="1">
                <a:solidFill>
                  <a:srgbClr val="0E7C86"/>
                </a:solidFill>
                <a:latin typeface="Calibri"/>
              </a:defRPr>
            </a:pPr>
            <a:r>
              <a:rPr dirty="0">
                <a:solidFill/>
              </a:rPr>
              <a:t>CURRENT PROGRESS (PHASE 1 / SPRINT RELEASE I)</a:t>
            </a:r>
          </a:p>
          <a:p>
            <a:pPr>
              <a:spcAft>
                <a:spcPts val="300"/>
              </a:spcAft>
              <a:defRPr>
                <a:solidFill/>
              </a:defRPr>
            </a:pPr>
            <a:r>
              <a:rPr sz="1000" b="1" dirty="0">
                <a:solidFill>
                  <a:srgbClr val="0B1F3A"/>
                </a:solidFill>
                <a:latin typeface="Calibri"/>
              </a:rPr>
              <a:t>✓ Literature Review : </a:t>
            </a:r>
            <a:r>
              <a:rPr sz="1100" b="0" dirty="0">
                <a:solidFill>
                  <a:srgbClr val="000000"/>
                </a:solidFill>
                <a:latin typeface="Calibri"/>
              </a:rPr>
              <a:t>Surveyed clinical NLP literature (Omar et al., Zhang et al., Blanchard et al.), establishing preprocessing standards.</a:t>
            </a:r>
            <a:endParaRPr sz="1100" b="0" dirty="0">
              <a:solidFill>
                <a:srgbClr val="000000"/>
              </a:solidFill>
              <a:latin typeface="Calibri"/>
              <a:ea typeface="Calibri"/>
              <a:cs typeface="Calibri"/>
            </a:endParaRPr>
          </a:p>
          <a:p>
            <a:pPr>
              <a:spcAft>
                <a:spcPts val="300"/>
              </a:spcAft>
              <a:defRPr>
                <a:solidFill/>
              </a:defRPr>
            </a:pPr>
            <a:r>
              <a:rPr sz="1000" b="1" dirty="0">
                <a:solidFill>
                  <a:srgbClr val="0B1F3A"/>
                </a:solidFill>
                <a:latin typeface="Calibri"/>
              </a:rPr>
              <a:t>✓ Dataset Acquisition &amp; Cleaning Audit: </a:t>
            </a:r>
            <a:r>
              <a:rPr sz="1100" b="0" dirty="0">
                <a:solidFill>
                  <a:srgbClr val="000000"/>
                </a:solidFill>
                <a:latin typeface="Calibri"/>
              </a:rPr>
              <a:t>Acquired Kaggle </a:t>
            </a:r>
            <a:r>
              <a:rPr sz="1100" b="0" dirty="0" err="1">
                <a:solidFill>
                  <a:srgbClr val="000000"/>
                </a:solidFill>
                <a:latin typeface="Calibri"/>
              </a:rPr>
              <a:t>MTSamples</a:t>
            </a:r>
            <a:r>
              <a:rPr sz="1100" b="0" dirty="0">
                <a:solidFill>
                  <a:srgbClr val="000000"/>
                </a:solidFill>
                <a:latin typeface="Calibri"/>
              </a:rPr>
              <a:t> (4,999 cases); identified and removed 33 empty transcription records.</a:t>
            </a:r>
            <a:endParaRPr sz="1100" b="0" dirty="0">
              <a:solidFill>
                <a:srgbClr val="000000"/>
              </a:solidFill>
              <a:latin typeface="Calibri"/>
              <a:ea typeface="Calibri"/>
              <a:cs typeface="Calibri"/>
            </a:endParaRPr>
          </a:p>
          <a:p>
            <a:pPr>
              <a:spcAft>
                <a:spcPts val="300"/>
              </a:spcAft>
              <a:defRPr>
                <a:solidFill/>
              </a:defRPr>
            </a:pPr>
            <a:r>
              <a:rPr sz="1000" b="1" dirty="0">
                <a:solidFill>
                  <a:srgbClr val="0B1F3A"/>
                </a:solidFill>
                <a:latin typeface="Calibri"/>
              </a:rPr>
              <a:t>✓ Exploratory Data Analysis &amp; Visualization: </a:t>
            </a:r>
            <a:r>
              <a:rPr sz="1100" b="0" dirty="0">
                <a:solidFill>
                  <a:srgbClr val="000000"/>
                </a:solidFill>
                <a:latin typeface="Calibri"/>
              </a:rPr>
              <a:t>Executed 6 statistical distributions covering missing values, token lengths, and specialty frequencies.</a:t>
            </a:r>
            <a:endParaRPr sz="1100" b="0" dirty="0">
              <a:solidFill>
                <a:srgbClr val="000000"/>
              </a:solidFill>
              <a:latin typeface="Calibri"/>
              <a:ea typeface="Calibri"/>
              <a:cs typeface="Calibri"/>
            </a:endParaRPr>
          </a:p>
          <a:p>
            <a:pPr>
              <a:spcAft>
                <a:spcPts val="300"/>
              </a:spcAft>
              <a:defRPr>
                <a:solidFill/>
              </a:defRPr>
            </a:pPr>
            <a:r>
              <a:rPr sz="1000" b="1" dirty="0">
                <a:solidFill>
                  <a:srgbClr val="0B1F3A"/>
                </a:solidFill>
                <a:latin typeface="Calibri"/>
              </a:rPr>
              <a:t>✓ Class Imbalance Characterization: </a:t>
            </a:r>
            <a:r>
              <a:rPr sz="1100" b="0" dirty="0">
                <a:solidFill>
                  <a:srgbClr val="000000"/>
                </a:solidFill>
                <a:latin typeface="Calibri"/>
              </a:rPr>
              <a:t>Audited extreme long-tail class skew across 40 medical specialties; formulated stratified sampling strategy.</a:t>
            </a:r>
            <a:endParaRPr sz="1100" b="0" dirty="0">
              <a:solidFill>
                <a:srgbClr val="000000"/>
              </a:solidFill>
              <a:latin typeface="Calibri"/>
              <a:ea typeface="Calibri"/>
              <a:cs typeface="Calibri"/>
            </a:endParaRPr>
          </a:p>
          <a:p>
            <a:pPr>
              <a:spcAft>
                <a:spcPts val="300"/>
              </a:spcAft>
              <a:defRPr>
                <a:solidFill/>
              </a:defRPr>
            </a:pPr>
            <a:r>
              <a:rPr sz="1000" b="1" dirty="0">
                <a:solidFill>
                  <a:srgbClr val="0B1F3A"/>
                </a:solidFill>
                <a:latin typeface="Calibri"/>
              </a:rPr>
              <a:t>✓ NLP Cleaning Pipeline Design: </a:t>
            </a:r>
            <a:r>
              <a:rPr sz="1100" b="0" dirty="0">
                <a:solidFill>
                  <a:srgbClr val="000000"/>
                </a:solidFill>
                <a:latin typeface="Calibri"/>
              </a:rPr>
              <a:t>Finalized sequence: Cleaning, Lowercasing, Alphanumeric Filtering, Stop-word Removal, and Lemmatization.</a:t>
            </a:r>
            <a:endParaRPr sz="1100" b="0" dirty="0">
              <a:solidFill>
                <a:srgbClr val="000000"/>
              </a:solidFill>
              <a:latin typeface="Calibri"/>
              <a:ea typeface="Calibri"/>
              <a:cs typeface="Calibri"/>
            </a:endParaRPr>
          </a:p>
          <a:p>
            <a:pPr>
              <a:spcAft>
                <a:spcPts val="300"/>
              </a:spcAft>
              <a:defRPr>
                <a:solidFill/>
              </a:defRPr>
            </a:pPr>
            <a:r>
              <a:rPr lang="en-GB" sz="1000" b="1" dirty="0">
                <a:solidFill>
                  <a:srgbClr val="0B1F3A"/>
                </a:solidFill>
                <a:latin typeface="Calibri"/>
                <a:ea typeface="Calibri"/>
                <a:cs typeface="Calibri"/>
              </a:rPr>
              <a:t>✓ </a:t>
            </a:r>
            <a:r>
              <a:rPr sz="1000" b="1" dirty="0">
                <a:solidFill>
                  <a:srgbClr val="0B1F3A"/>
                </a:solidFill>
                <a:latin typeface="Calibri"/>
              </a:rPr>
              <a:t>Model &amp; Ensemble Formulation: </a:t>
            </a:r>
            <a:r>
              <a:rPr sz="1100" b="0" dirty="0">
                <a:solidFill>
                  <a:srgbClr val="000000"/>
                </a:solidFill>
                <a:latin typeface="Calibri"/>
              </a:rPr>
              <a:t>Selected SVM, Random Forest, Logistic Regression, and MNB combined via Soft Voting probability consensus.</a:t>
            </a:r>
            <a:endParaRPr sz="1100" b="0" dirty="0">
              <a:solidFill>
                <a:srgbClr val="000000"/>
              </a:solidFill>
              <a:latin typeface="Calibri"/>
              <a:ea typeface="Calibri"/>
              <a:cs typeface="Calibri"/>
            </a:endParaRPr>
          </a:p>
        </p:txBody>
      </p:sp>
      <p:sp>
        <p:nvSpPr>
          <p:cNvPr id="9" name="Rounded Rectangle 8"/>
          <p:cNvSpPr/>
          <p:nvPr/>
        </p:nvSpPr>
        <p:spPr>
          <a:xfrm>
            <a:off x="6217920" y="1463040"/>
            <a:ext cx="548640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64592" rIns="182880" bIns="137160" rtlCol="0" anchor="ctr"/>
          <a:lstStyle/>
          <a:p>
            <a:pPr algn="ctr">
              <a:spcAft>
                <a:spcPts val="600"/>
              </a:spcAft>
              <a:defRPr sz="1200" b="1">
                <a:solidFill>
                  <a:srgbClr val="2563EB"/>
                </a:solidFill>
                <a:latin typeface="Calibri"/>
              </a:defRPr>
            </a:pPr>
            <a:r>
              <a:rPr dirty="0">
                <a:solidFill/>
              </a:rPr>
              <a:t>PLANNED NEXT STEPS (PHASE 2 / SPRINT RELEASE II &amp; III)</a:t>
            </a:r>
          </a:p>
          <a:p>
            <a:pPr>
              <a:defRPr>
                <a:solidFill/>
              </a:defRPr>
            </a:pPr>
            <a:r>
              <a:rPr lang="en-US" sz="1000" b="1" dirty="0">
                <a:solidFill>
                  <a:srgbClr val="0B1F3A"/>
                </a:solidFill>
                <a:latin typeface="Calibri"/>
              </a:rPr>
              <a:t>→ TF-IDF Architecture Formulation: </a:t>
            </a:r>
            <a:r>
              <a:rPr lang="en-US" sz="1100" dirty="0">
                <a:solidFill>
                  <a:srgbClr val="000000"/>
                </a:solidFill>
                <a:latin typeface="Calibri"/>
              </a:rPr>
              <a:t>Configured unigram/bigram tokenization </a:t>
            </a:r>
            <a:r>
              <a:rPr lang="en-US" sz="1100" dirty="0" err="1">
                <a:solidFill>
                  <a:srgbClr val="000000"/>
                </a:solidFill>
                <a:latin typeface="Calibri"/>
              </a:rPr>
              <a:t>withsublinear</a:t>
            </a:r>
            <a:r>
              <a:rPr lang="en-US" sz="1100" dirty="0">
                <a:solidFill>
                  <a:srgbClr val="000000"/>
                </a:solidFill>
                <a:latin typeface="Calibri"/>
              </a:rPr>
              <a:t> TF scaling and Euclidean L2 normalization.</a:t>
            </a:r>
            <a:endParaRPr lang="en-GB" sz="1100">
              <a:solidFill>
                <a:srgbClr val="000000"/>
              </a:solidFill>
              <a:latin typeface="Calibri"/>
              <a:ea typeface="Calibri"/>
              <a:cs typeface="Calibri"/>
            </a:endParaRPr>
          </a:p>
          <a:p>
            <a:pPr>
              <a:spcAft>
                <a:spcPts val="300"/>
              </a:spcAft>
              <a:defRPr>
                <a:solidFill/>
              </a:defRPr>
            </a:pPr>
            <a:r>
              <a:rPr sz="1000" b="1" dirty="0">
                <a:solidFill>
                  <a:srgbClr val="0B1F3A"/>
                </a:solidFill>
                <a:latin typeface="Calibri"/>
              </a:rPr>
              <a:t>→ Full Text Preprocessing Implementation: </a:t>
            </a:r>
            <a:r>
              <a:rPr sz="1100" b="0" dirty="0">
                <a:solidFill>
                  <a:srgbClr val="000000"/>
                </a:solidFill>
                <a:latin typeface="Calibri"/>
              </a:rPr>
              <a:t>Execute the 8-step cleaning module across 4,966 records to produce normalized narrative corpus.</a:t>
            </a:r>
            <a:endParaRPr sz="1100" b="0" dirty="0">
              <a:solidFill>
                <a:srgbClr val="000000"/>
              </a:solidFill>
              <a:latin typeface="Calibri"/>
              <a:ea typeface="Calibri"/>
              <a:cs typeface="Calibri"/>
            </a:endParaRPr>
          </a:p>
          <a:p>
            <a:pPr>
              <a:spcAft>
                <a:spcPts val="300"/>
              </a:spcAft>
              <a:defRPr>
                <a:solidFill/>
              </a:defRPr>
            </a:pPr>
            <a:r>
              <a:rPr sz="1000" b="1" dirty="0">
                <a:solidFill>
                  <a:srgbClr val="0B1F3A"/>
                </a:solidFill>
                <a:latin typeface="Calibri"/>
              </a:rPr>
              <a:t>→ TF-IDF Feature Matrix Generation: </a:t>
            </a:r>
            <a:r>
              <a:rPr sz="1100" b="0" dirty="0">
                <a:solidFill>
                  <a:srgbClr val="000000"/>
                </a:solidFill>
                <a:latin typeface="Calibri"/>
              </a:rPr>
              <a:t>Fit vectorizer strictly on training partition (80:20 split) to eliminate data leakage; transform test set.</a:t>
            </a:r>
            <a:endParaRPr sz="1100" b="0" dirty="0">
              <a:solidFill>
                <a:srgbClr val="000000"/>
              </a:solidFill>
              <a:latin typeface="Calibri"/>
              <a:ea typeface="Calibri"/>
              <a:cs typeface="Calibri"/>
            </a:endParaRPr>
          </a:p>
          <a:p>
            <a:pPr>
              <a:spcAft>
                <a:spcPts val="300"/>
              </a:spcAft>
              <a:defRPr>
                <a:solidFill/>
              </a:defRPr>
            </a:pPr>
            <a:r>
              <a:rPr sz="1000" b="1" dirty="0">
                <a:solidFill>
                  <a:srgbClr val="0B1F3A"/>
                </a:solidFill>
                <a:latin typeface="Calibri"/>
              </a:rPr>
              <a:t>→ Candidate Model Training &amp; Optimization: </a:t>
            </a:r>
            <a:r>
              <a:rPr sz="1100" b="0" dirty="0">
                <a:solidFill>
                  <a:srgbClr val="000000"/>
                </a:solidFill>
                <a:latin typeface="Calibri"/>
              </a:rPr>
              <a:t>Train SVM, Random Forest, Logistic Regression, and Multinomial Naive Bayes classifiers.</a:t>
            </a:r>
            <a:endParaRPr sz="1100" b="0" dirty="0">
              <a:solidFill>
                <a:srgbClr val="000000"/>
              </a:solidFill>
              <a:latin typeface="Calibri"/>
              <a:ea typeface="Calibri"/>
              <a:cs typeface="Calibri"/>
            </a:endParaRPr>
          </a:p>
          <a:p>
            <a:pPr>
              <a:spcAft>
                <a:spcPts val="300"/>
              </a:spcAft>
              <a:defRPr>
                <a:solidFill/>
              </a:defRPr>
            </a:pPr>
            <a:r>
              <a:rPr sz="1000" b="1" dirty="0">
                <a:solidFill>
                  <a:srgbClr val="0B1F3A"/>
                </a:solidFill>
                <a:latin typeface="Calibri"/>
              </a:rPr>
              <a:t>→ Soft Voting Ensemble Development: </a:t>
            </a:r>
            <a:r>
              <a:rPr sz="1100" b="0" dirty="0">
                <a:solidFill>
                  <a:srgbClr val="000000"/>
                </a:solidFill>
                <a:latin typeface="Calibri"/>
              </a:rPr>
              <a:t>Implement weighted/soft probability aggregation combining decision outputs across all base estimators.</a:t>
            </a:r>
            <a:endParaRPr sz="1100" b="0" dirty="0">
              <a:solidFill>
                <a:srgbClr val="000000"/>
              </a:solidFill>
              <a:latin typeface="Calibri"/>
              <a:ea typeface="Calibri"/>
              <a:cs typeface="Calibri"/>
            </a:endParaRPr>
          </a:p>
          <a:p>
            <a:pPr>
              <a:spcAft>
                <a:spcPts val="300"/>
              </a:spcAft>
              <a:defRPr>
                <a:solidFill/>
              </a:defRPr>
            </a:pPr>
            <a:r>
              <a:rPr sz="1000" b="1" dirty="0">
                <a:solidFill>
                  <a:srgbClr val="0B1F3A"/>
                </a:solidFill>
                <a:latin typeface="Calibri"/>
              </a:rPr>
              <a:t>→ Multi-Class Performance Evaluation: </a:t>
            </a:r>
            <a:r>
              <a:rPr sz="1100" b="0" dirty="0">
                <a:solidFill>
                  <a:srgbClr val="000000"/>
                </a:solidFill>
                <a:latin typeface="Calibri"/>
              </a:rPr>
              <a:t>Benchmark multi-class Macro/Weighted Precision, Recall, F1-score, and cross-class Confusion Matrices.</a:t>
            </a:r>
            <a:endParaRPr sz="1100" b="0" dirty="0">
              <a:solidFill>
                <a:srgbClr val="000000"/>
              </a:solidFill>
              <a:latin typeface="Calibri"/>
              <a:ea typeface="Calibri"/>
              <a:cs typeface="Calibri"/>
            </a:endParaRPr>
          </a:p>
          <a:p>
            <a:pPr>
              <a:spcAft>
                <a:spcPts val="300"/>
              </a:spcAft>
              <a:defRPr>
                <a:solidFill/>
              </a:defRPr>
            </a:pPr>
            <a:r>
              <a:rPr sz="1000" b="1" dirty="0">
                <a:solidFill>
                  <a:srgbClr val="0B1F3A"/>
                </a:solidFill>
                <a:latin typeface="Calibri"/>
              </a:rPr>
              <a:t>→ Pipeline Serialization &amp; Web Deployment: </a:t>
            </a:r>
            <a:r>
              <a:rPr sz="1100" b="0" dirty="0">
                <a:solidFill>
                  <a:srgbClr val="000000"/>
                </a:solidFill>
                <a:latin typeface="Calibri"/>
              </a:rPr>
              <a:t>Serialize end-to-end pipeline with </a:t>
            </a:r>
            <a:r>
              <a:rPr sz="1100" b="0" dirty="0" err="1">
                <a:solidFill>
                  <a:srgbClr val="000000"/>
                </a:solidFill>
                <a:latin typeface="Calibri"/>
              </a:rPr>
              <a:t>Joblib</a:t>
            </a:r>
            <a:r>
              <a:rPr sz="1100" b="0" dirty="0">
                <a:solidFill>
                  <a:srgbClr val="000000"/>
                </a:solidFill>
                <a:latin typeface="Calibri"/>
              </a:rPr>
              <a:t>; construct interactive clinician dashboard using Flask.</a:t>
            </a:r>
            <a:endParaRPr sz="1100" b="0" dirty="0">
              <a:solidFill>
                <a:srgbClr val="000000"/>
              </a:solidFill>
              <a:latin typeface="Calibri"/>
              <a:ea typeface="Calibri"/>
              <a:cs typeface="Calibri"/>
            </a:endParaRPr>
          </a:p>
          <a:p>
            <a:pPr>
              <a:spcAft>
                <a:spcPts val="300"/>
              </a:spcAft>
              <a:defRPr>
                <a:solidFill/>
              </a:defRPr>
            </a:pPr>
            <a:r>
              <a:rPr sz="1000" b="1" dirty="0">
                <a:solidFill>
                  <a:srgbClr val="0B1F3A"/>
                </a:solidFill>
                <a:latin typeface="Calibri"/>
              </a:rPr>
              <a:t>→ Validation &amp; Clinical Usability Testing: </a:t>
            </a:r>
            <a:r>
              <a:rPr sz="1100" b="0" dirty="0">
                <a:solidFill>
                  <a:srgbClr val="000000"/>
                </a:solidFill>
                <a:latin typeface="Calibri"/>
              </a:rPr>
              <a:t>Validate latency, prediction confidence calibration, and reliability on unseen clinical records.</a:t>
            </a:r>
            <a:endParaRPr sz="1100" b="0" dirty="0">
              <a:solidFill>
                <a:srgbClr val="000000"/>
              </a:solidFill>
              <a:latin typeface="Calibri"/>
              <a:ea typeface="Calibri"/>
              <a:cs typeface="Calibri"/>
            </a:endParaRPr>
          </a:p>
        </p:txBody>
      </p:sp>
      <p:sp>
        <p:nvSpPr>
          <p:cNvPr id="10" name="Rounded Rectangle 9"/>
          <p:cNvSpPr/>
          <p:nvPr/>
        </p:nvSpPr>
        <p:spPr>
          <a:xfrm>
            <a:off x="457200" y="5669280"/>
            <a:ext cx="11247120" cy="640080"/>
          </a:xfrm>
          <a:prstGeom prst="roundRect">
            <a:avLst/>
          </a:prstGeom>
          <a:solidFill>
            <a:srgbClr val="EEF6F6"/>
          </a:solidFill>
          <a:ln w="12700">
            <a:solidFill>
              <a:srgbClr val="0E7C86"/>
            </a:solidFill>
          </a:ln>
        </p:spPr>
        <p:style>
          <a:lnRef idx="1">
            <a:schemeClr val="accent1"/>
          </a:lnRef>
          <a:fillRef idx="3">
            <a:schemeClr val="accent1"/>
          </a:fillRef>
          <a:effectRef idx="2">
            <a:schemeClr val="accent1"/>
          </a:effectRef>
          <a:fontRef idx="minor">
            <a:schemeClr val="lt1"/>
          </a:fontRef>
        </p:style>
        <p:txBody>
          <a:bodyPr wrap="square" lIns="182880" tIns="109728" rIns="182880" bIns="91440" rtlCol="0" anchor="ctr"/>
          <a:lstStyle/>
          <a:p>
            <a:pPr algn="ctr">
              <a:defRPr>
                <a:solidFill/>
              </a:defRPr>
            </a:pPr>
            <a:r>
              <a:rPr sz="1100" b="1">
                <a:solidFill>
                  <a:srgbClr val="0E7C86"/>
                </a:solidFill>
                <a:latin typeface="Calibri"/>
              </a:rPr>
              <a:t>Phase 1 Status: </a:t>
            </a:r>
            <a:r>
              <a:rPr sz="1050" b="0">
                <a:solidFill>
                  <a:srgbClr val="0B1F3A"/>
                </a:solidFill>
                <a:latin typeface="Calibri"/>
              </a:rPr>
              <a:t>Literature Review, Data Exploration, Preprocessing Pipeline, and Ensemble Architecture are fully completed (Sprint Release I). The project is on schedule to commence candidate model training.</a:t>
            </a:r>
          </a:p>
        </p:txBody>
      </p:sp>
      <p:sp>
        <p:nvSpPr>
          <p:cNvPr id="11" name="Rounded Rectangle 10"/>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rPr>
                <a:solidFill/>
              </a:rPr>
              <a:t>MCA MINI PROJECT | PROGRESS &amp; ROADMAP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6F8FB"/>
        </a:solidFill>
        <a:effectLst/>
      </p:bgPr>
    </p:bg>
    <p:spTree>
      <p:nvGrpSpPr>
        <p:cNvPr id="1" name=""/>
        <p:cNvGrpSpPr/>
        <p:nvPr/>
      </p:nvGrpSpPr>
      <p:grpSpPr>
        <a:xfrm>
          <a:off x="0" y="0"/>
          <a:ext cx="0" cy="0"/>
          <a:chOff x="0" y="0"/>
          <a:chExt cx="0" cy="0"/>
        </a:xfrm>
      </p:grpSpPr>
      <p:sp>
        <p:nvSpPr>
          <p:cNvPr id="4" name="Text 2"/>
          <p:cNvSpPr txBox="1"/>
          <p:nvPr/>
        </p:nvSpPr>
        <p:spPr>
          <a:xfrm>
            <a:off x="457200" y="676656"/>
            <a:ext cx="11247120" cy="658368"/>
          </a:xfrm>
          <a:prstGeom prst="rect">
            <a:avLst/>
          </a:prstGeom>
          <a:noFill/>
          <a:ln/>
        </p:spPr>
        <p:txBody>
          <a:bodyPr wrap="square" lIns="0" tIns="0" rIns="0" bIns="0" rtlCol="0" anchor="t"/>
          <a:lstStyle/>
          <a:p>
            <a:pPr>
              <a:defRPr sz="2700" b="1">
                <a:solidFill>
                  <a:srgbClr val="0B1F3A"/>
                </a:solidFill>
                <a:latin typeface="Cambria"/>
              </a:defRPr>
            </a:pPr>
            <a:r>
              <a:rPr>
                <a:solidFill/>
              </a:rPr>
              <a:t>Project Timeline &amp; Milestone Schedule</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marL="0" indent="0" algn="l">
              <a:buNone/>
              <a:defRPr>
                <a:solidFill/>
              </a:defRPr>
            </a:pPr>
            <a:r>
              <a:rPr lang="en-US" sz="1050" dirty="0">
                <a:solidFill>
                  <a:srgbClr val="000000"/>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marL="0" indent="0" algn="ctr">
              <a:buNone/>
              <a:defRPr>
                <a:solidFill/>
              </a:defRPr>
            </a:pPr>
            <a:r>
              <a:rPr lang="en-US" sz="1050" dirty="0">
                <a:solidFill>
                  <a:srgbClr val="000000"/>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1050">
                <a:solidFill>
                  <a:srgbClr val="000000"/>
                </a:solidFill>
                <a:latin typeface="Calibri"/>
              </a:defRPr>
            </a:pPr>
            <a:r>
              <a:rPr>
                <a:solidFill/>
              </a:rPr>
              <a:t>Slide 18 of 19</a:t>
            </a:r>
          </a:p>
        </p:txBody>
      </p:sp>
      <p:sp>
        <p:nvSpPr>
          <p:cNvPr id="9" name="Rounded Rectangle 8"/>
          <p:cNvSpPr/>
          <p:nvPr/>
        </p:nvSpPr>
        <p:spPr>
          <a:xfrm>
            <a:off x="457200" y="1828800"/>
            <a:ext cx="54406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wrap="square" lIns="164592" tIns="137160" rIns="164592" bIns="109728" rtlCol="0" anchor="ctr"/>
          <a:lstStyle/>
          <a:p>
            <a:pPr algn="ctr">
              <a:spcAft>
                <a:spcPts val="400"/>
              </a:spcAft>
              <a:defRPr sz="1200" b="1">
                <a:solidFill>
                  <a:srgbClr val="0E7C86"/>
                </a:solidFill>
                <a:latin typeface="Calibri"/>
              </a:defRPr>
            </a:pPr>
            <a:r>
              <a:rPr sz="1400" dirty="0">
                <a:solidFill/>
              </a:rPr>
              <a:t>PHASE 1: FOUNDATION &amp; SPRINT RELEASE I</a:t>
            </a:r>
            <a:endParaRPr sz="1400" b="1" dirty="0">
              <a:solidFill/>
              <a:latin typeface="Calibri"/>
              <a:ea typeface="Calibri"/>
              <a:cs typeface="Calibri"/>
            </a:endParaRPr>
          </a:p>
          <a:p>
            <a:pPr>
              <a:spcAft>
                <a:spcPts val="300"/>
              </a:spcAft>
              <a:defRPr>
                <a:solidFill/>
              </a:defRPr>
            </a:pPr>
            <a:r>
              <a:rPr sz="1200" b="1" dirty="0">
                <a:solidFill>
                  <a:srgbClr val="16A34A"/>
                </a:solidFill>
                <a:latin typeface="Calibri"/>
              </a:rPr>
              <a:t>✓  [17.07.2026]  Project Proposal &amp; Synopsis Approval by Guide
</a:t>
            </a:r>
            <a:r>
              <a:rPr sz="1200" b="0" dirty="0">
                <a:solidFill>
                  <a:srgbClr val="000000"/>
                </a:solidFill>
                <a:latin typeface="Calibri"/>
              </a:rPr>
              <a:t>    Formal approval of project scope, objectives, and feasibility by faculty guide.</a:t>
            </a:r>
            <a:endParaRPr sz="1200" b="0" dirty="0">
              <a:solidFill>
                <a:srgbClr val="000000"/>
              </a:solidFill>
              <a:latin typeface="Calibri"/>
              <a:ea typeface="Calibri"/>
              <a:cs typeface="Calibri"/>
            </a:endParaRPr>
          </a:p>
          <a:p>
            <a:pPr>
              <a:spcAft>
                <a:spcPts val="300"/>
              </a:spcAft>
              <a:defRPr>
                <a:solidFill/>
              </a:defRPr>
            </a:pPr>
            <a:r>
              <a:rPr sz="1200" b="1" dirty="0">
                <a:solidFill>
                  <a:srgbClr val="16A34A"/>
                </a:solidFill>
                <a:latin typeface="Calibri"/>
              </a:rPr>
              <a:t>✓  [20.07.2026 – 21.07.2026]  Project Proposal Presentation
</a:t>
            </a:r>
            <a:r>
              <a:rPr sz="1200" b="0" dirty="0">
                <a:solidFill>
                  <a:srgbClr val="000000"/>
                </a:solidFill>
                <a:latin typeface="Calibri"/>
              </a:rPr>
              <a:t>    Presented proposal before Department Project Approval Committee.</a:t>
            </a:r>
            <a:endParaRPr sz="1200" b="0" dirty="0">
              <a:solidFill>
                <a:srgbClr val="000000"/>
              </a:solidFill>
              <a:latin typeface="Calibri"/>
              <a:ea typeface="Calibri"/>
              <a:cs typeface="Calibri"/>
            </a:endParaRPr>
          </a:p>
          <a:p>
            <a:pPr>
              <a:spcAft>
                <a:spcPts val="300"/>
              </a:spcAft>
              <a:defRPr>
                <a:solidFill/>
              </a:defRPr>
            </a:pPr>
            <a:r>
              <a:rPr sz="1200" b="1" dirty="0">
                <a:solidFill>
                  <a:srgbClr val="16A34A"/>
                </a:solidFill>
                <a:latin typeface="Calibri"/>
              </a:rPr>
              <a:t>✓  [Weeks 1–2]  Dataset Collection &amp; Exploratory Data Analysis
</a:t>
            </a:r>
            <a:r>
              <a:rPr sz="1200" b="0" dirty="0">
                <a:solidFill>
                  <a:srgbClr val="000000"/>
                </a:solidFill>
                <a:latin typeface="Calibri"/>
              </a:rPr>
              <a:t>    Acquired Kaggle </a:t>
            </a:r>
            <a:r>
              <a:rPr sz="1200" b="0" dirty="0" err="1">
                <a:solidFill>
                  <a:srgbClr val="000000"/>
                </a:solidFill>
                <a:latin typeface="Calibri"/>
              </a:rPr>
              <a:t>MTSamples</a:t>
            </a:r>
            <a:r>
              <a:rPr sz="1200" b="0" dirty="0">
                <a:solidFill>
                  <a:srgbClr val="000000"/>
                </a:solidFill>
                <a:latin typeface="Calibri"/>
              </a:rPr>
              <a:t> (4,999 records); audited nulls and generated 6 EDA plots.</a:t>
            </a:r>
            <a:endParaRPr sz="1200" b="0" dirty="0">
              <a:solidFill>
                <a:srgbClr val="000000"/>
              </a:solidFill>
              <a:latin typeface="Calibri"/>
              <a:ea typeface="Calibri"/>
              <a:cs typeface="Calibri"/>
            </a:endParaRPr>
          </a:p>
          <a:p>
            <a:pPr>
              <a:spcAft>
                <a:spcPts val="300"/>
              </a:spcAft>
              <a:defRPr>
                <a:solidFill/>
              </a:defRPr>
            </a:pPr>
            <a:r>
              <a:rPr sz="1200" b="1" dirty="0">
                <a:solidFill>
                  <a:srgbClr val="16A34A"/>
                </a:solidFill>
                <a:latin typeface="Calibri"/>
              </a:rPr>
              <a:t>✓  [Weeks 3–4]  Clinical Text Preprocessing Pipeline
</a:t>
            </a:r>
            <a:r>
              <a:rPr sz="1200" b="0" dirty="0">
                <a:solidFill>
                  <a:srgbClr val="000000"/>
                </a:solidFill>
                <a:latin typeface="Calibri"/>
              </a:rPr>
              <a:t>    Designed 5-step sequence: Cleaning, Lowercasing, Tokenization, Stop-words, Lemmatization.</a:t>
            </a:r>
            <a:endParaRPr sz="1200" b="0" dirty="0">
              <a:solidFill>
                <a:srgbClr val="000000"/>
              </a:solidFill>
              <a:latin typeface="Calibri"/>
              <a:ea typeface="Calibri"/>
              <a:cs typeface="Calibri"/>
            </a:endParaRPr>
          </a:p>
          <a:p>
            <a:pPr>
              <a:spcAft>
                <a:spcPts val="300"/>
              </a:spcAft>
              <a:defRPr>
                <a:solidFill/>
              </a:defRPr>
            </a:pPr>
            <a:r>
              <a:rPr sz="1200" b="1" dirty="0">
                <a:solidFill>
                  <a:srgbClr val="16A34A"/>
                </a:solidFill>
                <a:latin typeface="Calibri"/>
              </a:rPr>
              <a:t>✓  [Week 5]  TF-IDF Vectorization Architecture
</a:t>
            </a:r>
            <a:r>
              <a:rPr sz="1200" b="0" dirty="0">
                <a:solidFill>
                  <a:srgbClr val="000000"/>
                </a:solidFill>
                <a:latin typeface="Calibri"/>
              </a:rPr>
              <a:t>    Formulated unigram/bigram tokenization with sublinear scaling and sparse matrix layout.</a:t>
            </a:r>
            <a:endParaRPr sz="1200" b="0" dirty="0">
              <a:solidFill>
                <a:srgbClr val="000000"/>
              </a:solidFill>
              <a:latin typeface="Calibri"/>
              <a:ea typeface="Calibri"/>
              <a:cs typeface="Calibri"/>
            </a:endParaRPr>
          </a:p>
          <a:p>
            <a:pPr>
              <a:spcAft>
                <a:spcPts val="300"/>
              </a:spcAft>
              <a:defRPr>
                <a:solidFill/>
              </a:defRPr>
            </a:pPr>
            <a:r>
              <a:rPr sz="1200" b="1" dirty="0">
                <a:solidFill>
                  <a:srgbClr val="D97706"/>
                </a:solidFill>
                <a:latin typeface="Calibri"/>
              </a:rPr>
              <a:t>★  [08.09.2026]  First Project Presentation ★
</a:t>
            </a:r>
            <a:r>
              <a:rPr sz="1200" b="0" dirty="0">
                <a:solidFill>
                  <a:srgbClr val="000000"/>
                </a:solidFill>
                <a:latin typeface="Calibri"/>
              </a:rPr>
              <a:t>    Current Milestone — Phase 1 Faculty Review &amp; Initial Progress Defense.</a:t>
            </a:r>
            <a:endParaRPr sz="1200" b="0" dirty="0">
              <a:solidFill>
                <a:srgbClr val="000000"/>
              </a:solidFill>
              <a:latin typeface="Calibri"/>
              <a:ea typeface="Calibri"/>
              <a:cs typeface="Calibri"/>
            </a:endParaRPr>
          </a:p>
          <a:p>
            <a:pPr>
              <a:spcAft>
                <a:spcPts val="300"/>
              </a:spcAft>
              <a:defRPr>
                <a:solidFill/>
              </a:defRPr>
            </a:pPr>
            <a:r>
              <a:rPr sz="1200" b="1" dirty="0">
                <a:solidFill>
                  <a:srgbClr val="D97706"/>
                </a:solidFill>
                <a:latin typeface="Calibri"/>
              </a:rPr>
              <a:t>★  [09.09.2026]  Sprint Release I ★
</a:t>
            </a:r>
            <a:r>
              <a:rPr sz="1200" b="0" dirty="0">
                <a:solidFill>
                  <a:srgbClr val="000000"/>
                </a:solidFill>
                <a:latin typeface="Calibri"/>
              </a:rPr>
              <a:t>    Formal submission: EDA diagrams, architecture specifications, and Phase 1 report.</a:t>
            </a:r>
            <a:endParaRPr sz="1200" b="0" dirty="0">
              <a:solidFill>
                <a:srgbClr val="000000"/>
              </a:solidFill>
              <a:latin typeface="Calibri"/>
              <a:ea typeface="Calibri"/>
              <a:cs typeface="Calibri"/>
            </a:endParaRPr>
          </a:p>
        </p:txBody>
      </p:sp>
      <p:sp>
        <p:nvSpPr>
          <p:cNvPr id="10" name="Rounded Rectangle 9"/>
          <p:cNvSpPr/>
          <p:nvPr/>
        </p:nvSpPr>
        <p:spPr>
          <a:xfrm>
            <a:off x="6217920" y="1828800"/>
            <a:ext cx="548640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wrap="square" lIns="164592" tIns="137160" rIns="164592" bIns="109728" rtlCol="0" anchor="ctr"/>
          <a:lstStyle/>
          <a:p>
            <a:pPr algn="ctr">
              <a:spcAft>
                <a:spcPts val="400"/>
              </a:spcAft>
              <a:defRPr sz="1200" b="1">
                <a:solidFill>
                  <a:srgbClr val="2563EB"/>
                </a:solidFill>
                <a:latin typeface="Calibri"/>
              </a:defRPr>
            </a:pPr>
            <a:r>
              <a:rPr sz="1400" dirty="0">
                <a:solidFill/>
              </a:rPr>
              <a:t>PHASES 2 &amp; 3: MODEL BUILDING, ENSEMBLE &amp; DEPLOYMENT</a:t>
            </a:r>
            <a:endParaRPr sz="1400" b="1" dirty="0">
              <a:solidFill/>
              <a:latin typeface="Calibri"/>
              <a:ea typeface="Calibri"/>
              <a:cs typeface="Calibri"/>
            </a:endParaRPr>
          </a:p>
          <a:p>
            <a:pPr>
              <a:spcAft>
                <a:spcPts val="200"/>
              </a:spcAft>
              <a:defRPr>
                <a:solidFill/>
              </a:defRPr>
            </a:pPr>
            <a:r>
              <a:rPr sz="1100" b="1" dirty="0">
                <a:solidFill>
                  <a:srgbClr val="2563EB"/>
                </a:solidFill>
                <a:latin typeface="Calibri"/>
              </a:rPr>
              <a:t>→  [Week 6]  Candidate Model Training &amp; Baseline Evaluation
</a:t>
            </a:r>
            <a:r>
              <a:rPr sz="1100" b="0" dirty="0">
                <a:solidFill>
                  <a:srgbClr val="000000"/>
                </a:solidFill>
                <a:latin typeface="Calibri"/>
              </a:rPr>
              <a:t>    Train SVM, Random Forest, Logistic Regression, and Multinomial Naive Bayes.</a:t>
            </a:r>
            <a:endParaRPr sz="1100" b="0">
              <a:solidFill>
                <a:srgbClr val="000000"/>
              </a:solidFill>
              <a:latin typeface="Calibri"/>
              <a:ea typeface="Calibri"/>
              <a:cs typeface="Calibri"/>
            </a:endParaRPr>
          </a:p>
          <a:p>
            <a:pPr>
              <a:spcAft>
                <a:spcPts val="200"/>
              </a:spcAft>
              <a:defRPr>
                <a:solidFill/>
              </a:defRPr>
            </a:pPr>
            <a:r>
              <a:rPr sz="1100" b="1" dirty="0">
                <a:solidFill>
                  <a:srgbClr val="D97706"/>
                </a:solidFill>
                <a:latin typeface="Calibri"/>
              </a:rPr>
              <a:t>★  [18.09.2026]  Sprint Release II ★
</a:t>
            </a:r>
            <a:r>
              <a:rPr sz="1100" b="0" dirty="0">
                <a:solidFill>
                  <a:srgbClr val="000000"/>
                </a:solidFill>
                <a:latin typeface="Calibri"/>
              </a:rPr>
              <a:t>    Milestone release: Trained baseline classifiers and preliminary metrics.</a:t>
            </a:r>
            <a:endParaRPr sz="1100" b="0">
              <a:solidFill>
                <a:srgbClr val="000000"/>
              </a:solidFill>
              <a:latin typeface="Calibri"/>
              <a:ea typeface="Calibri"/>
              <a:cs typeface="Calibri"/>
            </a:endParaRPr>
          </a:p>
          <a:p>
            <a:pPr>
              <a:spcAft>
                <a:spcPts val="200"/>
              </a:spcAft>
              <a:defRPr>
                <a:solidFill/>
              </a:defRPr>
            </a:pPr>
            <a:r>
              <a:rPr sz="1100" b="1" dirty="0">
                <a:solidFill>
                  <a:srgbClr val="2563EB"/>
                </a:solidFill>
                <a:latin typeface="Calibri"/>
              </a:rPr>
              <a:t>→  [Week 7]  Hyperparameter Tuning &amp; Model Comparison
</a:t>
            </a:r>
            <a:r>
              <a:rPr sz="1100" b="0" dirty="0">
                <a:solidFill>
                  <a:srgbClr val="000000"/>
                </a:solidFill>
                <a:latin typeface="Calibri"/>
              </a:rPr>
              <a:t>    Systematic tuning and comparative performance profiling across candidate estimators.</a:t>
            </a:r>
            <a:endParaRPr sz="1100" b="0">
              <a:solidFill>
                <a:srgbClr val="000000"/>
              </a:solidFill>
              <a:latin typeface="Calibri"/>
              <a:ea typeface="Calibri"/>
              <a:cs typeface="Calibri"/>
            </a:endParaRPr>
          </a:p>
          <a:p>
            <a:pPr>
              <a:spcAft>
                <a:spcPts val="200"/>
              </a:spcAft>
              <a:defRPr>
                <a:solidFill/>
              </a:defRPr>
            </a:pPr>
            <a:r>
              <a:rPr sz="1100" b="1" dirty="0">
                <a:solidFill>
                  <a:srgbClr val="2563EB"/>
                </a:solidFill>
                <a:latin typeface="Calibri"/>
              </a:rPr>
              <a:t>→  [Week 8]  Soft Voting Ensemble Implementation
</a:t>
            </a:r>
            <a:r>
              <a:rPr sz="1100" b="0" dirty="0">
                <a:solidFill>
                  <a:srgbClr val="000000"/>
                </a:solidFill>
                <a:latin typeface="Calibri"/>
              </a:rPr>
              <a:t>    Construct soft voting ensemble; aggregate consensus probability distributions.</a:t>
            </a:r>
            <a:endParaRPr sz="1100" b="0">
              <a:solidFill>
                <a:srgbClr val="000000"/>
              </a:solidFill>
              <a:latin typeface="Calibri"/>
              <a:ea typeface="Calibri"/>
              <a:cs typeface="Calibri"/>
            </a:endParaRPr>
          </a:p>
          <a:p>
            <a:pPr>
              <a:spcAft>
                <a:spcPts val="200"/>
              </a:spcAft>
              <a:defRPr>
                <a:solidFill/>
              </a:defRPr>
            </a:pPr>
            <a:r>
              <a:rPr sz="1100" b="1" dirty="0">
                <a:solidFill>
                  <a:srgbClr val="D97706"/>
                </a:solidFill>
                <a:latin typeface="Calibri"/>
              </a:rPr>
              <a:t>★  [29.09.2026 – 30.09.2026]  Interim Project Presentation ★
</a:t>
            </a:r>
            <a:r>
              <a:rPr sz="1100" b="0" dirty="0">
                <a:solidFill>
                  <a:srgbClr val="000000"/>
                </a:solidFill>
                <a:latin typeface="Calibri"/>
              </a:rPr>
              <a:t>    Progress review and working model demonstration before faculty committee.</a:t>
            </a:r>
            <a:endParaRPr sz="1100" b="0">
              <a:solidFill>
                <a:srgbClr val="000000"/>
              </a:solidFill>
              <a:latin typeface="Calibri"/>
              <a:ea typeface="Calibri"/>
              <a:cs typeface="Calibri"/>
            </a:endParaRPr>
          </a:p>
          <a:p>
            <a:pPr>
              <a:spcAft>
                <a:spcPts val="200"/>
              </a:spcAft>
              <a:defRPr>
                <a:solidFill/>
              </a:defRPr>
            </a:pPr>
            <a:r>
              <a:rPr sz="1100" b="1" dirty="0">
                <a:solidFill>
                  <a:srgbClr val="2563EB"/>
                </a:solidFill>
                <a:latin typeface="Calibri"/>
              </a:rPr>
              <a:t>→  [Week 9]  Flask Web Integration &amp; Serialization
</a:t>
            </a:r>
            <a:r>
              <a:rPr sz="1100" b="0" dirty="0">
                <a:solidFill>
                  <a:srgbClr val="000000"/>
                </a:solidFill>
                <a:latin typeface="Calibri"/>
              </a:rPr>
              <a:t>    Serialize pipeline with </a:t>
            </a:r>
            <a:r>
              <a:rPr sz="1100" b="0" dirty="0" err="1">
                <a:solidFill>
                  <a:srgbClr val="000000"/>
                </a:solidFill>
                <a:latin typeface="Calibri"/>
              </a:rPr>
              <a:t>Joblib</a:t>
            </a:r>
            <a:r>
              <a:rPr sz="1100" b="0" dirty="0">
                <a:solidFill>
                  <a:srgbClr val="000000"/>
                </a:solidFill>
                <a:latin typeface="Calibri"/>
              </a:rPr>
              <a:t>; build interactive clinician UI for live inference.</a:t>
            </a:r>
            <a:endParaRPr sz="1100" b="0">
              <a:solidFill>
                <a:srgbClr val="000000"/>
              </a:solidFill>
              <a:latin typeface="Calibri"/>
              <a:ea typeface="Calibri"/>
              <a:cs typeface="Calibri"/>
            </a:endParaRPr>
          </a:p>
          <a:p>
            <a:pPr>
              <a:spcAft>
                <a:spcPts val="200"/>
              </a:spcAft>
              <a:defRPr>
                <a:solidFill/>
              </a:defRPr>
            </a:pPr>
            <a:r>
              <a:rPr sz="1100" b="1" dirty="0">
                <a:solidFill>
                  <a:srgbClr val="D97706"/>
                </a:solidFill>
                <a:latin typeface="Calibri"/>
              </a:rPr>
              <a:t>★  [09.10.2026]  Sprint Release III ★
</a:t>
            </a:r>
            <a:r>
              <a:rPr sz="1100" b="0" dirty="0">
                <a:solidFill>
                  <a:srgbClr val="000000"/>
                </a:solidFill>
                <a:latin typeface="Calibri"/>
              </a:rPr>
              <a:t>    Integrated system release: Flask web application and serialized ensemble.</a:t>
            </a:r>
            <a:endParaRPr sz="1100" b="0">
              <a:solidFill>
                <a:srgbClr val="000000"/>
              </a:solidFill>
              <a:latin typeface="Calibri"/>
              <a:ea typeface="Calibri"/>
              <a:cs typeface="Calibri"/>
            </a:endParaRPr>
          </a:p>
          <a:p>
            <a:pPr>
              <a:spcAft>
                <a:spcPts val="200"/>
              </a:spcAft>
              <a:defRPr>
                <a:solidFill/>
              </a:defRPr>
            </a:pPr>
            <a:r>
              <a:rPr sz="1100" b="1" dirty="0">
                <a:solidFill>
                  <a:srgbClr val="2563EB"/>
                </a:solidFill>
                <a:latin typeface="Calibri"/>
              </a:rPr>
              <a:t>→  [Weeks 10–11]  Evaluation &amp; System Testing
</a:t>
            </a:r>
            <a:r>
              <a:rPr sz="1100" b="0" dirty="0">
                <a:solidFill>
                  <a:srgbClr val="000000"/>
                </a:solidFill>
                <a:latin typeface="Calibri"/>
              </a:rPr>
              <a:t>    Multi-class metrics (Macro F1, Recall), confusion matrix analysis, and validation.</a:t>
            </a:r>
            <a:endParaRPr sz="1100" b="0">
              <a:solidFill>
                <a:srgbClr val="000000"/>
              </a:solidFill>
              <a:latin typeface="Calibri"/>
              <a:ea typeface="Calibri"/>
              <a:cs typeface="Calibri"/>
            </a:endParaRPr>
          </a:p>
          <a:p>
            <a:pPr>
              <a:spcAft>
                <a:spcPts val="200"/>
              </a:spcAft>
              <a:defRPr>
                <a:solidFill/>
              </a:defRPr>
            </a:pPr>
            <a:r>
              <a:rPr sz="1100" b="1" dirty="0">
                <a:solidFill>
                  <a:srgbClr val="D97706"/>
                </a:solidFill>
                <a:latin typeface="Calibri"/>
              </a:rPr>
              <a:t>★  [22.10.2026 – 23.10.2026]  Final Project Presentation ★
</a:t>
            </a:r>
            <a:r>
              <a:rPr sz="1100" b="0" dirty="0">
                <a:solidFill>
                  <a:srgbClr val="000000"/>
                </a:solidFill>
                <a:latin typeface="Calibri"/>
              </a:rPr>
              <a:t>    Comprehensive final project defense before the examination board.</a:t>
            </a:r>
            <a:endParaRPr sz="1100" b="0">
              <a:solidFill>
                <a:srgbClr val="000000"/>
              </a:solidFill>
              <a:latin typeface="Calibri"/>
              <a:ea typeface="Calibri"/>
              <a:cs typeface="Calibri"/>
            </a:endParaRPr>
          </a:p>
          <a:p>
            <a:pPr>
              <a:spcAft>
                <a:spcPts val="200"/>
              </a:spcAft>
              <a:defRPr>
                <a:solidFill/>
              </a:defRPr>
            </a:pPr>
            <a:r>
              <a:rPr sz="1100" b="1" dirty="0">
                <a:solidFill>
                  <a:srgbClr val="D97706"/>
                </a:solidFill>
                <a:latin typeface="Calibri"/>
              </a:rPr>
              <a:t>★  [30.10.2026]  Final Report Submission ★
</a:t>
            </a:r>
            <a:r>
              <a:rPr sz="1100" b="0" dirty="0">
                <a:solidFill>
                  <a:srgbClr val="000000"/>
                </a:solidFill>
                <a:latin typeface="Calibri"/>
              </a:rPr>
              <a:t>    Submission of finalized documentation, technical report, and source code.</a:t>
            </a:r>
            <a:endParaRPr sz="1100" b="0">
              <a:solidFill>
                <a:srgbClr val="000000"/>
              </a:solidFill>
              <a:latin typeface="Calibri"/>
              <a:ea typeface="Calibri"/>
              <a:cs typeface="Calibri"/>
            </a:endParaRPr>
          </a:p>
        </p:txBody>
      </p:sp>
      <p:sp>
        <p:nvSpPr>
          <p:cNvPr id="11" name="Rounded Rectangle 10"/>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rPr>
                <a:solidFill/>
              </a:rPr>
              <a:t>MCA MINI PROJECT | PROJECT TIMELINE</a:t>
            </a:r>
          </a:p>
        </p:txBody>
      </p:sp>
      <p:sp>
        <p:nvSpPr>
          <p:cNvPr id="12" name="Rounded Rectangle 11"/>
          <p:cNvSpPr/>
          <p:nvPr/>
        </p:nvSpPr>
        <p:spPr>
          <a:xfrm>
            <a:off x="457200" y="1371600"/>
            <a:ext cx="11247120" cy="365760"/>
          </a:xfrm>
          <a:prstGeom prst="roundRect">
            <a:avLst/>
          </a:prstGeom>
          <a:solidFill>
            <a:srgbClr val="EEF6F6"/>
          </a:solidFill>
          <a:ln w="12700">
            <a:solidFill>
              <a:srgbClr val="0E7C86"/>
            </a:solidFill>
          </a:ln>
        </p:spPr>
        <p:style>
          <a:lnRef idx="1">
            <a:schemeClr val="accent1"/>
          </a:lnRef>
          <a:fillRef idx="3">
            <a:schemeClr val="accent1"/>
          </a:fillRef>
          <a:effectRef idx="2">
            <a:schemeClr val="accent1"/>
          </a:effectRef>
          <a:fontRef idx="minor">
            <a:schemeClr val="lt1"/>
          </a:fontRef>
        </p:style>
        <p:txBody>
          <a:bodyPr tIns="54864" bIns="54864" rtlCol="0" anchor="ctr"/>
          <a:lstStyle/>
          <a:p>
            <a:pPr algn="ctr">
              <a:defRPr sz="1100" b="1">
                <a:solidFill>
                  <a:srgbClr val="0E7C86"/>
                </a:solidFill>
                <a:latin typeface="Calibri"/>
              </a:defRPr>
            </a:pPr>
            <a:r>
              <a:rPr>
                <a:solidFill/>
              </a:rPr>
              <a:t>ACADEMIC TIMELINE &amp; PRESENTATION MILESTONES (SEMESTER 3 MCA MINI PROJECT)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0A192F"/>
        </a:solidFill>
        <a:effectLst/>
      </p:bgPr>
    </p:bg>
    <p:spTree>
      <p:nvGrpSpPr>
        <p:cNvPr id="1" name=""/>
        <p:cNvGrpSpPr/>
        <p:nvPr/>
      </p:nvGrpSpPr>
      <p:grpSpPr>
        <a:xfrm>
          <a:off x="0" y="0"/>
          <a:ext cx="0" cy="0"/>
          <a:chOff x="0" y="0"/>
          <a:chExt cx="0" cy="0"/>
        </a:xfrm>
      </p:grpSpPr>
      <p:sp>
        <p:nvSpPr>
          <p:cNvPr id="3" name="Rounded Rectangle 2"/>
          <p:cNvSpPr/>
          <p:nvPr/>
        </p:nvSpPr>
        <p:spPr>
          <a:xfrm>
            <a:off x="1294790" y="1234440"/>
            <a:ext cx="9601200" cy="4389120"/>
          </a:xfrm>
          <a:prstGeom prst="roundRect">
            <a:avLst/>
          </a:prstGeom>
          <a:solidFill>
            <a:srgbClr val="112240"/>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wrap="square" lIns="365760" tIns="365760" rIns="365760" bIns="274320" rtlCol="0" anchor="ctr"/>
          <a:lstStyle/>
          <a:p>
            <a:pPr algn="ctr">
              <a:spcAft>
                <a:spcPts val="800"/>
              </a:spcAft>
              <a:defRPr sz="4600" b="1">
                <a:solidFill>
                  <a:srgbClr val="FFFFFF"/>
                </a:solidFill>
                <a:latin typeface="Cambria"/>
              </a:defRPr>
            </a:pPr>
            <a:r>
              <a:t>THANK YOU!</a:t>
            </a:r>
          </a:p>
          <a:p>
            <a:pPr algn="ctr">
              <a:spcAft>
                <a:spcPts val="1800"/>
              </a:spcAft>
              <a:defRPr sz="2000" b="1">
                <a:solidFill>
                  <a:srgbClr val="38BDF8"/>
                </a:solidFill>
                <a:latin typeface="Calibri"/>
              </a:defRPr>
            </a:pPr>
            <a:r>
              <a:t>Questions, Suggestions &amp; Discussion</a:t>
            </a:r>
          </a:p>
          <a:p>
            <a:pPr algn="ctr">
              <a:spcAft>
                <a:spcPts val="2000"/>
              </a:spcAft>
              <a:defRPr sz="1700" b="1">
                <a:solidFill>
                  <a:srgbClr val="F1F5F9"/>
                </a:solidFill>
                <a:latin typeface="Cambria"/>
              </a:defRPr>
            </a:pPr>
            <a:r>
              <a:t>Medical Specialty Classification Using TF-IDF</a:t>
            </a:r>
            <a:br/>
            <a:r>
              <a:t>and Ensemble Machine Learning</a:t>
            </a:r>
          </a:p>
          <a:p>
            <a:pPr algn="ctr">
              <a:spcAft>
                <a:spcPts val="400"/>
              </a:spcAft>
              <a:defRPr sz="1350" b="1">
                <a:solidFill>
                  <a:srgbClr val="4ADE80"/>
                </a:solidFill>
                <a:latin typeface="Calibri"/>
              </a:defRPr>
            </a:pPr>
            <a:r>
              <a:t>Presented by: Jiphin George (Register No: MAC25MCA-2033)</a:t>
            </a:r>
          </a:p>
          <a:p>
            <a:pPr algn="ctr">
              <a:spcAft>
                <a:spcPts val="400"/>
              </a:spcAft>
              <a:defRPr sz="1250" b="0">
                <a:solidFill>
                  <a:srgbClr val="E2E8F0"/>
                </a:solidFill>
                <a:latin typeface="Calibri"/>
              </a:defRPr>
            </a:pPr>
            <a:r>
              <a:t>Project Guide: Prof. Biju Skaria  |  Department of Computer Applications</a:t>
            </a:r>
          </a:p>
          <a:p>
            <a:pPr algn="ctr">
              <a:defRPr sz="1150" b="0">
                <a:solidFill>
                  <a:srgbClr val="94A3B8"/>
                </a:solidFill>
                <a:latin typeface="Calibri"/>
              </a:defRPr>
            </a:pPr>
            <a:r>
              <a:t>Mar Athanasius College of Engineering, Kothamangalam  |  MCA Mini Project (Semester 3)</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94A3B8"/>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94A3B8"/>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94A3B8"/>
                </a:solidFill>
                <a:latin typeface="Calibri"/>
              </a:defRPr>
            </a:pPr>
            <a:r>
              <a:t>Slide 19 of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37</cp:revision>
  <dcterms:created xsi:type="dcterms:W3CDTF">2026-09-07T11:30:21Z</dcterms:created>
  <dcterms:modified xsi:type="dcterms:W3CDTF">2026-09-08T03:38:02Z</dcterms:modified>
</cp:coreProperties>
</file>