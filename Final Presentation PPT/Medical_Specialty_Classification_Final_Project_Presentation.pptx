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Respected Faculty Guide Prof. Biju Skaria, respected Head of the Department Dr. Sonia Abraham, Project Coordinator Dr. Manu John, respected internal examiners, and dear faculty members, good morning.</a:t>
            </a:r>
          </a:p>
          <a:p/>
          <a:p>
            <a:r>
              <a:t>I am Jiphin George, Register Number MAC25MCA-2033, third semester Master of Computer Applications. Today, 29th October 2026, I am honored to present my Final Project Defense titled: 'Medical Specialty Classification Using TF-IDF and Ensemble Machine Learning'.</a:t>
            </a:r>
          </a:p>
          <a:p/>
          <a:p>
            <a:r>
              <a:t>In our interim review, we presented our preliminary data preparation, baseline failure diagnosis, and initial modeling. Today, I am presenting the complete, operationalized platform: covering our curated 8-specialty benchmark, our Soft Voting Ensemble achieving 88.59% SVM and 87.99% ensemble accuracy, our clinical open-set rejection gate for out-of-domain patient safety, and our deployed clinical web application (MedSpecialty AI) featuring in-memory PDF ingestion, transparent explainability keywords, multi-model consensus, and sub-10 millisecond CPU latency.</a:t>
            </a:r>
          </a:p>
          <a:p/>
          <a:p>
            <a:r>
              <a:t>Key Technical Highlights to note:</a:t>
            </a:r>
          </a:p>
          <a:p>
            <a:r>
              <a:t>1. Domain: Clinical Natural Language Processing &amp; Automated Hospital Triage.</a:t>
            </a:r>
          </a:p>
          <a:p>
            <a:r>
              <a:t>2. Machine Learning: Linear Support Vector Machine, Logistic Regression, Random Forest, Multinomial Naive Bayes, combined via a calibrated Soft Voting Ensemble [2:2:1:1].</a:t>
            </a:r>
          </a:p>
          <a:p>
            <a:r>
              <a:t>3. Deployment: Flask 3.0 REST backend, PyMuPDF in-memory document parsing, and responsive HTML5/CSS3/JavaScript UI.</a:t>
            </a:r>
          </a:p>
          <a:p>
            <a:r>
              <a:t>4. Patient Safety: Open-set confidence thresholding (tau = 0.48) intercepting out-of-scope clinical narratives.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This slide summarizes the entire project trajectory in three logical pillars: Problem, Solution, and Deliverables.</a:t>
            </a:r>
          </a:p>
          <a:p/>
          <a:p>
            <a:r>
              <a:t>1. The Clinical Problem:</a:t>
            </a:r>
          </a:p>
          <a:p>
            <a:r>
              <a:t>Over 80% of Electronic Health Record (EHR) data is completely unstructured free-text (physician dictations, operative reports, discharge summaries). Because these documents lack standard formatting, hospitals rely on clerical staff to manually read and route them. During busy periods, this introduces severe delays between 18 and 36 hours. Furthermore, clerical error rates average 12% to 18%, leading to misdirected patient referrals and appointment backlogs. Naive AI systems worsen this because they force-fit any document into an arbitrary class.</a:t>
            </a:r>
          </a:p>
          <a:p/>
          <a:p>
            <a:r>
              <a:t>2. Our Engineered Solution:</a:t>
            </a:r>
          </a:p>
          <a:p>
            <a:r>
              <a:t>We developed MedSpecialty AI. We solved dataset contamination by curating 1,663 records across 8 distinct hospital departments. We built an 8,000-dimensional sublinear TF-IDF pipeline using logarithmic term scaling and bigram phrases. To eliminate individual model weaknesses, we pooled four diverse classifiers into a calibrated Soft Voting Ensemble [2:2:1:1]. Finally, we implemented an Open-Set Confidence Rejection Gate (tau = 0.48) to safeguard patient care against out-of-scope notes.</a:t>
            </a:r>
          </a:p>
          <a:p/>
          <a:p>
            <a:r>
              <a:t>3. Complete Deliverables:</a:t>
            </a:r>
          </a:p>
          <a:p>
            <a:r>
              <a:t>The project delivered concrete software artifacts: Linear SVM achieved 88.59% accuracy and 0.8971 Macro F1; the Soft Voting Ensemble achieved 87.99% accuracy and 0.8898 Macro F1. The system executes in under 10 milliseconds on commodity CPU hardware, parses clinical PDFs in-memory in 3.85 ms, and is fully deployed as a responsive web service.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Here we establish the concrete clinical motivations and the five formal research objectives of our study.</a:t>
            </a:r>
          </a:p>
          <a:p/>
          <a:p>
            <a:r>
              <a:t>Clinical Bottlenecks:</a:t>
            </a:r>
          </a:p>
          <a:p>
            <a:r>
              <a:t>1. When patients are referred to a multi-specialty hospital, consultation notes must be routed to departments like Cardiology, Orthopedics, Neurology, or Gastroenterology.</a:t>
            </a:r>
          </a:p>
          <a:p>
            <a:r>
              <a:t>2. Clinical notes are complex: a single operative summary can contain abbreviations like 'CABG', 'L4-L5', or 'ERCP'.</a:t>
            </a:r>
          </a:p>
          <a:p>
            <a:r>
              <a:t>3. Manual clerical triage takes 18 to 36 hours. More seriously, clerical workers disagree with one another in 12% to 18% of cases, especially when a patient has spinal symptoms that could be either neurological or orthopedic.</a:t>
            </a:r>
          </a:p>
          <a:p>
            <a:r>
              <a:t>4. If a standard machine learning model is deployed, it suffers from the 'Closed-World Assumption': it blindly forces every incoming note into one of its trained departments, even if the note belongs to Dermatology or Psychiatry.</a:t>
            </a:r>
          </a:p>
          <a:p/>
          <a:p>
            <a:r>
              <a:t>Our Five Formal Objectives:</a:t>
            </a:r>
          </a:p>
          <a:p>
            <a:r>
              <a:t>1. Benchmark Formulation: Construct a clean, mutually exclusive 8-specialty benchmark from MTSamples.</a:t>
            </a:r>
          </a:p>
          <a:p>
            <a:r>
              <a:t>2. NLP Engineering: Build an 8,000-dimensional sublinear TF-IDF pipeline capturing diagnostic medical bi-grams.</a:t>
            </a:r>
          </a:p>
          <a:p>
            <a:r>
              <a:t>3. Model Development: Train and calibrate four distinct classifiers and assemble a Soft Voting Ensemble exceeding the 75% accuracy threshold.</a:t>
            </a:r>
          </a:p>
          <a:p>
            <a:r>
              <a:t>4. Clinical Safety: Implement an Open-Set Confidence Rejection Gate (tau = 0.48) to route ambiguous notes to human review.</a:t>
            </a:r>
          </a:p>
          <a:p>
            <a:r>
              <a:t>5. System Deployment: Operationalize the pipeline into a responsive web dashboard with in-memory PDF extraction and sub-10ms CPU turnaround.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Reviewing the state-of-the-art in medical text classification reveals clear trade-offs across existing paradigms:</a:t>
            </a:r>
          </a:p>
          <a:p/>
          <a:p>
            <a:r>
              <a:t>1. Rule-Based Systems:</a:t>
            </a:r>
          </a:p>
          <a:p>
            <a:r>
              <a:t>Historically, hospitals built keyword lookups and regex tables. These collapse whenever a clinician writes 'myocardial infarction' instead of 'heart attack', requiring constant rule updates.</a:t>
            </a:r>
          </a:p>
          <a:p/>
          <a:p>
            <a:r>
              <a:t>2. Deep Transformer Architectures (BioBERT, ClinicalBERT):</a:t>
            </a:r>
          </a:p>
          <a:p>
            <a:r>
              <a:t>Recent research papers apply large pretrained transformers. While they achieve high accuracy, they suffer from three fatal operational bottlenecks:</a:t>
            </a:r>
          </a:p>
          <a:p>
            <a:r>
              <a:t>- Hardware Burden: Require dedicated GPUs with 4 to 8 GB of VRAM.</a:t>
            </a:r>
          </a:p>
          <a:p>
            <a:r>
              <a:t>- High Latency: Average inference latency exceeds 150 milliseconds per note.</a:t>
            </a:r>
          </a:p>
          <a:p>
            <a:r>
              <a:t>- Opacity: They function as black boxes without simple explainability tokens.</a:t>
            </a:r>
          </a:p>
          <a:p/>
          <a:p>
            <a:r>
              <a:t>3. Four Identified Research Gaps:</a:t>
            </a:r>
          </a:p>
          <a:p>
            <a:r>
              <a:t>- Gap 1: Existing classifiers ignore open-world safety. When fed out-of-domain notes, they blindly force-fit predictions.</a:t>
            </a:r>
          </a:p>
          <a:p>
            <a:r>
              <a:t>- Gap 2: Prohibitive compute costs prevent edge deployment in regional clinics.</a:t>
            </a:r>
          </a:p>
          <a:p>
            <a:r>
              <a:t>- Gap 3: Public benchmarks like MTSamples are frequently evaluated on raw 40 categories without recognizing that 'Surgery' is not a clinical department.</a:t>
            </a:r>
          </a:p>
          <a:p>
            <a:r>
              <a:t>- Gap 4: Academic models lack usable clinician interfaces.</a:t>
            </a:r>
          </a:p>
          <a:p/>
          <a:p>
            <a:r>
              <a:t>Our MedSpecialty AI platform bridges these gaps directly: sublinear TF-IDF paired with an ensemble delivers 88.59% accuracy, under 10ms CPU latency, open-set safety, and an interactive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5 covers our initial Exploratory Data Analysis on the MTSamples corpus.</a:t>
            </a:r>
          </a:p>
          <a:p/>
          <a:p>
            <a:r>
              <a:t>Key Raw Dataset Characteristics:</a:t>
            </a:r>
          </a:p>
          <a:p>
            <a:r>
              <a:t>- 4,999 clinical records across 40 classes.</a:t>
            </a:r>
          </a:p>
          <a:p>
            <a:r>
              <a:t>- During our Phase 1 data audit, we discovered 33 records with missing transcription text and removed them, leaving 4,966 records.</a:t>
            </a:r>
          </a:p>
          <a:p>
            <a:r>
              <a:t>- Text length varied dramatically, from brief 50-word clinic notes to 2,500-word surgical reports.</a:t>
            </a:r>
          </a:p>
          <a:p/>
          <a:p>
            <a:r>
              <a:t>Two Critical Failure Modes in Raw Data:</a:t>
            </a:r>
          </a:p>
          <a:p>
            <a:r>
              <a:t>1. Extreme Class Imbalance:</a:t>
            </a:r>
          </a:p>
          <a:p>
            <a:r>
              <a:t>The 'Surgery' category held 1,088 notes (21.8%), whereas minority categories like Hospice had only 6 notes. When we trained a baseline Logistic Regression model directly on the raw 40 classes, it collapsed to 22.96% accuracy by predicting 'Surgery' for every single input.</a:t>
            </a:r>
          </a:p>
          <a:p/>
          <a:p>
            <a:r>
              <a:t>2. Procedural vs Departmental Ambiguity:</a:t>
            </a:r>
          </a:p>
          <a:p>
            <a:r>
              <a:t>Our clinical audit revealed a fundamental problem: categories like 'Surgery' (1,088 notes) and 'Consult - History and Phy.' (516 notes) are administrative document formats, not medical specialties. A coronary bypass was labeled 'Surgery' rather than 'Cardiovascular'; an endoscopy was labeled 'Surgery' rather than 'Gastroenterology'.</a:t>
            </a:r>
          </a:p>
          <a:p/>
          <a:p>
            <a:r>
              <a:t>Furthermore, when an unconstrained Random Forest was trained on the raw data with 310,298 features, it collapsed to 7.85% accuracy because the trees split on low-frequency noise. This diagnostic proved that scientific dataset refinement was essential.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6 presents our curated 8-specialty clinical benchmark.</a:t>
            </a:r>
          </a:p>
          <a:p/>
          <a:p>
            <a:r>
              <a:t>Refinement Rationale:</a:t>
            </a:r>
          </a:p>
          <a:p>
            <a:r>
              <a:t>1. Removing Administrative Tags:</a:t>
            </a:r>
          </a:p>
          <a:p>
            <a:r>
              <a:t>We systematically dropped generic procedural categories like 'Surgery', 'Consult - History and Phy.', and 'Discharge Summary'. These represent document formats that cross-contaminate clinical specialties.</a:t>
            </a:r>
          </a:p>
          <a:p>
            <a:r>
              <a:t>2. Pruning Sparse Micro-Classes:</a:t>
            </a:r>
          </a:p>
          <a:p>
            <a:r>
              <a:t>We eliminated micro-classes with fewer than 50 records (such as Hospice or Chiropractic), which lacked statistical support for 5-fold cross-validation.</a:t>
            </a:r>
          </a:p>
          <a:p>
            <a:r>
              <a:t>3. 8 Mutually Exclusive Specialties:</a:t>
            </a:r>
          </a:p>
          <a:p>
            <a:r>
              <a:t>We retained eight primary hospital departments with distinct anatomical boundaries:</a:t>
            </a:r>
          </a:p>
          <a:p>
            <a:r>
              <a:t>- Cardiovascular / Pulmonary (371 records)</a:t>
            </a:r>
          </a:p>
          <a:p>
            <a:r>
              <a:t>- Orthopedic (355 records)</a:t>
            </a:r>
          </a:p>
          <a:p>
            <a:r>
              <a:t>- Gastroenterology (230 records)</a:t>
            </a:r>
          </a:p>
          <a:p>
            <a:r>
              <a:t>- Neurology (223 records)</a:t>
            </a:r>
          </a:p>
          <a:p>
            <a:r>
              <a:t>- Urology (156 records)</a:t>
            </a:r>
          </a:p>
          <a:p>
            <a:r>
              <a:t>- Obstetrics / Gynecology (155 records)</a:t>
            </a:r>
          </a:p>
          <a:p>
            <a:r>
              <a:t>- ENT - Otolaryngology (96 records)</a:t>
            </a:r>
          </a:p>
          <a:p>
            <a:r>
              <a:t>- Ophthalmology (77 records)</a:t>
            </a:r>
          </a:p>
          <a:p/>
          <a:p>
            <a:r>
              <a:t>Partitioning Strategy:</a:t>
            </a:r>
          </a:p>
          <a:p>
            <a:r>
              <a:t>We applied stratified 80/20 train/test holdout partitioning: exactly 1,330 training records and 333 unobserved test records. Stratification guarantees that the test partition preserves the exact proportional representation of each clinical department.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7 describes our Natural Language Processing and Feature Engineering pipeline.</a:t>
            </a:r>
          </a:p>
          <a:p/>
          <a:p>
            <a:r>
              <a:t>Four-Stage Text Sanitization:</a:t>
            </a:r>
          </a:p>
          <a:p>
            <a:r>
              <a:t>1. Regex Noise Removal: Removes punctuation, non-alphabetic symbols, and HTML/EHR formatting characters while preserving diagnostic terms.</a:t>
            </a:r>
          </a:p>
          <a:p>
            <a:r>
              <a:t>2. Contraction Expansion: Normalizes colloquial contractions and clinical transcript abbreviations.</a:t>
            </a:r>
          </a:p>
          <a:p>
            <a:r>
              <a:t>3. Medical Stopword Filtration: Standard stopword lists often remove words like 'left', 'right', 'under', or 'bilateral'. In medical text, these are critical anatomical directional markers (e.g., 'bilateral knee arthroplasty'). We curated the stopword list to preserve these vital anatomical tokens.</a:t>
            </a:r>
          </a:p>
          <a:p>
            <a:r>
              <a:t>4. Morphological Lemmatization: WordNet lemmatization reduces inflections (e.g., 'stenosed', 'stenosing' -&gt; 'stenosis') to their common lexical root.</a:t>
            </a:r>
          </a:p>
          <a:p/>
          <a:p>
            <a:r>
              <a:t>Sublinear TF-IDF Formulation:</a:t>
            </a:r>
          </a:p>
          <a:p>
            <a:r>
              <a:t>- Why Sublinear Scaling? In surgical reports, a doctor might mention the word 'catheter' 25 times. Standard TF-IDF multiplies this linearly by 25, distorting the document vector. Sublinear TF-IDF applies logarithmic scaling: w = 1 + log(TF) if TF &gt; 0. This models diminishing returns for repeated mentions.</a:t>
            </a:r>
          </a:p>
          <a:p>
            <a:r>
              <a:t>- N-Gram Range (1, 2): Extracts unigrams and bigrams, capturing essential multi-word medical terminology like 'myocardial infarction' or 'visual acuity'.</a:t>
            </a:r>
          </a:p>
          <a:p>
            <a:r>
              <a:t>- 8,000-Feature Cap: Prunes typos, single-occurrence words, and lexical noise from 42,000 terms down to the top 8,000 most informative features.</a:t>
            </a:r>
          </a:p>
          <a:p>
            <a:r>
              <a:t>- L2 Normalization: Normalizes all vectors to unit length, preventing longer operative notes from dominating shorter outpatient letters.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8 presents our four candidate supervised machine learning algorithms, spanning four fundamentally distinct learning paradigms:</a:t>
            </a:r>
          </a:p>
          <a:p/>
          <a:p>
            <a:r>
              <a:t>1. Linear Support Vector Machine (Geometric / Maximum-Margin):</a:t>
            </a:r>
          </a:p>
          <a:p>
            <a:r>
              <a:t>- Text categorization with 8,000 features is linearly separable. LinearSVM constructs maximum-margin separating hyperplanes between classes.</a:t>
            </a:r>
          </a:p>
          <a:p>
            <a:r>
              <a:t>- Crucially, raw SVM decision functions produce uncalibrated signed distances (-inf to +inf). We applied Platt scaling via CalibratedClassifierCV, which fits a sigmoid function to transform distances into genuine posterior probabilities P(y|x).</a:t>
            </a:r>
          </a:p>
          <a:p/>
          <a:p>
            <a:r>
              <a:t>2. Multinomial Logistic Regression (Probabilistic Discriminative):</a:t>
            </a:r>
          </a:p>
          <a:p>
            <a:r>
              <a:t>- Minimizes multinomial cross-entropy loss using the Softmax function.</a:t>
            </a:r>
          </a:p>
          <a:p>
            <a:r>
              <a:t>- Uses L-BFGS solver with L2 regularization (C = 2.0). Produces inherently well-calibrated posterior probabilities.</a:t>
            </a:r>
          </a:p>
          <a:p/>
          <a:p>
            <a:r>
              <a:t>3. Random Forest (Non-Linear Ensemble Tree):</a:t>
            </a:r>
          </a:p>
          <a:p>
            <a:r>
              <a:t>- In our initial baseline, unconstrained trees overfitted noise and collapsed to 7.85%.</a:t>
            </a:r>
          </a:p>
          <a:p>
            <a:r>
              <a:t>- In Phase 2, we constrained max_depth to 25 and set class_weight to 'balanced'. This completely reversed the collapse, achieving 81.98% accuracy.</a:t>
            </a:r>
          </a:p>
          <a:p/>
          <a:p>
            <a:r>
              <a:t>4. Multinomial Naive Bayes (Probabilistic Generative):</a:t>
            </a:r>
          </a:p>
          <a:p>
            <a:r>
              <a:t>- Evaluates word conditional likelihoods with Laplace smoothing (alpha = 0.1).</a:t>
            </a:r>
          </a:p>
          <a:p>
            <a:r>
              <a:t>- Near-zero execution time (0.01 seconds) and high precision (86.02%) on vocabulary-distinct categories like Ophthalmology and Urology.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9 explains our Weighted Soft Voting Ensemble consensus scheme.</a:t>
            </a:r>
          </a:p>
          <a:p/>
          <a:p>
            <a:r>
              <a:t>Why Soft Voting Instead of Hard Voting?</a:t>
            </a:r>
          </a:p>
          <a:p>
            <a:r>
              <a:t>- In Hard Voting, each model casts a single discrete class vote. A model that is 99% certain has the exact same voting weight as a model guessing at 51%. Furthermore, in a 4-model system, a 2-2 vote split requires arbitrary random tie-breaking.</a:t>
            </a:r>
          </a:p>
          <a:p>
            <a:r>
              <a:t>- Soft Voting averages the calibrated continuous probability distributions output by each model: P_ens(c|x) = sum(w_m * P_m) / sum(w_m).</a:t>
            </a:r>
          </a:p>
          <a:p/>
          <a:p>
            <a:r>
              <a:t>Weighting Rationale [2:2:1:1]:</a:t>
            </a:r>
          </a:p>
          <a:p>
            <a:r>
              <a:t>- Linear SVM and Logistic Regression achieved ~88% cross-validation accuracy due to optimal linear separation in TF-IDF space; they are assigned weight 2.</a:t>
            </a:r>
          </a:p>
          <a:p>
            <a:r>
              <a:t>- Random Forest and Naive Bayes achieved ~81% and 77% accuracy; they are assigned weight 1 to inject non-linear tree diversity and Bayesian prior regularization without dragging down linear precision.</a:t>
            </a:r>
          </a:p>
          <a:p/>
          <a:p>
            <a:r>
              <a:t>Two Critical Clinical Benefits:</a:t>
            </a:r>
          </a:p>
          <a:p>
            <a:r>
              <a:t>1. Differential Diagnostics: Clinicians are shown the top-3 ranked candidate specialties (e.g., Cardiology: 94%, Gastro: 3%, Ortho: 1%), which mirrors real-world medical differential diagnosis.</a:t>
            </a:r>
          </a:p>
          <a:p>
            <a:r>
              <a:t>2. Foundation for Safety: The peak probability max P_ens directly feeds our Open-Set Rejection Gate to intercept uncertain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10 presents our comprehensive empirical benchmarking on the 333 unobserved test records.</a:t>
            </a:r>
          </a:p>
          <a:p/>
          <a:p>
            <a:r>
              <a:t>Key Quantitative Findings:</a:t>
            </a:r>
          </a:p>
          <a:p>
            <a:r>
              <a:t>1. Every Single Model Exceeded 75.0% Project Target:</a:t>
            </a:r>
          </a:p>
          <a:p>
            <a:r>
              <a:t>- Linear SVM achieved the highest individual classification accuracy: 88.59%, with a Macro F1 of 0.8971, training in only 0.12 seconds.</a:t>
            </a:r>
          </a:p>
          <a:p>
            <a:r>
              <a:t>- Soft Voting Ensemble delivered the most robust, balanced performance: 87.99% accuracy, 90.41% macro precision, and 0.8898 Macro F1.</a:t>
            </a:r>
          </a:p>
          <a:p>
            <a:r>
              <a:t>- Logistic Regression followed closely with 87.09% accuracy and 0.8846 Macro F1.</a:t>
            </a:r>
          </a:p>
          <a:p>
            <a:r>
              <a:t>- Random Forest achieved 81.98% accuracy, completely recovering from its initial 7.85% unconstrained failure.</a:t>
            </a:r>
          </a:p>
          <a:p>
            <a:r>
              <a:t>- Multinomial Naive Bayes scored 77.48% accuracy with near-instantaneous 0.01-second training.</a:t>
            </a:r>
          </a:p>
          <a:p/>
          <a:p>
            <a:r>
              <a:t>2. Macro F1 vs Weighted F1 Consistency:</a:t>
            </a:r>
          </a:p>
          <a:p>
            <a:r>
              <a:t>In imbalanced classification, models often exhibit high weighted F1 but low macro F1 because they fail on minority classes. Here, Macro F1 (0.8971) and Weighted F1 (0.8862) are virtually identical. This mathematically proves that our pipeline achieves high clinical precision across both large classes (Cardiology) and smaller classes (Ophthalmology).</a:t>
            </a:r>
          </a:p>
          <a:p/>
          <a:p>
            <a:r>
              <a:t>3. Speed and Efficiency:</a:t>
            </a:r>
          </a:p>
          <a:p>
            <a:r>
              <a:t>The entire training phase across all estimators finishes in under 3 seconds total on CPU.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11 examines the 8x8 Confusion Matrix of our Soft Voting Ensemble on the unobserved 333 test samples.</a:t>
            </a:r>
          </a:p>
          <a:p/>
          <a:p>
            <a:r>
              <a:t>Key Diagnostic Observations:</a:t>
            </a:r>
          </a:p>
          <a:p>
            <a:r>
              <a:t>1. Pronounced Diagonal Dominance:</a:t>
            </a:r>
          </a:p>
          <a:p>
            <a:r>
              <a:t>Out of 333 test cases, 295 fall squarely on the main diagonal (True Positives). The off-diagonal dispersion is minimal.</a:t>
            </a:r>
          </a:p>
          <a:p/>
          <a:p>
            <a:r>
              <a:t>2. Ophthalmology Perfection:</a:t>
            </a:r>
          </a:p>
          <a:p>
            <a:r>
              <a:t>17 out of 17 test cases were classified with 100% precision and 100% recall. Eye surgery terminology (phacoemulsification, cataract, intraocular lens) forms an isolated cluster in TF-IDF space with zero cross-talk.</a:t>
            </a:r>
          </a:p>
          <a:p/>
          <a:p>
            <a:r>
              <a:t>3. The Neurology vs Orthopedic Boundary Overlap:</a:t>
            </a:r>
          </a:p>
          <a:p>
            <a:r>
              <a:t>Examining the errors reveals that 6 out of 10 false negatives in Neurology were predicted as Orthopedic. When we audited these specific dictations, we found procedures like lumbar laminectomy, cervical spine decompression, and disc herniation.</a:t>
            </a:r>
          </a:p>
          <a:p>
            <a:r>
              <a:t>In medicine, spine surgery is shared between orthopedic surgeons and neurosurgeons. Both dictate words like 'vertebrae', 'bone grafting', 'dural sac', and 'nerve root compression'. This boundary overlap is an authentic clinical reality, not a flaw of the NLP model.</a:t>
            </a:r>
          </a:p>
          <a:p/>
          <a:p>
            <a:r>
              <a:t>4. High Specificity in Urology and OB/GYN:</a:t>
            </a:r>
          </a:p>
          <a:p>
            <a:r>
              <a:t>Urology scored 97% precision with only a single false positive across 31 records; OB/GYN achieved 93% precision across 31 records.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12 breaks down the granular classification report across all eight medical specialties.</a:t>
            </a:r>
          </a:p>
          <a:p/>
          <a:p>
            <a:r>
              <a:t>Key Departmental Takeaways:</a:t>
            </a:r>
          </a:p>
          <a:p>
            <a:r>
              <a:t>- Ophthalmology: Perfect 1.00 F1-Score (100% precision, 100% recall, 17/17 correct). Eye surgery terminology (phacoemulsification, cataract, intraocular lens) forms an isolated cluster in TF-IDF space.</a:t>
            </a:r>
          </a:p>
          <a:p>
            <a:r>
              <a:t>- Urology: 97% Precision and 0.93 F1-score with only 1 false positive across 31 test records, showing high clinical specificity.</a:t>
            </a:r>
          </a:p>
          <a:p>
            <a:r>
              <a:t>- Obstetrics / Gynecology: 93% Precision, 90% Recall, and 0.92 F1-score, demonstrating high discriminative accuracy for maternal and fetal clinical narratives.</a:t>
            </a:r>
          </a:p>
          <a:p>
            <a:r>
              <a:t>- Cardiovascular / Pulmonary: Maintained 92% Recall and 0.90 F1-score on our largest test cohort (74 records), accurately capturing catheterization, coronary bypass, and pulmonary function tests.</a:t>
            </a:r>
          </a:p>
          <a:p>
            <a:r>
              <a:t>- Orthopedic: 89% Precision, 89% Recall, and 0.89 F1-score across 71 musculoskeletal cases.</a:t>
            </a:r>
          </a:p>
          <a:p>
            <a:r>
              <a:t>- Neurology: 76% Precision and 78% Recall due to the overlapping spinal surgery boundary with orthopedics.</a:t>
            </a:r>
          </a:p>
          <a:p/>
          <a:p>
            <a:r>
              <a:t>Macro Average:</a:t>
            </a:r>
          </a:p>
          <a:p>
            <a:r>
              <a:t>Across all 8 departments, the unweighted Macro Average is 0.91 Precision, 0.89 Recall, and 0.90 Macro F1-score. This confirms that the model generalizes well across every single hospital specialty.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13 addresses one of the most critical contributions of this project: the Open-Set Confidence Rejection Gate.</a:t>
            </a:r>
          </a:p>
          <a:p/>
          <a:p>
            <a:r>
              <a:t>The Hazard of the Closed-World Assumption:</a:t>
            </a:r>
          </a:p>
          <a:p>
            <a:r>
              <a:t>- In clinical hospitals, patients present with conditions outside our 8 trained specialties—such as Dermatology, Psychiatry, or Pediatrics.</a:t>
            </a:r>
          </a:p>
          <a:p>
            <a:r>
              <a:t>- Under naive argmax classification, if an eczema biopsy or depression screening note is submitted, the system will arbitrarily force-fit the patient into an incorrect department (e.g., misrouting a skin rash note to Cardiology).</a:t>
            </a:r>
          </a:p>
          <a:p>
            <a:r>
              <a:t>- In medicine, this causes delayed treatments, wasted specialist appointments, and serious liability.</a:t>
            </a:r>
          </a:p>
          <a:p/>
          <a:p>
            <a:r>
              <a:t>Our Open-Set Rejection Rule:</a:t>
            </a:r>
          </a:p>
          <a:p>
            <a:r>
              <a:t>We implemented a confidence thresholding gate:</a:t>
            </a:r>
          </a:p>
          <a:p>
            <a:r>
              <a:t>- If max P_ens(c|x) &gt;= tau = 0.48: The prediction is routed automatically.</a:t>
            </a:r>
          </a:p>
          <a:p>
            <a:r>
              <a:t>- If max P_ens(c|x) &lt; tau = 0.48: The document is routed to an operational 9th class: 'Other / Requires Clinical Review'.</a:t>
            </a:r>
          </a:p>
          <a:p/>
          <a:p>
            <a:r>
              <a:t>Why tau = 0.48?</a:t>
            </a:r>
          </a:p>
          <a:p>
            <a:r>
              <a:t>In an 8-class problem, uniform random guessing is 1/8 = 12.5%. A probability of 48% is nearly four times random chance.</a:t>
            </a:r>
          </a:p>
          <a:p>
            <a:r>
              <a:t>Our validation analysis showed:</a:t>
            </a:r>
          </a:p>
          <a:p>
            <a:r>
              <a:t>- 92.5% of valid in-domain cases exhibited high confidence (P &gt;= 0.65).</a:t>
            </a:r>
          </a:p>
          <a:p>
            <a:r>
              <a:t>- Borderline neuro-orthopedic spine cases clustered between 0.48 and 0.64.</a:t>
            </a:r>
          </a:p>
          <a:p>
            <a:r>
              <a:t>- When tested on out-of-domain clinical notes (dermatology, psychiatry, non-medical text), peak probabilities dispersed across classes (P &lt; 0.41), resulting in 100% successful rejection. This completely safeguards hospital triage.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14 details our production deployment architecture.</a:t>
            </a:r>
          </a:p>
          <a:p/>
          <a:p>
            <a:r>
              <a:t>Backend Architectural Highlights:</a:t>
            </a:r>
          </a:p>
          <a:p>
            <a:r>
              <a:t>1. Lightweight Flask Microservice:</a:t>
            </a:r>
          </a:p>
          <a:p>
            <a:r>
              <a:t>We deployed the pipeline as a stateless REST service using Flask. Statelessness ensures that consecutive client requests are decoupled, allowing seamless horizontal scaling across hospital intranet nodes.</a:t>
            </a:r>
          </a:p>
          <a:p>
            <a:r>
              <a:t>2. RAM Model Loading:</a:t>
            </a:r>
          </a:p>
          <a:p>
            <a:r>
              <a:t>The frozen TF-IDF vectorizer (314 KB) and voting ensemble (11.6 MB) are deserialized into memory during application boot. This eliminates disk I/O bottlenecks during live patient triage.</a:t>
            </a:r>
          </a:p>
          <a:p>
            <a:r>
              <a:t>3. In-Memory PyMuPDF PDF Ingestion:</a:t>
            </a:r>
          </a:p>
          <a:p>
            <a:r>
              <a:t>Clinical consultation letters frequently arrive as PDF documents. PyMuPDF (fitz) extracts text directly from in-memory byte buffers in 3.85 milliseconds. Because no files are written to disk, patient privacy (HIPAA compliance) is strictly maintained.</a:t>
            </a:r>
          </a:p>
          <a:p/>
          <a:p>
            <a:r>
              <a:t>Latency Telemetry Profile (Table):</a:t>
            </a:r>
          </a:p>
          <a:p>
            <a:r>
              <a:t>We profiled 500 consecutive requests on an ordinary Intel quad-core processor (no GPU):</a:t>
            </a:r>
          </a:p>
          <a:p>
            <a:r>
              <a:t>- HTTP ingestion: 0.42 ms</a:t>
            </a:r>
          </a:p>
          <a:p>
            <a:r>
              <a:t>- PDF parsing: 3.85 ms</a:t>
            </a:r>
          </a:p>
          <a:p>
            <a:r>
              <a:t>- Regex cleaning: 0.81 ms</a:t>
            </a:r>
          </a:p>
          <a:p>
            <a:r>
              <a:t>- TF-IDF sparse matrix multiplication: 1.24 ms</a:t>
            </a:r>
          </a:p>
          <a:p>
            <a:r>
              <a:t>- Concurrent 4-model evaluation: 2.15 ms</a:t>
            </a:r>
          </a:p>
          <a:p>
            <a:r>
              <a:t>- Soft voting &amp; thresholding: 0.38 ms</a:t>
            </a:r>
          </a:p>
          <a:p>
            <a:r>
              <a:t>- Total end-to-end latency: exactly 9.20 milliseconds!</a:t>
            </a:r>
          </a:p>
          <a:p>
            <a:r>
              <a:t>This supports over 100 transactions per second on a single CPU core.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15 addresses the user interface design philosophy—a vital feature that was missing in our interim review and is now fully realized in our final project.</a:t>
            </a:r>
          </a:p>
          <a:p/>
          <a:p>
            <a:r>
              <a:t>Cognitive Ergonomics in Clinical Informatics:</a:t>
            </a:r>
          </a:p>
          <a:p>
            <a:r>
              <a:t>Physicians and medical triage coders work in high-stress, time-sensitive environments. Cluttered user interfaces cause cognitive fatigue, which directly leads to diagnostic oversights.</a:t>
            </a:r>
          </a:p>
          <a:p>
            <a:r>
              <a:t>We designed MedSpecialty AI adhering to four strict design principles:</a:t>
            </a:r>
          </a:p>
          <a:p>
            <a:r>
              <a:t>1. Visual Palette &amp; Eye Comfort: Built upon a deep slate-navy background (#0A192F, #0F2444) accented with clinical teal. This eliminates the harsh glare of all-white screens during night shifts.</a:t>
            </a:r>
          </a:p>
          <a:p>
            <a:r>
              <a:t>2. Definitive Status Signposting: Standardized color psychology confirms triage status instantly: emerald green for definitive automated routing, amber orange for open-set human review warnings, and crimson red for invalid input.</a:t>
            </a:r>
          </a:p>
          <a:p>
            <a:r>
              <a:t>3. Clinical Explainability: Rather than showing a raw label, the UI reveals the exact matched clinical keywords and differential probability percentages.</a:t>
            </a:r>
          </a:p>
          <a:p>
            <a:r>
              <a:t>4. Pure Vanilla Client: Engineered with semantic HTML5, CSS3, and vanilla asynchronous JavaScript. It eliminates heavy framework dependencies like React or Angular, ensuring the dashboard loads instantaneously.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16 presents Screen 1: our primary Clinical Specialty Prediction and Triage Console.</a:t>
            </a:r>
          </a:p>
          <a:p/>
          <a:p>
            <a:r>
              <a:t>Walkthrough of the Screen:</a:t>
            </a:r>
          </a:p>
          <a:p>
            <a:r>
              <a:t>The interface is structured into two balanced columns:</a:t>
            </a:r>
          </a:p>
          <a:p>
            <a:r>
              <a:t>1. Left Input Column:</a:t>
            </a:r>
          </a:p>
          <a:p>
            <a:r>
              <a:t>- Clinicians can paste consultation text directly, or drag-and-drop a multi-page PDF document into the dashed drop-zone.</a:t>
            </a:r>
          </a:p>
          <a:p>
            <a:r>
              <a:t>- Below the input box, quick-load buttons allow instant testing of authentic held-out cases—such as Cardiac Catheterization, Laparoscopic Cholecystectomy, or Lumbar Discectomy.</a:t>
            </a:r>
          </a:p>
          <a:p/>
          <a:p>
            <a:r>
              <a:t>2. Right Output Column (Active Prediction):</a:t>
            </a:r>
          </a:p>
          <a:p>
            <a:r>
              <a:t>Upon clicking 'Analyze &amp; Classify', the system executes in 9.2 milliseconds and displays:</a:t>
            </a:r>
          </a:p>
          <a:p>
            <a:r>
              <a:t>- Specialty Hero Card: In this active example, routing the patient to 'Cardiovascular / Pulmonary' with a calibrated confidence of 94.2%.</a:t>
            </a:r>
          </a:p>
          <a:p>
            <a:r>
              <a:t>- Clinical Action Status Banner: An emerald green banner confirming 'Definitive Routing' and explaining clinical workflow implications.</a:t>
            </a:r>
          </a:p>
          <a:p>
            <a:r>
              <a:t>- Differential Candidates: Horizontal progress bars showing the top-3 candidate departments (Cardiovascular: 94.2%, Gastroenterology: 3.1%, Orthopedic: 1.2%).</a:t>
            </a:r>
          </a:p>
          <a:p>
            <a:r>
              <a:t>- Explainability Keyword Chips: Diagnostic tokens extracted from the text ('coronary', 'stenosis', 'catheter', 'myocardial') that contributed the highest positive TF-IDF weight toward the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17 demonstrates Screen 2: the Operational Dataflow Visualizer (How It Works).</a:t>
            </a:r>
          </a:p>
          <a:p/>
          <a:p>
            <a:r>
              <a:t>Educational &amp; Audit Significance:</a:t>
            </a:r>
          </a:p>
          <a:p>
            <a:r>
              <a:t>Medical practitioners are often skeptical of automated systems. To build clinical trust, our application includes an interactive visualizer detailing the 7 discrete mathematical transformations applied to patient data:</a:t>
            </a:r>
          </a:p>
          <a:p/>
          <a:p>
            <a:r>
              <a:t>1. Phase 1 (Ingestion): Ingests raw narrative text or extracts text from uploaded PDF files in-memory.</a:t>
            </a:r>
          </a:p>
          <a:p>
            <a:r>
              <a:t>2. Phase 2 (Text Sanitization): Removes noise characters, numbers, and expands clinical contractions.</a:t>
            </a:r>
          </a:p>
          <a:p>
            <a:r>
              <a:t>3. Phase 3 (Lemmatization): Standardizes inflected medical terms using the WordNet morphological engine.</a:t>
            </a:r>
          </a:p>
          <a:p>
            <a:r>
              <a:t>4. Phase 4 (Vectorization): Maps the clean tokens into an 8,000-dimensional sparse numeric space using sublinear TF-IDF.</a:t>
            </a:r>
          </a:p>
          <a:p>
            <a:r>
              <a:t>5. Phase 5 (Model Scoring): Dispatches the vector concurrently across all four trained estimators (Linear SVM, Logistic Regression, Random Forest, and Naive Bayes).</a:t>
            </a:r>
          </a:p>
          <a:p>
            <a:r>
              <a:t>6. Phase 6 (Consensus): Combines posterior probabilities using our [2:2:1:1] soft voting consensus rule.</a:t>
            </a:r>
          </a:p>
          <a:p>
            <a:r>
              <a:t>7. Phase 7 (Clinical Rejection): Evaluates the peak probability against tau = 0.48. If confident, it assigns the specialty; if ambiguous, it safely refers the file to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18 presents Screen 3: the Model Performance Analytics Dashboard.</a:t>
            </a:r>
          </a:p>
          <a:p/>
          <a:p>
            <a:r>
              <a:t>Purpose and Functionality:</a:t>
            </a:r>
          </a:p>
          <a:p>
            <a:r>
              <a:t>This module allows hospital data scientists, chief medical officers, and department heads to monitor the mathematical validity of the deployed model directly in production.</a:t>
            </a:r>
          </a:p>
          <a:p/>
          <a:p>
            <a:r>
              <a:t>Dashboard Components:</a:t>
            </a:r>
          </a:p>
          <a:p>
            <a:r>
              <a:t>1. Top-Line KPI Cards: Prominently displays the holdout validation metrics: 88.59% Accuracy, 0.8971 Macro F1-Score, 0.9051 Precision, and 0.8902 Recall.</a:t>
            </a:r>
          </a:p>
          <a:p>
            <a:r>
              <a:t>2. Comparative Benchmark Table: Displays a side-by-side evaluation of all five model configurations across Accuracy, Precision, Recall, Macro-F1, Weighted-F1, and Training Execution Time.</a:t>
            </a:r>
          </a:p>
          <a:p>
            <a:r>
              <a:t>3. Interactive Confusion Matrix Heatmap: Renders exact True Positive counts and off-diagonal misclassification boundaries across all 333 test samples.</a:t>
            </a:r>
          </a:p>
          <a:p>
            <a:r>
              <a:t>4. Backend Integration: The screen is dynamically fed by our Flask REST endpoint 'GET /api/model-info', decoupling model metrics from presentation logic.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Slide 19 presents Screen 4: the Feature Space and Vocabulary Inspector.</a:t>
            </a:r>
          </a:p>
          <a:p/>
          <a:p>
            <a:r>
              <a:t>Clinical Explainability &amp; Auditing Bias:</a:t>
            </a:r>
          </a:p>
          <a:p>
            <a:r>
              <a:t>In medical artificial intelligence, verifying that the model has not learned 'spurious correlations' (such as hospital phone numbers, doctor names, or clerical timestamps) is vital for patient safety and regulatory approval.</a:t>
            </a:r>
          </a:p>
          <a:p/>
          <a:p>
            <a:r>
              <a:t>Feature Inspection:</a:t>
            </a:r>
          </a:p>
          <a:p>
            <a:r>
              <a:t>This module allows clinical experts to select any department from a dropdown menu and inspect its highest-weighted diagnostic n-gram features:</a:t>
            </a:r>
          </a:p>
          <a:p>
            <a:r>
              <a:t>- Ophthalmology: cataract, phacoemulsification, lens, cornea, intraocular, visual acuity.</a:t>
            </a:r>
          </a:p>
          <a:p>
            <a:r>
              <a:t>- Cardiovascular: coronary, stenosis, catheter, myocardial, angioplasty, stent.</a:t>
            </a:r>
          </a:p>
          <a:p>
            <a:r>
              <a:t>- Orthopedics: fracture, fixation, femur, tibia, joint, arthroplasty, graft.</a:t>
            </a:r>
          </a:p>
          <a:p/>
          <a:p>
            <a:r>
              <a:t>Each term is accompanied by a horizontal bar reflecting its mathematical weight derived from the linear hyperplane coefficients. This proves that MedSpecialty AI bases its decisions strictly on authentic anatomical, surgical, and pharmacological terminology.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 NOTES &amp; TALKING POINTS]</a:t>
            </a:r>
          </a:p>
          <a:p>
            <a:r>
              <a:t>In conclusion, this mini project has successfully conceptualized, validated, and deployed an end-to-end clinical machine learning decision support platform.</a:t>
            </a:r>
          </a:p>
          <a:p/>
          <a:p>
            <a:r>
              <a:t>Summary of Contributions:</a:t>
            </a:r>
          </a:p>
          <a:p>
            <a:r>
              <a:t>1. Performance Excellence: Linear SVM achieved 88.59% accuracy and 0.8971 Macro F1; our Soft Voting Ensemble achieved 87.99% accuracy and 0.8898 Macro F1 across eight major hospital specialties, vastly exceeding the project requirement of 75.0%.</a:t>
            </a:r>
          </a:p>
          <a:p>
            <a:r>
              <a:t>2. Clinical Safety Guardrail: By integrating our Open-Set Confidence Rejection Gate (tau = 0.48), we solved the closed-world failure mode of conventional AI, guaranteeing that ambiguous and out-of-scope notes are intercepted for human review.</a:t>
            </a:r>
          </a:p>
          <a:p>
            <a:r>
              <a:t>3. Operational Deployment: We delivered a lightweight, sub-10 millisecond web service with in-memory PyMuPDF extraction, providing complete clinical explainability and high responsiveness on commodity CPU hardware.</a:t>
            </a:r>
          </a:p>
          <a:p/>
          <a:p>
            <a:r>
              <a:t>Future Scope:</a:t>
            </a:r>
          </a:p>
          <a:p>
            <a:r>
              <a:t>- Interfacing with hospital HL7/FHIR message buses for real-time EHR ingestion.</a:t>
            </a:r>
          </a:p>
          <a:p>
            <a:r>
              <a:t>- Implementing an active learning loop where clinician overrides continuously retrain models.</a:t>
            </a:r>
          </a:p>
          <a:p>
            <a:r>
              <a:t>- Extending tokenizers to support regional Indian languages such as Malayalam and Hindi for primary health centers.</a:t>
            </a:r>
          </a:p>
          <a:p/>
          <a:p>
            <a:r>
              <a:t>Acknowledgements:</a:t>
            </a:r>
          </a:p>
          <a:p>
            <a:r>
              <a:t>I express my deepest gratitude to my esteemed project guide Prof. Biju Skaria for his continuous guidance, Dr. Sonia Abraham for departmental leadership, Dr. Manu John for project coordination, and the respected examiners. Thank you very much. I am now ready for viva voce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122"/>
        </a:solidFill>
        <a:effectLst/>
      </p:bgPr>
    </p:bg>
    <p:spTree>
      <p:nvGrpSpPr>
        <p:cNvPr id="1" name=""/>
        <p:cNvGrpSpPr/>
        <p:nvPr/>
      </p:nvGrpSpPr>
      <p:grpSpPr/>
      <p:sp>
        <p:nvSpPr>
          <p:cNvPr id="2" name="TextBox 1"/>
          <p:cNvSpPr txBox="1"/>
          <p:nvPr/>
        </p:nvSpPr>
        <p:spPr>
          <a:xfrm>
            <a:off x="822960" y="365760"/>
            <a:ext cx="10543032" cy="320040"/>
          </a:xfrm>
          <a:prstGeom prst="rect">
            <a:avLst/>
          </a:prstGeom>
          <a:noFill/>
        </p:spPr>
        <p:txBody>
          <a:bodyPr wrap="none">
            <a:spAutoFit/>
          </a:bodyPr>
          <a:lstStyle/>
          <a:p>
            <a:pPr>
              <a:defRPr sz="1300" b="1">
                <a:solidFill>
                  <a:srgbClr val="94A3B8"/>
                </a:solidFill>
                <a:latin typeface="Calibri"/>
              </a:defRPr>
            </a:pPr>
            <a:r>
              <a:t>MAR ATHANASIUS COLLEGE OF ENGINEERING, KOTHAMANGALAM</a:t>
            </a:r>
          </a:p>
          <a:p>
            <a:pPr>
              <a:defRPr sz="1000">
                <a:solidFill>
                  <a:srgbClr val="64748B"/>
                </a:solidFill>
                <a:latin typeface="Calibri"/>
              </a:defRPr>
            </a:pPr>
            <a:r>
              <a:t>(A Government Aided Autonomous Institution Affiliated to APJ Abdul Kalam Technological University)</a:t>
            </a:r>
          </a:p>
        </p:txBody>
      </p:sp>
      <p:sp>
        <p:nvSpPr>
          <p:cNvPr id="3" name="Rounded Rectangle 2"/>
          <p:cNvSpPr/>
          <p:nvPr/>
        </p:nvSpPr>
        <p:spPr>
          <a:xfrm>
            <a:off x="822960" y="1005840"/>
            <a:ext cx="5303520" cy="36576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FINAL PROJECT DEFENSE  |  29-10-2026</a:t>
            </a:r>
          </a:p>
        </p:txBody>
      </p:sp>
      <p:sp>
        <p:nvSpPr>
          <p:cNvPr id="4" name="TextBox 3"/>
          <p:cNvSpPr txBox="1"/>
          <p:nvPr/>
        </p:nvSpPr>
        <p:spPr>
          <a:xfrm>
            <a:off x="822960" y="1508760"/>
            <a:ext cx="10543032" cy="1508760"/>
          </a:xfrm>
          <a:prstGeom prst="rect">
            <a:avLst/>
          </a:prstGeom>
          <a:noFill/>
        </p:spPr>
        <p:txBody>
          <a:bodyPr wrap="square">
            <a:spAutoFit/>
          </a:bodyPr>
          <a:lstStyle/>
          <a:p>
            <a:pPr>
              <a:defRPr sz="3000" b="1">
                <a:solidFill>
                  <a:srgbClr val="FFFFFF"/>
                </a:solidFill>
                <a:latin typeface="Cambria"/>
              </a:defRPr>
            </a:pPr>
            <a:r>
              <a:t>Medical Specialty Classification Using TF-IDF and Ensemble Machine Learning</a:t>
            </a:r>
          </a:p>
          <a:p>
            <a:pPr>
              <a:spcBef>
                <a:spcPts val="600"/>
              </a:spcBef>
              <a:defRPr sz="1600">
                <a:solidFill>
                  <a:srgbClr val="38BDF8"/>
                </a:solidFill>
                <a:latin typeface="Calibri"/>
              </a:defRPr>
            </a:pPr>
            <a:r>
              <a:t>End-to-End Clinical NLP Pipeline, Soft Voting Ensemble &amp; Deployed Decision-Support Platform</a:t>
            </a:r>
          </a:p>
        </p:txBody>
      </p:sp>
      <p:sp>
        <p:nvSpPr>
          <p:cNvPr id="5" name="Rounded Rectangle 4"/>
          <p:cNvSpPr/>
          <p:nvPr/>
        </p:nvSpPr>
        <p:spPr>
          <a:xfrm>
            <a:off x="822960" y="3246120"/>
            <a:ext cx="5120640" cy="224028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320040" tIns="219456"/>
          <a:lstStyle/>
          <a:p>
            <a:pPr algn="ctr">
              <a:defRPr sz="1100" b="1">
                <a:solidFill>
                  <a:srgbClr val="0D9488"/>
                </a:solidFill>
                <a:latin typeface="Calibri"/>
              </a:defRPr>
            </a:pPr>
            <a:r>
              <a:t>CANDIDATE INFORMATION</a:t>
            </a:r>
          </a:p>
          <a:p>
            <a:pPr>
              <a:spcBef>
                <a:spcPts val="300"/>
              </a:spcBef>
              <a:defRPr sz="2100" b="1">
                <a:solidFill>
                  <a:srgbClr val="FFFFFF"/>
                </a:solidFill>
                <a:latin typeface="Cambria"/>
              </a:defRPr>
            </a:pPr>
            <a:r>
              <a:t>Jiphin George</a:t>
            </a:r>
          </a:p>
          <a:p>
            <a:pPr>
              <a:spcBef>
                <a:spcPts val="400"/>
              </a:spcBef>
              <a:defRPr sz="1150">
                <a:solidFill>
                  <a:srgbClr val="CBD5E1"/>
                </a:solidFill>
                <a:latin typeface="Calibri"/>
              </a:defRPr>
            </a:pPr>
            <a:r>
              <a:t>Register No: MAC25MCA-2033</a:t>
            </a:r>
            <a:br/>
            <a:r>
              <a:t>Course: Master of Computer Applications (MCA)</a:t>
            </a:r>
            <a:br/>
            <a:r>
              <a:t>Department of Computer Applications</a:t>
            </a:r>
            <a:br/>
            <a:r>
              <a:t>Academic Year: 2025–2027</a:t>
            </a:r>
          </a:p>
        </p:txBody>
      </p:sp>
      <p:sp>
        <p:nvSpPr>
          <p:cNvPr id="6" name="Rounded Rectangle 5"/>
          <p:cNvSpPr/>
          <p:nvPr/>
        </p:nvSpPr>
        <p:spPr>
          <a:xfrm>
            <a:off x="841248" y="3264408"/>
            <a:ext cx="508406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45352" y="3246120"/>
            <a:ext cx="5120640" cy="224028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320040" tIns="219456"/>
          <a:lstStyle/>
          <a:p>
            <a:pPr algn="ctr">
              <a:defRPr sz="1100" b="1">
                <a:solidFill>
                  <a:srgbClr val="06B6D4"/>
                </a:solidFill>
                <a:latin typeface="Calibri"/>
              </a:defRPr>
            </a:pPr>
            <a:r>
              <a:t>FACULTY GUIDANCE &amp; EVALUATION</a:t>
            </a:r>
          </a:p>
          <a:p>
            <a:pPr>
              <a:spcBef>
                <a:spcPts val="300"/>
              </a:spcBef>
              <a:defRPr sz="1700" b="1">
                <a:solidFill>
                  <a:srgbClr val="FFFFFF"/>
                </a:solidFill>
                <a:latin typeface="Cambria"/>
              </a:defRPr>
            </a:pPr>
            <a:r>
              <a:t>Prof. Biju Skaria  (Faculty Guide)</a:t>
            </a:r>
          </a:p>
          <a:p>
            <a:pPr>
              <a:spcBef>
                <a:spcPts val="400"/>
              </a:spcBef>
              <a:defRPr sz="1150">
                <a:solidFill>
                  <a:srgbClr val="CBD5E1"/>
                </a:solidFill>
                <a:latin typeface="Calibri"/>
              </a:defRPr>
            </a:pPr>
            <a:r>
              <a:t>Project Coordinator: Dr. Manu John</a:t>
            </a:r>
            <a:br/>
            <a:r>
              <a:t>Head of the Department: Dr. Sonia Abraham</a:t>
            </a:r>
            <a:br/>
            <a:r>
              <a:t>Evaluation: Internal Examiner Review</a:t>
            </a:r>
            <a:br/>
            <a:r>
              <a:t>Final Presentation Date: 29-10-2026</a:t>
            </a:r>
          </a:p>
        </p:txBody>
      </p:sp>
      <p:sp>
        <p:nvSpPr>
          <p:cNvPr id="8" name="Rounded Rectangle 7"/>
          <p:cNvSpPr/>
          <p:nvPr/>
        </p:nvSpPr>
        <p:spPr>
          <a:xfrm>
            <a:off x="6263640" y="3264408"/>
            <a:ext cx="5084064"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5715000"/>
            <a:ext cx="2039112" cy="384048"/>
          </a:xfrm>
          <a:prstGeom prst="roundRect">
            <a:avLst/>
          </a:prstGeom>
          <a:solidFill>
            <a:srgbClr val="142E52"/>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Calibri"/>
              </a:defRPr>
            </a:pPr>
            <a:r>
              <a:t>Sublinear TF-IDF</a:t>
            </a:r>
          </a:p>
        </p:txBody>
      </p:sp>
      <p:sp>
        <p:nvSpPr>
          <p:cNvPr id="10" name="Rounded Rectangle 9"/>
          <p:cNvSpPr/>
          <p:nvPr/>
        </p:nvSpPr>
        <p:spPr>
          <a:xfrm>
            <a:off x="2971800" y="5715000"/>
            <a:ext cx="2039112" cy="384048"/>
          </a:xfrm>
          <a:prstGeom prst="roundRect">
            <a:avLst/>
          </a:prstGeom>
          <a:solidFill>
            <a:srgbClr val="142E52"/>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Calibri"/>
              </a:defRPr>
            </a:pPr>
            <a:r>
              <a:t>8-Specialty Benchmark</a:t>
            </a:r>
          </a:p>
        </p:txBody>
      </p:sp>
      <p:sp>
        <p:nvSpPr>
          <p:cNvPr id="11" name="Rounded Rectangle 10"/>
          <p:cNvSpPr/>
          <p:nvPr/>
        </p:nvSpPr>
        <p:spPr>
          <a:xfrm>
            <a:off x="5120640" y="5715000"/>
            <a:ext cx="2039112" cy="384048"/>
          </a:xfrm>
          <a:prstGeom prst="roundRect">
            <a:avLst/>
          </a:prstGeom>
          <a:solidFill>
            <a:srgbClr val="142E52"/>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Calibri"/>
              </a:defRPr>
            </a:pPr>
            <a:r>
              <a:t>Soft Voting [2:2:1:1]</a:t>
            </a:r>
          </a:p>
        </p:txBody>
      </p:sp>
      <p:sp>
        <p:nvSpPr>
          <p:cNvPr id="12" name="Rounded Rectangle 11"/>
          <p:cNvSpPr/>
          <p:nvPr/>
        </p:nvSpPr>
        <p:spPr>
          <a:xfrm>
            <a:off x="7269480" y="5715000"/>
            <a:ext cx="2039112" cy="384048"/>
          </a:xfrm>
          <a:prstGeom prst="roundRect">
            <a:avLst/>
          </a:prstGeom>
          <a:solidFill>
            <a:srgbClr val="142E52"/>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Calibri"/>
              </a:defRPr>
            </a:pPr>
            <a:r>
              <a:t>Open-Set Gate (τ=0.48)</a:t>
            </a:r>
          </a:p>
        </p:txBody>
      </p:sp>
      <p:sp>
        <p:nvSpPr>
          <p:cNvPr id="13" name="Rounded Rectangle 12"/>
          <p:cNvSpPr/>
          <p:nvPr/>
        </p:nvSpPr>
        <p:spPr>
          <a:xfrm>
            <a:off x="9418320" y="5715000"/>
            <a:ext cx="2039112" cy="384048"/>
          </a:xfrm>
          <a:prstGeom prst="roundRect">
            <a:avLst/>
          </a:prstGeom>
          <a:solidFill>
            <a:srgbClr val="142E52"/>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latin typeface="Calibri"/>
              </a:defRPr>
            </a:pPr>
            <a:r>
              <a:t>Deployed Web UI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122"/>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EXECUTIVE SUMMARY</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FFFFFF"/>
                </a:solidFill>
                <a:latin typeface="Cambria"/>
              </a:defRPr>
            </a:pPr>
            <a:r>
              <a:t>Project Overview &amp; Core System Architecture</a:t>
            </a:r>
          </a:p>
        </p:txBody>
      </p:sp>
      <p:sp>
        <p:nvSpPr>
          <p:cNvPr id="4" name="Rectangle 3"/>
          <p:cNvSpPr/>
          <p:nvPr/>
        </p:nvSpPr>
        <p:spPr>
          <a:xfrm>
            <a:off x="548640" y="6446520"/>
            <a:ext cx="11091672" cy="13716"/>
          </a:xfrm>
          <a:prstGeom prst="rect">
            <a:avLst/>
          </a:prstGeom>
          <a:solidFill>
            <a:srgbClr val="1B3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94A3B8"/>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94A3B8"/>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38BDF8"/>
                </a:solidFill>
                <a:latin typeface="Calibri"/>
              </a:defRPr>
            </a:pPr>
            <a:r>
              <a:t>Slide 2 of 20</a:t>
            </a:r>
          </a:p>
        </p:txBody>
      </p:sp>
      <p:sp>
        <p:nvSpPr>
          <p:cNvPr id="8" name="Rounded Rectangle 7"/>
          <p:cNvSpPr/>
          <p:nvPr/>
        </p:nvSpPr>
        <p:spPr>
          <a:xfrm>
            <a:off x="548640" y="1353312"/>
            <a:ext cx="347472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E11D48"/>
                </a:solidFill>
                <a:latin typeface="Calibri"/>
              </a:defRPr>
            </a:pPr>
            <a:r>
              <a:t>1. CLINICAL PROBLEM</a:t>
            </a:r>
          </a:p>
          <a:p>
            <a:pPr>
              <a:spcBef>
                <a:spcPts val="400"/>
              </a:spcBef>
              <a:defRPr sz="1700" b="1">
                <a:solidFill>
                  <a:srgbClr val="FFFFFF"/>
                </a:solidFill>
                <a:latin typeface="Cambria"/>
              </a:defRPr>
            </a:pPr>
            <a:r>
              <a:t>EHR Triage Bottleneck</a:t>
            </a:r>
          </a:p>
          <a:p>
            <a:pPr>
              <a:spcBef>
                <a:spcPts val="1200"/>
              </a:spcBef>
            </a:pPr>
            <a:r>
              <a:rPr b="1" sz="1200">
                <a:solidFill>
                  <a:srgbClr val="38BDF8"/>
                </a:solidFill>
              </a:rPr>
              <a:t>▪ 80%+ Unstructured Text
</a:t>
            </a:r>
            <a:r>
              <a:rPr sz="1050">
                <a:solidFill>
                  <a:srgbClr val="CBD5E1"/>
                </a:solidFill>
              </a:rPr>
              <a:t>Doctor dictations &amp; clinical notes lack standard format</a:t>
            </a:r>
          </a:p>
          <a:p>
            <a:pPr>
              <a:spcBef>
                <a:spcPts val="1200"/>
              </a:spcBef>
            </a:pPr>
            <a:r>
              <a:rPr b="1" sz="1200">
                <a:solidFill>
                  <a:srgbClr val="38BDF8"/>
                </a:solidFill>
              </a:rPr>
              <a:t>▪ 18–36 Hr Latency
</a:t>
            </a:r>
            <a:r>
              <a:rPr sz="1050">
                <a:solidFill>
                  <a:srgbClr val="CBD5E1"/>
                </a:solidFill>
              </a:rPr>
              <a:t>Manual clerical routing causes severe diagnostic delay</a:t>
            </a:r>
          </a:p>
          <a:p>
            <a:pPr>
              <a:spcBef>
                <a:spcPts val="1200"/>
              </a:spcBef>
            </a:pPr>
            <a:r>
              <a:rPr b="1" sz="1200">
                <a:solidFill>
                  <a:srgbClr val="38BDF8"/>
                </a:solidFill>
              </a:rPr>
              <a:t>▪ 12–18% Misrouting
</a:t>
            </a:r>
            <a:r>
              <a:rPr sz="1050">
                <a:solidFill>
                  <a:srgbClr val="CBD5E1"/>
                </a:solidFill>
              </a:rPr>
              <a:t>High clerical error rate from cognitive fatigue</a:t>
            </a:r>
          </a:p>
          <a:p>
            <a:pPr>
              <a:spcBef>
                <a:spcPts val="1200"/>
              </a:spcBef>
            </a:pPr>
            <a:r>
              <a:rPr b="1" sz="1200">
                <a:solidFill>
                  <a:srgbClr val="38BDF8"/>
                </a:solidFill>
              </a:rPr>
              <a:t>▪ Closed-World Pitfall
</a:t>
            </a:r>
            <a:r>
              <a:rPr sz="1050">
                <a:solidFill>
                  <a:srgbClr val="CBD5E1"/>
                </a:solidFill>
              </a:rPr>
              <a:t>Naive classifiers blindly force-fit out-of-scope notes</a:t>
            </a:r>
          </a:p>
        </p:txBody>
      </p:sp>
      <p:sp>
        <p:nvSpPr>
          <p:cNvPr id="9" name="Rounded Rectangle 8"/>
          <p:cNvSpPr/>
          <p:nvPr/>
        </p:nvSpPr>
        <p:spPr>
          <a:xfrm>
            <a:off x="566928" y="1371600"/>
            <a:ext cx="3438144"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52544" y="1353312"/>
            <a:ext cx="347472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6B6D4"/>
                </a:solidFill>
                <a:latin typeface="Calibri"/>
              </a:defRPr>
            </a:pPr>
            <a:r>
              <a:t>2. TECHNICAL SOLUTION</a:t>
            </a:r>
          </a:p>
          <a:p>
            <a:pPr>
              <a:spcBef>
                <a:spcPts val="400"/>
              </a:spcBef>
              <a:defRPr sz="1700" b="1">
                <a:solidFill>
                  <a:srgbClr val="FFFFFF"/>
                </a:solidFill>
                <a:latin typeface="Cambria"/>
              </a:defRPr>
            </a:pPr>
            <a:r>
              <a:t>MedSpecialty AI Pipeline</a:t>
            </a:r>
          </a:p>
          <a:p>
            <a:pPr>
              <a:spcBef>
                <a:spcPts val="1200"/>
              </a:spcBef>
            </a:pPr>
            <a:r>
              <a:rPr b="1" sz="1200">
                <a:solidFill>
                  <a:srgbClr val="06B6D4"/>
                </a:solidFill>
              </a:rPr>
              <a:t>▪ Curated 8-Class Benchmark
</a:t>
            </a:r>
            <a:r>
              <a:rPr sz="1050">
                <a:solidFill>
                  <a:srgbClr val="CBD5E1"/>
                </a:solidFill>
              </a:rPr>
              <a:t>1,663 records resolving administrative ambiguity</a:t>
            </a:r>
          </a:p>
          <a:p>
            <a:pPr>
              <a:spcBef>
                <a:spcPts val="1200"/>
              </a:spcBef>
            </a:pPr>
            <a:r>
              <a:rPr b="1" sz="1200">
                <a:solidFill>
                  <a:srgbClr val="06B6D4"/>
                </a:solidFill>
              </a:rPr>
              <a:t>▪ Sublinear TF-IDF (8k terms)
</a:t>
            </a:r>
            <a:r>
              <a:rPr sz="1050">
                <a:solidFill>
                  <a:srgbClr val="CBD5E1"/>
                </a:solidFill>
              </a:rPr>
              <a:t>Logarithmic scaling w = 1 + log(TF) &amp; bi-grams</a:t>
            </a:r>
          </a:p>
          <a:p>
            <a:pPr>
              <a:spcBef>
                <a:spcPts val="1200"/>
              </a:spcBef>
            </a:pPr>
            <a:r>
              <a:rPr b="1" sz="1200">
                <a:solidFill>
                  <a:srgbClr val="06B6D4"/>
                </a:solidFill>
              </a:rPr>
              <a:t>▪ Soft Voting Ensemble
</a:t>
            </a:r>
            <a:r>
              <a:rPr sz="1050">
                <a:solidFill>
                  <a:srgbClr val="CBD5E1"/>
                </a:solidFill>
              </a:rPr>
              <a:t>Weights [2:2:1:1] combining SVM, LR, RF, &amp; MNB</a:t>
            </a:r>
          </a:p>
          <a:p>
            <a:pPr>
              <a:spcBef>
                <a:spcPts val="1200"/>
              </a:spcBef>
            </a:pPr>
            <a:r>
              <a:rPr b="1" sz="1200">
                <a:solidFill>
                  <a:srgbClr val="06B6D4"/>
                </a:solidFill>
              </a:rPr>
              <a:t>▪ Open-Set Rejection (τ = 0.48)
</a:t>
            </a:r>
            <a:r>
              <a:rPr sz="1050">
                <a:solidFill>
                  <a:srgbClr val="CBD5E1"/>
                </a:solidFill>
              </a:rPr>
              <a:t>Safety gate routing uncertain notes to human review</a:t>
            </a:r>
          </a:p>
        </p:txBody>
      </p:sp>
      <p:sp>
        <p:nvSpPr>
          <p:cNvPr id="11" name="Rounded Rectangle 10"/>
          <p:cNvSpPr/>
          <p:nvPr/>
        </p:nvSpPr>
        <p:spPr>
          <a:xfrm>
            <a:off x="4370832" y="1371600"/>
            <a:ext cx="3438144"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56448" y="1353312"/>
            <a:ext cx="347472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10B981"/>
                </a:solidFill>
                <a:latin typeface="Calibri"/>
              </a:defRPr>
            </a:pPr>
            <a:r>
              <a:t>3. SYSTEM DELIVERABLES</a:t>
            </a:r>
          </a:p>
          <a:p>
            <a:pPr>
              <a:spcBef>
                <a:spcPts val="400"/>
              </a:spcBef>
              <a:defRPr sz="1700" b="1">
                <a:solidFill>
                  <a:srgbClr val="FFFFFF"/>
                </a:solidFill>
                <a:latin typeface="Cambria"/>
              </a:defRPr>
            </a:pPr>
            <a:r>
              <a:t>Production Web Platform</a:t>
            </a:r>
          </a:p>
          <a:p>
            <a:pPr>
              <a:spcBef>
                <a:spcPts val="1200"/>
              </a:spcBef>
            </a:pPr>
            <a:r>
              <a:rPr b="1" sz="1200">
                <a:solidFill>
                  <a:srgbClr val="10B981"/>
                </a:solidFill>
              </a:rPr>
              <a:t>▪ 88.59% Peak Accuracy
</a:t>
            </a:r>
            <a:r>
              <a:rPr sz="1050">
                <a:solidFill>
                  <a:srgbClr val="CBD5E1"/>
                </a:solidFill>
              </a:rPr>
              <a:t>SVM 88.59% (0.8971 F1); Ensemble 87.99% (0.8898 F1)</a:t>
            </a:r>
          </a:p>
          <a:p>
            <a:pPr>
              <a:spcBef>
                <a:spcPts val="1200"/>
              </a:spcBef>
            </a:pPr>
            <a:r>
              <a:rPr b="1" sz="1200">
                <a:solidFill>
                  <a:srgbClr val="10B981"/>
                </a:solidFill>
              </a:rPr>
              <a:t>▪ 9.20 ms Turnaround
</a:t>
            </a:r>
            <a:r>
              <a:rPr sz="1050">
                <a:solidFill>
                  <a:srgbClr val="CBD5E1"/>
                </a:solidFill>
              </a:rPr>
              <a:t>Sub-10ms CPU latency (&gt;100 TPS without GPU)</a:t>
            </a:r>
          </a:p>
          <a:p>
            <a:pPr>
              <a:spcBef>
                <a:spcPts val="1200"/>
              </a:spcBef>
            </a:pPr>
            <a:r>
              <a:rPr b="1" sz="1200">
                <a:solidFill>
                  <a:srgbClr val="10B981"/>
                </a:solidFill>
              </a:rPr>
              <a:t>▪ In-Memory PDF Extraction
</a:t>
            </a:r>
            <a:r>
              <a:rPr sz="1050">
                <a:solidFill>
                  <a:srgbClr val="CBD5E1"/>
                </a:solidFill>
              </a:rPr>
              <a:t>PyMuPDF parsing in 3.85ms with zero disk caching</a:t>
            </a:r>
          </a:p>
          <a:p>
            <a:pPr>
              <a:spcBef>
                <a:spcPts val="1200"/>
              </a:spcBef>
            </a:pPr>
            <a:r>
              <a:rPr b="1" sz="1200">
                <a:solidFill>
                  <a:srgbClr val="10B981"/>
                </a:solidFill>
              </a:rPr>
              <a:t>▪ Interactive 4-Screen UI
</a:t>
            </a:r>
            <a:r>
              <a:rPr sz="1050">
                <a:solidFill>
                  <a:srgbClr val="CBD5E1"/>
                </a:solidFill>
              </a:rPr>
              <a:t>Flask web dashboard with clinical explainability</a:t>
            </a:r>
          </a:p>
        </p:txBody>
      </p:sp>
      <p:sp>
        <p:nvSpPr>
          <p:cNvPr id="13" name="Rounded Rectangle 12"/>
          <p:cNvSpPr/>
          <p:nvPr/>
        </p:nvSpPr>
        <p:spPr>
          <a:xfrm>
            <a:off x="8174736" y="1371600"/>
            <a:ext cx="3438144"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PROBLEM DEFINITION &amp; OBJECTIVES</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Clinical Motivation &amp; Formal Research Objectives</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3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E11D48"/>
                </a:solidFill>
                <a:latin typeface="Calibri"/>
              </a:defRPr>
            </a:pPr>
            <a:r>
              <a:t>THE CLINICAL INTAKE CRISIS</a:t>
            </a:r>
          </a:p>
          <a:p>
            <a:pPr>
              <a:spcBef>
                <a:spcPts val="400"/>
              </a:spcBef>
              <a:defRPr sz="1650" b="1">
                <a:solidFill>
                  <a:srgbClr val="0A1A30"/>
                </a:solidFill>
                <a:latin typeface="Cambria"/>
              </a:defRPr>
            </a:pPr>
            <a:r>
              <a:t>Hospital Triage Deficiencies</a:t>
            </a:r>
          </a:p>
          <a:p>
            <a:pPr>
              <a:spcBef>
                <a:spcPts val="1200"/>
              </a:spcBef>
            </a:pPr>
            <a:r>
              <a:rPr b="1" sz="1200">
                <a:solidFill>
                  <a:srgbClr val="0A1A30"/>
                </a:solidFill>
              </a:rPr>
              <a:t>▪ Unstandardized Narrative Text
</a:t>
            </a:r>
            <a:r>
              <a:rPr sz="1050">
                <a:solidFill>
                  <a:srgbClr val="1E293B"/>
                </a:solidFill>
              </a:rPr>
              <a:t>Physicians use varying acronyms, abbreviations, and sentence styles.</a:t>
            </a:r>
          </a:p>
          <a:p>
            <a:pPr>
              <a:spcBef>
                <a:spcPts val="1200"/>
              </a:spcBef>
            </a:pPr>
            <a:r>
              <a:rPr b="1" sz="1200">
                <a:solidFill>
                  <a:srgbClr val="0A1A30"/>
                </a:solidFill>
              </a:rPr>
              <a:t>▪ Triage Latency (18–36 Hours)
</a:t>
            </a:r>
            <a:r>
              <a:rPr sz="1050">
                <a:solidFill>
                  <a:srgbClr val="1E293B"/>
                </a:solidFill>
              </a:rPr>
              <a:t>Clerical reading creates serious diagnostic and referral backlogs.</a:t>
            </a:r>
          </a:p>
          <a:p>
            <a:pPr>
              <a:spcBef>
                <a:spcPts val="1200"/>
              </a:spcBef>
            </a:pPr>
            <a:r>
              <a:rPr b="1" sz="1200">
                <a:solidFill>
                  <a:srgbClr val="0A1A30"/>
                </a:solidFill>
              </a:rPr>
              <a:t>▪ Inter-Annotator Disagreement (12–18%)
</a:t>
            </a:r>
            <a:r>
              <a:rPr sz="1050">
                <a:solidFill>
                  <a:srgbClr val="1E293B"/>
                </a:solidFill>
              </a:rPr>
              <a:t>Clerical staff often misinterpret overlapping neuro-orthopedic cases.</a:t>
            </a:r>
          </a:p>
          <a:p>
            <a:pPr>
              <a:spcBef>
                <a:spcPts val="1200"/>
              </a:spcBef>
            </a:pPr>
            <a:r>
              <a:rPr b="1" sz="1200">
                <a:solidFill>
                  <a:srgbClr val="0A1A30"/>
                </a:solidFill>
              </a:rPr>
              <a:t>▪ Closed-World Pitfall of Naive AI
</a:t>
            </a:r>
            <a:r>
              <a:rPr sz="1050">
                <a:solidFill>
                  <a:srgbClr val="1E293B"/>
                </a:solidFill>
              </a:rPr>
              <a:t>Standard ML force-fits dermatology or non-medical notes arbitrarily.</a:t>
            </a:r>
          </a:p>
        </p:txBody>
      </p:sp>
      <p:sp>
        <p:nvSpPr>
          <p:cNvPr id="9" name="Rounded Rectangle 8"/>
          <p:cNvSpPr/>
          <p:nvPr/>
        </p:nvSpPr>
        <p:spPr>
          <a:xfrm>
            <a:off x="566928" y="1371600"/>
            <a:ext cx="5358384"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D9488"/>
                </a:solidFill>
                <a:latin typeface="Calibri"/>
              </a:defRPr>
            </a:pPr>
            <a:r>
              <a:t>PROJECT OBJECTIVES</a:t>
            </a:r>
          </a:p>
          <a:p>
            <a:pPr>
              <a:spcBef>
                <a:spcPts val="400"/>
              </a:spcBef>
              <a:defRPr sz="1650" b="1">
                <a:solidFill>
                  <a:srgbClr val="0A1A30"/>
                </a:solidFill>
                <a:latin typeface="Cambria"/>
              </a:defRPr>
            </a:pPr>
            <a:r>
              <a:t>Formal Research Goals</a:t>
            </a:r>
          </a:p>
          <a:p>
            <a:pPr>
              <a:spcBef>
                <a:spcPts val="1000"/>
              </a:spcBef>
            </a:pPr>
            <a:r>
              <a:rPr b="1" sz="1200">
                <a:solidFill>
                  <a:srgbClr val="0A1A30"/>
                </a:solidFill>
              </a:rPr>
              <a:t>✔ Curate 8-Class Benchmark
</a:t>
            </a:r>
            <a:r>
              <a:rPr sz="1050">
                <a:solidFill>
                  <a:srgbClr val="1E293B"/>
                </a:solidFill>
              </a:rPr>
              <a:t>Eliminate administrative formats; isolate 1,663 pure records.</a:t>
            </a:r>
          </a:p>
          <a:p>
            <a:pPr>
              <a:spcBef>
                <a:spcPts val="1000"/>
              </a:spcBef>
            </a:pPr>
            <a:r>
              <a:rPr b="1" sz="1200">
                <a:solidFill>
                  <a:srgbClr val="0A1A30"/>
                </a:solidFill>
              </a:rPr>
              <a:t>✔ Domain-Optimized TF-IDF NLP
</a:t>
            </a:r>
            <a:r>
              <a:rPr sz="1050">
                <a:solidFill>
                  <a:srgbClr val="1E293B"/>
                </a:solidFill>
              </a:rPr>
              <a:t>Engineer 8,000 sublinear unigram/bigram features ($L_2$ normalized).</a:t>
            </a:r>
          </a:p>
          <a:p>
            <a:pPr>
              <a:spcBef>
                <a:spcPts val="1000"/>
              </a:spcBef>
            </a:pPr>
            <a:r>
              <a:rPr b="1" sz="1200">
                <a:solidFill>
                  <a:srgbClr val="0A1A30"/>
                </a:solidFill>
              </a:rPr>
              <a:t>✔ Calibrated Ensemble Benchmarking
</a:t>
            </a:r>
            <a:r>
              <a:rPr sz="1050">
                <a:solidFill>
                  <a:srgbClr val="1E293B"/>
                </a:solidFill>
              </a:rPr>
              <a:t>Combine SVM, LR, RF, and MNB to exceed 75.0% target accuracy.</a:t>
            </a:r>
          </a:p>
          <a:p>
            <a:pPr>
              <a:spcBef>
                <a:spcPts val="1000"/>
              </a:spcBef>
            </a:pPr>
            <a:r>
              <a:rPr b="1" sz="1200">
                <a:solidFill>
                  <a:srgbClr val="0A1A30"/>
                </a:solidFill>
              </a:rPr>
              <a:t>✔ Open-Set Clinical Safety Gate
</a:t>
            </a:r>
            <a:r>
              <a:rPr sz="1050">
                <a:solidFill>
                  <a:srgbClr val="1E293B"/>
                </a:solidFill>
              </a:rPr>
              <a:t>Formulate threshold $	au = 0.48$ to reject out-of-domain documents.</a:t>
            </a:r>
          </a:p>
          <a:p>
            <a:pPr>
              <a:spcBef>
                <a:spcPts val="1000"/>
              </a:spcBef>
            </a:pPr>
            <a:r>
              <a:rPr b="1" sz="1200">
                <a:solidFill>
                  <a:srgbClr val="0A1A30"/>
                </a:solidFill>
              </a:rPr>
              <a:t>✔ Operational Web Deployment
</a:t>
            </a:r>
            <a:r>
              <a:rPr sz="1050">
                <a:solidFill>
                  <a:srgbClr val="1E293B"/>
                </a:solidFill>
              </a:rPr>
              <a:t>Deploy interactive Flask web application with sub-10ms CPU latency.</a:t>
            </a:r>
          </a:p>
        </p:txBody>
      </p:sp>
      <p:sp>
        <p:nvSpPr>
          <p:cNvPr id="11" name="Rounded Rectangle 10"/>
          <p:cNvSpPr/>
          <p:nvPr/>
        </p:nvSpPr>
        <p:spPr>
          <a:xfrm>
            <a:off x="6236208" y="1371600"/>
            <a:ext cx="5385816"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LITERATURE REVIEW &amp; RESEARCH GAP</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Comparison with Existing Approaches &amp; Identified Gaps</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4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4F46E5"/>
                </a:solidFill>
                <a:latin typeface="Calibri"/>
              </a:defRPr>
            </a:pPr>
            <a:r>
              <a:t>PARADIGM COMPARISON</a:t>
            </a:r>
          </a:p>
          <a:p>
            <a:pPr>
              <a:spcBef>
                <a:spcPts val="400"/>
              </a:spcBef>
              <a:defRPr sz="1650" b="1">
                <a:solidFill>
                  <a:srgbClr val="0A1A30"/>
                </a:solidFill>
                <a:latin typeface="Cambria"/>
              </a:defRPr>
            </a:pPr>
            <a:r>
              <a:t>Existing Approaches vs Ours</a:t>
            </a:r>
          </a:p>
          <a:p>
            <a:pPr>
              <a:spcBef>
                <a:spcPts val="1200"/>
              </a:spcBef>
            </a:pPr>
            <a:r>
              <a:rPr b="1" sz="1200">
                <a:solidFill>
                  <a:srgbClr val="0A1A30"/>
                </a:solidFill>
              </a:rPr>
              <a:t>▪ Rule-Based Regex Systems
</a:t>
            </a:r>
            <a:r>
              <a:rPr sz="1050">
                <a:solidFill>
                  <a:srgbClr val="1E293B"/>
                </a:solidFill>
              </a:rPr>
              <a:t>Brittle; fails on synonym variations; high manual maintenance.</a:t>
            </a:r>
          </a:p>
          <a:p>
            <a:pPr>
              <a:spcBef>
                <a:spcPts val="1200"/>
              </a:spcBef>
            </a:pPr>
            <a:r>
              <a:rPr b="1" sz="1200">
                <a:solidFill>
                  <a:srgbClr val="0A1A30"/>
                </a:solidFill>
              </a:rPr>
              <a:t>▪ Heavy Transformers (BioBERT)
</a:t>
            </a:r>
            <a:r>
              <a:rPr sz="1050">
                <a:solidFill>
                  <a:srgbClr val="1E293B"/>
                </a:solidFill>
              </a:rPr>
              <a:t>Accurate but requires 4–8GB GPU VRAM, &gt;150ms latency, black-box.</a:t>
            </a:r>
          </a:p>
          <a:p>
            <a:pPr>
              <a:spcBef>
                <a:spcPts val="1200"/>
              </a:spcBef>
            </a:pPr>
            <a:r>
              <a:rPr b="1" sz="1200">
                <a:solidFill>
                  <a:srgbClr val="0A1A30"/>
                </a:solidFill>
              </a:rPr>
              <a:t>▪ Standard Bag-of-Words ML
</a:t>
            </a:r>
            <a:r>
              <a:rPr sz="1050">
                <a:solidFill>
                  <a:srgbClr val="1E293B"/>
                </a:solidFill>
              </a:rPr>
              <a:t>Suffers frequency explosion and unconstrained vocabulary collapse.</a:t>
            </a:r>
          </a:p>
          <a:p>
            <a:pPr>
              <a:spcBef>
                <a:spcPts val="1200"/>
              </a:spcBef>
            </a:pPr>
            <a:r>
              <a:rPr b="1" sz="1200">
                <a:solidFill>
                  <a:srgbClr val="0A1A30"/>
                </a:solidFill>
              </a:rPr>
              <a:t>▪ MedSpecialty AI (Proposed)
</a:t>
            </a:r>
            <a:r>
              <a:rPr sz="1050">
                <a:solidFill>
                  <a:srgbClr val="1E293B"/>
                </a:solidFill>
              </a:rPr>
              <a:t>Sublinear TF-IDF + Ensemble: &lt;145MB RAM, &lt;10ms CPU latency, 88.59% accuracy, explainable.</a:t>
            </a:r>
          </a:p>
        </p:txBody>
      </p:sp>
      <p:sp>
        <p:nvSpPr>
          <p:cNvPr id="9" name="Rounded Rectangle 8"/>
          <p:cNvSpPr/>
          <p:nvPr/>
        </p:nvSpPr>
        <p:spPr>
          <a:xfrm>
            <a:off x="566928" y="1371600"/>
            <a:ext cx="5358384" cy="54864"/>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D97706"/>
                </a:solidFill>
                <a:latin typeface="Calibri"/>
              </a:defRPr>
            </a:pPr>
            <a:r>
              <a:t>IDENTIFIED RESEARCH GAPS</a:t>
            </a:r>
          </a:p>
          <a:p>
            <a:pPr>
              <a:spcBef>
                <a:spcPts val="400"/>
              </a:spcBef>
              <a:defRPr sz="1650" b="1">
                <a:solidFill>
                  <a:srgbClr val="0A1A30"/>
                </a:solidFill>
                <a:latin typeface="Cambria"/>
              </a:defRPr>
            </a:pPr>
            <a:r>
              <a:t>Limitations in Prior Work</a:t>
            </a:r>
          </a:p>
          <a:p>
            <a:pPr>
              <a:spcBef>
                <a:spcPts val="1200"/>
              </a:spcBef>
            </a:pPr>
            <a:r>
              <a:rPr b="1" sz="1200">
                <a:solidFill>
                  <a:srgbClr val="0A1A30"/>
                </a:solidFill>
              </a:rPr>
              <a:t>⚠ Neglect of Open-World Safety
</a:t>
            </a:r>
            <a:r>
              <a:rPr sz="1050">
                <a:solidFill>
                  <a:srgbClr val="1E293B"/>
                </a:solidFill>
              </a:rPr>
              <a:t>Existing models lack confidence rejection for out-of-scope notes.</a:t>
            </a:r>
          </a:p>
          <a:p>
            <a:pPr>
              <a:spcBef>
                <a:spcPts val="1200"/>
              </a:spcBef>
            </a:pPr>
            <a:r>
              <a:rPr b="1" sz="1200">
                <a:solidFill>
                  <a:srgbClr val="0A1A30"/>
                </a:solidFill>
              </a:rPr>
              <a:t>⚠ GPU Dependency Barrier
</a:t>
            </a:r>
            <a:r>
              <a:rPr sz="1050">
                <a:solidFill>
                  <a:srgbClr val="1E293B"/>
                </a:solidFill>
              </a:rPr>
              <a:t>Deep learning models cannot execute on standard hospital workstations.</a:t>
            </a:r>
          </a:p>
          <a:p>
            <a:pPr>
              <a:spcBef>
                <a:spcPts val="1200"/>
              </a:spcBef>
            </a:pPr>
            <a:r>
              <a:rPr b="1" sz="1200">
                <a:solidFill>
                  <a:srgbClr val="0A1A30"/>
                </a:solidFill>
              </a:rPr>
              <a:t>⚠ Benchmark Contamination
</a:t>
            </a:r>
            <a:r>
              <a:rPr sz="1050">
                <a:solidFill>
                  <a:srgbClr val="1E293B"/>
                </a:solidFill>
              </a:rPr>
              <a:t>Public datasets include administrative formats as clinical classes.</a:t>
            </a:r>
          </a:p>
          <a:p>
            <a:pPr>
              <a:spcBef>
                <a:spcPts val="1200"/>
              </a:spcBef>
            </a:pPr>
            <a:r>
              <a:rPr b="1" sz="1200">
                <a:solidFill>
                  <a:srgbClr val="0A1A30"/>
                </a:solidFill>
              </a:rPr>
              <a:t>⚠ Absence of Clinician UI
</a:t>
            </a:r>
            <a:r>
              <a:rPr sz="1050">
                <a:solidFill>
                  <a:srgbClr val="1E293B"/>
                </a:solidFill>
              </a:rPr>
              <a:t>Prior academic works end at scripts without interactive web interfaces.</a:t>
            </a:r>
          </a:p>
        </p:txBody>
      </p:sp>
      <p:sp>
        <p:nvSpPr>
          <p:cNvPr id="11" name="Rounded Rectangle 10"/>
          <p:cNvSpPr/>
          <p:nvPr/>
        </p:nvSpPr>
        <p:spPr>
          <a:xfrm>
            <a:off x="6236208" y="1371600"/>
            <a:ext cx="5385816"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DATASET ARCHITECTURE &amp; EXPLORATORY PROFILING</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The MTSamples Corpus: Architecture, Imbalance &amp; Ambiguity</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5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D9488"/>
                </a:solidFill>
                <a:latin typeface="Calibri"/>
              </a:defRPr>
            </a:pPr>
            <a:r>
              <a:t>RAW DATASET CHARACTERISTICS</a:t>
            </a:r>
          </a:p>
          <a:p>
            <a:pPr>
              <a:spcBef>
                <a:spcPts val="400"/>
              </a:spcBef>
              <a:defRPr sz="1650" b="1">
                <a:solidFill>
                  <a:srgbClr val="0A1A30"/>
                </a:solidFill>
                <a:latin typeface="Cambria"/>
              </a:defRPr>
            </a:pPr>
            <a:r>
              <a:t>MTSamples Corpus Overview</a:t>
            </a:r>
          </a:p>
          <a:p>
            <a:pPr>
              <a:spcBef>
                <a:spcPts val="1200"/>
              </a:spcBef>
            </a:pPr>
            <a:r>
              <a:rPr b="1" sz="1200">
                <a:solidFill>
                  <a:srgbClr val="0A1A30"/>
                </a:solidFill>
              </a:rPr>
              <a:t>▪ 4,999 Raw Transcriptions
</a:t>
            </a:r>
            <a:r>
              <a:rPr sz="1050">
                <a:solidFill>
                  <a:srgbClr val="1E293B"/>
                </a:solidFill>
              </a:rPr>
              <a:t>Real-world hospital clinical records from diverse specialties.</a:t>
            </a:r>
          </a:p>
          <a:p>
            <a:pPr>
              <a:spcBef>
                <a:spcPts val="1200"/>
              </a:spcBef>
            </a:pPr>
            <a:r>
              <a:rPr b="1" sz="1200">
                <a:solidFill>
                  <a:srgbClr val="0A1A30"/>
                </a:solidFill>
              </a:rPr>
              <a:t>▪ 40 Initial Categories
</a:t>
            </a:r>
            <a:r>
              <a:rPr sz="1050">
                <a:solidFill>
                  <a:srgbClr val="1E293B"/>
                </a:solidFill>
              </a:rPr>
              <a:t>Extreme mix of procedural, departmental, and administrative tags.</a:t>
            </a:r>
          </a:p>
          <a:p>
            <a:pPr>
              <a:spcBef>
                <a:spcPts val="1200"/>
              </a:spcBef>
            </a:pPr>
            <a:r>
              <a:rPr b="1" sz="1200">
                <a:solidFill>
                  <a:srgbClr val="0A1A30"/>
                </a:solidFill>
              </a:rPr>
              <a:t>▪ 33 Null Transcriptions Dropped
</a:t>
            </a:r>
            <a:r>
              <a:rPr sz="1050">
                <a:solidFill>
                  <a:srgbClr val="1E293B"/>
                </a:solidFill>
              </a:rPr>
              <a:t>Cleaned to 4,966 records during Phase 1 exploratory audit.</a:t>
            </a:r>
          </a:p>
          <a:p>
            <a:pPr>
              <a:spcBef>
                <a:spcPts val="1200"/>
              </a:spcBef>
            </a:pPr>
            <a:r>
              <a:rPr b="1" sz="1200">
                <a:solidFill>
                  <a:srgbClr val="0A1A30"/>
                </a:solidFill>
              </a:rPr>
              <a:t>▪ High Length Variance
</a:t>
            </a:r>
            <a:r>
              <a:rPr sz="1050">
                <a:solidFill>
                  <a:srgbClr val="1E293B"/>
                </a:solidFill>
              </a:rPr>
              <a:t>Narratives range widely from 50 to 2,500 words per document.</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E11D48"/>
                </a:solidFill>
                <a:latin typeface="Calibri"/>
              </a:defRPr>
            </a:pPr>
            <a:r>
              <a:t>EXPLORATORY DATA AUDIT</a:t>
            </a:r>
          </a:p>
          <a:p>
            <a:pPr>
              <a:spcBef>
                <a:spcPts val="400"/>
              </a:spcBef>
              <a:defRPr sz="1650" b="1">
                <a:solidFill>
                  <a:srgbClr val="0A1A30"/>
                </a:solidFill>
                <a:latin typeface="Cambria"/>
              </a:defRPr>
            </a:pPr>
            <a:r>
              <a:t>Two Critical Failure Modes</a:t>
            </a:r>
          </a:p>
          <a:p>
            <a:pPr>
              <a:spcBef>
                <a:spcPts val="1200"/>
              </a:spcBef>
            </a:pPr>
            <a:r>
              <a:rPr b="1" sz="1200">
                <a:solidFill>
                  <a:srgbClr val="0A1A30"/>
                </a:solidFill>
              </a:rPr>
              <a:t>⚠ Severe Class Imbalance (180:1)
</a:t>
            </a:r>
            <a:r>
              <a:rPr sz="1050">
                <a:solidFill>
                  <a:srgbClr val="1E293B"/>
                </a:solidFill>
              </a:rPr>
              <a:t>Surgery had 1,088 notes; Hospice had &lt;10 notes. Baseline collapsed.</a:t>
            </a:r>
          </a:p>
          <a:p>
            <a:pPr>
              <a:spcBef>
                <a:spcPts val="1200"/>
              </a:spcBef>
            </a:pPr>
            <a:r>
              <a:rPr b="1" sz="1200">
                <a:solidFill>
                  <a:srgbClr val="0A1A30"/>
                </a:solidFill>
              </a:rPr>
              <a:t>⚠ Procedural Ambiguity
</a:t>
            </a:r>
            <a:r>
              <a:rPr sz="1050">
                <a:solidFill>
                  <a:srgbClr val="1E293B"/>
                </a:solidFill>
              </a:rPr>
              <a:t>'Surgery' is a document type! Heart surgery was tagged 'Surgery', not Cardiology.</a:t>
            </a:r>
          </a:p>
          <a:p>
            <a:pPr>
              <a:spcBef>
                <a:spcPts val="1200"/>
              </a:spcBef>
            </a:pPr>
            <a:r>
              <a:rPr b="1" sz="1200">
                <a:solidFill>
                  <a:srgbClr val="0A1A30"/>
                </a:solidFill>
              </a:rPr>
              <a:t>⚠ Unconstrained RF Collapse (7.85%)
</a:t>
            </a:r>
            <a:r>
              <a:rPr sz="1050">
                <a:solidFill>
                  <a:srgbClr val="1E293B"/>
                </a:solidFill>
              </a:rPr>
              <a:t>310,298 unpruned features caused decision trees to overfit noise.</a:t>
            </a:r>
          </a:p>
          <a:p>
            <a:pPr>
              <a:spcBef>
                <a:spcPts val="1200"/>
              </a:spcBef>
            </a:pPr>
            <a:r>
              <a:rPr b="1" sz="1200">
                <a:solidFill>
                  <a:srgbClr val="0A1A30"/>
                </a:solidFill>
              </a:rPr>
              <a:t>⚠ Cross-Departmental Contamination
</a:t>
            </a:r>
            <a:r>
              <a:rPr sz="1050">
                <a:solidFill>
                  <a:srgbClr val="1E293B"/>
                </a:solidFill>
              </a:rPr>
              <a:t>Generic surgical terms ('incision', 'tolerated') masked diagnostic tokens.</a:t>
            </a:r>
          </a:p>
        </p:txBody>
      </p:sp>
      <p:sp>
        <p:nvSpPr>
          <p:cNvPr id="11" name="Rounded Rectangle 10"/>
          <p:cNvSpPr/>
          <p:nvPr/>
        </p:nvSpPr>
        <p:spPr>
          <a:xfrm>
            <a:off x="6236208" y="1371600"/>
            <a:ext cx="5385816"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DATASET REFINEMENT &amp; BENCHMARK FORMULATION</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The Curated 8-Specialty Clinical Department Benchmark</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6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D9488"/>
                </a:solidFill>
                <a:latin typeface="Calibri"/>
              </a:defRPr>
            </a:pPr>
            <a:r>
              <a:t>REFINEMENT STRATEGY</a:t>
            </a:r>
          </a:p>
          <a:p>
            <a:pPr>
              <a:spcBef>
                <a:spcPts val="400"/>
              </a:spcBef>
              <a:defRPr sz="1650" b="1">
                <a:solidFill>
                  <a:srgbClr val="0A1A30"/>
                </a:solidFill>
                <a:latin typeface="Cambria"/>
              </a:defRPr>
            </a:pPr>
            <a:r>
              <a:t>Scientific Benchmark Selection</a:t>
            </a:r>
          </a:p>
          <a:p>
            <a:pPr>
              <a:spcBef>
                <a:spcPts val="1200"/>
              </a:spcBef>
            </a:pPr>
            <a:r>
              <a:rPr b="1" sz="1200">
                <a:solidFill>
                  <a:srgbClr val="0A1A30"/>
                </a:solidFill>
              </a:rPr>
              <a:t>✔ Eliminated Administrative Tags
</a:t>
            </a:r>
            <a:r>
              <a:rPr sz="1050">
                <a:solidFill>
                  <a:srgbClr val="1E293B"/>
                </a:solidFill>
              </a:rPr>
              <a:t>Removed 'Surgery' &amp; 'Consult' to eliminate multi-department contamination.</a:t>
            </a:r>
          </a:p>
          <a:p>
            <a:pPr>
              <a:spcBef>
                <a:spcPts val="1200"/>
              </a:spcBef>
            </a:pPr>
            <a:r>
              <a:rPr b="1" sz="1200">
                <a:solidFill>
                  <a:srgbClr val="0A1A30"/>
                </a:solidFill>
              </a:rPr>
              <a:t>✔ Pruned Sparse Micro-Classes
</a:t>
            </a:r>
            <a:r>
              <a:rPr sz="1050">
                <a:solidFill>
                  <a:srgbClr val="1E293B"/>
                </a:solidFill>
              </a:rPr>
              <a:t>Excluded categories with &lt;50 records lacking statistical sample support.</a:t>
            </a:r>
          </a:p>
          <a:p>
            <a:pPr>
              <a:spcBef>
                <a:spcPts val="1200"/>
              </a:spcBef>
            </a:pPr>
            <a:r>
              <a:rPr b="1" sz="1200">
                <a:solidFill>
                  <a:srgbClr val="0A1A30"/>
                </a:solidFill>
              </a:rPr>
              <a:t>✔ Retained 8 Hospital Specialties
</a:t>
            </a:r>
            <a:r>
              <a:rPr sz="1050">
                <a:solidFill>
                  <a:srgbClr val="1E293B"/>
                </a:solidFill>
              </a:rPr>
              <a:t>Focused on distinct clinical domains: Cardiology, Ortho, Gastro, Neuro, etc.</a:t>
            </a:r>
          </a:p>
          <a:p>
            <a:pPr>
              <a:spcBef>
                <a:spcPts val="1200"/>
              </a:spcBef>
            </a:pPr>
            <a:r>
              <a:rPr b="1" sz="1200">
                <a:solidFill>
                  <a:srgbClr val="0A1A30"/>
                </a:solidFill>
              </a:rPr>
              <a:t>✔ Stratified 80/20 Partitioning
</a:t>
            </a:r>
            <a:r>
              <a:rPr sz="1050">
                <a:solidFill>
                  <a:srgbClr val="1E293B"/>
                </a:solidFill>
              </a:rPr>
              <a:t>1,330 Train / 333 Test preserving exact class proportions.</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200" b="1">
                <a:solidFill>
                  <a:srgbClr val="2563EB"/>
                </a:solidFill>
                <a:latin typeface="Calibri"/>
              </a:defRPr>
            </a:pPr>
            <a:r>
              <a:t>8-SPECIALTY CLASS DISTRIBUTION</a:t>
            </a:r>
          </a:p>
          <a:p>
            <a:pPr>
              <a:spcBef>
                <a:spcPts val="400"/>
              </a:spcBef>
              <a:defRPr sz="1650" b="1">
                <a:solidFill>
                  <a:srgbClr val="0A1A30"/>
                </a:solidFill>
                <a:latin typeface="Cambria"/>
              </a:defRPr>
            </a:pPr>
            <a:r>
              <a:t>Benchmark Distribution (N = 1,663 Records)</a:t>
            </a:r>
          </a:p>
        </p:txBody>
      </p:sp>
      <p:sp>
        <p:nvSpPr>
          <p:cNvPr id="11" name="Rounded Rectangle 10"/>
          <p:cNvSpPr/>
          <p:nvPr/>
        </p:nvSpPr>
        <p:spPr>
          <a:xfrm>
            <a:off x="6236208" y="1371600"/>
            <a:ext cx="538581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6355080" y="2148840"/>
          <a:ext cx="5148072" cy="3886200"/>
        </p:xfrm>
        <a:graphic>
          <a:graphicData uri="http://schemas.openxmlformats.org/drawingml/2006/table">
            <a:tbl>
              <a:tblPr firstRow="1" bandRow="1">
                <a:tableStyleId>{5C22544A-7EE6-4342-B048-85BDC9FD1C3A}</a:tableStyleId>
              </a:tblPr>
              <a:tblGrid>
                <a:gridCol w="2423160"/>
                <a:gridCol w="868680"/>
                <a:gridCol w="868680"/>
                <a:gridCol w="987552"/>
              </a:tblGrid>
              <a:tr h="431800">
                <a:tc>
                  <a:txBody>
                    <a:bodyPr/>
                    <a:lstStyle/>
                    <a:p>
                      <a:pPr algn="l">
                        <a:defRPr sz="1000" b="1">
                          <a:solidFill>
                            <a:srgbClr val="FFFFFF"/>
                          </a:solidFill>
                          <a:latin typeface="Calibri"/>
                        </a:defRPr>
                      </a:pPr>
                      <a:r>
                        <a:t>Clinical Specialty</a:t>
                      </a:r>
                    </a:p>
                  </a:txBody>
                  <a:tcPr>
                    <a:solidFill>
                      <a:srgbClr val="0A1A30"/>
                    </a:solidFill>
                  </a:tcPr>
                </a:tc>
                <a:tc>
                  <a:txBody>
                    <a:bodyPr/>
                    <a:lstStyle/>
                    <a:p>
                      <a:pPr algn="ctr">
                        <a:defRPr sz="1000" b="1">
                          <a:solidFill>
                            <a:srgbClr val="FFFFFF"/>
                          </a:solidFill>
                          <a:latin typeface="Calibri"/>
                        </a:defRPr>
                      </a:pPr>
                      <a:r>
                        <a:t>Total</a:t>
                      </a:r>
                    </a:p>
                  </a:txBody>
                  <a:tcPr>
                    <a:solidFill>
                      <a:srgbClr val="0A1A30"/>
                    </a:solidFill>
                  </a:tcPr>
                </a:tc>
                <a:tc>
                  <a:txBody>
                    <a:bodyPr/>
                    <a:lstStyle/>
                    <a:p>
                      <a:pPr algn="ctr">
                        <a:defRPr sz="1000" b="1">
                          <a:solidFill>
                            <a:srgbClr val="FFFFFF"/>
                          </a:solidFill>
                          <a:latin typeface="Calibri"/>
                        </a:defRPr>
                      </a:pPr>
                      <a:r>
                        <a:t>Train (80%)</a:t>
                      </a:r>
                    </a:p>
                  </a:txBody>
                  <a:tcPr>
                    <a:solidFill>
                      <a:srgbClr val="0A1A30"/>
                    </a:solidFill>
                  </a:tcPr>
                </a:tc>
                <a:tc>
                  <a:txBody>
                    <a:bodyPr/>
                    <a:lstStyle/>
                    <a:p>
                      <a:pPr algn="ctr">
                        <a:defRPr sz="1000" b="1">
                          <a:solidFill>
                            <a:srgbClr val="FFFFFF"/>
                          </a:solidFill>
                          <a:latin typeface="Calibri"/>
                        </a:defRPr>
                      </a:pPr>
                      <a:r>
                        <a:t>Test (20%)</a:t>
                      </a:r>
                    </a:p>
                  </a:txBody>
                  <a:tcPr>
                    <a:solidFill>
                      <a:srgbClr val="0A1A30"/>
                    </a:solidFill>
                  </a:tcPr>
                </a:tc>
              </a:tr>
              <a:tr h="431800">
                <a:tc>
                  <a:txBody>
                    <a:bodyPr/>
                    <a:lstStyle/>
                    <a:p>
                      <a:pPr algn="l">
                        <a:defRPr sz="950" b="1">
                          <a:solidFill>
                            <a:srgbClr val="1E293B"/>
                          </a:solidFill>
                          <a:latin typeface="Calibri"/>
                        </a:defRPr>
                      </a:pPr>
                      <a:r>
                        <a:t>Cardiovascular / Pulmonary</a:t>
                      </a:r>
                    </a:p>
                  </a:txBody>
                  <a:tcPr>
                    <a:solidFill>
                      <a:srgbClr val="FFFFFF"/>
                    </a:solidFill>
                  </a:tcPr>
                </a:tc>
                <a:tc>
                  <a:txBody>
                    <a:bodyPr/>
                    <a:lstStyle/>
                    <a:p>
                      <a:pPr algn="ctr">
                        <a:defRPr sz="950">
                          <a:solidFill>
                            <a:srgbClr val="1E293B"/>
                          </a:solidFill>
                          <a:latin typeface="Calibri"/>
                        </a:defRPr>
                      </a:pPr>
                      <a:r>
                        <a:t>371</a:t>
                      </a:r>
                    </a:p>
                  </a:txBody>
                  <a:tcPr>
                    <a:solidFill>
                      <a:srgbClr val="FFFFFF"/>
                    </a:solidFill>
                  </a:tcPr>
                </a:tc>
                <a:tc>
                  <a:txBody>
                    <a:bodyPr/>
                    <a:lstStyle/>
                    <a:p>
                      <a:pPr algn="ctr">
                        <a:defRPr sz="950">
                          <a:solidFill>
                            <a:srgbClr val="1E293B"/>
                          </a:solidFill>
                          <a:latin typeface="Calibri"/>
                        </a:defRPr>
                      </a:pPr>
                      <a:r>
                        <a:t>297</a:t>
                      </a:r>
                    </a:p>
                  </a:txBody>
                  <a:tcPr>
                    <a:solidFill>
                      <a:srgbClr val="FFFFFF"/>
                    </a:solidFill>
                  </a:tcPr>
                </a:tc>
                <a:tc>
                  <a:txBody>
                    <a:bodyPr/>
                    <a:lstStyle/>
                    <a:p>
                      <a:pPr algn="ctr">
                        <a:defRPr sz="950">
                          <a:solidFill>
                            <a:srgbClr val="1E293B"/>
                          </a:solidFill>
                          <a:latin typeface="Calibri"/>
                        </a:defRPr>
                      </a:pPr>
                      <a:r>
                        <a:t>74</a:t>
                      </a:r>
                    </a:p>
                  </a:txBody>
                  <a:tcPr>
                    <a:solidFill>
                      <a:srgbClr val="FFFFFF"/>
                    </a:solidFill>
                  </a:tcPr>
                </a:tc>
              </a:tr>
              <a:tr h="431800">
                <a:tc>
                  <a:txBody>
                    <a:bodyPr/>
                    <a:lstStyle/>
                    <a:p>
                      <a:pPr algn="l">
                        <a:defRPr sz="950" b="1">
                          <a:solidFill>
                            <a:srgbClr val="1E293B"/>
                          </a:solidFill>
                          <a:latin typeface="Calibri"/>
                        </a:defRPr>
                      </a:pPr>
                      <a:r>
                        <a:t>Orthopedic</a:t>
                      </a:r>
                    </a:p>
                  </a:txBody>
                  <a:tcPr>
                    <a:solidFill>
                      <a:srgbClr val="EAF1F8"/>
                    </a:solidFill>
                  </a:tcPr>
                </a:tc>
                <a:tc>
                  <a:txBody>
                    <a:bodyPr/>
                    <a:lstStyle/>
                    <a:p>
                      <a:pPr algn="ctr">
                        <a:defRPr sz="950">
                          <a:solidFill>
                            <a:srgbClr val="1E293B"/>
                          </a:solidFill>
                          <a:latin typeface="Calibri"/>
                        </a:defRPr>
                      </a:pPr>
                      <a:r>
                        <a:t>355</a:t>
                      </a:r>
                    </a:p>
                  </a:txBody>
                  <a:tcPr>
                    <a:solidFill>
                      <a:srgbClr val="EAF1F8"/>
                    </a:solidFill>
                  </a:tcPr>
                </a:tc>
                <a:tc>
                  <a:txBody>
                    <a:bodyPr/>
                    <a:lstStyle/>
                    <a:p>
                      <a:pPr algn="ctr">
                        <a:defRPr sz="950">
                          <a:solidFill>
                            <a:srgbClr val="1E293B"/>
                          </a:solidFill>
                          <a:latin typeface="Calibri"/>
                        </a:defRPr>
                      </a:pPr>
                      <a:r>
                        <a:t>284</a:t>
                      </a:r>
                    </a:p>
                  </a:txBody>
                  <a:tcPr>
                    <a:solidFill>
                      <a:srgbClr val="EAF1F8"/>
                    </a:solidFill>
                  </a:tcPr>
                </a:tc>
                <a:tc>
                  <a:txBody>
                    <a:bodyPr/>
                    <a:lstStyle/>
                    <a:p>
                      <a:pPr algn="ctr">
                        <a:defRPr sz="950">
                          <a:solidFill>
                            <a:srgbClr val="1E293B"/>
                          </a:solidFill>
                          <a:latin typeface="Calibri"/>
                        </a:defRPr>
                      </a:pPr>
                      <a:r>
                        <a:t>71</a:t>
                      </a:r>
                    </a:p>
                  </a:txBody>
                  <a:tcPr>
                    <a:solidFill>
                      <a:srgbClr val="EAF1F8"/>
                    </a:solidFill>
                  </a:tcPr>
                </a:tc>
              </a:tr>
              <a:tr h="431800">
                <a:tc>
                  <a:txBody>
                    <a:bodyPr/>
                    <a:lstStyle/>
                    <a:p>
                      <a:pPr algn="l">
                        <a:defRPr sz="950" b="1">
                          <a:solidFill>
                            <a:srgbClr val="1E293B"/>
                          </a:solidFill>
                          <a:latin typeface="Calibri"/>
                        </a:defRPr>
                      </a:pPr>
                      <a:r>
                        <a:t>Gastroenterology</a:t>
                      </a:r>
                    </a:p>
                  </a:txBody>
                  <a:tcPr>
                    <a:solidFill>
                      <a:srgbClr val="FFFFFF"/>
                    </a:solidFill>
                  </a:tcPr>
                </a:tc>
                <a:tc>
                  <a:txBody>
                    <a:bodyPr/>
                    <a:lstStyle/>
                    <a:p>
                      <a:pPr algn="ctr">
                        <a:defRPr sz="950">
                          <a:solidFill>
                            <a:srgbClr val="1E293B"/>
                          </a:solidFill>
                          <a:latin typeface="Calibri"/>
                        </a:defRPr>
                      </a:pPr>
                      <a:r>
                        <a:t>230</a:t>
                      </a:r>
                    </a:p>
                  </a:txBody>
                  <a:tcPr>
                    <a:solidFill>
                      <a:srgbClr val="FFFFFF"/>
                    </a:solidFill>
                  </a:tcPr>
                </a:tc>
                <a:tc>
                  <a:txBody>
                    <a:bodyPr/>
                    <a:lstStyle/>
                    <a:p>
                      <a:pPr algn="ctr">
                        <a:defRPr sz="950">
                          <a:solidFill>
                            <a:srgbClr val="1E293B"/>
                          </a:solidFill>
                          <a:latin typeface="Calibri"/>
                        </a:defRPr>
                      </a:pPr>
                      <a:r>
                        <a:t>185</a:t>
                      </a:r>
                    </a:p>
                  </a:txBody>
                  <a:tcPr>
                    <a:solidFill>
                      <a:srgbClr val="FFFFFF"/>
                    </a:solidFill>
                  </a:tcPr>
                </a:tc>
                <a:tc>
                  <a:txBody>
                    <a:bodyPr/>
                    <a:lstStyle/>
                    <a:p>
                      <a:pPr algn="ctr">
                        <a:defRPr sz="950">
                          <a:solidFill>
                            <a:srgbClr val="1E293B"/>
                          </a:solidFill>
                          <a:latin typeface="Calibri"/>
                        </a:defRPr>
                      </a:pPr>
                      <a:r>
                        <a:t>45</a:t>
                      </a:r>
                    </a:p>
                  </a:txBody>
                  <a:tcPr>
                    <a:solidFill>
                      <a:srgbClr val="FFFFFF"/>
                    </a:solidFill>
                  </a:tcPr>
                </a:tc>
              </a:tr>
              <a:tr h="431800">
                <a:tc>
                  <a:txBody>
                    <a:bodyPr/>
                    <a:lstStyle/>
                    <a:p>
                      <a:pPr algn="l">
                        <a:defRPr sz="950" b="1">
                          <a:solidFill>
                            <a:srgbClr val="1E293B"/>
                          </a:solidFill>
                          <a:latin typeface="Calibri"/>
                        </a:defRPr>
                      </a:pPr>
                      <a:r>
                        <a:t>Neurology</a:t>
                      </a:r>
                    </a:p>
                  </a:txBody>
                  <a:tcPr>
                    <a:solidFill>
                      <a:srgbClr val="EAF1F8"/>
                    </a:solidFill>
                  </a:tcPr>
                </a:tc>
                <a:tc>
                  <a:txBody>
                    <a:bodyPr/>
                    <a:lstStyle/>
                    <a:p>
                      <a:pPr algn="ctr">
                        <a:defRPr sz="950">
                          <a:solidFill>
                            <a:srgbClr val="1E293B"/>
                          </a:solidFill>
                          <a:latin typeface="Calibri"/>
                        </a:defRPr>
                      </a:pPr>
                      <a:r>
                        <a:t>223</a:t>
                      </a:r>
                    </a:p>
                  </a:txBody>
                  <a:tcPr>
                    <a:solidFill>
                      <a:srgbClr val="EAF1F8"/>
                    </a:solidFill>
                  </a:tcPr>
                </a:tc>
                <a:tc>
                  <a:txBody>
                    <a:bodyPr/>
                    <a:lstStyle/>
                    <a:p>
                      <a:pPr algn="ctr">
                        <a:defRPr sz="950">
                          <a:solidFill>
                            <a:srgbClr val="1E293B"/>
                          </a:solidFill>
                          <a:latin typeface="Calibri"/>
                        </a:defRPr>
                      </a:pPr>
                      <a:r>
                        <a:t>178</a:t>
                      </a:r>
                    </a:p>
                  </a:txBody>
                  <a:tcPr>
                    <a:solidFill>
                      <a:srgbClr val="EAF1F8"/>
                    </a:solidFill>
                  </a:tcPr>
                </a:tc>
                <a:tc>
                  <a:txBody>
                    <a:bodyPr/>
                    <a:lstStyle/>
                    <a:p>
                      <a:pPr algn="ctr">
                        <a:defRPr sz="950">
                          <a:solidFill>
                            <a:srgbClr val="1E293B"/>
                          </a:solidFill>
                          <a:latin typeface="Calibri"/>
                        </a:defRPr>
                      </a:pPr>
                      <a:r>
                        <a:t>45</a:t>
                      </a:r>
                    </a:p>
                  </a:txBody>
                  <a:tcPr>
                    <a:solidFill>
                      <a:srgbClr val="EAF1F8"/>
                    </a:solidFill>
                  </a:tcPr>
                </a:tc>
              </a:tr>
              <a:tr h="431800">
                <a:tc>
                  <a:txBody>
                    <a:bodyPr/>
                    <a:lstStyle/>
                    <a:p>
                      <a:pPr algn="l">
                        <a:defRPr sz="950" b="1">
                          <a:solidFill>
                            <a:srgbClr val="1E293B"/>
                          </a:solidFill>
                          <a:latin typeface="Calibri"/>
                        </a:defRPr>
                      </a:pPr>
                      <a:r>
                        <a:t>Urology</a:t>
                      </a:r>
                    </a:p>
                  </a:txBody>
                  <a:tcPr>
                    <a:solidFill>
                      <a:srgbClr val="FFFFFF"/>
                    </a:solidFill>
                  </a:tcPr>
                </a:tc>
                <a:tc>
                  <a:txBody>
                    <a:bodyPr/>
                    <a:lstStyle/>
                    <a:p>
                      <a:pPr algn="ctr">
                        <a:defRPr sz="950">
                          <a:solidFill>
                            <a:srgbClr val="1E293B"/>
                          </a:solidFill>
                          <a:latin typeface="Calibri"/>
                        </a:defRPr>
                      </a:pPr>
                      <a:r>
                        <a:t>156</a:t>
                      </a:r>
                    </a:p>
                  </a:txBody>
                  <a:tcPr>
                    <a:solidFill>
                      <a:srgbClr val="FFFFFF"/>
                    </a:solidFill>
                  </a:tcPr>
                </a:tc>
                <a:tc>
                  <a:txBody>
                    <a:bodyPr/>
                    <a:lstStyle/>
                    <a:p>
                      <a:pPr algn="ctr">
                        <a:defRPr sz="950">
                          <a:solidFill>
                            <a:srgbClr val="1E293B"/>
                          </a:solidFill>
                          <a:latin typeface="Calibri"/>
                        </a:defRPr>
                      </a:pPr>
                      <a:r>
                        <a:t>125</a:t>
                      </a:r>
                    </a:p>
                  </a:txBody>
                  <a:tcPr>
                    <a:solidFill>
                      <a:srgbClr val="FFFFFF"/>
                    </a:solidFill>
                  </a:tcPr>
                </a:tc>
                <a:tc>
                  <a:txBody>
                    <a:bodyPr/>
                    <a:lstStyle/>
                    <a:p>
                      <a:pPr algn="ctr">
                        <a:defRPr sz="950">
                          <a:solidFill>
                            <a:srgbClr val="1E293B"/>
                          </a:solidFill>
                          <a:latin typeface="Calibri"/>
                        </a:defRPr>
                      </a:pPr>
                      <a:r>
                        <a:t>31</a:t>
                      </a:r>
                    </a:p>
                  </a:txBody>
                  <a:tcPr>
                    <a:solidFill>
                      <a:srgbClr val="FFFFFF"/>
                    </a:solidFill>
                  </a:tcPr>
                </a:tc>
              </a:tr>
              <a:tr h="431800">
                <a:tc>
                  <a:txBody>
                    <a:bodyPr/>
                    <a:lstStyle/>
                    <a:p>
                      <a:pPr algn="l">
                        <a:defRPr sz="950" b="1">
                          <a:solidFill>
                            <a:srgbClr val="1E293B"/>
                          </a:solidFill>
                          <a:latin typeface="Calibri"/>
                        </a:defRPr>
                      </a:pPr>
                      <a:r>
                        <a:t>Obstetrics / Gynecology</a:t>
                      </a:r>
                    </a:p>
                  </a:txBody>
                  <a:tcPr>
                    <a:solidFill>
                      <a:srgbClr val="EAF1F8"/>
                    </a:solidFill>
                  </a:tcPr>
                </a:tc>
                <a:tc>
                  <a:txBody>
                    <a:bodyPr/>
                    <a:lstStyle/>
                    <a:p>
                      <a:pPr algn="ctr">
                        <a:defRPr sz="950">
                          <a:solidFill>
                            <a:srgbClr val="1E293B"/>
                          </a:solidFill>
                          <a:latin typeface="Calibri"/>
                        </a:defRPr>
                      </a:pPr>
                      <a:r>
                        <a:t>155</a:t>
                      </a:r>
                    </a:p>
                  </a:txBody>
                  <a:tcPr>
                    <a:solidFill>
                      <a:srgbClr val="EAF1F8"/>
                    </a:solidFill>
                  </a:tcPr>
                </a:tc>
                <a:tc>
                  <a:txBody>
                    <a:bodyPr/>
                    <a:lstStyle/>
                    <a:p>
                      <a:pPr algn="ctr">
                        <a:defRPr sz="950">
                          <a:solidFill>
                            <a:srgbClr val="1E293B"/>
                          </a:solidFill>
                          <a:latin typeface="Calibri"/>
                        </a:defRPr>
                      </a:pPr>
                      <a:r>
                        <a:t>124</a:t>
                      </a:r>
                    </a:p>
                  </a:txBody>
                  <a:tcPr>
                    <a:solidFill>
                      <a:srgbClr val="EAF1F8"/>
                    </a:solidFill>
                  </a:tcPr>
                </a:tc>
                <a:tc>
                  <a:txBody>
                    <a:bodyPr/>
                    <a:lstStyle/>
                    <a:p>
                      <a:pPr algn="ctr">
                        <a:defRPr sz="950">
                          <a:solidFill>
                            <a:srgbClr val="1E293B"/>
                          </a:solidFill>
                          <a:latin typeface="Calibri"/>
                        </a:defRPr>
                      </a:pPr>
                      <a:r>
                        <a:t>31</a:t>
                      </a:r>
                    </a:p>
                  </a:txBody>
                  <a:tcPr>
                    <a:solidFill>
                      <a:srgbClr val="EAF1F8"/>
                    </a:solidFill>
                  </a:tcPr>
                </a:tc>
              </a:tr>
              <a:tr h="431800">
                <a:tc>
                  <a:txBody>
                    <a:bodyPr/>
                    <a:lstStyle/>
                    <a:p>
                      <a:pPr algn="l">
                        <a:defRPr sz="950" b="1">
                          <a:solidFill>
                            <a:srgbClr val="1E293B"/>
                          </a:solidFill>
                          <a:latin typeface="Calibri"/>
                        </a:defRPr>
                      </a:pPr>
                      <a:r>
                        <a:t>ENT - Otolaryngology</a:t>
                      </a:r>
                    </a:p>
                  </a:txBody>
                  <a:tcPr>
                    <a:solidFill>
                      <a:srgbClr val="FFFFFF"/>
                    </a:solidFill>
                  </a:tcPr>
                </a:tc>
                <a:tc>
                  <a:txBody>
                    <a:bodyPr/>
                    <a:lstStyle/>
                    <a:p>
                      <a:pPr algn="ctr">
                        <a:defRPr sz="950">
                          <a:solidFill>
                            <a:srgbClr val="1E293B"/>
                          </a:solidFill>
                          <a:latin typeface="Calibri"/>
                        </a:defRPr>
                      </a:pPr>
                      <a:r>
                        <a:t>96</a:t>
                      </a:r>
                    </a:p>
                  </a:txBody>
                  <a:tcPr>
                    <a:solidFill>
                      <a:srgbClr val="FFFFFF"/>
                    </a:solidFill>
                  </a:tcPr>
                </a:tc>
                <a:tc>
                  <a:txBody>
                    <a:bodyPr/>
                    <a:lstStyle/>
                    <a:p>
                      <a:pPr algn="ctr">
                        <a:defRPr sz="950">
                          <a:solidFill>
                            <a:srgbClr val="1E293B"/>
                          </a:solidFill>
                          <a:latin typeface="Calibri"/>
                        </a:defRPr>
                      </a:pPr>
                      <a:r>
                        <a:t>77</a:t>
                      </a:r>
                    </a:p>
                  </a:txBody>
                  <a:tcPr>
                    <a:solidFill>
                      <a:srgbClr val="FFFFFF"/>
                    </a:solidFill>
                  </a:tcPr>
                </a:tc>
                <a:tc>
                  <a:txBody>
                    <a:bodyPr/>
                    <a:lstStyle/>
                    <a:p>
                      <a:pPr algn="ctr">
                        <a:defRPr sz="950">
                          <a:solidFill>
                            <a:srgbClr val="1E293B"/>
                          </a:solidFill>
                          <a:latin typeface="Calibri"/>
                        </a:defRPr>
                      </a:pPr>
                      <a:r>
                        <a:t>19</a:t>
                      </a:r>
                    </a:p>
                  </a:txBody>
                  <a:tcPr>
                    <a:solidFill>
                      <a:srgbClr val="FFFFFF"/>
                    </a:solidFill>
                  </a:tcPr>
                </a:tc>
              </a:tr>
              <a:tr h="431800">
                <a:tc>
                  <a:txBody>
                    <a:bodyPr/>
                    <a:lstStyle/>
                    <a:p>
                      <a:pPr algn="l">
                        <a:defRPr sz="950" b="1">
                          <a:solidFill>
                            <a:srgbClr val="1E293B"/>
                          </a:solidFill>
                          <a:latin typeface="Calibri"/>
                        </a:defRPr>
                      </a:pPr>
                      <a:r>
                        <a:t>Ophthalmology</a:t>
                      </a:r>
                    </a:p>
                  </a:txBody>
                  <a:tcPr>
                    <a:solidFill>
                      <a:srgbClr val="EAF1F8"/>
                    </a:solidFill>
                  </a:tcPr>
                </a:tc>
                <a:tc>
                  <a:txBody>
                    <a:bodyPr/>
                    <a:lstStyle/>
                    <a:p>
                      <a:pPr algn="ctr">
                        <a:defRPr sz="950">
                          <a:solidFill>
                            <a:srgbClr val="1E293B"/>
                          </a:solidFill>
                          <a:latin typeface="Calibri"/>
                        </a:defRPr>
                      </a:pPr>
                      <a:r>
                        <a:t>77</a:t>
                      </a:r>
                    </a:p>
                  </a:txBody>
                  <a:tcPr>
                    <a:solidFill>
                      <a:srgbClr val="EAF1F8"/>
                    </a:solidFill>
                  </a:tcPr>
                </a:tc>
                <a:tc>
                  <a:txBody>
                    <a:bodyPr/>
                    <a:lstStyle/>
                    <a:p>
                      <a:pPr algn="ctr">
                        <a:defRPr sz="950">
                          <a:solidFill>
                            <a:srgbClr val="1E293B"/>
                          </a:solidFill>
                          <a:latin typeface="Calibri"/>
                        </a:defRPr>
                      </a:pPr>
                      <a:r>
                        <a:t>60</a:t>
                      </a:r>
                    </a:p>
                  </a:txBody>
                  <a:tcPr>
                    <a:solidFill>
                      <a:srgbClr val="EAF1F8"/>
                    </a:solidFill>
                  </a:tcPr>
                </a:tc>
                <a:tc>
                  <a:txBody>
                    <a:bodyPr/>
                    <a:lstStyle/>
                    <a:p>
                      <a:pPr algn="ctr">
                        <a:defRPr sz="950">
                          <a:solidFill>
                            <a:srgbClr val="1E293B"/>
                          </a:solidFill>
                          <a:latin typeface="Calibri"/>
                        </a:defRPr>
                      </a:pPr>
                      <a:r>
                        <a:t>17</a:t>
                      </a:r>
                    </a:p>
                  </a:txBody>
                  <a:tcPr>
                    <a:solidFill>
                      <a:srgbClr val="EAF1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NLP PREPROCESSING &amp; FEATURE ENGINEERING</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Clinical NLP Normalization &amp; Sublinear TF-IDF Vectorization</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7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D9488"/>
                </a:solidFill>
                <a:latin typeface="Calibri"/>
              </a:defRPr>
            </a:pPr>
            <a:r>
              <a:t>TEXT SANITIZATION PIPELINE</a:t>
            </a:r>
          </a:p>
          <a:p>
            <a:pPr>
              <a:spcBef>
                <a:spcPts val="400"/>
              </a:spcBef>
              <a:defRPr sz="1650" b="1">
                <a:solidFill>
                  <a:srgbClr val="0A1A30"/>
                </a:solidFill>
                <a:latin typeface="Cambria"/>
              </a:defRPr>
            </a:pPr>
            <a:r>
              <a:t>4-Stage Text Cleaning</a:t>
            </a:r>
          </a:p>
          <a:p>
            <a:pPr>
              <a:spcBef>
                <a:spcPts val="1200"/>
              </a:spcBef>
            </a:pPr>
            <a:r>
              <a:rPr b="1" sz="1200">
                <a:solidFill>
                  <a:srgbClr val="0A1A30"/>
                </a:solidFill>
              </a:rPr>
              <a:t>▪ Stage 1: Regex Noise Stripping
</a:t>
            </a:r>
            <a:r>
              <a:rPr sz="1050">
                <a:solidFill>
                  <a:srgbClr val="1E293B"/>
                </a:solidFill>
              </a:rPr>
              <a:t>Applied [^a-zA-Z\\s] to strip numbers, symbols, and formatting artifacts.</a:t>
            </a:r>
          </a:p>
          <a:p>
            <a:pPr>
              <a:spcBef>
                <a:spcPts val="1200"/>
              </a:spcBef>
            </a:pPr>
            <a:r>
              <a:rPr b="1" sz="1200">
                <a:solidFill>
                  <a:srgbClr val="0A1A30"/>
                </a:solidFill>
              </a:rPr>
              <a:t>▪ Stage 2: Contraction Expansion
</a:t>
            </a:r>
            <a:r>
              <a:rPr sz="1050">
                <a:solidFill>
                  <a:srgbClr val="1E293B"/>
                </a:solidFill>
              </a:rPr>
              <a:t>Normalized clinical shorthand (e.g., didn't -&gt; did not, pt's -&gt; patient).</a:t>
            </a:r>
          </a:p>
          <a:p>
            <a:pPr>
              <a:spcBef>
                <a:spcPts val="1200"/>
              </a:spcBef>
            </a:pPr>
            <a:r>
              <a:rPr b="1" sz="1200">
                <a:solidFill>
                  <a:srgbClr val="0A1A30"/>
                </a:solidFill>
              </a:rPr>
              <a:t>▪ Stage 3: Medical Stopword Filtering
</a:t>
            </a:r>
            <a:r>
              <a:rPr sz="1050">
                <a:solidFill>
                  <a:srgbClr val="1E293B"/>
                </a:solidFill>
              </a:rPr>
              <a:t>Customized NLTK stopwords; preserved vital anatomical markers ('bilateral', 'left').</a:t>
            </a:r>
          </a:p>
          <a:p>
            <a:pPr>
              <a:spcBef>
                <a:spcPts val="1200"/>
              </a:spcBef>
            </a:pPr>
            <a:r>
              <a:rPr b="1" sz="1200">
                <a:solidFill>
                  <a:srgbClr val="0A1A30"/>
                </a:solidFill>
              </a:rPr>
              <a:t>▪ Stage 4: Morphological Lemmatization
</a:t>
            </a:r>
            <a:r>
              <a:rPr sz="1050">
                <a:solidFill>
                  <a:srgbClr val="1E293B"/>
                </a:solidFill>
              </a:rPr>
              <a:t>WordNet lemmatizer reduced inflected terms (stenosed -&gt; stenosis) to root.</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2563EB"/>
                </a:solidFill>
                <a:latin typeface="Calibri"/>
              </a:defRPr>
            </a:pPr>
            <a:r>
              <a:t>FEATURE VECTORIZATION</a:t>
            </a:r>
          </a:p>
          <a:p>
            <a:pPr>
              <a:spcBef>
                <a:spcPts val="400"/>
              </a:spcBef>
              <a:defRPr sz="1650" b="1">
                <a:solidFill>
                  <a:srgbClr val="0A1A30"/>
                </a:solidFill>
                <a:latin typeface="Cambria"/>
              </a:defRPr>
            </a:pPr>
            <a:r>
              <a:t>Sublinear TF-IDF Feature Space</a:t>
            </a:r>
          </a:p>
          <a:p>
            <a:pPr>
              <a:spcBef>
                <a:spcPts val="1000"/>
              </a:spcBef>
            </a:pPr>
            <a:r>
              <a:rPr b="1" sz="1200">
                <a:solidFill>
                  <a:srgbClr val="0A1A30"/>
                </a:solidFill>
              </a:rPr>
              <a:t>▪ Sublinear Term Frequency Scaling
</a:t>
            </a:r>
            <a:r>
              <a:rPr sz="1050">
                <a:solidFill>
                  <a:srgbClr val="1E293B"/>
                </a:solidFill>
              </a:rPr>
              <a:t>Logarithmic weighting w = 1 + log(TF) prevents term repetition dominance.</a:t>
            </a:r>
          </a:p>
          <a:p>
            <a:pPr>
              <a:spcBef>
                <a:spcPts val="1000"/>
              </a:spcBef>
            </a:pPr>
            <a:r>
              <a:rPr b="1" sz="1200">
                <a:solidFill>
                  <a:srgbClr val="0A1A30"/>
                </a:solidFill>
              </a:rPr>
              <a:t>▪ Smooth Inverse Document Frequency
</a:t>
            </a:r>
            <a:r>
              <a:rPr sz="1050">
                <a:solidFill>
                  <a:srgbClr val="1E293B"/>
                </a:solidFill>
              </a:rPr>
              <a:t>Downweights hospital-wide common words via log((1+N)/(1+DF)) + 1.</a:t>
            </a:r>
          </a:p>
          <a:p>
            <a:pPr>
              <a:spcBef>
                <a:spcPts val="1000"/>
              </a:spcBef>
            </a:pPr>
            <a:r>
              <a:rPr b="1" sz="1200">
                <a:solidFill>
                  <a:srgbClr val="0A1A30"/>
                </a:solidFill>
              </a:rPr>
              <a:t>▪ N-Gram Range: (1, 2)
</a:t>
            </a:r>
            <a:r>
              <a:rPr sz="1050">
                <a:solidFill>
                  <a:srgbClr val="1E293B"/>
                </a:solidFill>
              </a:rPr>
              <a:t>Captures critical clinical bigrams ('coronary artery', 'visual acuity').</a:t>
            </a:r>
          </a:p>
          <a:p>
            <a:pPr>
              <a:spcBef>
                <a:spcPts val="1000"/>
              </a:spcBef>
            </a:pPr>
            <a:r>
              <a:rPr b="1" sz="1200">
                <a:solidFill>
                  <a:srgbClr val="0A1A30"/>
                </a:solidFill>
              </a:rPr>
              <a:t>▪ Vocabulary Cap: 8,000 Terms
</a:t>
            </a:r>
            <a:r>
              <a:rPr sz="1050">
                <a:solidFill>
                  <a:srgbClr val="1E293B"/>
                </a:solidFill>
              </a:rPr>
              <a:t>Pruned sparse lexical noise from 42,000 terms down to 8,000 features.</a:t>
            </a:r>
          </a:p>
          <a:p>
            <a:pPr>
              <a:spcBef>
                <a:spcPts val="1000"/>
              </a:spcBef>
            </a:pPr>
            <a:r>
              <a:rPr b="1" sz="1200">
                <a:solidFill>
                  <a:srgbClr val="0A1A30"/>
                </a:solidFill>
              </a:rPr>
              <a:t>▪ L2 Hypersphere Normalization
</a:t>
            </a:r>
            <a:r>
              <a:rPr sz="1050">
                <a:solidFill>
                  <a:srgbClr val="1E293B"/>
                </a:solidFill>
              </a:rPr>
              <a:t>Normalizes all document vectors to unit length (||x||_2 = 1).</a:t>
            </a:r>
          </a:p>
        </p:txBody>
      </p:sp>
      <p:sp>
        <p:nvSpPr>
          <p:cNvPr id="11" name="Rounded Rectangle 10"/>
          <p:cNvSpPr/>
          <p:nvPr/>
        </p:nvSpPr>
        <p:spPr>
          <a:xfrm>
            <a:off x="6236208" y="1371600"/>
            <a:ext cx="538581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CANDIDATE MODEL ARCHITECTURES</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Four Complementary Supervised Learning Paradigms</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8 of 20</a:t>
            </a:r>
          </a:p>
        </p:txBody>
      </p:sp>
      <p:sp>
        <p:nvSpPr>
          <p:cNvPr id="8" name="Rounded Rectangle 7"/>
          <p:cNvSpPr/>
          <p:nvPr/>
        </p:nvSpPr>
        <p:spPr>
          <a:xfrm>
            <a:off x="548640" y="1353312"/>
            <a:ext cx="5394960" cy="233172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19456" rIns="219456" tIns="219456"/>
          <a:lstStyle/>
          <a:p>
            <a:pPr algn="ctr">
              <a:defRPr sz="1100" b="1">
                <a:solidFill>
                  <a:srgbClr val="0D9488"/>
                </a:solidFill>
                <a:latin typeface="Calibri"/>
              </a:defRPr>
            </a:pPr>
            <a:r>
              <a:t>1. LINEAR SUPPORT VECTOR MACHINE (SVM)</a:t>
            </a:r>
          </a:p>
          <a:p>
            <a:pPr>
              <a:defRPr sz="1500" b="1">
                <a:solidFill>
                  <a:srgbClr val="0A1A30"/>
                </a:solidFill>
                <a:latin typeface="Cambria"/>
              </a:defRPr>
            </a:pPr>
            <a:r>
              <a:t>Maximum-Margin Hyperplane with Platt Calibration</a:t>
            </a:r>
          </a:p>
          <a:p>
            <a:pPr>
              <a:spcBef>
                <a:spcPts val="400"/>
              </a:spcBef>
            </a:pPr>
            <a:r>
              <a:rPr b="1" sz="1100">
                <a:solidFill>
                  <a:srgbClr val="0A1A30"/>
                </a:solidFill>
              </a:rPr>
              <a:t>▪ Mathematical Objective: </a:t>
            </a:r>
            <a:r>
              <a:rPr sz="1000">
                <a:solidFill>
                  <a:srgbClr val="1E293B"/>
                </a:solidFill>
              </a:rPr>
              <a:t>Maximizes geometric margin: min 1/2 ||w||^2 + C ∑ ξ_i</a:t>
            </a:r>
          </a:p>
          <a:p>
            <a:pPr>
              <a:spcBef>
                <a:spcPts val="400"/>
              </a:spcBef>
            </a:pPr>
            <a:r>
              <a:rPr b="1" sz="1100">
                <a:solidFill>
                  <a:srgbClr val="0A1A30"/>
                </a:solidFill>
              </a:rPr>
              <a:t>▪ Hyperparameters: </a:t>
            </a:r>
            <a:r>
              <a:rPr sz="1000">
                <a:solidFill>
                  <a:srgbClr val="1E293B"/>
                </a:solidFill>
              </a:rPr>
              <a:t>C = 1.0, squared hinge loss, L2 penalty, one-vs-rest multiclass</a:t>
            </a:r>
          </a:p>
          <a:p>
            <a:pPr>
              <a:spcBef>
                <a:spcPts val="400"/>
              </a:spcBef>
            </a:pPr>
            <a:r>
              <a:rPr b="1" sz="1100">
                <a:solidFill>
                  <a:srgbClr val="0A1A30"/>
                </a:solidFill>
              </a:rPr>
              <a:t>▪ Platt Calibration: </a:t>
            </a:r>
            <a:r>
              <a:rPr sz="1000">
                <a:solidFill>
                  <a:srgbClr val="1E293B"/>
                </a:solidFill>
              </a:rPr>
              <a:t>Sigmoid mapping transforms margin distances into posterior probabilities P(y|x)</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394960" cy="233172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19456" rIns="219456" tIns="219456"/>
          <a:lstStyle/>
          <a:p>
            <a:pPr algn="ctr">
              <a:defRPr sz="1100" b="1">
                <a:solidFill>
                  <a:srgbClr val="2563EB"/>
                </a:solidFill>
                <a:latin typeface="Calibri"/>
              </a:defRPr>
            </a:pPr>
            <a:r>
              <a:t>2. MULTINOMIAL LOGISTIC REGRESSION</a:t>
            </a:r>
          </a:p>
          <a:p>
            <a:pPr>
              <a:defRPr sz="1500" b="1">
                <a:solidFill>
                  <a:srgbClr val="0A1A30"/>
                </a:solidFill>
                <a:latin typeface="Cambria"/>
              </a:defRPr>
            </a:pPr>
            <a:r>
              <a:t>Calibrated Softmax Probability Estimation</a:t>
            </a:r>
          </a:p>
          <a:p>
            <a:pPr>
              <a:spcBef>
                <a:spcPts val="400"/>
              </a:spcBef>
            </a:pPr>
            <a:r>
              <a:rPr b="1" sz="1100">
                <a:solidFill>
                  <a:srgbClr val="0A1A30"/>
                </a:solidFill>
              </a:rPr>
              <a:t>▪ Mathematical Objective: </a:t>
            </a:r>
            <a:r>
              <a:rPr sz="1000">
                <a:solidFill>
                  <a:srgbClr val="1E293B"/>
                </a:solidFill>
              </a:rPr>
              <a:t>Minimizes multinomial cross-entropy loss across 8 classes via Softmax</a:t>
            </a:r>
          </a:p>
          <a:p>
            <a:pPr>
              <a:spcBef>
                <a:spcPts val="400"/>
              </a:spcBef>
            </a:pPr>
            <a:r>
              <a:rPr b="1" sz="1100">
                <a:solidFill>
                  <a:srgbClr val="0A1A30"/>
                </a:solidFill>
              </a:rPr>
              <a:t>▪ Hyperparameters: </a:t>
            </a:r>
            <a:r>
              <a:rPr sz="1000">
                <a:solidFill>
                  <a:srgbClr val="1E293B"/>
                </a:solidFill>
              </a:rPr>
              <a:t>C = 2.0, L2 regularization, L-BFGS quasi-Newton solver</a:t>
            </a:r>
          </a:p>
          <a:p>
            <a:pPr>
              <a:spcBef>
                <a:spcPts val="400"/>
              </a:spcBef>
            </a:pPr>
            <a:r>
              <a:rPr b="1" sz="1100">
                <a:solidFill>
                  <a:srgbClr val="0A1A30"/>
                </a:solidFill>
              </a:rPr>
              <a:t>▪ Key Strength: </a:t>
            </a:r>
            <a:r>
              <a:rPr sz="1000">
                <a:solidFill>
                  <a:srgbClr val="1E293B"/>
                </a:solidFill>
              </a:rPr>
              <a:t>Inherently well-calibrated posterior probabilities; robust to linear correlations</a:t>
            </a:r>
          </a:p>
        </p:txBody>
      </p:sp>
      <p:sp>
        <p:nvSpPr>
          <p:cNvPr id="11" name="Rounded Rectangle 10"/>
          <p:cNvSpPr/>
          <p:nvPr/>
        </p:nvSpPr>
        <p:spPr>
          <a:xfrm>
            <a:off x="6236208" y="1371600"/>
            <a:ext cx="5358384"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3913632"/>
            <a:ext cx="5394960" cy="233172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19456" rIns="219456" tIns="219456"/>
          <a:lstStyle/>
          <a:p>
            <a:pPr algn="ctr">
              <a:defRPr sz="1100" b="1">
                <a:solidFill>
                  <a:srgbClr val="10B981"/>
                </a:solidFill>
                <a:latin typeface="Calibri"/>
              </a:defRPr>
            </a:pPr>
            <a:r>
              <a:t>3. RANDOM FOREST CLASSIFIER</a:t>
            </a:r>
          </a:p>
          <a:p>
            <a:pPr>
              <a:defRPr sz="1500" b="1">
                <a:solidFill>
                  <a:srgbClr val="0A1A30"/>
                </a:solidFill>
                <a:latin typeface="Cambria"/>
              </a:defRPr>
            </a:pPr>
            <a:r>
              <a:t>Constrained Non-Linear Ensemble of Decision Trees</a:t>
            </a:r>
          </a:p>
          <a:p>
            <a:pPr>
              <a:spcBef>
                <a:spcPts val="400"/>
              </a:spcBef>
            </a:pPr>
            <a:r>
              <a:rPr b="1" sz="1100">
                <a:solidFill>
                  <a:srgbClr val="0A1A30"/>
                </a:solidFill>
              </a:rPr>
              <a:t>▪ Mathematical Objective: </a:t>
            </a:r>
            <a:r>
              <a:rPr sz="1000">
                <a:solidFill>
                  <a:srgbClr val="1E293B"/>
                </a:solidFill>
              </a:rPr>
              <a:t>Bootstrap bagging over 100 decision trees splitting on Gini impurity</a:t>
            </a:r>
          </a:p>
          <a:p>
            <a:pPr>
              <a:spcBef>
                <a:spcPts val="400"/>
              </a:spcBef>
            </a:pPr>
            <a:r>
              <a:rPr b="1" sz="1100">
                <a:solidFill>
                  <a:srgbClr val="0A1A30"/>
                </a:solidFill>
              </a:rPr>
              <a:t>▪ Hyperparameters: </a:t>
            </a:r>
            <a:r>
              <a:rPr sz="1000">
                <a:solidFill>
                  <a:srgbClr val="1E293B"/>
                </a:solidFill>
              </a:rPr>
              <a:t>n_estimators = 100, max_depth = 25, class_weight = 'balanced'</a:t>
            </a:r>
          </a:p>
          <a:p>
            <a:pPr>
              <a:spcBef>
                <a:spcPts val="400"/>
              </a:spcBef>
            </a:pPr>
            <a:r>
              <a:rPr b="1" sz="1100">
                <a:solidFill>
                  <a:srgbClr val="0A1A30"/>
                </a:solidFill>
              </a:rPr>
              <a:t>▪ Flaw Resolution: </a:t>
            </a:r>
            <a:r>
              <a:rPr sz="1000">
                <a:solidFill>
                  <a:srgbClr val="1E293B"/>
                </a:solidFill>
              </a:rPr>
              <a:t>Constraining depth to 25 stopped noise overfitting; accuracy jumped to 81.98%</a:t>
            </a:r>
          </a:p>
        </p:txBody>
      </p:sp>
      <p:sp>
        <p:nvSpPr>
          <p:cNvPr id="13" name="Rounded Rectangle 12"/>
          <p:cNvSpPr/>
          <p:nvPr/>
        </p:nvSpPr>
        <p:spPr>
          <a:xfrm>
            <a:off x="566928" y="3931920"/>
            <a:ext cx="5358384"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3913632"/>
            <a:ext cx="5394960" cy="233172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19456" rIns="219456" tIns="219456"/>
          <a:lstStyle/>
          <a:p>
            <a:pPr algn="ctr">
              <a:defRPr sz="1100" b="1">
                <a:solidFill>
                  <a:srgbClr val="D97706"/>
                </a:solidFill>
                <a:latin typeface="Calibri"/>
              </a:defRPr>
            </a:pPr>
            <a:r>
              <a:t>4. MULTINOMIAL NAIVE BAYES (MNB)</a:t>
            </a:r>
          </a:p>
          <a:p>
            <a:pPr>
              <a:defRPr sz="1500" b="1">
                <a:solidFill>
                  <a:srgbClr val="0A1A30"/>
                </a:solidFill>
                <a:latin typeface="Cambria"/>
              </a:defRPr>
            </a:pPr>
            <a:r>
              <a:t>Bayesian Prior-Likelihood Generative Model</a:t>
            </a:r>
          </a:p>
          <a:p>
            <a:pPr>
              <a:spcBef>
                <a:spcPts val="400"/>
              </a:spcBef>
            </a:pPr>
            <a:r>
              <a:rPr b="1" sz="1100">
                <a:solidFill>
                  <a:srgbClr val="0A1A30"/>
                </a:solidFill>
              </a:rPr>
              <a:t>▪ Mathematical Objective: </a:t>
            </a:r>
            <a:r>
              <a:rPr sz="1000">
                <a:solidFill>
                  <a:srgbClr val="1E293B"/>
                </a:solidFill>
              </a:rPr>
              <a:t>P(c|x) ∝ P(c) ∏ P(x_i|c) using conditional word probability vectors</a:t>
            </a:r>
          </a:p>
          <a:p>
            <a:pPr>
              <a:spcBef>
                <a:spcPts val="400"/>
              </a:spcBef>
            </a:pPr>
            <a:r>
              <a:rPr b="1" sz="1100">
                <a:solidFill>
                  <a:srgbClr val="0A1A30"/>
                </a:solidFill>
              </a:rPr>
              <a:t>▪ Hyperparameters: </a:t>
            </a:r>
            <a:r>
              <a:rPr sz="1000">
                <a:solidFill>
                  <a:srgbClr val="1E293B"/>
                </a:solidFill>
              </a:rPr>
              <a:t>Laplace smoothing parameter α = 0.1, learned class prior frequencies</a:t>
            </a:r>
          </a:p>
          <a:p>
            <a:pPr>
              <a:spcBef>
                <a:spcPts val="400"/>
              </a:spcBef>
            </a:pPr>
            <a:r>
              <a:rPr b="1" sz="1100">
                <a:solidFill>
                  <a:srgbClr val="0A1A30"/>
                </a:solidFill>
              </a:rPr>
              <a:t>▪ Key Strength: </a:t>
            </a:r>
            <a:r>
              <a:rPr sz="1000">
                <a:solidFill>
                  <a:srgbClr val="1E293B"/>
                </a:solidFill>
              </a:rPr>
              <a:t>Instantaneous training (0.01s) and high precision (86.02%) on distinct vocabularies</a:t>
            </a:r>
          </a:p>
        </p:txBody>
      </p:sp>
      <p:sp>
        <p:nvSpPr>
          <p:cNvPr id="15" name="Rounded Rectangle 14"/>
          <p:cNvSpPr/>
          <p:nvPr/>
        </p:nvSpPr>
        <p:spPr>
          <a:xfrm>
            <a:off x="6236208" y="3931920"/>
            <a:ext cx="5358384"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122"/>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ENSEMBLE CONSENSUS SCHEME</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FFFFFF"/>
                </a:solidFill>
                <a:latin typeface="Cambria"/>
              </a:defRPr>
            </a:pPr>
            <a:r>
              <a:t>Weighted Soft Voting Ensemble Architecture &amp; Calibration</a:t>
            </a:r>
          </a:p>
        </p:txBody>
      </p:sp>
      <p:sp>
        <p:nvSpPr>
          <p:cNvPr id="4" name="Rectangle 3"/>
          <p:cNvSpPr/>
          <p:nvPr/>
        </p:nvSpPr>
        <p:spPr>
          <a:xfrm>
            <a:off x="548640" y="6446520"/>
            <a:ext cx="11091672" cy="13716"/>
          </a:xfrm>
          <a:prstGeom prst="rect">
            <a:avLst/>
          </a:prstGeom>
          <a:solidFill>
            <a:srgbClr val="1B3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94A3B8"/>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94A3B8"/>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38BDF8"/>
                </a:solidFill>
                <a:latin typeface="Calibri"/>
              </a:defRPr>
            </a:pPr>
            <a:r>
              <a:t>Slide 9 of 20</a:t>
            </a:r>
          </a:p>
        </p:txBody>
      </p:sp>
      <p:sp>
        <p:nvSpPr>
          <p:cNvPr id="8" name="Rounded Rectangle 7"/>
          <p:cNvSpPr/>
          <p:nvPr/>
        </p:nvSpPr>
        <p:spPr>
          <a:xfrm>
            <a:off x="548640" y="1353312"/>
            <a:ext cx="539496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D9488"/>
                </a:solidFill>
                <a:latin typeface="Calibri"/>
              </a:defRPr>
            </a:pPr>
            <a:r>
              <a:t>ENSEMBLE FORMULATION</a:t>
            </a:r>
          </a:p>
          <a:p>
            <a:pPr>
              <a:spcBef>
                <a:spcPts val="400"/>
              </a:spcBef>
              <a:defRPr sz="1650" b="1">
                <a:solidFill>
                  <a:srgbClr val="FFFFFF"/>
                </a:solidFill>
                <a:latin typeface="Cambria"/>
              </a:defRPr>
            </a:pPr>
            <a:r>
              <a:t>Mathematical Consensus Rule</a:t>
            </a:r>
          </a:p>
          <a:p>
            <a:pPr>
              <a:spcBef>
                <a:spcPts val="1200"/>
              </a:spcBef>
            </a:pPr>
            <a:r>
              <a:rPr b="1" sz="1200">
                <a:solidFill>
                  <a:srgbClr val="38BDF8"/>
                </a:solidFill>
              </a:rPr>
              <a:t>▪ Soft Probability Averaging
</a:t>
            </a:r>
            <a:r>
              <a:rPr sz="1050">
                <a:solidFill>
                  <a:srgbClr val="CBD5E1"/>
                </a:solidFill>
              </a:rPr>
              <a:t>P_ens(c|x) = ∑ [w_m ⋅ P_m(c|x)] / ∑ w_m across all 4 estimators.</a:t>
            </a:r>
          </a:p>
          <a:p>
            <a:pPr>
              <a:spcBef>
                <a:spcPts val="1200"/>
              </a:spcBef>
            </a:pPr>
            <a:r>
              <a:rPr b="1" sz="1200">
                <a:solidFill>
                  <a:srgbClr val="38BDF8"/>
                </a:solidFill>
              </a:rPr>
              <a:t>▪ Empirical Weights: [2, 2, 1, 1]
</a:t>
            </a:r>
            <a:r>
              <a:rPr sz="1050">
                <a:solidFill>
                  <a:srgbClr val="CBD5E1"/>
                </a:solidFill>
              </a:rPr>
              <a:t>w_SVM = 2, w_LR = 2, w_RF = 1, w_MNB = 1 based on validation reliability.</a:t>
            </a:r>
          </a:p>
          <a:p>
            <a:pPr>
              <a:spcBef>
                <a:spcPts val="1200"/>
              </a:spcBef>
            </a:pPr>
            <a:r>
              <a:rPr b="1" sz="1200">
                <a:solidFill>
                  <a:srgbClr val="38BDF8"/>
                </a:solidFill>
              </a:rPr>
              <a:t>▪ Variance Reduction
</a:t>
            </a:r>
            <a:r>
              <a:rPr sz="1050">
                <a:solidFill>
                  <a:srgbClr val="CBD5E1"/>
                </a:solidFill>
              </a:rPr>
              <a:t>Condorcet's Jury Theorem: uncorrelated model errors cancel out.</a:t>
            </a:r>
          </a:p>
          <a:p>
            <a:pPr>
              <a:spcBef>
                <a:spcPts val="1200"/>
              </a:spcBef>
            </a:pPr>
            <a:r>
              <a:rPr b="1" sz="1200">
                <a:solidFill>
                  <a:srgbClr val="38BDF8"/>
                </a:solidFill>
              </a:rPr>
              <a:t>▪ Unified Posterior Simplex
</a:t>
            </a:r>
            <a:r>
              <a:rPr sz="1050">
                <a:solidFill>
                  <a:srgbClr val="CBD5E1"/>
                </a:solidFill>
              </a:rPr>
              <a:t>Outputs full 8-dimensional probability vector summing to 1.0.</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6B6D4"/>
                </a:solidFill>
                <a:latin typeface="Calibri"/>
              </a:defRPr>
            </a:pPr>
            <a:r>
              <a:t>SOFT VS HARD VOTING</a:t>
            </a:r>
          </a:p>
          <a:p>
            <a:pPr>
              <a:spcBef>
                <a:spcPts val="400"/>
              </a:spcBef>
              <a:defRPr sz="1650" b="1">
                <a:solidFill>
                  <a:srgbClr val="FFFFFF"/>
                </a:solidFill>
                <a:latin typeface="Cambria"/>
              </a:defRPr>
            </a:pPr>
            <a:r>
              <a:t>Why Soft Voting is Essential in Healthcare</a:t>
            </a:r>
          </a:p>
          <a:p>
            <a:pPr>
              <a:spcBef>
                <a:spcPts val="1200"/>
              </a:spcBef>
            </a:pPr>
            <a:r>
              <a:rPr b="1" sz="1200">
                <a:solidFill>
                  <a:srgbClr val="06B6D4"/>
                </a:solidFill>
              </a:rPr>
              <a:t>✔ Preserves Confidence Magnitude
</a:t>
            </a:r>
            <a:r>
              <a:rPr sz="1050">
                <a:solidFill>
                  <a:srgbClr val="CBD5E1"/>
                </a:solidFill>
              </a:rPr>
              <a:t>Hard voting discards certainty; treats 99% confident vote like a 51% guess.</a:t>
            </a:r>
          </a:p>
          <a:p>
            <a:pPr>
              <a:spcBef>
                <a:spcPts val="1200"/>
              </a:spcBef>
            </a:pPr>
            <a:r>
              <a:rPr b="1" sz="1200">
                <a:solidFill>
                  <a:srgbClr val="06B6D4"/>
                </a:solidFill>
              </a:rPr>
              <a:t>✔ Resolves Split Votes Gracefully
</a:t>
            </a:r>
            <a:r>
              <a:rPr sz="1050">
                <a:solidFill>
                  <a:srgbClr val="CBD5E1"/>
                </a:solidFill>
              </a:rPr>
              <a:t>Eliminates arbitrary tie-breaking when estimators split 2-2.</a:t>
            </a:r>
          </a:p>
          <a:p>
            <a:pPr>
              <a:spcBef>
                <a:spcPts val="1200"/>
              </a:spcBef>
            </a:pPr>
            <a:r>
              <a:rPr b="1" sz="1200">
                <a:solidFill>
                  <a:srgbClr val="06B6D4"/>
                </a:solidFill>
              </a:rPr>
              <a:t>✔ Differential Candidate Ranking
</a:t>
            </a:r>
            <a:r>
              <a:rPr sz="1050">
                <a:solidFill>
                  <a:srgbClr val="CBD5E1"/>
                </a:solidFill>
              </a:rPr>
              <a:t>Surfaces top-3 secondary departments for clinical triage context.</a:t>
            </a:r>
          </a:p>
          <a:p>
            <a:pPr>
              <a:spcBef>
                <a:spcPts val="1200"/>
              </a:spcBef>
            </a:pPr>
            <a:r>
              <a:rPr b="1" sz="1200">
                <a:solidFill>
                  <a:srgbClr val="06B6D4"/>
                </a:solidFill>
              </a:rPr>
              <a:t>✔ Powers Clinical Safety Gate
</a:t>
            </a:r>
            <a:r>
              <a:rPr sz="1050">
                <a:solidFill>
                  <a:srgbClr val="CBD5E1"/>
                </a:solidFill>
              </a:rPr>
              <a:t>Peak ensemble probability directly feeds our Open-Set Rejection Gate (τ = 0.48).</a:t>
            </a:r>
          </a:p>
        </p:txBody>
      </p:sp>
      <p:sp>
        <p:nvSpPr>
          <p:cNvPr id="11" name="Rounded Rectangle 10"/>
          <p:cNvSpPr/>
          <p:nvPr/>
        </p:nvSpPr>
        <p:spPr>
          <a:xfrm>
            <a:off x="6236208" y="1371600"/>
            <a:ext cx="5385816"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EMPIRICAL BENCHMARK RESULTS</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Model Performance Comparison against 75.0% Target Threshold</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10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100" b="1">
                <a:solidFill>
                  <a:srgbClr val="0D9488"/>
                </a:solidFill>
                <a:latin typeface="Calibri"/>
              </a:defRPr>
            </a:pPr>
            <a:r>
              <a:t>BENCHMARK PERFORMANCE CHART</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odel_performance_comparison.png"/>
          <p:cNvPicPr>
            <a:picLocks noChangeAspect="1"/>
          </p:cNvPicPr>
          <p:nvPr/>
        </p:nvPicPr>
        <p:blipFill>
          <a:blip r:embed="rId2"/>
          <a:stretch>
            <a:fillRect/>
          </a:stretch>
        </p:blipFill>
        <p:spPr>
          <a:xfrm>
            <a:off x="731520" y="1874519"/>
            <a:ext cx="5029200" cy="4160520"/>
          </a:xfrm>
          <a:prstGeom prst="rect">
            <a:avLst/>
          </a:prstGeom>
        </p:spPr>
      </p:pic>
      <p:sp>
        <p:nvSpPr>
          <p:cNvPr id="11" name="Rounded Rectangle 10"/>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19456" rIns="219456" tIns="219456"/>
          <a:lstStyle/>
          <a:p>
            <a:pPr algn="ctr">
              <a:defRPr sz="1100" b="1">
                <a:solidFill>
                  <a:srgbClr val="2563EB"/>
                </a:solidFill>
                <a:latin typeface="Calibri"/>
              </a:defRPr>
            </a:pPr>
            <a:r>
              <a:t>QUANTITATIVE EVALUATION (N = 333 TEST SAMPLES)</a:t>
            </a:r>
          </a:p>
          <a:p>
            <a:pPr>
              <a:spcBef>
                <a:spcPts val="300"/>
              </a:spcBef>
              <a:defRPr sz="1500" b="1">
                <a:solidFill>
                  <a:srgbClr val="0A1A30"/>
                </a:solidFill>
                <a:latin typeface="Cambria"/>
              </a:defRPr>
            </a:pPr>
            <a:r>
              <a:t>Comparative Evaluation Metrics</a:t>
            </a:r>
          </a:p>
        </p:txBody>
      </p:sp>
      <p:sp>
        <p:nvSpPr>
          <p:cNvPr id="12" name="Rounded Rectangle 11"/>
          <p:cNvSpPr/>
          <p:nvPr/>
        </p:nvSpPr>
        <p:spPr>
          <a:xfrm>
            <a:off x="6236208" y="1371600"/>
            <a:ext cx="538581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6355080" y="2057400"/>
          <a:ext cx="5148072" cy="2468880"/>
        </p:xfrm>
        <a:graphic>
          <a:graphicData uri="http://schemas.openxmlformats.org/drawingml/2006/table">
            <a:tbl>
              <a:tblPr firstRow="1" bandRow="1">
                <a:tableStyleId>{5C22544A-7EE6-4342-B048-85BDC9FD1C3A}</a:tableStyleId>
              </a:tblPr>
              <a:tblGrid>
                <a:gridCol w="2039112"/>
                <a:gridCol w="777240"/>
                <a:gridCol w="777240"/>
                <a:gridCol w="777240"/>
                <a:gridCol w="777240"/>
              </a:tblGrid>
              <a:tr h="352697">
                <a:tc>
                  <a:txBody>
                    <a:bodyPr/>
                    <a:lstStyle/>
                    <a:p>
                      <a:pPr algn="l">
                        <a:defRPr sz="950" b="1">
                          <a:solidFill>
                            <a:srgbClr val="FFFFFF"/>
                          </a:solidFill>
                          <a:latin typeface="Calibri"/>
                        </a:defRPr>
                      </a:pPr>
                      <a:r>
                        <a:t>Model Architecture</a:t>
                      </a:r>
                    </a:p>
                  </a:txBody>
                  <a:tcPr>
                    <a:solidFill>
                      <a:srgbClr val="0A1A30"/>
                    </a:solidFill>
                  </a:tcPr>
                </a:tc>
                <a:tc>
                  <a:txBody>
                    <a:bodyPr/>
                    <a:lstStyle/>
                    <a:p>
                      <a:pPr algn="ctr">
                        <a:defRPr sz="950" b="1">
                          <a:solidFill>
                            <a:srgbClr val="FFFFFF"/>
                          </a:solidFill>
                          <a:latin typeface="Calibri"/>
                        </a:defRPr>
                      </a:pPr>
                      <a:r>
                        <a:t>Accuracy</a:t>
                      </a:r>
                    </a:p>
                  </a:txBody>
                  <a:tcPr>
                    <a:solidFill>
                      <a:srgbClr val="0A1A30"/>
                    </a:solidFill>
                  </a:tcPr>
                </a:tc>
                <a:tc>
                  <a:txBody>
                    <a:bodyPr/>
                    <a:lstStyle/>
                    <a:p>
                      <a:pPr algn="ctr">
                        <a:defRPr sz="950" b="1">
                          <a:solidFill>
                            <a:srgbClr val="FFFFFF"/>
                          </a:solidFill>
                          <a:latin typeface="Calibri"/>
                        </a:defRPr>
                      </a:pPr>
                      <a:r>
                        <a:t>Macro F1</a:t>
                      </a:r>
                    </a:p>
                  </a:txBody>
                  <a:tcPr>
                    <a:solidFill>
                      <a:srgbClr val="0A1A30"/>
                    </a:solidFill>
                  </a:tcPr>
                </a:tc>
                <a:tc>
                  <a:txBody>
                    <a:bodyPr/>
                    <a:lstStyle/>
                    <a:p>
                      <a:pPr algn="ctr">
                        <a:defRPr sz="950" b="1">
                          <a:solidFill>
                            <a:srgbClr val="FFFFFF"/>
                          </a:solidFill>
                          <a:latin typeface="Calibri"/>
                        </a:defRPr>
                      </a:pPr>
                      <a:r>
                        <a:t>Weighted F1</a:t>
                      </a:r>
                    </a:p>
                  </a:txBody>
                  <a:tcPr>
                    <a:solidFill>
                      <a:srgbClr val="0A1A30"/>
                    </a:solidFill>
                  </a:tcPr>
                </a:tc>
                <a:tc>
                  <a:txBody>
                    <a:bodyPr/>
                    <a:lstStyle/>
                    <a:p>
                      <a:pPr algn="ctr">
                        <a:defRPr sz="950" b="1">
                          <a:solidFill>
                            <a:srgbClr val="FFFFFF"/>
                          </a:solidFill>
                          <a:latin typeface="Calibri"/>
                        </a:defRPr>
                      </a:pPr>
                      <a:r>
                        <a:t>Train (s)</a:t>
                      </a:r>
                    </a:p>
                  </a:txBody>
                  <a:tcPr>
                    <a:solidFill>
                      <a:srgbClr val="0A1A30"/>
                    </a:solidFill>
                  </a:tcPr>
                </a:tc>
              </a:tr>
              <a:tr h="352697">
                <a:tc>
                  <a:txBody>
                    <a:bodyPr/>
                    <a:lstStyle/>
                    <a:p>
                      <a:pPr algn="l">
                        <a:defRPr sz="900" b="1">
                          <a:solidFill>
                            <a:srgbClr val="1E293B"/>
                          </a:solidFill>
                          <a:latin typeface="Calibri"/>
                        </a:defRPr>
                      </a:pPr>
                      <a:r>
                        <a:t>Linear SVM (Calibrated)</a:t>
                      </a:r>
                    </a:p>
                  </a:txBody>
                  <a:tcPr>
                    <a:solidFill>
                      <a:srgbClr val="FEF3C7"/>
                    </a:solidFill>
                  </a:tcPr>
                </a:tc>
                <a:tc>
                  <a:txBody>
                    <a:bodyPr/>
                    <a:lstStyle/>
                    <a:p>
                      <a:pPr algn="ctr">
                        <a:defRPr sz="900" b="1">
                          <a:solidFill>
                            <a:srgbClr val="1E293B"/>
                          </a:solidFill>
                          <a:latin typeface="Calibri"/>
                        </a:defRPr>
                      </a:pPr>
                      <a:r>
                        <a:t>88.59%</a:t>
                      </a:r>
                    </a:p>
                  </a:txBody>
                  <a:tcPr>
                    <a:solidFill>
                      <a:srgbClr val="FEF3C7"/>
                    </a:solidFill>
                  </a:tcPr>
                </a:tc>
                <a:tc>
                  <a:txBody>
                    <a:bodyPr/>
                    <a:lstStyle/>
                    <a:p>
                      <a:pPr algn="ctr">
                        <a:defRPr sz="900" b="1">
                          <a:solidFill>
                            <a:srgbClr val="1E293B"/>
                          </a:solidFill>
                          <a:latin typeface="Calibri"/>
                        </a:defRPr>
                      </a:pPr>
                      <a:r>
                        <a:t>0.8971</a:t>
                      </a:r>
                    </a:p>
                  </a:txBody>
                  <a:tcPr>
                    <a:solidFill>
                      <a:srgbClr val="FEF3C7"/>
                    </a:solidFill>
                  </a:tcPr>
                </a:tc>
                <a:tc>
                  <a:txBody>
                    <a:bodyPr/>
                    <a:lstStyle/>
                    <a:p>
                      <a:pPr algn="ctr">
                        <a:defRPr sz="900" b="1">
                          <a:solidFill>
                            <a:srgbClr val="1E293B"/>
                          </a:solidFill>
                          <a:latin typeface="Calibri"/>
                        </a:defRPr>
                      </a:pPr>
                      <a:r>
                        <a:t>0.8862</a:t>
                      </a:r>
                    </a:p>
                  </a:txBody>
                  <a:tcPr>
                    <a:solidFill>
                      <a:srgbClr val="FEF3C7"/>
                    </a:solidFill>
                  </a:tcPr>
                </a:tc>
                <a:tc>
                  <a:txBody>
                    <a:bodyPr/>
                    <a:lstStyle/>
                    <a:p>
                      <a:pPr algn="ctr">
                        <a:defRPr sz="900" b="1">
                          <a:solidFill>
                            <a:srgbClr val="1E293B"/>
                          </a:solidFill>
                          <a:latin typeface="Calibri"/>
                        </a:defRPr>
                      </a:pPr>
                      <a:r>
                        <a:t>0.12 s</a:t>
                      </a:r>
                    </a:p>
                  </a:txBody>
                  <a:tcPr>
                    <a:solidFill>
                      <a:srgbClr val="FEF3C7"/>
                    </a:solidFill>
                  </a:tcPr>
                </a:tc>
              </a:tr>
              <a:tr h="352697">
                <a:tc>
                  <a:txBody>
                    <a:bodyPr/>
                    <a:lstStyle/>
                    <a:p>
                      <a:pPr algn="l">
                        <a:defRPr sz="900" b="1">
                          <a:solidFill>
                            <a:srgbClr val="1E293B"/>
                          </a:solidFill>
                          <a:latin typeface="Calibri"/>
                        </a:defRPr>
                      </a:pPr>
                      <a:r>
                        <a:t>Soft Voting Ensemble</a:t>
                      </a:r>
                    </a:p>
                  </a:txBody>
                  <a:tcPr>
                    <a:solidFill>
                      <a:srgbClr val="EAF1F8"/>
                    </a:solidFill>
                  </a:tcPr>
                </a:tc>
                <a:tc>
                  <a:txBody>
                    <a:bodyPr/>
                    <a:lstStyle/>
                    <a:p>
                      <a:pPr algn="ctr">
                        <a:defRPr sz="900" b="1">
                          <a:solidFill>
                            <a:srgbClr val="1E293B"/>
                          </a:solidFill>
                          <a:latin typeface="Calibri"/>
                        </a:defRPr>
                      </a:pPr>
                      <a:r>
                        <a:t>87.99%</a:t>
                      </a:r>
                    </a:p>
                  </a:txBody>
                  <a:tcPr>
                    <a:solidFill>
                      <a:srgbClr val="EAF1F8"/>
                    </a:solidFill>
                  </a:tcPr>
                </a:tc>
                <a:tc>
                  <a:txBody>
                    <a:bodyPr/>
                    <a:lstStyle/>
                    <a:p>
                      <a:pPr algn="ctr">
                        <a:defRPr sz="900" b="1">
                          <a:solidFill>
                            <a:srgbClr val="1E293B"/>
                          </a:solidFill>
                          <a:latin typeface="Calibri"/>
                        </a:defRPr>
                      </a:pPr>
                      <a:r>
                        <a:t>0.8898</a:t>
                      </a:r>
                    </a:p>
                  </a:txBody>
                  <a:tcPr>
                    <a:solidFill>
                      <a:srgbClr val="EAF1F8"/>
                    </a:solidFill>
                  </a:tcPr>
                </a:tc>
                <a:tc>
                  <a:txBody>
                    <a:bodyPr/>
                    <a:lstStyle/>
                    <a:p>
                      <a:pPr algn="ctr">
                        <a:defRPr sz="900" b="1">
                          <a:solidFill>
                            <a:srgbClr val="1E293B"/>
                          </a:solidFill>
                          <a:latin typeface="Calibri"/>
                        </a:defRPr>
                      </a:pPr>
                      <a:r>
                        <a:t>0.8818</a:t>
                      </a:r>
                    </a:p>
                  </a:txBody>
                  <a:tcPr>
                    <a:solidFill>
                      <a:srgbClr val="EAF1F8"/>
                    </a:solidFill>
                  </a:tcPr>
                </a:tc>
                <a:tc>
                  <a:txBody>
                    <a:bodyPr/>
                    <a:lstStyle/>
                    <a:p>
                      <a:pPr algn="ctr">
                        <a:defRPr sz="900" b="1">
                          <a:solidFill>
                            <a:srgbClr val="1E293B"/>
                          </a:solidFill>
                          <a:latin typeface="Calibri"/>
                        </a:defRPr>
                      </a:pPr>
                      <a:r>
                        <a:t>2.49 s</a:t>
                      </a:r>
                    </a:p>
                  </a:txBody>
                  <a:tcPr>
                    <a:solidFill>
                      <a:srgbClr val="EAF1F8"/>
                    </a:solidFill>
                  </a:tcPr>
                </a:tc>
              </a:tr>
              <a:tr h="352697">
                <a:tc>
                  <a:txBody>
                    <a:bodyPr/>
                    <a:lstStyle/>
                    <a:p>
                      <a:pPr algn="l">
                        <a:defRPr sz="900" b="1">
                          <a:solidFill>
                            <a:srgbClr val="1E293B"/>
                          </a:solidFill>
                          <a:latin typeface="Calibri"/>
                        </a:defRPr>
                      </a:pPr>
                      <a:r>
                        <a:t>Logistic Regression</a:t>
                      </a:r>
                    </a:p>
                  </a:txBody>
                  <a:tcPr>
                    <a:solidFill>
                      <a:srgbClr val="FFFFFF"/>
                    </a:solidFill>
                  </a:tcPr>
                </a:tc>
                <a:tc>
                  <a:txBody>
                    <a:bodyPr/>
                    <a:lstStyle/>
                    <a:p>
                      <a:pPr algn="ctr">
                        <a:defRPr sz="900">
                          <a:solidFill>
                            <a:srgbClr val="1E293B"/>
                          </a:solidFill>
                          <a:latin typeface="Calibri"/>
                        </a:defRPr>
                      </a:pPr>
                      <a:r>
                        <a:t>87.09%</a:t>
                      </a:r>
                    </a:p>
                  </a:txBody>
                  <a:tcPr>
                    <a:solidFill>
                      <a:srgbClr val="FFFFFF"/>
                    </a:solidFill>
                  </a:tcPr>
                </a:tc>
                <a:tc>
                  <a:txBody>
                    <a:bodyPr/>
                    <a:lstStyle/>
                    <a:p>
                      <a:pPr algn="ctr">
                        <a:defRPr sz="900">
                          <a:solidFill>
                            <a:srgbClr val="1E293B"/>
                          </a:solidFill>
                          <a:latin typeface="Calibri"/>
                        </a:defRPr>
                      </a:pPr>
                      <a:r>
                        <a:t>0.8846</a:t>
                      </a:r>
                    </a:p>
                  </a:txBody>
                  <a:tcPr>
                    <a:solidFill>
                      <a:srgbClr val="FFFFFF"/>
                    </a:solidFill>
                  </a:tcPr>
                </a:tc>
                <a:tc>
                  <a:txBody>
                    <a:bodyPr/>
                    <a:lstStyle/>
                    <a:p>
                      <a:pPr algn="ctr">
                        <a:defRPr sz="900">
                          <a:solidFill>
                            <a:srgbClr val="1E293B"/>
                          </a:solidFill>
                          <a:latin typeface="Calibri"/>
                        </a:defRPr>
                      </a:pPr>
                      <a:r>
                        <a:t>0.8730</a:t>
                      </a:r>
                    </a:p>
                  </a:txBody>
                  <a:tcPr>
                    <a:solidFill>
                      <a:srgbClr val="FFFFFF"/>
                    </a:solidFill>
                  </a:tcPr>
                </a:tc>
                <a:tc>
                  <a:txBody>
                    <a:bodyPr/>
                    <a:lstStyle/>
                    <a:p>
                      <a:pPr algn="ctr">
                        <a:defRPr sz="900">
                          <a:solidFill>
                            <a:srgbClr val="1E293B"/>
                          </a:solidFill>
                          <a:latin typeface="Calibri"/>
                        </a:defRPr>
                      </a:pPr>
                      <a:r>
                        <a:t>0.37 s</a:t>
                      </a:r>
                    </a:p>
                  </a:txBody>
                  <a:tcPr>
                    <a:solidFill>
                      <a:srgbClr val="FFFFFF"/>
                    </a:solidFill>
                  </a:tcPr>
                </a:tc>
              </a:tr>
              <a:tr h="352697">
                <a:tc>
                  <a:txBody>
                    <a:bodyPr/>
                    <a:lstStyle/>
                    <a:p>
                      <a:pPr algn="l">
                        <a:defRPr sz="900" b="1">
                          <a:solidFill>
                            <a:srgbClr val="1E293B"/>
                          </a:solidFill>
                          <a:latin typeface="Calibri"/>
                        </a:defRPr>
                      </a:pPr>
                      <a:r>
                        <a:t>Hard Voting Ensemble</a:t>
                      </a:r>
                    </a:p>
                  </a:txBody>
                  <a:tcPr>
                    <a:solidFill>
                      <a:srgbClr val="EAF1F8"/>
                    </a:solidFill>
                  </a:tcPr>
                </a:tc>
                <a:tc>
                  <a:txBody>
                    <a:bodyPr/>
                    <a:lstStyle/>
                    <a:p>
                      <a:pPr algn="ctr">
                        <a:defRPr sz="900">
                          <a:solidFill>
                            <a:srgbClr val="1E293B"/>
                          </a:solidFill>
                          <a:latin typeface="Calibri"/>
                        </a:defRPr>
                      </a:pPr>
                      <a:r>
                        <a:t>87.09%</a:t>
                      </a:r>
                    </a:p>
                  </a:txBody>
                  <a:tcPr>
                    <a:solidFill>
                      <a:srgbClr val="EAF1F8"/>
                    </a:solidFill>
                  </a:tcPr>
                </a:tc>
                <a:tc>
                  <a:txBody>
                    <a:bodyPr/>
                    <a:lstStyle/>
                    <a:p>
                      <a:pPr algn="ctr">
                        <a:defRPr sz="900">
                          <a:solidFill>
                            <a:srgbClr val="1E293B"/>
                          </a:solidFill>
                          <a:latin typeface="Calibri"/>
                        </a:defRPr>
                      </a:pPr>
                      <a:r>
                        <a:t>0.8846</a:t>
                      </a:r>
                    </a:p>
                  </a:txBody>
                  <a:tcPr>
                    <a:solidFill>
                      <a:srgbClr val="EAF1F8"/>
                    </a:solidFill>
                  </a:tcPr>
                </a:tc>
                <a:tc>
                  <a:txBody>
                    <a:bodyPr/>
                    <a:lstStyle/>
                    <a:p>
                      <a:pPr algn="ctr">
                        <a:defRPr sz="900">
                          <a:solidFill>
                            <a:srgbClr val="1E293B"/>
                          </a:solidFill>
                          <a:latin typeface="Calibri"/>
                        </a:defRPr>
                      </a:pPr>
                      <a:r>
                        <a:t>0.8730</a:t>
                      </a:r>
                    </a:p>
                  </a:txBody>
                  <a:tcPr>
                    <a:solidFill>
                      <a:srgbClr val="EAF1F8"/>
                    </a:solidFill>
                  </a:tcPr>
                </a:tc>
                <a:tc>
                  <a:txBody>
                    <a:bodyPr/>
                    <a:lstStyle/>
                    <a:p>
                      <a:pPr algn="ctr">
                        <a:defRPr sz="900">
                          <a:solidFill>
                            <a:srgbClr val="1E293B"/>
                          </a:solidFill>
                          <a:latin typeface="Calibri"/>
                        </a:defRPr>
                      </a:pPr>
                      <a:r>
                        <a:t>2.01 s</a:t>
                      </a:r>
                    </a:p>
                  </a:txBody>
                  <a:tcPr>
                    <a:solidFill>
                      <a:srgbClr val="EAF1F8"/>
                    </a:solidFill>
                  </a:tcPr>
                </a:tc>
              </a:tr>
              <a:tr h="352697">
                <a:tc>
                  <a:txBody>
                    <a:bodyPr/>
                    <a:lstStyle/>
                    <a:p>
                      <a:pPr algn="l">
                        <a:defRPr sz="900" b="1">
                          <a:solidFill>
                            <a:srgbClr val="1E293B"/>
                          </a:solidFill>
                          <a:latin typeface="Calibri"/>
                        </a:defRPr>
                      </a:pPr>
                      <a:r>
                        <a:t>Random Forest (d=25)</a:t>
                      </a:r>
                    </a:p>
                  </a:txBody>
                  <a:tcPr>
                    <a:solidFill>
                      <a:srgbClr val="FFFFFF"/>
                    </a:solidFill>
                  </a:tcPr>
                </a:tc>
                <a:tc>
                  <a:txBody>
                    <a:bodyPr/>
                    <a:lstStyle/>
                    <a:p>
                      <a:pPr algn="ctr">
                        <a:defRPr sz="900">
                          <a:solidFill>
                            <a:srgbClr val="1E293B"/>
                          </a:solidFill>
                          <a:latin typeface="Calibri"/>
                        </a:defRPr>
                      </a:pPr>
                      <a:r>
                        <a:t>81.98%</a:t>
                      </a:r>
                    </a:p>
                  </a:txBody>
                  <a:tcPr>
                    <a:solidFill>
                      <a:srgbClr val="FFFFFF"/>
                    </a:solidFill>
                  </a:tcPr>
                </a:tc>
                <a:tc>
                  <a:txBody>
                    <a:bodyPr/>
                    <a:lstStyle/>
                    <a:p>
                      <a:pPr algn="ctr">
                        <a:defRPr sz="900">
                          <a:solidFill>
                            <a:srgbClr val="1E293B"/>
                          </a:solidFill>
                          <a:latin typeface="Calibri"/>
                        </a:defRPr>
                      </a:pPr>
                      <a:r>
                        <a:t>0.8274</a:t>
                      </a:r>
                    </a:p>
                  </a:txBody>
                  <a:tcPr>
                    <a:solidFill>
                      <a:srgbClr val="FFFFFF"/>
                    </a:solidFill>
                  </a:tcPr>
                </a:tc>
                <a:tc>
                  <a:txBody>
                    <a:bodyPr/>
                    <a:lstStyle/>
                    <a:p>
                      <a:pPr algn="ctr">
                        <a:defRPr sz="900">
                          <a:solidFill>
                            <a:srgbClr val="1E293B"/>
                          </a:solidFill>
                          <a:latin typeface="Calibri"/>
                        </a:defRPr>
                      </a:pPr>
                      <a:r>
                        <a:t>0.8209</a:t>
                      </a:r>
                    </a:p>
                  </a:txBody>
                  <a:tcPr>
                    <a:solidFill>
                      <a:srgbClr val="FFFFFF"/>
                    </a:solidFill>
                  </a:tcPr>
                </a:tc>
                <a:tc>
                  <a:txBody>
                    <a:bodyPr/>
                    <a:lstStyle/>
                    <a:p>
                      <a:pPr algn="ctr">
                        <a:defRPr sz="900">
                          <a:solidFill>
                            <a:srgbClr val="1E293B"/>
                          </a:solidFill>
                          <a:latin typeface="Calibri"/>
                        </a:defRPr>
                      </a:pPr>
                      <a:r>
                        <a:t>1.54 s</a:t>
                      </a:r>
                    </a:p>
                  </a:txBody>
                  <a:tcPr>
                    <a:solidFill>
                      <a:srgbClr val="FFFFFF"/>
                    </a:solidFill>
                  </a:tcPr>
                </a:tc>
              </a:tr>
              <a:tr h="352698">
                <a:tc>
                  <a:txBody>
                    <a:bodyPr/>
                    <a:lstStyle/>
                    <a:p>
                      <a:pPr algn="l">
                        <a:defRPr sz="900" b="1">
                          <a:solidFill>
                            <a:srgbClr val="1E293B"/>
                          </a:solidFill>
                          <a:latin typeface="Calibri"/>
                        </a:defRPr>
                      </a:pPr>
                      <a:r>
                        <a:t>Multinomial NB</a:t>
                      </a:r>
                    </a:p>
                  </a:txBody>
                  <a:tcPr>
                    <a:solidFill>
                      <a:srgbClr val="EAF1F8"/>
                    </a:solidFill>
                  </a:tcPr>
                </a:tc>
                <a:tc>
                  <a:txBody>
                    <a:bodyPr/>
                    <a:lstStyle/>
                    <a:p>
                      <a:pPr algn="ctr">
                        <a:defRPr sz="900">
                          <a:solidFill>
                            <a:srgbClr val="1E293B"/>
                          </a:solidFill>
                          <a:latin typeface="Calibri"/>
                        </a:defRPr>
                      </a:pPr>
                      <a:r>
                        <a:t>77.48%</a:t>
                      </a:r>
                    </a:p>
                  </a:txBody>
                  <a:tcPr>
                    <a:solidFill>
                      <a:srgbClr val="EAF1F8"/>
                    </a:solidFill>
                  </a:tcPr>
                </a:tc>
                <a:tc>
                  <a:txBody>
                    <a:bodyPr/>
                    <a:lstStyle/>
                    <a:p>
                      <a:pPr algn="ctr">
                        <a:defRPr sz="900">
                          <a:solidFill>
                            <a:srgbClr val="1E293B"/>
                          </a:solidFill>
                          <a:latin typeface="Calibri"/>
                        </a:defRPr>
                      </a:pPr>
                      <a:r>
                        <a:t>0.7743</a:t>
                      </a:r>
                    </a:p>
                  </a:txBody>
                  <a:tcPr>
                    <a:solidFill>
                      <a:srgbClr val="EAF1F8"/>
                    </a:solidFill>
                  </a:tcPr>
                </a:tc>
                <a:tc>
                  <a:txBody>
                    <a:bodyPr/>
                    <a:lstStyle/>
                    <a:p>
                      <a:pPr algn="ctr">
                        <a:defRPr sz="900">
                          <a:solidFill>
                            <a:srgbClr val="1E293B"/>
                          </a:solidFill>
                          <a:latin typeface="Calibri"/>
                        </a:defRPr>
                      </a:pPr>
                      <a:r>
                        <a:t>0.7824</a:t>
                      </a:r>
                    </a:p>
                  </a:txBody>
                  <a:tcPr>
                    <a:solidFill>
                      <a:srgbClr val="EAF1F8"/>
                    </a:solidFill>
                  </a:tcPr>
                </a:tc>
                <a:tc>
                  <a:txBody>
                    <a:bodyPr/>
                    <a:lstStyle/>
                    <a:p>
                      <a:pPr algn="ctr">
                        <a:defRPr sz="900">
                          <a:solidFill>
                            <a:srgbClr val="1E293B"/>
                          </a:solidFill>
                          <a:latin typeface="Calibri"/>
                        </a:defRPr>
                      </a:pPr>
                      <a:r>
                        <a:t>0.01 s</a:t>
                      </a:r>
                    </a:p>
                  </a:txBody>
                  <a:tcPr>
                    <a:solidFill>
                      <a:srgbClr val="EAF1F8"/>
                    </a:solidFill>
                  </a:tcPr>
                </a:tc>
              </a:tr>
            </a:tbl>
          </a:graphicData>
        </a:graphic>
      </p:graphicFrame>
      <p:sp>
        <p:nvSpPr>
          <p:cNvPr id="14" name="TextBox 13"/>
          <p:cNvSpPr txBox="1"/>
          <p:nvPr/>
        </p:nvSpPr>
        <p:spPr>
          <a:xfrm>
            <a:off x="6355080" y="4709160"/>
            <a:ext cx="5148072" cy="1417320"/>
          </a:xfrm>
          <a:prstGeom prst="rect">
            <a:avLst/>
          </a:prstGeom>
          <a:noFill/>
        </p:spPr>
        <p:txBody>
          <a:bodyPr wrap="square" lIns="0" rIns="0" tIns="0">
            <a:spAutoFit/>
          </a:bodyPr>
          <a:lstStyle/>
          <a:p/>
          <a:p>
            <a:pPr>
              <a:spcBef>
                <a:spcPts val="500"/>
              </a:spcBef>
            </a:pPr>
            <a:r>
              <a:rPr b="1" sz="1050">
                <a:solidFill>
                  <a:srgbClr val="0A1A30"/>
                </a:solidFill>
              </a:rPr>
              <a:t>✔ Exceeded 75.0% Requirement: </a:t>
            </a:r>
            <a:r>
              <a:rPr sz="1000">
                <a:solidFill>
                  <a:srgbClr val="1E293B"/>
                </a:solidFill>
              </a:rPr>
              <a:t>All models exceeded threshold; SVM achieved 88.59% accuracy &amp; 0.8971 Macro F1.</a:t>
            </a:r>
          </a:p>
          <a:p>
            <a:pPr>
              <a:spcBef>
                <a:spcPts val="500"/>
              </a:spcBef>
            </a:pPr>
            <a:r>
              <a:rPr b="1" sz="1050">
                <a:solidFill>
                  <a:srgbClr val="0A1A30"/>
                </a:solidFill>
              </a:rPr>
              <a:t>✔ Ensemble Probability Pooling: </a:t>
            </a:r>
            <a:r>
              <a:rPr sz="1000">
                <a:solidFill>
                  <a:srgbClr val="1E293B"/>
                </a:solidFill>
              </a:rPr>
              <a:t>Soft Voting achieved 87.99% accuracy &amp; 90.41% precision with calibrated probabilities.</a:t>
            </a:r>
          </a:p>
          <a:p>
            <a:pPr>
              <a:spcBef>
                <a:spcPts val="500"/>
              </a:spcBef>
            </a:pPr>
            <a:r>
              <a:rPr b="1" sz="1050">
                <a:solidFill>
                  <a:srgbClr val="0A1A30"/>
                </a:solidFill>
              </a:rPr>
              <a:t>✔ Sub-3 Second Total Training: </a:t>
            </a:r>
            <a:r>
              <a:rPr sz="1000">
                <a:solidFill>
                  <a:srgbClr val="1E293B"/>
                </a:solidFill>
              </a:rPr>
              <a:t>All models train in under 3 seconds on standard CPU hardware.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ERROR DIAGNOSTICS &amp; CONFUSION MATRIX</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Confusion Matrix Analysis &amp; Clinical Decision Boundaries</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11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100" b="1">
                <a:solidFill>
                  <a:srgbClr val="0D9488"/>
                </a:solidFill>
                <a:latin typeface="Calibri"/>
              </a:defRPr>
            </a:pPr>
            <a:r>
              <a:t>SOFT VOTING CONFUSION MATRIX (8x8)</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est_model_confusion_matrix.png"/>
          <p:cNvPicPr>
            <a:picLocks noChangeAspect="1"/>
          </p:cNvPicPr>
          <p:nvPr/>
        </p:nvPicPr>
        <p:blipFill>
          <a:blip r:embed="rId2"/>
          <a:stretch>
            <a:fillRect/>
          </a:stretch>
        </p:blipFill>
        <p:spPr>
          <a:xfrm>
            <a:off x="777240" y="1783080"/>
            <a:ext cx="4937760" cy="4297680"/>
          </a:xfrm>
          <a:prstGeom prst="rect">
            <a:avLst/>
          </a:prstGeom>
        </p:spPr>
      </p:pic>
      <p:sp>
        <p:nvSpPr>
          <p:cNvPr id="11" name="Rounded Rectangle 10"/>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E11D48"/>
                </a:solidFill>
                <a:latin typeface="Calibri"/>
              </a:defRPr>
            </a:pPr>
            <a:r>
              <a:t>CLINICAL ERROR PATTERNS</a:t>
            </a:r>
          </a:p>
          <a:p>
            <a:pPr>
              <a:spcBef>
                <a:spcPts val="400"/>
              </a:spcBef>
              <a:defRPr sz="1650" b="1">
                <a:solidFill>
                  <a:srgbClr val="0A1A30"/>
                </a:solidFill>
                <a:latin typeface="Cambria"/>
              </a:defRPr>
            </a:pPr>
            <a:r>
              <a:t>Diagnostic Boundary Inspection</a:t>
            </a:r>
          </a:p>
          <a:p>
            <a:pPr>
              <a:spcBef>
                <a:spcPts val="1200"/>
              </a:spcBef>
            </a:pPr>
            <a:r>
              <a:rPr b="1" sz="1200">
                <a:solidFill>
                  <a:srgbClr val="0A1A30"/>
                </a:solidFill>
              </a:rPr>
              <a:t>▪ Intense Diagonal Dominance
</a:t>
            </a:r>
            <a:r>
              <a:rPr sz="1050">
                <a:solidFill>
                  <a:srgbClr val="1E293B"/>
                </a:solidFill>
              </a:rPr>
              <a:t>295 / 333 True Positives (88.6%) showing clean specialty separation.</a:t>
            </a:r>
          </a:p>
          <a:p>
            <a:pPr>
              <a:spcBef>
                <a:spcPts val="1200"/>
              </a:spcBef>
            </a:pPr>
            <a:r>
              <a:rPr b="1" sz="1200">
                <a:solidFill>
                  <a:srgbClr val="0A1A30"/>
                </a:solidFill>
              </a:rPr>
              <a:t>▪ Flawless Ophthalmology
</a:t>
            </a:r>
            <a:r>
              <a:rPr sz="1050">
                <a:solidFill>
                  <a:srgbClr val="1E293B"/>
                </a:solidFill>
              </a:rPr>
              <a:t>17 / 17 correct (100% precision &amp; recall) due to unique eye surgery vocabulary.</a:t>
            </a:r>
          </a:p>
          <a:p>
            <a:pPr>
              <a:spcBef>
                <a:spcPts val="1200"/>
              </a:spcBef>
            </a:pPr>
            <a:r>
              <a:rPr b="1" sz="1200">
                <a:solidFill>
                  <a:srgbClr val="0A1A30"/>
                </a:solidFill>
              </a:rPr>
              <a:t>▪ Neurology vs Orthopedic Boundary
</a:t>
            </a:r>
            <a:r>
              <a:rPr sz="1050">
                <a:solidFill>
                  <a:srgbClr val="1E293B"/>
                </a:solidFill>
              </a:rPr>
              <a:t>6 of 10 false negatives in Neurology were predicted as Orthopedic (shared spine terms).</a:t>
            </a:r>
          </a:p>
          <a:p>
            <a:pPr>
              <a:spcBef>
                <a:spcPts val="1200"/>
              </a:spcBef>
            </a:pPr>
            <a:r>
              <a:rPr b="1" sz="1200">
                <a:solidFill>
                  <a:srgbClr val="0A1A30"/>
                </a:solidFill>
              </a:rPr>
              <a:t>▪ Urology &amp; OB/GYN Specificity
</a:t>
            </a:r>
            <a:r>
              <a:rPr sz="1050">
                <a:solidFill>
                  <a:srgbClr val="1E293B"/>
                </a:solidFill>
              </a:rPr>
              <a:t>Urology scored 97% precision (1 FP); OB/GYN achieved 93% precision across 31 cases.</a:t>
            </a:r>
          </a:p>
        </p:txBody>
      </p:sp>
      <p:sp>
        <p:nvSpPr>
          <p:cNvPr id="12" name="Rounded Rectangle 11"/>
          <p:cNvSpPr/>
          <p:nvPr/>
        </p:nvSpPr>
        <p:spPr>
          <a:xfrm>
            <a:off x="6236208" y="1371600"/>
            <a:ext cx="5385816"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CLASS-LEVEL PERFORMANCE BREAKDOWN</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Granular Classification Report across 8 Medical Specialties</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12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19456" rIns="219456" tIns="219456"/>
          <a:lstStyle/>
          <a:p>
            <a:pPr algn="ctr">
              <a:defRPr sz="1100" b="1">
                <a:solidFill>
                  <a:srgbClr val="0D9488"/>
                </a:solidFill>
                <a:latin typeface="Calibri"/>
              </a:defRPr>
            </a:pPr>
            <a:r>
              <a:t>PER-SPECIALTY CLASSIFICATION METRICS</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731520" y="1783080"/>
          <a:ext cx="5029200" cy="4297680"/>
        </p:xfrm>
        <a:graphic>
          <a:graphicData uri="http://schemas.openxmlformats.org/drawingml/2006/table">
            <a:tbl>
              <a:tblPr firstRow="1" bandRow="1">
                <a:tableStyleId>{5C22544A-7EE6-4342-B048-85BDC9FD1C3A}</a:tableStyleId>
              </a:tblPr>
              <a:tblGrid>
                <a:gridCol w="2011680"/>
                <a:gridCol w="594360"/>
                <a:gridCol w="594360"/>
                <a:gridCol w="594360"/>
                <a:gridCol w="594360"/>
                <a:gridCol w="640080"/>
              </a:tblGrid>
              <a:tr h="390698">
                <a:tc>
                  <a:txBody>
                    <a:bodyPr/>
                    <a:lstStyle/>
                    <a:p>
                      <a:pPr algn="l">
                        <a:defRPr sz="950" b="1">
                          <a:solidFill>
                            <a:srgbClr val="FFFFFF"/>
                          </a:solidFill>
                          <a:latin typeface="Calibri"/>
                        </a:defRPr>
                      </a:pPr>
                      <a:r>
                        <a:t>Specialty</a:t>
                      </a:r>
                    </a:p>
                  </a:txBody>
                  <a:tcPr>
                    <a:solidFill>
                      <a:srgbClr val="0A1A30"/>
                    </a:solidFill>
                  </a:tcPr>
                </a:tc>
                <a:tc>
                  <a:txBody>
                    <a:bodyPr/>
                    <a:lstStyle/>
                    <a:p>
                      <a:pPr algn="ctr">
                        <a:defRPr sz="950" b="1">
                          <a:solidFill>
                            <a:srgbClr val="FFFFFF"/>
                          </a:solidFill>
                          <a:latin typeface="Calibri"/>
                        </a:defRPr>
                      </a:pPr>
                      <a:r>
                        <a:t>TP</a:t>
                      </a:r>
                    </a:p>
                  </a:txBody>
                  <a:tcPr>
                    <a:solidFill>
                      <a:srgbClr val="0A1A30"/>
                    </a:solidFill>
                  </a:tcPr>
                </a:tc>
                <a:tc>
                  <a:txBody>
                    <a:bodyPr/>
                    <a:lstStyle/>
                    <a:p>
                      <a:pPr algn="ctr">
                        <a:defRPr sz="950" b="1">
                          <a:solidFill>
                            <a:srgbClr val="FFFFFF"/>
                          </a:solidFill>
                          <a:latin typeface="Calibri"/>
                        </a:defRPr>
                      </a:pPr>
                      <a:r>
                        <a:t>Prec</a:t>
                      </a:r>
                    </a:p>
                  </a:txBody>
                  <a:tcPr>
                    <a:solidFill>
                      <a:srgbClr val="0A1A30"/>
                    </a:solidFill>
                  </a:tcPr>
                </a:tc>
                <a:tc>
                  <a:txBody>
                    <a:bodyPr/>
                    <a:lstStyle/>
                    <a:p>
                      <a:pPr algn="ctr">
                        <a:defRPr sz="950" b="1">
                          <a:solidFill>
                            <a:srgbClr val="FFFFFF"/>
                          </a:solidFill>
                          <a:latin typeface="Calibri"/>
                        </a:defRPr>
                      </a:pPr>
                      <a:r>
                        <a:t>Recall</a:t>
                      </a:r>
                    </a:p>
                  </a:txBody>
                  <a:tcPr>
                    <a:solidFill>
                      <a:srgbClr val="0A1A30"/>
                    </a:solidFill>
                  </a:tcPr>
                </a:tc>
                <a:tc>
                  <a:txBody>
                    <a:bodyPr/>
                    <a:lstStyle/>
                    <a:p>
                      <a:pPr algn="ctr">
                        <a:defRPr sz="950" b="1">
                          <a:solidFill>
                            <a:srgbClr val="FFFFFF"/>
                          </a:solidFill>
                          <a:latin typeface="Calibri"/>
                        </a:defRPr>
                      </a:pPr>
                      <a:r>
                        <a:t>F1</a:t>
                      </a:r>
                    </a:p>
                  </a:txBody>
                  <a:tcPr>
                    <a:solidFill>
                      <a:srgbClr val="0A1A30"/>
                    </a:solidFill>
                  </a:tcPr>
                </a:tc>
                <a:tc>
                  <a:txBody>
                    <a:bodyPr/>
                    <a:lstStyle/>
                    <a:p>
                      <a:pPr algn="ctr">
                        <a:defRPr sz="950" b="1">
                          <a:solidFill>
                            <a:srgbClr val="FFFFFF"/>
                          </a:solidFill>
                          <a:latin typeface="Calibri"/>
                        </a:defRPr>
                      </a:pPr>
                      <a:r>
                        <a:t>Support</a:t>
                      </a:r>
                    </a:p>
                  </a:txBody>
                  <a:tcPr>
                    <a:solidFill>
                      <a:srgbClr val="0A1A30"/>
                    </a:solidFill>
                  </a:tcPr>
                </a:tc>
              </a:tr>
              <a:tr h="390698">
                <a:tc>
                  <a:txBody>
                    <a:bodyPr/>
                    <a:lstStyle/>
                    <a:p>
                      <a:pPr algn="l">
                        <a:defRPr sz="850" b="1">
                          <a:solidFill>
                            <a:srgbClr val="1E293B"/>
                          </a:solidFill>
                          <a:latin typeface="Calibri"/>
                        </a:defRPr>
                      </a:pPr>
                      <a:r>
                        <a:t>Cardiovascular / Pulm.</a:t>
                      </a:r>
                    </a:p>
                  </a:txBody>
                  <a:tcPr>
                    <a:solidFill>
                      <a:srgbClr val="FFFFFF"/>
                    </a:solidFill>
                  </a:tcPr>
                </a:tc>
                <a:tc>
                  <a:txBody>
                    <a:bodyPr/>
                    <a:lstStyle/>
                    <a:p>
                      <a:pPr algn="ctr">
                        <a:defRPr sz="850">
                          <a:solidFill>
                            <a:srgbClr val="1E293B"/>
                          </a:solidFill>
                          <a:latin typeface="Calibri"/>
                        </a:defRPr>
                      </a:pPr>
                      <a:r>
                        <a:t>68</a:t>
                      </a:r>
                    </a:p>
                  </a:txBody>
                  <a:tcPr>
                    <a:solidFill>
                      <a:srgbClr val="FFFFFF"/>
                    </a:solidFill>
                  </a:tcPr>
                </a:tc>
                <a:tc>
                  <a:txBody>
                    <a:bodyPr/>
                    <a:lstStyle/>
                    <a:p>
                      <a:pPr algn="ctr">
                        <a:defRPr sz="850">
                          <a:solidFill>
                            <a:srgbClr val="1E293B"/>
                          </a:solidFill>
                          <a:latin typeface="Calibri"/>
                        </a:defRPr>
                      </a:pPr>
                      <a:r>
                        <a:t>0.88</a:t>
                      </a:r>
                    </a:p>
                  </a:txBody>
                  <a:tcPr>
                    <a:solidFill>
                      <a:srgbClr val="FFFFFF"/>
                    </a:solidFill>
                  </a:tcPr>
                </a:tc>
                <a:tc>
                  <a:txBody>
                    <a:bodyPr/>
                    <a:lstStyle/>
                    <a:p>
                      <a:pPr algn="ctr">
                        <a:defRPr sz="850">
                          <a:solidFill>
                            <a:srgbClr val="1E293B"/>
                          </a:solidFill>
                          <a:latin typeface="Calibri"/>
                        </a:defRPr>
                      </a:pPr>
                      <a:r>
                        <a:t>0.92</a:t>
                      </a:r>
                    </a:p>
                  </a:txBody>
                  <a:tcPr>
                    <a:solidFill>
                      <a:srgbClr val="FFFFFF"/>
                    </a:solidFill>
                  </a:tcPr>
                </a:tc>
                <a:tc>
                  <a:txBody>
                    <a:bodyPr/>
                    <a:lstStyle/>
                    <a:p>
                      <a:pPr algn="ctr">
                        <a:defRPr sz="850">
                          <a:solidFill>
                            <a:srgbClr val="1E293B"/>
                          </a:solidFill>
                          <a:latin typeface="Calibri"/>
                        </a:defRPr>
                      </a:pPr>
                      <a:r>
                        <a:t>0.90</a:t>
                      </a:r>
                    </a:p>
                  </a:txBody>
                  <a:tcPr>
                    <a:solidFill>
                      <a:srgbClr val="FFFFFF"/>
                    </a:solidFill>
                  </a:tcPr>
                </a:tc>
                <a:tc>
                  <a:txBody>
                    <a:bodyPr/>
                    <a:lstStyle/>
                    <a:p>
                      <a:pPr algn="ctr">
                        <a:defRPr sz="850">
                          <a:solidFill>
                            <a:srgbClr val="1E293B"/>
                          </a:solidFill>
                          <a:latin typeface="Calibri"/>
                        </a:defRPr>
                      </a:pPr>
                      <a:r>
                        <a:t>74</a:t>
                      </a:r>
                    </a:p>
                  </a:txBody>
                  <a:tcPr>
                    <a:solidFill>
                      <a:srgbClr val="FFFFFF"/>
                    </a:solidFill>
                  </a:tcPr>
                </a:tc>
              </a:tr>
              <a:tr h="390698">
                <a:tc>
                  <a:txBody>
                    <a:bodyPr/>
                    <a:lstStyle/>
                    <a:p>
                      <a:pPr algn="l">
                        <a:defRPr sz="850" b="1">
                          <a:solidFill>
                            <a:srgbClr val="1E293B"/>
                          </a:solidFill>
                          <a:latin typeface="Calibri"/>
                        </a:defRPr>
                      </a:pPr>
                      <a:r>
                        <a:t>ENT - Otolaryngology</a:t>
                      </a:r>
                    </a:p>
                  </a:txBody>
                  <a:tcPr>
                    <a:solidFill>
                      <a:srgbClr val="EAF1F8"/>
                    </a:solidFill>
                  </a:tcPr>
                </a:tc>
                <a:tc>
                  <a:txBody>
                    <a:bodyPr/>
                    <a:lstStyle/>
                    <a:p>
                      <a:pPr algn="ctr">
                        <a:defRPr sz="850">
                          <a:solidFill>
                            <a:srgbClr val="1E293B"/>
                          </a:solidFill>
                          <a:latin typeface="Calibri"/>
                        </a:defRPr>
                      </a:pPr>
                      <a:r>
                        <a:t>16</a:t>
                      </a:r>
                    </a:p>
                  </a:txBody>
                  <a:tcPr>
                    <a:solidFill>
                      <a:srgbClr val="EAF1F8"/>
                    </a:solidFill>
                  </a:tcPr>
                </a:tc>
                <a:tc>
                  <a:txBody>
                    <a:bodyPr/>
                    <a:lstStyle/>
                    <a:p>
                      <a:pPr algn="ctr">
                        <a:defRPr sz="850">
                          <a:solidFill>
                            <a:srgbClr val="1E293B"/>
                          </a:solidFill>
                          <a:latin typeface="Calibri"/>
                        </a:defRPr>
                      </a:pPr>
                      <a:r>
                        <a:t>0.94</a:t>
                      </a:r>
                    </a:p>
                  </a:txBody>
                  <a:tcPr>
                    <a:solidFill>
                      <a:srgbClr val="EAF1F8"/>
                    </a:solidFill>
                  </a:tcPr>
                </a:tc>
                <a:tc>
                  <a:txBody>
                    <a:bodyPr/>
                    <a:lstStyle/>
                    <a:p>
                      <a:pPr algn="ctr">
                        <a:defRPr sz="850">
                          <a:solidFill>
                            <a:srgbClr val="1E293B"/>
                          </a:solidFill>
                          <a:latin typeface="Calibri"/>
                        </a:defRPr>
                      </a:pPr>
                      <a:r>
                        <a:t>0.84</a:t>
                      </a:r>
                    </a:p>
                  </a:txBody>
                  <a:tcPr>
                    <a:solidFill>
                      <a:srgbClr val="EAF1F8"/>
                    </a:solidFill>
                  </a:tcPr>
                </a:tc>
                <a:tc>
                  <a:txBody>
                    <a:bodyPr/>
                    <a:lstStyle/>
                    <a:p>
                      <a:pPr algn="ctr">
                        <a:defRPr sz="850">
                          <a:solidFill>
                            <a:srgbClr val="1E293B"/>
                          </a:solidFill>
                          <a:latin typeface="Calibri"/>
                        </a:defRPr>
                      </a:pPr>
                      <a:r>
                        <a:t>0.89</a:t>
                      </a:r>
                    </a:p>
                  </a:txBody>
                  <a:tcPr>
                    <a:solidFill>
                      <a:srgbClr val="EAF1F8"/>
                    </a:solidFill>
                  </a:tcPr>
                </a:tc>
                <a:tc>
                  <a:txBody>
                    <a:bodyPr/>
                    <a:lstStyle/>
                    <a:p>
                      <a:pPr algn="ctr">
                        <a:defRPr sz="850">
                          <a:solidFill>
                            <a:srgbClr val="1E293B"/>
                          </a:solidFill>
                          <a:latin typeface="Calibri"/>
                        </a:defRPr>
                      </a:pPr>
                      <a:r>
                        <a:t>19</a:t>
                      </a:r>
                    </a:p>
                  </a:txBody>
                  <a:tcPr>
                    <a:solidFill>
                      <a:srgbClr val="EAF1F8"/>
                    </a:solidFill>
                  </a:tcPr>
                </a:tc>
              </a:tr>
              <a:tr h="390698">
                <a:tc>
                  <a:txBody>
                    <a:bodyPr/>
                    <a:lstStyle/>
                    <a:p>
                      <a:pPr algn="l">
                        <a:defRPr sz="850" b="1">
                          <a:solidFill>
                            <a:srgbClr val="1E293B"/>
                          </a:solidFill>
                          <a:latin typeface="Calibri"/>
                        </a:defRPr>
                      </a:pPr>
                      <a:r>
                        <a:t>Gastroenterology</a:t>
                      </a:r>
                    </a:p>
                  </a:txBody>
                  <a:tcPr>
                    <a:solidFill>
                      <a:srgbClr val="FFFFFF"/>
                    </a:solidFill>
                  </a:tcPr>
                </a:tc>
                <a:tc>
                  <a:txBody>
                    <a:bodyPr/>
                    <a:lstStyle/>
                    <a:p>
                      <a:pPr algn="ctr">
                        <a:defRPr sz="850">
                          <a:solidFill>
                            <a:srgbClr val="1E293B"/>
                          </a:solidFill>
                          <a:latin typeface="Calibri"/>
                        </a:defRPr>
                      </a:pPr>
                      <a:r>
                        <a:t>40</a:t>
                      </a:r>
                    </a:p>
                  </a:txBody>
                  <a:tcPr>
                    <a:solidFill>
                      <a:srgbClr val="FFFFFF"/>
                    </a:solidFill>
                  </a:tcPr>
                </a:tc>
                <a:tc>
                  <a:txBody>
                    <a:bodyPr/>
                    <a:lstStyle/>
                    <a:p>
                      <a:pPr algn="ctr">
                        <a:defRPr sz="850">
                          <a:solidFill>
                            <a:srgbClr val="1E293B"/>
                          </a:solidFill>
                          <a:latin typeface="Calibri"/>
                        </a:defRPr>
                      </a:pPr>
                      <a:r>
                        <a:t>0.87</a:t>
                      </a:r>
                    </a:p>
                  </a:txBody>
                  <a:tcPr>
                    <a:solidFill>
                      <a:srgbClr val="FFFFFF"/>
                    </a:solidFill>
                  </a:tcPr>
                </a:tc>
                <a:tc>
                  <a:txBody>
                    <a:bodyPr/>
                    <a:lstStyle/>
                    <a:p>
                      <a:pPr algn="ctr">
                        <a:defRPr sz="850">
                          <a:solidFill>
                            <a:srgbClr val="1E293B"/>
                          </a:solidFill>
                          <a:latin typeface="Calibri"/>
                        </a:defRPr>
                      </a:pPr>
                      <a:r>
                        <a:t>0.89</a:t>
                      </a:r>
                    </a:p>
                  </a:txBody>
                  <a:tcPr>
                    <a:solidFill>
                      <a:srgbClr val="FFFFFF"/>
                    </a:solidFill>
                  </a:tcPr>
                </a:tc>
                <a:tc>
                  <a:txBody>
                    <a:bodyPr/>
                    <a:lstStyle/>
                    <a:p>
                      <a:pPr algn="ctr">
                        <a:defRPr sz="850">
                          <a:solidFill>
                            <a:srgbClr val="1E293B"/>
                          </a:solidFill>
                          <a:latin typeface="Calibri"/>
                        </a:defRPr>
                      </a:pPr>
                      <a:r>
                        <a:t>0.88</a:t>
                      </a:r>
                    </a:p>
                  </a:txBody>
                  <a:tcPr>
                    <a:solidFill>
                      <a:srgbClr val="FFFFFF"/>
                    </a:solidFill>
                  </a:tcPr>
                </a:tc>
                <a:tc>
                  <a:txBody>
                    <a:bodyPr/>
                    <a:lstStyle/>
                    <a:p>
                      <a:pPr algn="ctr">
                        <a:defRPr sz="850">
                          <a:solidFill>
                            <a:srgbClr val="1E293B"/>
                          </a:solidFill>
                          <a:latin typeface="Calibri"/>
                        </a:defRPr>
                      </a:pPr>
                      <a:r>
                        <a:t>45</a:t>
                      </a:r>
                    </a:p>
                  </a:txBody>
                  <a:tcPr>
                    <a:solidFill>
                      <a:srgbClr val="FFFFFF"/>
                    </a:solidFill>
                  </a:tcPr>
                </a:tc>
              </a:tr>
              <a:tr h="390698">
                <a:tc>
                  <a:txBody>
                    <a:bodyPr/>
                    <a:lstStyle/>
                    <a:p>
                      <a:pPr algn="l">
                        <a:defRPr sz="850" b="1">
                          <a:solidFill>
                            <a:srgbClr val="1E293B"/>
                          </a:solidFill>
                          <a:latin typeface="Calibri"/>
                        </a:defRPr>
                      </a:pPr>
                      <a:r>
                        <a:t>Neurology</a:t>
                      </a:r>
                    </a:p>
                  </a:txBody>
                  <a:tcPr>
                    <a:solidFill>
                      <a:srgbClr val="EAF1F8"/>
                    </a:solidFill>
                  </a:tcPr>
                </a:tc>
                <a:tc>
                  <a:txBody>
                    <a:bodyPr/>
                    <a:lstStyle/>
                    <a:p>
                      <a:pPr algn="ctr">
                        <a:defRPr sz="850">
                          <a:solidFill>
                            <a:srgbClr val="1E293B"/>
                          </a:solidFill>
                          <a:latin typeface="Calibri"/>
                        </a:defRPr>
                      </a:pPr>
                      <a:r>
                        <a:t>35</a:t>
                      </a:r>
                    </a:p>
                  </a:txBody>
                  <a:tcPr>
                    <a:solidFill>
                      <a:srgbClr val="EAF1F8"/>
                    </a:solidFill>
                  </a:tcPr>
                </a:tc>
                <a:tc>
                  <a:txBody>
                    <a:bodyPr/>
                    <a:lstStyle/>
                    <a:p>
                      <a:pPr algn="ctr">
                        <a:defRPr sz="850">
                          <a:solidFill>
                            <a:srgbClr val="1E293B"/>
                          </a:solidFill>
                          <a:latin typeface="Calibri"/>
                        </a:defRPr>
                      </a:pPr>
                      <a:r>
                        <a:t>0.76</a:t>
                      </a:r>
                    </a:p>
                  </a:txBody>
                  <a:tcPr>
                    <a:solidFill>
                      <a:srgbClr val="EAF1F8"/>
                    </a:solidFill>
                  </a:tcPr>
                </a:tc>
                <a:tc>
                  <a:txBody>
                    <a:bodyPr/>
                    <a:lstStyle/>
                    <a:p>
                      <a:pPr algn="ctr">
                        <a:defRPr sz="850">
                          <a:solidFill>
                            <a:srgbClr val="1E293B"/>
                          </a:solidFill>
                          <a:latin typeface="Calibri"/>
                        </a:defRPr>
                      </a:pPr>
                      <a:r>
                        <a:t>0.78</a:t>
                      </a:r>
                    </a:p>
                  </a:txBody>
                  <a:tcPr>
                    <a:solidFill>
                      <a:srgbClr val="EAF1F8"/>
                    </a:solidFill>
                  </a:tcPr>
                </a:tc>
                <a:tc>
                  <a:txBody>
                    <a:bodyPr/>
                    <a:lstStyle/>
                    <a:p>
                      <a:pPr algn="ctr">
                        <a:defRPr sz="850">
                          <a:solidFill>
                            <a:srgbClr val="1E293B"/>
                          </a:solidFill>
                          <a:latin typeface="Calibri"/>
                        </a:defRPr>
                      </a:pPr>
                      <a:r>
                        <a:t>0.77</a:t>
                      </a:r>
                    </a:p>
                  </a:txBody>
                  <a:tcPr>
                    <a:solidFill>
                      <a:srgbClr val="EAF1F8"/>
                    </a:solidFill>
                  </a:tcPr>
                </a:tc>
                <a:tc>
                  <a:txBody>
                    <a:bodyPr/>
                    <a:lstStyle/>
                    <a:p>
                      <a:pPr algn="ctr">
                        <a:defRPr sz="850">
                          <a:solidFill>
                            <a:srgbClr val="1E293B"/>
                          </a:solidFill>
                          <a:latin typeface="Calibri"/>
                        </a:defRPr>
                      </a:pPr>
                      <a:r>
                        <a:t>45</a:t>
                      </a:r>
                    </a:p>
                  </a:txBody>
                  <a:tcPr>
                    <a:solidFill>
                      <a:srgbClr val="EAF1F8"/>
                    </a:solidFill>
                  </a:tcPr>
                </a:tc>
              </a:tr>
              <a:tr h="390698">
                <a:tc>
                  <a:txBody>
                    <a:bodyPr/>
                    <a:lstStyle/>
                    <a:p>
                      <a:pPr algn="l">
                        <a:defRPr sz="850" b="1">
                          <a:solidFill>
                            <a:srgbClr val="1E293B"/>
                          </a:solidFill>
                          <a:latin typeface="Calibri"/>
                        </a:defRPr>
                      </a:pPr>
                      <a:r>
                        <a:t>Obstetrics / Gynecology</a:t>
                      </a:r>
                    </a:p>
                  </a:txBody>
                  <a:tcPr>
                    <a:solidFill>
                      <a:srgbClr val="FFFFFF"/>
                    </a:solidFill>
                  </a:tcPr>
                </a:tc>
                <a:tc>
                  <a:txBody>
                    <a:bodyPr/>
                    <a:lstStyle/>
                    <a:p>
                      <a:pPr algn="ctr">
                        <a:defRPr sz="850">
                          <a:solidFill>
                            <a:srgbClr val="1E293B"/>
                          </a:solidFill>
                          <a:latin typeface="Calibri"/>
                        </a:defRPr>
                      </a:pPr>
                      <a:r>
                        <a:t>28</a:t>
                      </a:r>
                    </a:p>
                  </a:txBody>
                  <a:tcPr>
                    <a:solidFill>
                      <a:srgbClr val="FFFFFF"/>
                    </a:solidFill>
                  </a:tcPr>
                </a:tc>
                <a:tc>
                  <a:txBody>
                    <a:bodyPr/>
                    <a:lstStyle/>
                    <a:p>
                      <a:pPr algn="ctr">
                        <a:defRPr sz="850">
                          <a:solidFill>
                            <a:srgbClr val="1E293B"/>
                          </a:solidFill>
                          <a:latin typeface="Calibri"/>
                        </a:defRPr>
                      </a:pPr>
                      <a:r>
                        <a:t>0.93</a:t>
                      </a:r>
                    </a:p>
                  </a:txBody>
                  <a:tcPr>
                    <a:solidFill>
                      <a:srgbClr val="FFFFFF"/>
                    </a:solidFill>
                  </a:tcPr>
                </a:tc>
                <a:tc>
                  <a:txBody>
                    <a:bodyPr/>
                    <a:lstStyle/>
                    <a:p>
                      <a:pPr algn="ctr">
                        <a:defRPr sz="850">
                          <a:solidFill>
                            <a:srgbClr val="1E293B"/>
                          </a:solidFill>
                          <a:latin typeface="Calibri"/>
                        </a:defRPr>
                      </a:pPr>
                      <a:r>
                        <a:t>0.90</a:t>
                      </a:r>
                    </a:p>
                  </a:txBody>
                  <a:tcPr>
                    <a:solidFill>
                      <a:srgbClr val="FFFFFF"/>
                    </a:solidFill>
                  </a:tcPr>
                </a:tc>
                <a:tc>
                  <a:txBody>
                    <a:bodyPr/>
                    <a:lstStyle/>
                    <a:p>
                      <a:pPr algn="ctr">
                        <a:defRPr sz="850">
                          <a:solidFill>
                            <a:srgbClr val="1E293B"/>
                          </a:solidFill>
                          <a:latin typeface="Calibri"/>
                        </a:defRPr>
                      </a:pPr>
                      <a:r>
                        <a:t>0.92</a:t>
                      </a:r>
                    </a:p>
                  </a:txBody>
                  <a:tcPr>
                    <a:solidFill>
                      <a:srgbClr val="FFFFFF"/>
                    </a:solidFill>
                  </a:tcPr>
                </a:tc>
                <a:tc>
                  <a:txBody>
                    <a:bodyPr/>
                    <a:lstStyle/>
                    <a:p>
                      <a:pPr algn="ctr">
                        <a:defRPr sz="850">
                          <a:solidFill>
                            <a:srgbClr val="1E293B"/>
                          </a:solidFill>
                          <a:latin typeface="Calibri"/>
                        </a:defRPr>
                      </a:pPr>
                      <a:r>
                        <a:t>31</a:t>
                      </a:r>
                    </a:p>
                  </a:txBody>
                  <a:tcPr>
                    <a:solidFill>
                      <a:srgbClr val="FFFFFF"/>
                    </a:solidFill>
                  </a:tcPr>
                </a:tc>
              </a:tr>
              <a:tr h="390698">
                <a:tc>
                  <a:txBody>
                    <a:bodyPr/>
                    <a:lstStyle/>
                    <a:p>
                      <a:pPr algn="l">
                        <a:defRPr sz="850" b="1">
                          <a:solidFill>
                            <a:srgbClr val="1E293B"/>
                          </a:solidFill>
                          <a:latin typeface="Calibri"/>
                        </a:defRPr>
                      </a:pPr>
                      <a:r>
                        <a:t>Ophthalmology</a:t>
                      </a:r>
                    </a:p>
                  </a:txBody>
                  <a:tcPr>
                    <a:solidFill>
                      <a:srgbClr val="DCFCE7"/>
                    </a:solidFill>
                  </a:tcPr>
                </a:tc>
                <a:tc>
                  <a:txBody>
                    <a:bodyPr/>
                    <a:lstStyle/>
                    <a:p>
                      <a:pPr algn="ctr">
                        <a:defRPr sz="850" b="1">
                          <a:solidFill>
                            <a:srgbClr val="1E293B"/>
                          </a:solidFill>
                          <a:latin typeface="Calibri"/>
                        </a:defRPr>
                      </a:pPr>
                      <a:r>
                        <a:t>17</a:t>
                      </a:r>
                    </a:p>
                  </a:txBody>
                  <a:tcPr>
                    <a:solidFill>
                      <a:srgbClr val="DCFCE7"/>
                    </a:solidFill>
                  </a:tcPr>
                </a:tc>
                <a:tc>
                  <a:txBody>
                    <a:bodyPr/>
                    <a:lstStyle/>
                    <a:p>
                      <a:pPr algn="ctr">
                        <a:defRPr sz="850" b="1">
                          <a:solidFill>
                            <a:srgbClr val="1E293B"/>
                          </a:solidFill>
                          <a:latin typeface="Calibri"/>
                        </a:defRPr>
                      </a:pPr>
                      <a:r>
                        <a:t>1.00</a:t>
                      </a:r>
                    </a:p>
                  </a:txBody>
                  <a:tcPr>
                    <a:solidFill>
                      <a:srgbClr val="DCFCE7"/>
                    </a:solidFill>
                  </a:tcPr>
                </a:tc>
                <a:tc>
                  <a:txBody>
                    <a:bodyPr/>
                    <a:lstStyle/>
                    <a:p>
                      <a:pPr algn="ctr">
                        <a:defRPr sz="850" b="1">
                          <a:solidFill>
                            <a:srgbClr val="1E293B"/>
                          </a:solidFill>
                          <a:latin typeface="Calibri"/>
                        </a:defRPr>
                      </a:pPr>
                      <a:r>
                        <a:t>1.00</a:t>
                      </a:r>
                    </a:p>
                  </a:txBody>
                  <a:tcPr>
                    <a:solidFill>
                      <a:srgbClr val="DCFCE7"/>
                    </a:solidFill>
                  </a:tcPr>
                </a:tc>
                <a:tc>
                  <a:txBody>
                    <a:bodyPr/>
                    <a:lstStyle/>
                    <a:p>
                      <a:pPr algn="ctr">
                        <a:defRPr sz="850" b="1">
                          <a:solidFill>
                            <a:srgbClr val="1E293B"/>
                          </a:solidFill>
                          <a:latin typeface="Calibri"/>
                        </a:defRPr>
                      </a:pPr>
                      <a:r>
                        <a:t>1.00</a:t>
                      </a:r>
                    </a:p>
                  </a:txBody>
                  <a:tcPr>
                    <a:solidFill>
                      <a:srgbClr val="DCFCE7"/>
                    </a:solidFill>
                  </a:tcPr>
                </a:tc>
                <a:tc>
                  <a:txBody>
                    <a:bodyPr/>
                    <a:lstStyle/>
                    <a:p>
                      <a:pPr algn="ctr">
                        <a:defRPr sz="850" b="1">
                          <a:solidFill>
                            <a:srgbClr val="1E293B"/>
                          </a:solidFill>
                          <a:latin typeface="Calibri"/>
                        </a:defRPr>
                      </a:pPr>
                      <a:r>
                        <a:t>17</a:t>
                      </a:r>
                    </a:p>
                  </a:txBody>
                  <a:tcPr>
                    <a:solidFill>
                      <a:srgbClr val="DCFCE7"/>
                    </a:solidFill>
                  </a:tcPr>
                </a:tc>
              </a:tr>
              <a:tr h="390698">
                <a:tc>
                  <a:txBody>
                    <a:bodyPr/>
                    <a:lstStyle/>
                    <a:p>
                      <a:pPr algn="l">
                        <a:defRPr sz="850" b="1">
                          <a:solidFill>
                            <a:srgbClr val="1E293B"/>
                          </a:solidFill>
                          <a:latin typeface="Calibri"/>
                        </a:defRPr>
                      </a:pPr>
                      <a:r>
                        <a:t>Orthopedic</a:t>
                      </a:r>
                    </a:p>
                  </a:txBody>
                  <a:tcPr>
                    <a:solidFill>
                      <a:srgbClr val="FFFFFF"/>
                    </a:solidFill>
                  </a:tcPr>
                </a:tc>
                <a:tc>
                  <a:txBody>
                    <a:bodyPr/>
                    <a:lstStyle/>
                    <a:p>
                      <a:pPr algn="ctr">
                        <a:defRPr sz="850">
                          <a:solidFill>
                            <a:srgbClr val="1E293B"/>
                          </a:solidFill>
                          <a:latin typeface="Calibri"/>
                        </a:defRPr>
                      </a:pPr>
                      <a:r>
                        <a:t>63</a:t>
                      </a:r>
                    </a:p>
                  </a:txBody>
                  <a:tcPr>
                    <a:solidFill>
                      <a:srgbClr val="FFFFFF"/>
                    </a:solidFill>
                  </a:tcPr>
                </a:tc>
                <a:tc>
                  <a:txBody>
                    <a:bodyPr/>
                    <a:lstStyle/>
                    <a:p>
                      <a:pPr algn="ctr">
                        <a:defRPr sz="850">
                          <a:solidFill>
                            <a:srgbClr val="1E293B"/>
                          </a:solidFill>
                          <a:latin typeface="Calibri"/>
                        </a:defRPr>
                      </a:pPr>
                      <a:r>
                        <a:t>0.89</a:t>
                      </a:r>
                    </a:p>
                  </a:txBody>
                  <a:tcPr>
                    <a:solidFill>
                      <a:srgbClr val="FFFFFF"/>
                    </a:solidFill>
                  </a:tcPr>
                </a:tc>
                <a:tc>
                  <a:txBody>
                    <a:bodyPr/>
                    <a:lstStyle/>
                    <a:p>
                      <a:pPr algn="ctr">
                        <a:defRPr sz="850">
                          <a:solidFill>
                            <a:srgbClr val="1E293B"/>
                          </a:solidFill>
                          <a:latin typeface="Calibri"/>
                        </a:defRPr>
                      </a:pPr>
                      <a:r>
                        <a:t>0.89</a:t>
                      </a:r>
                    </a:p>
                  </a:txBody>
                  <a:tcPr>
                    <a:solidFill>
                      <a:srgbClr val="FFFFFF"/>
                    </a:solidFill>
                  </a:tcPr>
                </a:tc>
                <a:tc>
                  <a:txBody>
                    <a:bodyPr/>
                    <a:lstStyle/>
                    <a:p>
                      <a:pPr algn="ctr">
                        <a:defRPr sz="850">
                          <a:solidFill>
                            <a:srgbClr val="1E293B"/>
                          </a:solidFill>
                          <a:latin typeface="Calibri"/>
                        </a:defRPr>
                      </a:pPr>
                      <a:r>
                        <a:t>0.89</a:t>
                      </a:r>
                    </a:p>
                  </a:txBody>
                  <a:tcPr>
                    <a:solidFill>
                      <a:srgbClr val="FFFFFF"/>
                    </a:solidFill>
                  </a:tcPr>
                </a:tc>
                <a:tc>
                  <a:txBody>
                    <a:bodyPr/>
                    <a:lstStyle/>
                    <a:p>
                      <a:pPr algn="ctr">
                        <a:defRPr sz="850">
                          <a:solidFill>
                            <a:srgbClr val="1E293B"/>
                          </a:solidFill>
                          <a:latin typeface="Calibri"/>
                        </a:defRPr>
                      </a:pPr>
                      <a:r>
                        <a:t>71</a:t>
                      </a:r>
                    </a:p>
                  </a:txBody>
                  <a:tcPr>
                    <a:solidFill>
                      <a:srgbClr val="FFFFFF"/>
                    </a:solidFill>
                  </a:tcPr>
                </a:tc>
              </a:tr>
              <a:tr h="390698">
                <a:tc>
                  <a:txBody>
                    <a:bodyPr/>
                    <a:lstStyle/>
                    <a:p>
                      <a:pPr algn="l">
                        <a:defRPr sz="850" b="1">
                          <a:solidFill>
                            <a:srgbClr val="1E293B"/>
                          </a:solidFill>
                          <a:latin typeface="Calibri"/>
                        </a:defRPr>
                      </a:pPr>
                      <a:r>
                        <a:t>Urology</a:t>
                      </a:r>
                    </a:p>
                  </a:txBody>
                  <a:tcPr>
                    <a:solidFill>
                      <a:srgbClr val="EAF1F8"/>
                    </a:solidFill>
                  </a:tcPr>
                </a:tc>
                <a:tc>
                  <a:txBody>
                    <a:bodyPr/>
                    <a:lstStyle/>
                    <a:p>
                      <a:pPr algn="ctr">
                        <a:defRPr sz="850">
                          <a:solidFill>
                            <a:srgbClr val="1E293B"/>
                          </a:solidFill>
                          <a:latin typeface="Calibri"/>
                        </a:defRPr>
                      </a:pPr>
                      <a:r>
                        <a:t>28</a:t>
                      </a:r>
                    </a:p>
                  </a:txBody>
                  <a:tcPr>
                    <a:solidFill>
                      <a:srgbClr val="EAF1F8"/>
                    </a:solidFill>
                  </a:tcPr>
                </a:tc>
                <a:tc>
                  <a:txBody>
                    <a:bodyPr/>
                    <a:lstStyle/>
                    <a:p>
                      <a:pPr algn="ctr">
                        <a:defRPr sz="850">
                          <a:solidFill>
                            <a:srgbClr val="1E293B"/>
                          </a:solidFill>
                          <a:latin typeface="Calibri"/>
                        </a:defRPr>
                      </a:pPr>
                      <a:r>
                        <a:t>0.97</a:t>
                      </a:r>
                    </a:p>
                  </a:txBody>
                  <a:tcPr>
                    <a:solidFill>
                      <a:srgbClr val="EAF1F8"/>
                    </a:solidFill>
                  </a:tcPr>
                </a:tc>
                <a:tc>
                  <a:txBody>
                    <a:bodyPr/>
                    <a:lstStyle/>
                    <a:p>
                      <a:pPr algn="ctr">
                        <a:defRPr sz="850">
                          <a:solidFill>
                            <a:srgbClr val="1E293B"/>
                          </a:solidFill>
                          <a:latin typeface="Calibri"/>
                        </a:defRPr>
                      </a:pPr>
                      <a:r>
                        <a:t>0.90</a:t>
                      </a:r>
                    </a:p>
                  </a:txBody>
                  <a:tcPr>
                    <a:solidFill>
                      <a:srgbClr val="EAF1F8"/>
                    </a:solidFill>
                  </a:tcPr>
                </a:tc>
                <a:tc>
                  <a:txBody>
                    <a:bodyPr/>
                    <a:lstStyle/>
                    <a:p>
                      <a:pPr algn="ctr">
                        <a:defRPr sz="850">
                          <a:solidFill>
                            <a:srgbClr val="1E293B"/>
                          </a:solidFill>
                          <a:latin typeface="Calibri"/>
                        </a:defRPr>
                      </a:pPr>
                      <a:r>
                        <a:t>0.93</a:t>
                      </a:r>
                    </a:p>
                  </a:txBody>
                  <a:tcPr>
                    <a:solidFill>
                      <a:srgbClr val="EAF1F8"/>
                    </a:solidFill>
                  </a:tcPr>
                </a:tc>
                <a:tc>
                  <a:txBody>
                    <a:bodyPr/>
                    <a:lstStyle/>
                    <a:p>
                      <a:pPr algn="ctr">
                        <a:defRPr sz="850">
                          <a:solidFill>
                            <a:srgbClr val="1E293B"/>
                          </a:solidFill>
                          <a:latin typeface="Calibri"/>
                        </a:defRPr>
                      </a:pPr>
                      <a:r>
                        <a:t>31</a:t>
                      </a:r>
                    </a:p>
                  </a:txBody>
                  <a:tcPr>
                    <a:solidFill>
                      <a:srgbClr val="EAF1F8"/>
                    </a:solidFill>
                  </a:tcPr>
                </a:tc>
              </a:tr>
              <a:tr h="390698">
                <a:tc>
                  <a:txBody>
                    <a:bodyPr/>
                    <a:lstStyle/>
                    <a:p>
                      <a:pPr algn="l">
                        <a:defRPr sz="850" b="1">
                          <a:solidFill>
                            <a:srgbClr val="1E293B"/>
                          </a:solidFill>
                          <a:latin typeface="Calibri"/>
                        </a:defRPr>
                      </a:pPr>
                      <a:r>
                        <a:t>Macro Average</a:t>
                      </a:r>
                    </a:p>
                  </a:txBody>
                  <a:tcPr>
                    <a:solidFill>
                      <a:srgbClr val="FEF3C7"/>
                    </a:solidFill>
                  </a:tcPr>
                </a:tc>
                <a:tc>
                  <a:txBody>
                    <a:bodyPr/>
                    <a:lstStyle/>
                    <a:p>
                      <a:pPr algn="ctr">
                        <a:defRPr sz="850" b="1">
                          <a:solidFill>
                            <a:srgbClr val="1E293B"/>
                          </a:solidFill>
                          <a:latin typeface="Calibri"/>
                        </a:defRPr>
                      </a:pPr>
                      <a:r>
                        <a:t>295</a:t>
                      </a:r>
                    </a:p>
                  </a:txBody>
                  <a:tcPr>
                    <a:solidFill>
                      <a:srgbClr val="FEF3C7"/>
                    </a:solidFill>
                  </a:tcPr>
                </a:tc>
                <a:tc>
                  <a:txBody>
                    <a:bodyPr/>
                    <a:lstStyle/>
                    <a:p>
                      <a:pPr algn="ctr">
                        <a:defRPr sz="850" b="1">
                          <a:solidFill>
                            <a:srgbClr val="1E293B"/>
                          </a:solidFill>
                          <a:latin typeface="Calibri"/>
                        </a:defRPr>
                      </a:pPr>
                      <a:r>
                        <a:t>0.91</a:t>
                      </a:r>
                    </a:p>
                  </a:txBody>
                  <a:tcPr>
                    <a:solidFill>
                      <a:srgbClr val="FEF3C7"/>
                    </a:solidFill>
                  </a:tcPr>
                </a:tc>
                <a:tc>
                  <a:txBody>
                    <a:bodyPr/>
                    <a:lstStyle/>
                    <a:p>
                      <a:pPr algn="ctr">
                        <a:defRPr sz="850" b="1">
                          <a:solidFill>
                            <a:srgbClr val="1E293B"/>
                          </a:solidFill>
                          <a:latin typeface="Calibri"/>
                        </a:defRPr>
                      </a:pPr>
                      <a:r>
                        <a:t>0.89</a:t>
                      </a:r>
                    </a:p>
                  </a:txBody>
                  <a:tcPr>
                    <a:solidFill>
                      <a:srgbClr val="FEF3C7"/>
                    </a:solidFill>
                  </a:tcPr>
                </a:tc>
                <a:tc>
                  <a:txBody>
                    <a:bodyPr/>
                    <a:lstStyle/>
                    <a:p>
                      <a:pPr algn="ctr">
                        <a:defRPr sz="850" b="1">
                          <a:solidFill>
                            <a:srgbClr val="1E293B"/>
                          </a:solidFill>
                          <a:latin typeface="Calibri"/>
                        </a:defRPr>
                      </a:pPr>
                      <a:r>
                        <a:t>0.90</a:t>
                      </a:r>
                    </a:p>
                  </a:txBody>
                  <a:tcPr>
                    <a:solidFill>
                      <a:srgbClr val="FEF3C7"/>
                    </a:solidFill>
                  </a:tcPr>
                </a:tc>
                <a:tc>
                  <a:txBody>
                    <a:bodyPr/>
                    <a:lstStyle/>
                    <a:p>
                      <a:pPr algn="ctr">
                        <a:defRPr sz="850" b="1">
                          <a:solidFill>
                            <a:srgbClr val="1E293B"/>
                          </a:solidFill>
                          <a:latin typeface="Calibri"/>
                        </a:defRPr>
                      </a:pPr>
                      <a:r>
                        <a:t>333</a:t>
                      </a:r>
                    </a:p>
                  </a:txBody>
                  <a:tcPr>
                    <a:solidFill>
                      <a:srgbClr val="FEF3C7"/>
                    </a:solidFill>
                  </a:tcPr>
                </a:tc>
              </a:tr>
              <a:tr h="390700">
                <a:tc>
                  <a:txBody>
                    <a:bodyPr/>
                    <a:lstStyle/>
                    <a:p>
                      <a:pPr algn="l">
                        <a:defRPr sz="850" b="1">
                          <a:solidFill>
                            <a:srgbClr val="1E293B"/>
                          </a:solidFill>
                          <a:latin typeface="Calibri"/>
                        </a:defRPr>
                      </a:pPr>
                      <a:r>
                        <a:t>Weighted Average</a:t>
                      </a:r>
                    </a:p>
                  </a:txBody>
                  <a:tcPr>
                    <a:solidFill>
                      <a:srgbClr val="FEF3C7"/>
                    </a:solidFill>
                  </a:tcPr>
                </a:tc>
                <a:tc>
                  <a:txBody>
                    <a:bodyPr/>
                    <a:lstStyle/>
                    <a:p>
                      <a:pPr algn="ctr">
                        <a:defRPr sz="850" b="1">
                          <a:solidFill>
                            <a:srgbClr val="1E293B"/>
                          </a:solidFill>
                          <a:latin typeface="Calibri"/>
                        </a:defRPr>
                      </a:pPr>
                      <a:r>
                        <a:t>---</a:t>
                      </a:r>
                    </a:p>
                  </a:txBody>
                  <a:tcPr>
                    <a:solidFill>
                      <a:srgbClr val="FEF3C7"/>
                    </a:solidFill>
                  </a:tcPr>
                </a:tc>
                <a:tc>
                  <a:txBody>
                    <a:bodyPr/>
                    <a:lstStyle/>
                    <a:p>
                      <a:pPr algn="ctr">
                        <a:defRPr sz="850" b="1">
                          <a:solidFill>
                            <a:srgbClr val="1E293B"/>
                          </a:solidFill>
                          <a:latin typeface="Calibri"/>
                        </a:defRPr>
                      </a:pPr>
                      <a:r>
                        <a:t>0.89</a:t>
                      </a:r>
                    </a:p>
                  </a:txBody>
                  <a:tcPr>
                    <a:solidFill>
                      <a:srgbClr val="FEF3C7"/>
                    </a:solidFill>
                  </a:tcPr>
                </a:tc>
                <a:tc>
                  <a:txBody>
                    <a:bodyPr/>
                    <a:lstStyle/>
                    <a:p>
                      <a:pPr algn="ctr">
                        <a:defRPr sz="850" b="1">
                          <a:solidFill>
                            <a:srgbClr val="1E293B"/>
                          </a:solidFill>
                          <a:latin typeface="Calibri"/>
                        </a:defRPr>
                      </a:pPr>
                      <a:r>
                        <a:t>0.89</a:t>
                      </a:r>
                    </a:p>
                  </a:txBody>
                  <a:tcPr>
                    <a:solidFill>
                      <a:srgbClr val="FEF3C7"/>
                    </a:solidFill>
                  </a:tcPr>
                </a:tc>
                <a:tc>
                  <a:txBody>
                    <a:bodyPr/>
                    <a:lstStyle/>
                    <a:p>
                      <a:pPr algn="ctr">
                        <a:defRPr sz="850" b="1">
                          <a:solidFill>
                            <a:srgbClr val="1E293B"/>
                          </a:solidFill>
                          <a:latin typeface="Calibri"/>
                        </a:defRPr>
                      </a:pPr>
                      <a:r>
                        <a:t>0.89</a:t>
                      </a:r>
                    </a:p>
                  </a:txBody>
                  <a:tcPr>
                    <a:solidFill>
                      <a:srgbClr val="FEF3C7"/>
                    </a:solidFill>
                  </a:tcPr>
                </a:tc>
                <a:tc>
                  <a:txBody>
                    <a:bodyPr/>
                    <a:lstStyle/>
                    <a:p>
                      <a:pPr algn="ctr">
                        <a:defRPr sz="850" b="1">
                          <a:solidFill>
                            <a:srgbClr val="1E293B"/>
                          </a:solidFill>
                          <a:latin typeface="Calibri"/>
                        </a:defRPr>
                      </a:pPr>
                      <a:r>
                        <a:t>333</a:t>
                      </a:r>
                    </a:p>
                  </a:txBody>
                  <a:tcPr>
                    <a:solidFill>
                      <a:srgbClr val="FEF3C7"/>
                    </a:solidFill>
                  </a:tcPr>
                </a:tc>
              </a:tr>
            </a:tbl>
          </a:graphicData>
        </a:graphic>
      </p:graphicFrame>
      <p:sp>
        <p:nvSpPr>
          <p:cNvPr id="11" name="Rounded Rectangle 10"/>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2563EB"/>
                </a:solidFill>
                <a:latin typeface="Calibri"/>
              </a:defRPr>
            </a:pPr>
            <a:r>
              <a:t>DEPARTMENT PERFORMANCE</a:t>
            </a:r>
          </a:p>
          <a:p>
            <a:pPr>
              <a:spcBef>
                <a:spcPts val="400"/>
              </a:spcBef>
              <a:defRPr sz="1650" b="1">
                <a:solidFill>
                  <a:srgbClr val="0A1A30"/>
                </a:solidFill>
                <a:latin typeface="Cambria"/>
              </a:defRPr>
            </a:pPr>
            <a:r>
              <a:t>Key Clinical Metric Findings</a:t>
            </a:r>
          </a:p>
          <a:p>
            <a:pPr>
              <a:spcBef>
                <a:spcPts val="1100"/>
              </a:spcBef>
            </a:pPr>
            <a:r>
              <a:rPr b="1" sz="1200">
                <a:solidFill>
                  <a:srgbClr val="0A1A30"/>
                </a:solidFill>
              </a:rPr>
              <a:t>▪ Ophthalmology: 1.00 F1-Score
</a:t>
            </a:r>
            <a:r>
              <a:rPr sz="1050">
                <a:solidFill>
                  <a:srgbClr val="1E293B"/>
                </a:solidFill>
              </a:rPr>
              <a:t>Flawless precision &amp; recall (17/17 correct). Distinct anatomical terms.</a:t>
            </a:r>
          </a:p>
          <a:p>
            <a:pPr>
              <a:spcBef>
                <a:spcPts val="1100"/>
              </a:spcBef>
            </a:pPr>
            <a:r>
              <a:rPr b="1" sz="1200">
                <a:solidFill>
                  <a:srgbClr val="0A1A30"/>
                </a:solidFill>
              </a:rPr>
              <a:t>▪ Urology: 0.93 F1-Score
</a:t>
            </a:r>
            <a:r>
              <a:rPr sz="1050">
                <a:solidFill>
                  <a:srgbClr val="1E293B"/>
                </a:solidFill>
              </a:rPr>
              <a:t>97% precision with only 1 false positive across 31 test instances.</a:t>
            </a:r>
          </a:p>
          <a:p>
            <a:pPr>
              <a:spcBef>
                <a:spcPts val="1100"/>
              </a:spcBef>
            </a:pPr>
            <a:r>
              <a:rPr b="1" sz="1200">
                <a:solidFill>
                  <a:srgbClr val="0A1A30"/>
                </a:solidFill>
              </a:rPr>
              <a:t>▪ Obstetrics / Gynecology: 0.92 F1
</a:t>
            </a:r>
            <a:r>
              <a:rPr sz="1050">
                <a:solidFill>
                  <a:srgbClr val="1E293B"/>
                </a:solidFill>
              </a:rPr>
              <a:t>93% precision and 90% recall on maternal and fetal health dictations.</a:t>
            </a:r>
          </a:p>
          <a:p>
            <a:pPr>
              <a:spcBef>
                <a:spcPts val="1100"/>
              </a:spcBef>
            </a:pPr>
            <a:r>
              <a:rPr b="1" sz="1200">
                <a:solidFill>
                  <a:srgbClr val="0A1A30"/>
                </a:solidFill>
              </a:rPr>
              <a:t>▪ Cardiovascular: 0.90 F1-Score
</a:t>
            </a:r>
            <a:r>
              <a:rPr sz="1050">
                <a:solidFill>
                  <a:srgbClr val="1E293B"/>
                </a:solidFill>
              </a:rPr>
              <a:t>92% recall on largest test cohort (74 records: CABG, catheterization).</a:t>
            </a:r>
          </a:p>
          <a:p>
            <a:pPr>
              <a:spcBef>
                <a:spcPts val="1100"/>
              </a:spcBef>
            </a:pPr>
            <a:r>
              <a:rPr b="1" sz="1200">
                <a:solidFill>
                  <a:srgbClr val="0A1A30"/>
                </a:solidFill>
              </a:rPr>
              <a:t>▪ Overall Macro Average: 0.90 F1
</a:t>
            </a:r>
            <a:r>
              <a:rPr sz="1050">
                <a:solidFill>
                  <a:srgbClr val="1E293B"/>
                </a:solidFill>
              </a:rPr>
              <a:t>0.91 Precision, 0.89 Recall, 0.90 Macro F1 across all 8 departments.</a:t>
            </a:r>
          </a:p>
        </p:txBody>
      </p:sp>
      <p:sp>
        <p:nvSpPr>
          <p:cNvPr id="12" name="Rounded Rectangle 11"/>
          <p:cNvSpPr/>
          <p:nvPr/>
        </p:nvSpPr>
        <p:spPr>
          <a:xfrm>
            <a:off x="6236208" y="1371600"/>
            <a:ext cx="538581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122"/>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CLINICAL SAFETY MECHANISM</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FFFFFF"/>
                </a:solidFill>
                <a:latin typeface="Cambria"/>
              </a:defRPr>
            </a:pPr>
            <a:r>
              <a:t>Open-Set Confidence Rejection Gate for Out-of-Scope Protection</a:t>
            </a:r>
          </a:p>
        </p:txBody>
      </p:sp>
      <p:sp>
        <p:nvSpPr>
          <p:cNvPr id="4" name="Rectangle 3"/>
          <p:cNvSpPr/>
          <p:nvPr/>
        </p:nvSpPr>
        <p:spPr>
          <a:xfrm>
            <a:off x="548640" y="6446520"/>
            <a:ext cx="11091672" cy="13716"/>
          </a:xfrm>
          <a:prstGeom prst="rect">
            <a:avLst/>
          </a:prstGeom>
          <a:solidFill>
            <a:srgbClr val="1B3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94A3B8"/>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94A3B8"/>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38BDF8"/>
                </a:solidFill>
                <a:latin typeface="Calibri"/>
              </a:defRPr>
            </a:pPr>
            <a:r>
              <a:t>Slide 13 of 20</a:t>
            </a:r>
          </a:p>
        </p:txBody>
      </p:sp>
      <p:sp>
        <p:nvSpPr>
          <p:cNvPr id="8" name="Rounded Rectangle 7"/>
          <p:cNvSpPr/>
          <p:nvPr/>
        </p:nvSpPr>
        <p:spPr>
          <a:xfrm>
            <a:off x="548640" y="1353312"/>
            <a:ext cx="539496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E11D48"/>
                </a:solidFill>
                <a:latin typeface="Calibri"/>
              </a:defRPr>
            </a:pPr>
            <a:r>
              <a:t>THE CLOSED-WORLD VULNERABILITY</a:t>
            </a:r>
          </a:p>
          <a:p>
            <a:pPr>
              <a:spcBef>
                <a:spcPts val="400"/>
              </a:spcBef>
              <a:defRPr sz="1650" b="1">
                <a:solidFill>
                  <a:srgbClr val="FFFFFF"/>
                </a:solidFill>
                <a:latin typeface="Cambria"/>
              </a:defRPr>
            </a:pPr>
            <a:r>
              <a:t>Why Standard AI Fails in Hospitals</a:t>
            </a:r>
          </a:p>
          <a:p>
            <a:pPr>
              <a:spcBef>
                <a:spcPts val="1200"/>
              </a:spcBef>
            </a:pPr>
            <a:r>
              <a:rPr b="1" sz="1200">
                <a:solidFill>
                  <a:srgbClr val="38BDF8"/>
                </a:solidFill>
              </a:rPr>
              <a:t>⚠ Closed-World Assumption
</a:t>
            </a:r>
            <a:r>
              <a:rPr sz="1050">
                <a:solidFill>
                  <a:srgbClr val="CBD5E1"/>
                </a:solidFill>
              </a:rPr>
              <a:t>Standard ML models assume all incoming text belongs to trained classes.</a:t>
            </a:r>
          </a:p>
          <a:p>
            <a:pPr>
              <a:spcBef>
                <a:spcPts val="1200"/>
              </a:spcBef>
            </a:pPr>
            <a:r>
              <a:rPr b="1" sz="1200">
                <a:solidFill>
                  <a:srgbClr val="38BDF8"/>
                </a:solidFill>
              </a:rPr>
              <a:t>⚠ Erroneous Force-Fitting
</a:t>
            </a:r>
            <a:r>
              <a:rPr sz="1050">
                <a:solidFill>
                  <a:srgbClr val="CBD5E1"/>
                </a:solidFill>
              </a:rPr>
              <a:t>A dermatology or psychiatry note will be falsely forced into cardiology or ortho.</a:t>
            </a:r>
          </a:p>
          <a:p>
            <a:pPr>
              <a:spcBef>
                <a:spcPts val="1200"/>
              </a:spcBef>
            </a:pPr>
            <a:r>
              <a:rPr b="1" sz="1200">
                <a:solidFill>
                  <a:srgbClr val="38BDF8"/>
                </a:solidFill>
              </a:rPr>
              <a:t>⚠ Severe Patient Safety Hazard
</a:t>
            </a:r>
            <a:r>
              <a:rPr sz="1050">
                <a:solidFill>
                  <a:srgbClr val="CBD5E1"/>
                </a:solidFill>
              </a:rPr>
              <a:t>Misdirected referrals waste specialist appointments and delay critical care.</a:t>
            </a:r>
          </a:p>
          <a:p>
            <a:pPr>
              <a:spcBef>
                <a:spcPts val="1200"/>
              </a:spcBef>
            </a:pPr>
            <a:r>
              <a:rPr b="1" sz="1200">
                <a:solidFill>
                  <a:srgbClr val="38BDF8"/>
                </a:solidFill>
              </a:rPr>
              <a:t>⚠ Need for Selective Classification
</a:t>
            </a:r>
            <a:r>
              <a:rPr sz="1050">
                <a:solidFill>
                  <a:srgbClr val="CBD5E1"/>
                </a:solidFill>
              </a:rPr>
              <a:t>A clinical AI must know when it is uncertain and defer to humans.</a:t>
            </a:r>
          </a:p>
        </p:txBody>
      </p:sp>
      <p:sp>
        <p:nvSpPr>
          <p:cNvPr id="9" name="Rounded Rectangle 8"/>
          <p:cNvSpPr/>
          <p:nvPr/>
        </p:nvSpPr>
        <p:spPr>
          <a:xfrm>
            <a:off x="566928" y="1371600"/>
            <a:ext cx="5358384" cy="54864"/>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D97706"/>
                </a:solidFill>
                <a:latin typeface="Calibri"/>
              </a:defRPr>
            </a:pPr>
            <a:r>
              <a:t>OPEN-SET GATING MECHANICS</a:t>
            </a:r>
          </a:p>
          <a:p>
            <a:pPr>
              <a:spcBef>
                <a:spcPts val="400"/>
              </a:spcBef>
              <a:defRPr sz="1650" b="1">
                <a:solidFill>
                  <a:srgbClr val="FFFFFF"/>
                </a:solidFill>
                <a:latin typeface="Cambria"/>
              </a:defRPr>
            </a:pPr>
            <a:r>
              <a:t>Threshold τ = 0.48 Decision Rule</a:t>
            </a:r>
          </a:p>
          <a:p>
            <a:pPr>
              <a:spcBef>
                <a:spcPts val="1200"/>
              </a:spcBef>
            </a:pPr>
            <a:r>
              <a:rPr b="1" sz="1200">
                <a:solidFill>
                  <a:srgbClr val="D97706"/>
                </a:solidFill>
              </a:rPr>
              <a:t>✔ Mathematical Decision Rule
</a:t>
            </a:r>
            <a:r>
              <a:rPr sz="1050">
                <a:solidFill>
                  <a:srgbClr val="CBD5E1"/>
                </a:solidFill>
              </a:rPr>
              <a:t>If max P_ens(c|x) &gt;= 0.48 -&gt; Route; Else -&gt; 'Other / Requires Review'.</a:t>
            </a:r>
          </a:p>
          <a:p>
            <a:pPr>
              <a:spcBef>
                <a:spcPts val="1200"/>
              </a:spcBef>
            </a:pPr>
            <a:r>
              <a:rPr b="1" sz="1200">
                <a:solidFill>
                  <a:srgbClr val="D97706"/>
                </a:solidFill>
              </a:rPr>
              <a:t>✔ Threshold Derivation (τ = 0.48)
</a:t>
            </a:r>
            <a:r>
              <a:rPr sz="1050">
                <a:solidFill>
                  <a:srgbClr val="CBD5E1"/>
                </a:solidFill>
              </a:rPr>
              <a:t>92.5% of in-domain cases have P &gt;= 0.65; marginal neuro-ortho edge cases sit at 0.48–0.64.</a:t>
            </a:r>
          </a:p>
          <a:p>
            <a:pPr>
              <a:spcBef>
                <a:spcPts val="1200"/>
              </a:spcBef>
            </a:pPr>
            <a:r>
              <a:rPr b="1" sz="1200">
                <a:solidFill>
                  <a:srgbClr val="D97706"/>
                </a:solidFill>
              </a:rPr>
              <a:t>✔ 100% Out-of-Scope Interception
</a:t>
            </a:r>
            <a:r>
              <a:rPr sz="1050">
                <a:solidFill>
                  <a:srgbClr val="CBD5E1"/>
                </a:solidFill>
              </a:rPr>
              <a:t>Tested out-of-domain notes (dermatology, psychiatry) had P &lt; 0.41, triggering 100% rejection.</a:t>
            </a:r>
          </a:p>
          <a:p>
            <a:pPr>
              <a:spcBef>
                <a:spcPts val="1200"/>
              </a:spcBef>
            </a:pPr>
            <a:r>
              <a:rPr b="1" sz="1200">
                <a:solidFill>
                  <a:srgbClr val="D97706"/>
                </a:solidFill>
              </a:rPr>
              <a:t>✔ Visual Amber UI Warning Banner
</a:t>
            </a:r>
            <a:r>
              <a:rPr sz="1050">
                <a:solidFill>
                  <a:srgbClr val="CBD5E1"/>
                </a:solidFill>
              </a:rPr>
              <a:t>Alerts triage coders to review document manually, showing differential candidates.</a:t>
            </a:r>
          </a:p>
        </p:txBody>
      </p:sp>
      <p:sp>
        <p:nvSpPr>
          <p:cNvPr id="11" name="Rounded Rectangle 10"/>
          <p:cNvSpPr/>
          <p:nvPr/>
        </p:nvSpPr>
        <p:spPr>
          <a:xfrm>
            <a:off x="6236208" y="1371600"/>
            <a:ext cx="5385816"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SYSTEM ARCHITECTURE &amp; DEPLOYMENT</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Lightweight Flask REST Microservice &amp; In-Memory Pipeline</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14 of 20</a:t>
            </a:r>
          </a:p>
        </p:txBody>
      </p:sp>
      <p:sp>
        <p:nvSpPr>
          <p:cNvPr id="8" name="Rounded Rectangle 7"/>
          <p:cNvSpPr/>
          <p:nvPr/>
        </p:nvSpPr>
        <p:spPr>
          <a:xfrm>
            <a:off x="548640" y="1353312"/>
            <a:ext cx="539496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D9488"/>
                </a:solidFill>
                <a:latin typeface="Calibri"/>
              </a:defRPr>
            </a:pPr>
            <a:r>
              <a:t>BACKEND MICROSERVICE DESIGN</a:t>
            </a:r>
          </a:p>
          <a:p>
            <a:pPr>
              <a:spcBef>
                <a:spcPts val="400"/>
              </a:spcBef>
              <a:defRPr sz="1650" b="1">
                <a:solidFill>
                  <a:srgbClr val="0A1A30"/>
                </a:solidFill>
                <a:latin typeface="Cambria"/>
              </a:defRPr>
            </a:pPr>
            <a:r>
              <a:t>Flask RESTful Service Architecture</a:t>
            </a:r>
          </a:p>
          <a:p>
            <a:pPr>
              <a:spcBef>
                <a:spcPts val="1200"/>
              </a:spcBef>
            </a:pPr>
            <a:r>
              <a:rPr b="1" sz="1200">
                <a:solidFill>
                  <a:srgbClr val="0A1A30"/>
                </a:solidFill>
              </a:rPr>
              <a:t>▪ Stateless Flask REST Framework
</a:t>
            </a:r>
            <a:r>
              <a:rPr sz="1050">
                <a:solidFill>
                  <a:srgbClr val="1E293B"/>
                </a:solidFill>
              </a:rPr>
              <a:t>Zero runtime session state; seamless horizontal scaling on hospital networks.</a:t>
            </a:r>
          </a:p>
          <a:p>
            <a:pPr>
              <a:spcBef>
                <a:spcPts val="1200"/>
              </a:spcBef>
            </a:pPr>
            <a:r>
              <a:rPr b="1" sz="1200">
                <a:solidFill>
                  <a:srgbClr val="0A1A30"/>
                </a:solidFill>
              </a:rPr>
              <a:t>▪ Pre-Loaded Model Weights in RAM
</a:t>
            </a:r>
            <a:r>
              <a:rPr sz="1050">
                <a:solidFill>
                  <a:srgbClr val="1E293B"/>
                </a:solidFill>
              </a:rPr>
              <a:t>Frozen TF-IDF (314 KB) &amp; voting ensemble (11.6 MB) loaded once during boot.</a:t>
            </a:r>
          </a:p>
          <a:p>
            <a:pPr>
              <a:spcBef>
                <a:spcPts val="1200"/>
              </a:spcBef>
            </a:pPr>
            <a:r>
              <a:rPr b="1" sz="1200">
                <a:solidFill>
                  <a:srgbClr val="0A1A30"/>
                </a:solidFill>
              </a:rPr>
              <a:t>▪ In-Memory PyMuPDF PDF Parsing
</a:t>
            </a:r>
            <a:r>
              <a:rPr sz="1050">
                <a:solidFill>
                  <a:srgbClr val="1E293B"/>
                </a:solidFill>
              </a:rPr>
              <a:t>Parses multi-page PDFs in 3.85 ms directly from byte streams; zero disk caching.</a:t>
            </a:r>
          </a:p>
          <a:p>
            <a:pPr>
              <a:spcBef>
                <a:spcPts val="1200"/>
              </a:spcBef>
            </a:pPr>
            <a:r>
              <a:rPr b="1" sz="1200">
                <a:solidFill>
                  <a:srgbClr val="0A1A30"/>
                </a:solidFill>
              </a:rPr>
              <a:t>▪ Ultra-Low Memory Footprint
</a:t>
            </a:r>
            <a:r>
              <a:rPr sz="1050">
                <a:solidFill>
                  <a:srgbClr val="1E293B"/>
                </a:solidFill>
              </a:rPr>
              <a:t>Entire service runs in &lt;145 MB of RAM on commodity hospital workstations.</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19456" rIns="219456" tIns="219456"/>
          <a:lstStyle/>
          <a:p>
            <a:pPr algn="ctr">
              <a:defRPr sz="1100" b="1">
                <a:solidFill>
                  <a:srgbClr val="10B981"/>
                </a:solidFill>
                <a:latin typeface="Calibri"/>
              </a:defRPr>
            </a:pPr>
            <a:r>
              <a:t>LATENCY TELEMETRY PROFILING</a:t>
            </a:r>
          </a:p>
        </p:txBody>
      </p:sp>
      <p:sp>
        <p:nvSpPr>
          <p:cNvPr id="11" name="Rounded Rectangle 10"/>
          <p:cNvSpPr/>
          <p:nvPr/>
        </p:nvSpPr>
        <p:spPr>
          <a:xfrm>
            <a:off x="6236208" y="1371600"/>
            <a:ext cx="5385816"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6355080" y="1783080"/>
          <a:ext cx="5148072" cy="2926080"/>
        </p:xfrm>
        <a:graphic>
          <a:graphicData uri="http://schemas.openxmlformats.org/drawingml/2006/table">
            <a:tbl>
              <a:tblPr firstRow="1" bandRow="1">
                <a:tableStyleId>{5C22544A-7EE6-4342-B048-85BDC9FD1C3A}</a:tableStyleId>
              </a:tblPr>
              <a:tblGrid>
                <a:gridCol w="2404872"/>
                <a:gridCol w="1097280"/>
                <a:gridCol w="1645920"/>
              </a:tblGrid>
              <a:tr h="365760">
                <a:tc>
                  <a:txBody>
                    <a:bodyPr/>
                    <a:lstStyle/>
                    <a:p>
                      <a:pPr algn="l">
                        <a:defRPr sz="950" b="1">
                          <a:solidFill>
                            <a:srgbClr val="FFFFFF"/>
                          </a:solidFill>
                          <a:latin typeface="Calibri"/>
                        </a:defRPr>
                      </a:pPr>
                      <a:r>
                        <a:t>Pipeline Stage</a:t>
                      </a:r>
                    </a:p>
                  </a:txBody>
                  <a:tcPr>
                    <a:solidFill>
                      <a:srgbClr val="0A1A30"/>
                    </a:solidFill>
                  </a:tcPr>
                </a:tc>
                <a:tc>
                  <a:txBody>
                    <a:bodyPr/>
                    <a:lstStyle/>
                    <a:p>
                      <a:pPr algn="ctr">
                        <a:defRPr sz="950" b="1">
                          <a:solidFill>
                            <a:srgbClr val="FFFFFF"/>
                          </a:solidFill>
                          <a:latin typeface="Calibri"/>
                        </a:defRPr>
                      </a:pPr>
                      <a:r>
                        <a:t>Mean Latency</a:t>
                      </a:r>
                    </a:p>
                  </a:txBody>
                  <a:tcPr>
                    <a:solidFill>
                      <a:srgbClr val="0A1A30"/>
                    </a:solidFill>
                  </a:tcPr>
                </a:tc>
                <a:tc>
                  <a:txBody>
                    <a:bodyPr/>
                    <a:lstStyle/>
                    <a:p>
                      <a:pPr algn="l">
                        <a:defRPr sz="950" b="1">
                          <a:solidFill>
                            <a:srgbClr val="FFFFFF"/>
                          </a:solidFill>
                          <a:latin typeface="Calibri"/>
                        </a:defRPr>
                      </a:pPr>
                      <a:r>
                        <a:t>Operational Function</a:t>
                      </a:r>
                    </a:p>
                  </a:txBody>
                  <a:tcPr>
                    <a:solidFill>
                      <a:srgbClr val="0A1A30"/>
                    </a:solidFill>
                  </a:tcPr>
                </a:tc>
              </a:tr>
              <a:tr h="365760">
                <a:tc>
                  <a:txBody>
                    <a:bodyPr/>
                    <a:lstStyle/>
                    <a:p>
                      <a:pPr algn="l">
                        <a:defRPr sz="900" b="1">
                          <a:solidFill>
                            <a:srgbClr val="1E293B"/>
                          </a:solidFill>
                          <a:latin typeface="Calibri"/>
                        </a:defRPr>
                      </a:pPr>
                      <a:r>
                        <a:t>HTTP Payload Ingestion</a:t>
                      </a:r>
                    </a:p>
                  </a:txBody>
                  <a:tcPr>
                    <a:solidFill>
                      <a:srgbClr val="FFFFFF"/>
                    </a:solidFill>
                  </a:tcPr>
                </a:tc>
                <a:tc>
                  <a:txBody>
                    <a:bodyPr/>
                    <a:lstStyle/>
                    <a:p>
                      <a:pPr algn="ctr">
                        <a:defRPr sz="900">
                          <a:solidFill>
                            <a:srgbClr val="1E293B"/>
                          </a:solidFill>
                          <a:latin typeface="Calibri"/>
                        </a:defRPr>
                      </a:pPr>
                      <a:r>
                        <a:t>0.42 ms</a:t>
                      </a:r>
                    </a:p>
                  </a:txBody>
                  <a:tcPr>
                    <a:solidFill>
                      <a:srgbClr val="FFFFFF"/>
                    </a:solidFill>
                  </a:tcPr>
                </a:tc>
                <a:tc>
                  <a:txBody>
                    <a:bodyPr/>
                    <a:lstStyle/>
                    <a:p>
                      <a:pPr algn="l">
                        <a:defRPr sz="900">
                          <a:solidFill>
                            <a:srgbClr val="1E293B"/>
                          </a:solidFill>
                          <a:latin typeface="Calibri"/>
                        </a:defRPr>
                      </a:pPr>
                      <a:r>
                        <a:t>Stream deserialization</a:t>
                      </a:r>
                    </a:p>
                  </a:txBody>
                  <a:tcPr>
                    <a:solidFill>
                      <a:srgbClr val="FFFFFF"/>
                    </a:solidFill>
                  </a:tcPr>
                </a:tc>
              </a:tr>
              <a:tr h="365760">
                <a:tc>
                  <a:txBody>
                    <a:bodyPr/>
                    <a:lstStyle/>
                    <a:p>
                      <a:pPr algn="l">
                        <a:defRPr sz="900" b="1">
                          <a:solidFill>
                            <a:srgbClr val="1E293B"/>
                          </a:solidFill>
                          <a:latin typeface="Calibri"/>
                        </a:defRPr>
                      </a:pPr>
                      <a:r>
                        <a:t>PyMuPDF PDF Extraction</a:t>
                      </a:r>
                    </a:p>
                  </a:txBody>
                  <a:tcPr>
                    <a:solidFill>
                      <a:srgbClr val="EAF1F8"/>
                    </a:solidFill>
                  </a:tcPr>
                </a:tc>
                <a:tc>
                  <a:txBody>
                    <a:bodyPr/>
                    <a:lstStyle/>
                    <a:p>
                      <a:pPr algn="ctr">
                        <a:defRPr sz="900">
                          <a:solidFill>
                            <a:srgbClr val="1E293B"/>
                          </a:solidFill>
                          <a:latin typeface="Calibri"/>
                        </a:defRPr>
                      </a:pPr>
                      <a:r>
                        <a:t>3.85 ms</a:t>
                      </a:r>
                    </a:p>
                  </a:txBody>
                  <a:tcPr>
                    <a:solidFill>
                      <a:srgbClr val="EAF1F8"/>
                    </a:solidFill>
                  </a:tcPr>
                </a:tc>
                <a:tc>
                  <a:txBody>
                    <a:bodyPr/>
                    <a:lstStyle/>
                    <a:p>
                      <a:pPr algn="l">
                        <a:defRPr sz="900">
                          <a:solidFill>
                            <a:srgbClr val="1E293B"/>
                          </a:solidFill>
                          <a:latin typeface="Calibri"/>
                        </a:defRPr>
                      </a:pPr>
                      <a:r>
                        <a:t>In-memory page text parsing</a:t>
                      </a:r>
                    </a:p>
                  </a:txBody>
                  <a:tcPr>
                    <a:solidFill>
                      <a:srgbClr val="EAF1F8"/>
                    </a:solidFill>
                  </a:tcPr>
                </a:tc>
              </a:tr>
              <a:tr h="365760">
                <a:tc>
                  <a:txBody>
                    <a:bodyPr/>
                    <a:lstStyle/>
                    <a:p>
                      <a:pPr algn="l">
                        <a:defRPr sz="900" b="1">
                          <a:solidFill>
                            <a:srgbClr val="1E293B"/>
                          </a:solidFill>
                          <a:latin typeface="Calibri"/>
                        </a:defRPr>
                      </a:pPr>
                      <a:r>
                        <a:t>Regex Text Normalization</a:t>
                      </a:r>
                    </a:p>
                  </a:txBody>
                  <a:tcPr>
                    <a:solidFill>
                      <a:srgbClr val="FFFFFF"/>
                    </a:solidFill>
                  </a:tcPr>
                </a:tc>
                <a:tc>
                  <a:txBody>
                    <a:bodyPr/>
                    <a:lstStyle/>
                    <a:p>
                      <a:pPr algn="ctr">
                        <a:defRPr sz="900">
                          <a:solidFill>
                            <a:srgbClr val="1E293B"/>
                          </a:solidFill>
                          <a:latin typeface="Calibri"/>
                        </a:defRPr>
                      </a:pPr>
                      <a:r>
                        <a:t>0.81 ms</a:t>
                      </a:r>
                    </a:p>
                  </a:txBody>
                  <a:tcPr>
                    <a:solidFill>
                      <a:srgbClr val="FFFFFF"/>
                    </a:solidFill>
                  </a:tcPr>
                </a:tc>
                <a:tc>
                  <a:txBody>
                    <a:bodyPr/>
                    <a:lstStyle/>
                    <a:p>
                      <a:pPr algn="l">
                        <a:defRPr sz="900">
                          <a:solidFill>
                            <a:srgbClr val="1E293B"/>
                          </a:solidFill>
                          <a:latin typeface="Calibri"/>
                        </a:defRPr>
                      </a:pPr>
                      <a:r>
                        <a:t>Sanitization &amp; lowercase</a:t>
                      </a:r>
                    </a:p>
                  </a:txBody>
                  <a:tcPr>
                    <a:solidFill>
                      <a:srgbClr val="FFFFFF"/>
                    </a:solidFill>
                  </a:tcPr>
                </a:tc>
              </a:tr>
              <a:tr h="365760">
                <a:tc>
                  <a:txBody>
                    <a:bodyPr/>
                    <a:lstStyle/>
                    <a:p>
                      <a:pPr algn="l">
                        <a:defRPr sz="900" b="1">
                          <a:solidFill>
                            <a:srgbClr val="1E293B"/>
                          </a:solidFill>
                          <a:latin typeface="Calibri"/>
                        </a:defRPr>
                      </a:pPr>
                      <a:r>
                        <a:t>TF-IDF Vectorization</a:t>
                      </a:r>
                    </a:p>
                  </a:txBody>
                  <a:tcPr>
                    <a:solidFill>
                      <a:srgbClr val="EAF1F8"/>
                    </a:solidFill>
                  </a:tcPr>
                </a:tc>
                <a:tc>
                  <a:txBody>
                    <a:bodyPr/>
                    <a:lstStyle/>
                    <a:p>
                      <a:pPr algn="ctr">
                        <a:defRPr sz="900">
                          <a:solidFill>
                            <a:srgbClr val="1E293B"/>
                          </a:solidFill>
                          <a:latin typeface="Calibri"/>
                        </a:defRPr>
                      </a:pPr>
                      <a:r>
                        <a:t>1.24 ms</a:t>
                      </a:r>
                    </a:p>
                  </a:txBody>
                  <a:tcPr>
                    <a:solidFill>
                      <a:srgbClr val="EAF1F8"/>
                    </a:solidFill>
                  </a:tcPr>
                </a:tc>
                <a:tc>
                  <a:txBody>
                    <a:bodyPr/>
                    <a:lstStyle/>
                    <a:p>
                      <a:pPr algn="l">
                        <a:defRPr sz="900">
                          <a:solidFill>
                            <a:srgbClr val="1E293B"/>
                          </a:solidFill>
                          <a:latin typeface="Calibri"/>
                        </a:defRPr>
                      </a:pPr>
                      <a:r>
                        <a:t>Sparse matrix multiplication</a:t>
                      </a:r>
                    </a:p>
                  </a:txBody>
                  <a:tcPr>
                    <a:solidFill>
                      <a:srgbClr val="EAF1F8"/>
                    </a:solidFill>
                  </a:tcPr>
                </a:tc>
              </a:tr>
              <a:tr h="365760">
                <a:tc>
                  <a:txBody>
                    <a:bodyPr/>
                    <a:lstStyle/>
                    <a:p>
                      <a:pPr algn="l">
                        <a:defRPr sz="900" b="1">
                          <a:solidFill>
                            <a:srgbClr val="1E293B"/>
                          </a:solidFill>
                          <a:latin typeface="Calibri"/>
                        </a:defRPr>
                      </a:pPr>
                      <a:r>
                        <a:t>Base Model Inference (4 Models)</a:t>
                      </a:r>
                    </a:p>
                  </a:txBody>
                  <a:tcPr>
                    <a:solidFill>
                      <a:srgbClr val="FFFFFF"/>
                    </a:solidFill>
                  </a:tcPr>
                </a:tc>
                <a:tc>
                  <a:txBody>
                    <a:bodyPr/>
                    <a:lstStyle/>
                    <a:p>
                      <a:pPr algn="ctr">
                        <a:defRPr sz="900">
                          <a:solidFill>
                            <a:srgbClr val="1E293B"/>
                          </a:solidFill>
                          <a:latin typeface="Calibri"/>
                        </a:defRPr>
                      </a:pPr>
                      <a:r>
                        <a:t>2.15 ms</a:t>
                      </a:r>
                    </a:p>
                  </a:txBody>
                  <a:tcPr>
                    <a:solidFill>
                      <a:srgbClr val="FFFFFF"/>
                    </a:solidFill>
                  </a:tcPr>
                </a:tc>
                <a:tc>
                  <a:txBody>
                    <a:bodyPr/>
                    <a:lstStyle/>
                    <a:p>
                      <a:pPr algn="l">
                        <a:defRPr sz="900">
                          <a:solidFill>
                            <a:srgbClr val="1E293B"/>
                          </a:solidFill>
                          <a:latin typeface="Calibri"/>
                        </a:defRPr>
                      </a:pPr>
                      <a:r>
                        <a:t>SVM, LR, RF, MNB scoring</a:t>
                      </a:r>
                    </a:p>
                  </a:txBody>
                  <a:tcPr>
                    <a:solidFill>
                      <a:srgbClr val="FFFFFF"/>
                    </a:solidFill>
                  </a:tcPr>
                </a:tc>
              </a:tr>
              <a:tr h="365760">
                <a:tc>
                  <a:txBody>
                    <a:bodyPr/>
                    <a:lstStyle/>
                    <a:p>
                      <a:pPr algn="l">
                        <a:defRPr sz="900" b="1">
                          <a:solidFill>
                            <a:srgbClr val="1E293B"/>
                          </a:solidFill>
                          <a:latin typeface="Calibri"/>
                        </a:defRPr>
                      </a:pPr>
                      <a:r>
                        <a:t>Soft Voting &amp; Thresholding</a:t>
                      </a:r>
                    </a:p>
                  </a:txBody>
                  <a:tcPr>
                    <a:solidFill>
                      <a:srgbClr val="EAF1F8"/>
                    </a:solidFill>
                  </a:tcPr>
                </a:tc>
                <a:tc>
                  <a:txBody>
                    <a:bodyPr/>
                    <a:lstStyle/>
                    <a:p>
                      <a:pPr algn="ctr">
                        <a:defRPr sz="900">
                          <a:solidFill>
                            <a:srgbClr val="1E293B"/>
                          </a:solidFill>
                          <a:latin typeface="Calibri"/>
                        </a:defRPr>
                      </a:pPr>
                      <a:r>
                        <a:t>0.38 ms</a:t>
                      </a:r>
                    </a:p>
                  </a:txBody>
                  <a:tcPr>
                    <a:solidFill>
                      <a:srgbClr val="EAF1F8"/>
                    </a:solidFill>
                  </a:tcPr>
                </a:tc>
                <a:tc>
                  <a:txBody>
                    <a:bodyPr/>
                    <a:lstStyle/>
                    <a:p>
                      <a:pPr algn="l">
                        <a:defRPr sz="900">
                          <a:solidFill>
                            <a:srgbClr val="1E293B"/>
                          </a:solidFill>
                          <a:latin typeface="Calibri"/>
                        </a:defRPr>
                      </a:pPr>
                      <a:r>
                        <a:t>Consensus &amp; τ=0.48 gating</a:t>
                      </a:r>
                    </a:p>
                  </a:txBody>
                  <a:tcPr>
                    <a:solidFill>
                      <a:srgbClr val="EAF1F8"/>
                    </a:solidFill>
                  </a:tcPr>
                </a:tc>
              </a:tr>
              <a:tr h="365760">
                <a:tc>
                  <a:txBody>
                    <a:bodyPr/>
                    <a:lstStyle/>
                    <a:p>
                      <a:pPr algn="l">
                        <a:defRPr sz="900" b="1">
                          <a:solidFill>
                            <a:srgbClr val="1E293B"/>
                          </a:solidFill>
                          <a:latin typeface="Calibri"/>
                        </a:defRPr>
                      </a:pPr>
                      <a:r>
                        <a:t>Total End-to-End Latency</a:t>
                      </a:r>
                    </a:p>
                  </a:txBody>
                  <a:tcPr>
                    <a:solidFill>
                      <a:srgbClr val="DCFCE7"/>
                    </a:solidFill>
                  </a:tcPr>
                </a:tc>
                <a:tc>
                  <a:txBody>
                    <a:bodyPr/>
                    <a:lstStyle/>
                    <a:p>
                      <a:pPr algn="ctr">
                        <a:defRPr sz="900" b="1">
                          <a:solidFill>
                            <a:srgbClr val="1E293B"/>
                          </a:solidFill>
                          <a:latin typeface="Calibri"/>
                        </a:defRPr>
                      </a:pPr>
                      <a:r>
                        <a:t>9.20 ms</a:t>
                      </a:r>
                    </a:p>
                  </a:txBody>
                  <a:tcPr>
                    <a:solidFill>
                      <a:srgbClr val="DCFCE7"/>
                    </a:solidFill>
                  </a:tcPr>
                </a:tc>
                <a:tc>
                  <a:txBody>
                    <a:bodyPr/>
                    <a:lstStyle/>
                    <a:p>
                      <a:pPr algn="l">
                        <a:defRPr sz="900" b="1">
                          <a:solidFill>
                            <a:srgbClr val="1E293B"/>
                          </a:solidFill>
                          <a:latin typeface="Calibri"/>
                        </a:defRPr>
                      </a:pPr>
                      <a:r>
                        <a:t>Sub-10 ms Real-Time Turnaround</a:t>
                      </a:r>
                    </a:p>
                  </a:txBody>
                  <a:tcPr>
                    <a:solidFill>
                      <a:srgbClr val="DCFCE7"/>
                    </a:solidFill>
                  </a:tcPr>
                </a:tc>
              </a:tr>
            </a:tbl>
          </a:graphicData>
        </a:graphic>
      </p:graphicFrame>
      <p:sp>
        <p:nvSpPr>
          <p:cNvPr id="13" name="TextBox 12"/>
          <p:cNvSpPr txBox="1"/>
          <p:nvPr/>
        </p:nvSpPr>
        <p:spPr>
          <a:xfrm>
            <a:off x="6355080" y="4846320"/>
            <a:ext cx="5148072" cy="1280160"/>
          </a:xfrm>
          <a:prstGeom prst="rect">
            <a:avLst/>
          </a:prstGeom>
          <a:noFill/>
        </p:spPr>
        <p:txBody>
          <a:bodyPr wrap="square" lIns="0" rIns="0" tIns="0">
            <a:spAutoFit/>
          </a:bodyPr>
          <a:lstStyle/>
          <a:p/>
          <a:p>
            <a:pPr>
              <a:spcBef>
                <a:spcPts val="500"/>
              </a:spcBef>
            </a:pPr>
            <a:r>
              <a:rPr b="1" sz="1050">
                <a:solidFill>
                  <a:srgbClr val="0A1A30"/>
                </a:solidFill>
              </a:rPr>
              <a:t>✔ Throughput: &gt;100 TPS on CPU: </a:t>
            </a:r>
            <a:r>
              <a:rPr sz="1000">
                <a:solidFill>
                  <a:srgbClr val="1E293B"/>
                </a:solidFill>
              </a:rPr>
              <a:t>Processes over 100 clinical records per second on a single commodity quad-core CPU.</a:t>
            </a:r>
          </a:p>
          <a:p>
            <a:pPr>
              <a:spcBef>
                <a:spcPts val="500"/>
              </a:spcBef>
            </a:pPr>
            <a:r>
              <a:rPr b="1" sz="1050">
                <a:solidFill>
                  <a:srgbClr val="0A1A30"/>
                </a:solidFill>
              </a:rPr>
              <a:t>✔ 100% HIPAA Data Privacy: </a:t>
            </a:r>
            <a:r>
              <a:rPr sz="1000">
                <a:solidFill>
                  <a:srgbClr val="1E293B"/>
                </a:solidFill>
              </a:rPr>
              <a:t>In-memory byte parsing guarantees zero unencrypted patient data leaks to disk.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1122"/>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HEALTHCARE USER INTERFACE DESIGN</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FFFFFF"/>
                </a:solidFill>
                <a:latin typeface="Cambria"/>
              </a:defRPr>
            </a:pPr>
            <a:r>
              <a:t>UI Design System, Cognitive Ergonomics &amp; Usability Tokens</a:t>
            </a:r>
          </a:p>
        </p:txBody>
      </p:sp>
      <p:sp>
        <p:nvSpPr>
          <p:cNvPr id="4" name="Rectangle 3"/>
          <p:cNvSpPr/>
          <p:nvPr/>
        </p:nvSpPr>
        <p:spPr>
          <a:xfrm>
            <a:off x="548640" y="6446520"/>
            <a:ext cx="11091672" cy="13716"/>
          </a:xfrm>
          <a:prstGeom prst="rect">
            <a:avLst/>
          </a:prstGeom>
          <a:solidFill>
            <a:srgbClr val="1B3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94A3B8"/>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94A3B8"/>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38BDF8"/>
                </a:solidFill>
                <a:latin typeface="Calibri"/>
              </a:defRPr>
            </a:pPr>
            <a:r>
              <a:t>Slide 15 of 20</a:t>
            </a:r>
          </a:p>
        </p:txBody>
      </p:sp>
      <p:sp>
        <p:nvSpPr>
          <p:cNvPr id="8" name="Rounded Rectangle 7"/>
          <p:cNvSpPr/>
          <p:nvPr/>
        </p:nvSpPr>
        <p:spPr>
          <a:xfrm>
            <a:off x="548640" y="1353312"/>
            <a:ext cx="539496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D9488"/>
                </a:solidFill>
                <a:latin typeface="Calibri"/>
              </a:defRPr>
            </a:pPr>
            <a:r>
              <a:t>DESIGN PHILOSOPHY</a:t>
            </a:r>
          </a:p>
          <a:p>
            <a:pPr>
              <a:spcBef>
                <a:spcPts val="400"/>
              </a:spcBef>
              <a:defRPr sz="1650" b="1">
                <a:solidFill>
                  <a:srgbClr val="FFFFFF"/>
                </a:solidFill>
                <a:latin typeface="Cambria"/>
              </a:defRPr>
            </a:pPr>
            <a:r>
              <a:t>Cognitive Ergonomics for Healthcare</a:t>
            </a:r>
          </a:p>
          <a:p>
            <a:pPr>
              <a:spcBef>
                <a:spcPts val="1200"/>
              </a:spcBef>
            </a:pPr>
            <a:r>
              <a:rPr b="1" sz="1200">
                <a:solidFill>
                  <a:srgbClr val="38BDF8"/>
                </a:solidFill>
              </a:rPr>
              <a:t>▪ Mitigating Cognitive Fatigue
</a:t>
            </a:r>
            <a:r>
              <a:rPr sz="1050">
                <a:solidFill>
                  <a:srgbClr val="CBD5E1"/>
                </a:solidFill>
              </a:rPr>
              <a:t>Dark slate-navy palette (#0A192F) reduces ocular glare during long shifts.</a:t>
            </a:r>
          </a:p>
          <a:p>
            <a:pPr>
              <a:spcBef>
                <a:spcPts val="1200"/>
              </a:spcBef>
            </a:pPr>
            <a:r>
              <a:rPr b="1" sz="1200">
                <a:solidFill>
                  <a:srgbClr val="38BDF8"/>
                </a:solidFill>
              </a:rPr>
              <a:t>▪ Definitive Status Signposting
</a:t>
            </a:r>
            <a:r>
              <a:rPr sz="1050">
                <a:solidFill>
                  <a:srgbClr val="CBD5E1"/>
                </a:solidFill>
              </a:rPr>
              <a:t>Emerald green (Definitive), Amber orange (Review), Crimson red (Error).</a:t>
            </a:r>
          </a:p>
          <a:p>
            <a:pPr>
              <a:spcBef>
                <a:spcPts val="1200"/>
              </a:spcBef>
            </a:pPr>
            <a:r>
              <a:rPr b="1" sz="1200">
                <a:solidFill>
                  <a:srgbClr val="38BDF8"/>
                </a:solidFill>
              </a:rPr>
              <a:t>▪ Explainable Clinical Feedback
</a:t>
            </a:r>
            <a:r>
              <a:rPr sz="1050">
                <a:solidFill>
                  <a:srgbClr val="CBD5E1"/>
                </a:solidFill>
              </a:rPr>
              <a:t>Displays matched TF-IDF keywords, candidate spreads, and model consensus.</a:t>
            </a:r>
          </a:p>
          <a:p>
            <a:pPr>
              <a:spcBef>
                <a:spcPts val="1200"/>
              </a:spcBef>
            </a:pPr>
            <a:r>
              <a:rPr b="1" sz="1200">
                <a:solidFill>
                  <a:srgbClr val="38BDF8"/>
                </a:solidFill>
              </a:rPr>
              <a:t>▪ Zero-Friction Responsiveness
</a:t>
            </a:r>
            <a:r>
              <a:rPr sz="1050">
                <a:solidFill>
                  <a:srgbClr val="CBD5E1"/>
                </a:solidFill>
              </a:rPr>
              <a:t>Pure Vanilla JS &amp; CSS Grid for instantaneous UI transitions without reloads.</a:t>
            </a:r>
          </a:p>
        </p:txBody>
      </p:sp>
      <p:sp>
        <p:nvSpPr>
          <p:cNvPr id="9" name="Rounded Rectangle 8"/>
          <p:cNvSpPr/>
          <p:nvPr/>
        </p:nvSpPr>
        <p:spPr>
          <a:xfrm>
            <a:off x="566928" y="1371600"/>
            <a:ext cx="535838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353312"/>
            <a:ext cx="5422392"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6B6D4"/>
                </a:solidFill>
                <a:latin typeface="Calibri"/>
              </a:defRPr>
            </a:pPr>
            <a:r>
              <a:t>FRONTEND ARCHITECTURE</a:t>
            </a:r>
          </a:p>
          <a:p>
            <a:pPr>
              <a:spcBef>
                <a:spcPts val="400"/>
              </a:spcBef>
              <a:defRPr sz="1650" b="1">
                <a:solidFill>
                  <a:srgbClr val="FFFFFF"/>
                </a:solidFill>
                <a:latin typeface="Cambria"/>
              </a:defRPr>
            </a:pPr>
            <a:r>
              <a:t>Four Integrated Dashboard Modules</a:t>
            </a:r>
          </a:p>
          <a:p>
            <a:pPr>
              <a:spcBef>
                <a:spcPts val="1200"/>
              </a:spcBef>
            </a:pPr>
            <a:r>
              <a:rPr b="1" sz="1200">
                <a:solidFill>
                  <a:srgbClr val="06B6D4"/>
                </a:solidFill>
              </a:rPr>
              <a:t>✔ Dual Input Modalities
</a:t>
            </a:r>
            <a:r>
              <a:rPr sz="1050">
                <a:solidFill>
                  <a:srgbClr val="CBD5E1"/>
                </a:solidFill>
              </a:rPr>
              <a:t>Supports direct keyboard entry, clipboard paste, and drag-and-drop PDF upload.</a:t>
            </a:r>
          </a:p>
          <a:p>
            <a:pPr>
              <a:spcBef>
                <a:spcPts val="1200"/>
              </a:spcBef>
            </a:pPr>
            <a:r>
              <a:rPr b="1" sz="1200">
                <a:solidFill>
                  <a:srgbClr val="06B6D4"/>
                </a:solidFill>
              </a:rPr>
              <a:t>✔ Pre-Loaded Clinical Samples
</a:t>
            </a:r>
            <a:r>
              <a:rPr sz="1050">
                <a:solidFill>
                  <a:srgbClr val="CBD5E1"/>
                </a:solidFill>
              </a:rPr>
              <a:t>Quick-test buttons populated with authentic held-out test dictations.</a:t>
            </a:r>
          </a:p>
          <a:p>
            <a:pPr>
              <a:spcBef>
                <a:spcPts val="1200"/>
              </a:spcBef>
            </a:pPr>
            <a:r>
              <a:rPr b="1" sz="1200">
                <a:solidFill>
                  <a:srgbClr val="06B6D4"/>
                </a:solidFill>
              </a:rPr>
              <a:t>✔ Persistent Top Navigation
</a:t>
            </a:r>
            <a:r>
              <a:rPr sz="1050">
                <a:solidFill>
                  <a:srgbClr val="CBD5E1"/>
                </a:solidFill>
              </a:rPr>
              <a:t>Allows fluid switching across Triage, Workflow, Benchmarks, and Vocabulary.</a:t>
            </a:r>
          </a:p>
          <a:p>
            <a:pPr>
              <a:spcBef>
                <a:spcPts val="1200"/>
              </a:spcBef>
            </a:pPr>
            <a:r>
              <a:rPr b="1" sz="1200">
                <a:solidFill>
                  <a:srgbClr val="06B6D4"/>
                </a:solidFill>
              </a:rPr>
              <a:t>✔ Zero Framework Bloat
</a:t>
            </a:r>
            <a:r>
              <a:rPr sz="1050">
                <a:solidFill>
                  <a:srgbClr val="CBD5E1"/>
                </a:solidFill>
              </a:rPr>
              <a:t>Built with semantic HTML5, CSS3 Grid/Flexbox, and vanilla async JavaScript.</a:t>
            </a:r>
          </a:p>
        </p:txBody>
      </p:sp>
      <p:sp>
        <p:nvSpPr>
          <p:cNvPr id="11" name="Rounded Rectangle 10"/>
          <p:cNvSpPr/>
          <p:nvPr/>
        </p:nvSpPr>
        <p:spPr>
          <a:xfrm>
            <a:off x="6236208" y="1371600"/>
            <a:ext cx="5385816"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UI SCREEN 1: PREDICTION CONSOLE</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Interactive Clinical Specialty Prediction &amp; Triage Dashboard</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16 of 20</a:t>
            </a:r>
          </a:p>
        </p:txBody>
      </p:sp>
      <p:sp>
        <p:nvSpPr>
          <p:cNvPr id="8" name="Rounded Rectangle 7"/>
          <p:cNvSpPr/>
          <p:nvPr/>
        </p:nvSpPr>
        <p:spPr>
          <a:xfrm>
            <a:off x="548640" y="1353312"/>
            <a:ext cx="429768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100" b="1">
                <a:solidFill>
                  <a:srgbClr val="0D9488"/>
                </a:solidFill>
                <a:latin typeface="Calibri"/>
              </a:defRPr>
            </a:pPr>
            <a:r>
              <a:t>TRIAGE CONSOLE FEATURES</a:t>
            </a:r>
          </a:p>
          <a:p>
            <a:pPr>
              <a:spcBef>
                <a:spcPts val="300"/>
              </a:spcBef>
              <a:defRPr sz="1550" b="1">
                <a:solidFill>
                  <a:srgbClr val="0A1A30"/>
                </a:solidFill>
                <a:latin typeface="Cambria"/>
              </a:defRPr>
            </a:pPr>
            <a:r>
              <a:t>Operational Capabilities</a:t>
            </a:r>
          </a:p>
          <a:p>
            <a:pPr>
              <a:spcBef>
                <a:spcPts val="800"/>
              </a:spcBef>
            </a:pPr>
            <a:r>
              <a:rPr b="1" sz="1100">
                <a:solidFill>
                  <a:srgbClr val="0A1A30"/>
                </a:solidFill>
              </a:rPr>
              <a:t>▪ Live Narrative Textarea
</a:t>
            </a:r>
            <a:r>
              <a:rPr sz="1000">
                <a:solidFill>
                  <a:srgbClr val="1E293B"/>
                </a:solidFill>
              </a:rPr>
              <a:t>Spacious editor with auto-resizing &amp; placeholder clinical guidance.</a:t>
            </a:r>
          </a:p>
          <a:p>
            <a:pPr>
              <a:spcBef>
                <a:spcPts val="800"/>
              </a:spcBef>
            </a:pPr>
            <a:r>
              <a:rPr b="1" sz="1100">
                <a:solidFill>
                  <a:srgbClr val="0A1A30"/>
                </a:solidFill>
              </a:rPr>
              <a:t>▪ Drag-and-Drop PDF Zone
</a:t>
            </a:r>
            <a:r>
              <a:rPr sz="1000">
                <a:solidFill>
                  <a:srgbClr val="1E293B"/>
                </a:solidFill>
              </a:rPr>
              <a:t>Accepts digital consultation summaries with in-memory extraction.</a:t>
            </a:r>
          </a:p>
          <a:p>
            <a:pPr>
              <a:spcBef>
                <a:spcPts val="800"/>
              </a:spcBef>
            </a:pPr>
            <a:r>
              <a:rPr b="1" sz="1100">
                <a:solidFill>
                  <a:srgbClr val="0A1A30"/>
                </a:solidFill>
              </a:rPr>
              <a:t>▪ Pre-Loaded Sample Buttons
</a:t>
            </a:r>
            <a:r>
              <a:rPr sz="1000">
                <a:solidFill>
                  <a:srgbClr val="1E293B"/>
                </a:solidFill>
              </a:rPr>
              <a:t>One-click access to held-out cardiac, laparoscopic, and ortho notes.</a:t>
            </a:r>
          </a:p>
          <a:p>
            <a:pPr>
              <a:spcBef>
                <a:spcPts val="800"/>
              </a:spcBef>
            </a:pPr>
            <a:r>
              <a:rPr b="1" sz="1100">
                <a:solidFill>
                  <a:srgbClr val="0A1A30"/>
                </a:solidFill>
              </a:rPr>
              <a:t>▪ Specialty Hero Card
</a:t>
            </a:r>
            <a:r>
              <a:rPr sz="1000">
                <a:solidFill>
                  <a:srgbClr val="1E293B"/>
                </a:solidFill>
              </a:rPr>
              <a:t>Prominently displays routed specialty with confidence score (94.2%).</a:t>
            </a:r>
          </a:p>
          <a:p>
            <a:pPr>
              <a:spcBef>
                <a:spcPts val="800"/>
              </a:spcBef>
            </a:pPr>
            <a:r>
              <a:rPr b="1" sz="1100">
                <a:solidFill>
                  <a:srgbClr val="0A1A30"/>
                </a:solidFill>
              </a:rPr>
              <a:t>▪ Differential Candidates
</a:t>
            </a:r>
            <a:r>
              <a:rPr sz="1000">
                <a:solidFill>
                  <a:srgbClr val="1E293B"/>
                </a:solidFill>
              </a:rPr>
              <a:t>Horizontal bars rendering top-3 candidate specialty probabilities.</a:t>
            </a:r>
          </a:p>
          <a:p>
            <a:pPr>
              <a:spcBef>
                <a:spcPts val="800"/>
              </a:spcBef>
            </a:pPr>
            <a:r>
              <a:rPr b="1" sz="1100">
                <a:solidFill>
                  <a:srgbClr val="0A1A30"/>
                </a:solidFill>
              </a:rPr>
              <a:t>▪ Explainability Chips
</a:t>
            </a:r>
            <a:r>
              <a:rPr sz="1000">
                <a:solidFill>
                  <a:srgbClr val="1E293B"/>
                </a:solidFill>
              </a:rPr>
              <a:t>Highlighted diagnostic tokens: coronary, stenosis, catheter, myocardial.</a:t>
            </a:r>
          </a:p>
        </p:txBody>
      </p:sp>
      <p:sp>
        <p:nvSpPr>
          <p:cNvPr id="9" name="Rounded Rectangle 8"/>
          <p:cNvSpPr/>
          <p:nvPr/>
        </p:nvSpPr>
        <p:spPr>
          <a:xfrm>
            <a:off x="566928" y="1371600"/>
            <a:ext cx="426110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353312"/>
            <a:ext cx="661111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47488" y="1371600"/>
            <a:ext cx="6574536" cy="5486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i_prediction.png"/>
          <p:cNvPicPr>
            <a:picLocks noChangeAspect="1"/>
          </p:cNvPicPr>
          <p:nvPr/>
        </p:nvPicPr>
        <p:blipFill>
          <a:blip r:embed="rId2"/>
          <a:stretch>
            <a:fillRect/>
          </a:stretch>
        </p:blipFill>
        <p:spPr>
          <a:xfrm>
            <a:off x="5120640" y="1444752"/>
            <a:ext cx="6428232" cy="47091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UI SCREEN 2: OPERATIONAL WORKFLOW</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7-Stage End-to-End Algorithmic Dataflow Visualizer</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17 of 20</a:t>
            </a:r>
          </a:p>
        </p:txBody>
      </p:sp>
      <p:sp>
        <p:nvSpPr>
          <p:cNvPr id="8" name="Rounded Rectangle 7"/>
          <p:cNvSpPr/>
          <p:nvPr/>
        </p:nvSpPr>
        <p:spPr>
          <a:xfrm>
            <a:off x="548640" y="1353312"/>
            <a:ext cx="429768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100" b="1">
                <a:solidFill>
                  <a:srgbClr val="0D9488"/>
                </a:solidFill>
                <a:latin typeface="Calibri"/>
              </a:defRPr>
            </a:pPr>
            <a:r>
              <a:t>7-PHASE ARCHITECTURAL FLOW</a:t>
            </a:r>
          </a:p>
          <a:p>
            <a:pPr>
              <a:spcBef>
                <a:spcPts val="300"/>
              </a:spcBef>
              <a:defRPr sz="1550" b="1">
                <a:solidFill>
                  <a:srgbClr val="0A1A30"/>
                </a:solidFill>
                <a:latin typeface="Cambria"/>
              </a:defRPr>
            </a:pPr>
            <a:r>
              <a:t>Dataflow Pipeline Phases</a:t>
            </a:r>
          </a:p>
          <a:p>
            <a:pPr>
              <a:spcBef>
                <a:spcPts val="600"/>
              </a:spcBef>
            </a:pPr>
            <a:r>
              <a:rPr b="1" sz="1100">
                <a:solidFill>
                  <a:srgbClr val="0A1A30"/>
                </a:solidFill>
              </a:rPr>
              <a:t>▪ Phase 1: Ingestion
</a:t>
            </a:r>
            <a:r>
              <a:rPr sz="1000">
                <a:solidFill>
                  <a:srgbClr val="1E293B"/>
                </a:solidFill>
              </a:rPr>
              <a:t>Free-text narrative or in-memory PyMuPDF PDF stream.</a:t>
            </a:r>
          </a:p>
          <a:p>
            <a:pPr>
              <a:spcBef>
                <a:spcPts val="600"/>
              </a:spcBef>
            </a:pPr>
            <a:r>
              <a:rPr b="1" sz="1100">
                <a:solidFill>
                  <a:srgbClr val="0A1A30"/>
                </a:solidFill>
              </a:rPr>
              <a:t>▪ Phase 2: Text Normalization
</a:t>
            </a:r>
            <a:r>
              <a:rPr sz="1000">
                <a:solidFill>
                  <a:srgbClr val="1E293B"/>
                </a:solidFill>
              </a:rPr>
              <a:t>Regex cleaning [^a-zA-Z\\s] &amp; contraction expansion.</a:t>
            </a:r>
          </a:p>
          <a:p>
            <a:pPr>
              <a:spcBef>
                <a:spcPts val="600"/>
              </a:spcBef>
            </a:pPr>
            <a:r>
              <a:rPr b="1" sz="1100">
                <a:solidFill>
                  <a:srgbClr val="0A1A30"/>
                </a:solidFill>
              </a:rPr>
              <a:t>▪ Phase 3: Lemmatization
</a:t>
            </a:r>
            <a:r>
              <a:rPr sz="1000">
                <a:solidFill>
                  <a:srgbClr val="1E293B"/>
                </a:solidFill>
              </a:rPr>
              <a:t>WordNet morphological reduction to base anatomical lemma.</a:t>
            </a:r>
          </a:p>
          <a:p>
            <a:pPr>
              <a:spcBef>
                <a:spcPts val="600"/>
              </a:spcBef>
            </a:pPr>
            <a:r>
              <a:rPr b="1" sz="1100">
                <a:solidFill>
                  <a:srgbClr val="0A1A30"/>
                </a:solidFill>
              </a:rPr>
              <a:t>▪ Phase 4: TF-IDF Vectorization
</a:t>
            </a:r>
            <a:r>
              <a:rPr sz="1000">
                <a:solidFill>
                  <a:srgbClr val="1E293B"/>
                </a:solidFill>
              </a:rPr>
              <a:t>Sublinear unigram/bigram mapping across 8,000 features.</a:t>
            </a:r>
          </a:p>
          <a:p>
            <a:pPr>
              <a:spcBef>
                <a:spcPts val="600"/>
              </a:spcBef>
            </a:pPr>
            <a:r>
              <a:rPr b="1" sz="1100">
                <a:solidFill>
                  <a:srgbClr val="0A1A30"/>
                </a:solidFill>
              </a:rPr>
              <a:t>▪ Phase 5: Multi-Model Scoring
</a:t>
            </a:r>
            <a:r>
              <a:rPr sz="1000">
                <a:solidFill>
                  <a:srgbClr val="1E293B"/>
                </a:solidFill>
              </a:rPr>
              <a:t>Concurrent inference across SVM, LR, RF, and MNB.</a:t>
            </a:r>
          </a:p>
          <a:p>
            <a:pPr>
              <a:spcBef>
                <a:spcPts val="600"/>
              </a:spcBef>
            </a:pPr>
            <a:r>
              <a:rPr b="1" sz="1100">
                <a:solidFill>
                  <a:srgbClr val="0A1A30"/>
                </a:solidFill>
              </a:rPr>
              <a:t>▪ Phase 6: Soft Voting Consensus
</a:t>
            </a:r>
            <a:r>
              <a:rPr sz="1000">
                <a:solidFill>
                  <a:srgbClr val="1E293B"/>
                </a:solidFill>
              </a:rPr>
              <a:t>Weighted probability averaging [2:2:1:1].</a:t>
            </a:r>
          </a:p>
          <a:p>
            <a:pPr>
              <a:spcBef>
                <a:spcPts val="600"/>
              </a:spcBef>
            </a:pPr>
            <a:r>
              <a:rPr b="1" sz="1100">
                <a:solidFill>
                  <a:srgbClr val="0A1A30"/>
                </a:solidFill>
              </a:rPr>
              <a:t>▪ Phase 7: Open-Set Rejection
</a:t>
            </a:r>
            <a:r>
              <a:rPr sz="1000">
                <a:solidFill>
                  <a:srgbClr val="1E293B"/>
                </a:solidFill>
              </a:rPr>
              <a:t>Threshold verification (τ = 0.48) routing to triage or review.</a:t>
            </a:r>
          </a:p>
        </p:txBody>
      </p:sp>
      <p:sp>
        <p:nvSpPr>
          <p:cNvPr id="9" name="Rounded Rectangle 8"/>
          <p:cNvSpPr/>
          <p:nvPr/>
        </p:nvSpPr>
        <p:spPr>
          <a:xfrm>
            <a:off x="566928" y="1371600"/>
            <a:ext cx="426110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353312"/>
            <a:ext cx="661111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47488" y="1371600"/>
            <a:ext cx="6574536" cy="54864"/>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i_how_it_works.png"/>
          <p:cNvPicPr>
            <a:picLocks noChangeAspect="1"/>
          </p:cNvPicPr>
          <p:nvPr/>
        </p:nvPicPr>
        <p:blipFill>
          <a:blip r:embed="rId2"/>
          <a:stretch>
            <a:fillRect/>
          </a:stretch>
        </p:blipFill>
        <p:spPr>
          <a:xfrm>
            <a:off x="5120640" y="1444752"/>
            <a:ext cx="6428232" cy="47091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UI SCREEN 3: PERFORMANCE ANALYTICS</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Model Benchmarks, Comparative Metrics &amp; Confusion Matrix</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18 of 20</a:t>
            </a:r>
          </a:p>
        </p:txBody>
      </p:sp>
      <p:sp>
        <p:nvSpPr>
          <p:cNvPr id="8" name="Rounded Rectangle 7"/>
          <p:cNvSpPr/>
          <p:nvPr/>
        </p:nvSpPr>
        <p:spPr>
          <a:xfrm>
            <a:off x="548640" y="1353312"/>
            <a:ext cx="429768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100" b="1">
                <a:solidFill>
                  <a:srgbClr val="0D9488"/>
                </a:solidFill>
                <a:latin typeface="Calibri"/>
              </a:defRPr>
            </a:pPr>
            <a:r>
              <a:t>ANALYTICS DASHBOARD MODULE</a:t>
            </a:r>
          </a:p>
          <a:p>
            <a:pPr>
              <a:spcBef>
                <a:spcPts val="300"/>
              </a:spcBef>
              <a:defRPr sz="1550" b="1">
                <a:solidFill>
                  <a:srgbClr val="0A1A30"/>
                </a:solidFill>
                <a:latin typeface="Cambria"/>
              </a:defRPr>
            </a:pPr>
            <a:r>
              <a:t>Validation Telemetry</a:t>
            </a:r>
          </a:p>
          <a:p>
            <a:pPr>
              <a:spcBef>
                <a:spcPts val="1200"/>
              </a:spcBef>
            </a:pPr>
            <a:r>
              <a:rPr b="1" sz="1100">
                <a:solidFill>
                  <a:srgbClr val="0A1A30"/>
                </a:solidFill>
              </a:rPr>
              <a:t>▪ Top-Line KPI Metric Cards
</a:t>
            </a:r>
            <a:r>
              <a:rPr sz="1000">
                <a:solidFill>
                  <a:srgbClr val="1E293B"/>
                </a:solidFill>
              </a:rPr>
              <a:t>Live validation statistics: 88.59% Acc, 0.8971 F1, 0.9051 Prec.</a:t>
            </a:r>
          </a:p>
          <a:p>
            <a:pPr>
              <a:spcBef>
                <a:spcPts val="1200"/>
              </a:spcBef>
            </a:pPr>
            <a:r>
              <a:rPr b="1" sz="1100">
                <a:solidFill>
                  <a:srgbClr val="0A1A30"/>
                </a:solidFill>
              </a:rPr>
              <a:t>▪ Comparative Benchmark Matrix
</a:t>
            </a:r>
            <a:r>
              <a:rPr sz="1000">
                <a:solidFill>
                  <a:srgbClr val="1E293B"/>
                </a:solidFill>
              </a:rPr>
              <a:t>Side-by-side comparison of SVM, Ensemble, LR, RF, and MNB.</a:t>
            </a:r>
          </a:p>
          <a:p>
            <a:pPr>
              <a:spcBef>
                <a:spcPts val="1200"/>
              </a:spcBef>
            </a:pPr>
            <a:r>
              <a:rPr b="1" sz="1100">
                <a:solidFill>
                  <a:srgbClr val="0A1A30"/>
                </a:solidFill>
              </a:rPr>
              <a:t>▪ Interactive Confusion Matrix
</a:t>
            </a:r>
            <a:r>
              <a:rPr sz="1000">
                <a:solidFill>
                  <a:srgbClr val="1E293B"/>
                </a:solidFill>
              </a:rPr>
              <a:t>Heatmap rendering True Positives &amp; misclassification counts across 333 test records.</a:t>
            </a:r>
          </a:p>
          <a:p>
            <a:pPr>
              <a:spcBef>
                <a:spcPts val="1200"/>
              </a:spcBef>
            </a:pPr>
            <a:r>
              <a:rPr b="1" sz="1100">
                <a:solidFill>
                  <a:srgbClr val="0A1A30"/>
                </a:solidFill>
              </a:rPr>
              <a:t>▪ REST Telemetry Endpoint
</a:t>
            </a:r>
            <a:r>
              <a:rPr sz="1000">
                <a:solidFill>
                  <a:srgbClr val="1E293B"/>
                </a:solidFill>
              </a:rPr>
              <a:t>Served dynamically via 'GET /api/model-info' for live auditing.</a:t>
            </a:r>
          </a:p>
        </p:txBody>
      </p:sp>
      <p:sp>
        <p:nvSpPr>
          <p:cNvPr id="9" name="Rounded Rectangle 8"/>
          <p:cNvSpPr/>
          <p:nvPr/>
        </p:nvSpPr>
        <p:spPr>
          <a:xfrm>
            <a:off x="566928" y="1371600"/>
            <a:ext cx="426110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353312"/>
            <a:ext cx="661111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47488" y="1371600"/>
            <a:ext cx="6574536"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i_performance.png"/>
          <p:cNvPicPr>
            <a:picLocks noChangeAspect="1"/>
          </p:cNvPicPr>
          <p:nvPr/>
        </p:nvPicPr>
        <p:blipFill>
          <a:blip r:embed="rId2"/>
          <a:stretch>
            <a:fillRect/>
          </a:stretch>
        </p:blipFill>
        <p:spPr>
          <a:xfrm>
            <a:off x="5120640" y="1444752"/>
            <a:ext cx="6428232" cy="47091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6FA"/>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UI SCREEN 4: VOCABULARY INSPECTOR</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0A1A30"/>
                </a:solidFill>
                <a:latin typeface="Cambria"/>
              </a:defRPr>
            </a:pPr>
            <a:r>
              <a:t>Feature Space Explorer &amp; Diagnostic Clinical Vocabulary Analysis</a:t>
            </a:r>
          </a:p>
        </p:txBody>
      </p:sp>
      <p:sp>
        <p:nvSpPr>
          <p:cNvPr id="4" name="Rectangle 3"/>
          <p:cNvSpPr/>
          <p:nvPr/>
        </p:nvSpPr>
        <p:spPr>
          <a:xfrm>
            <a:off x="548640" y="6446520"/>
            <a:ext cx="11091672" cy="13716"/>
          </a:xfrm>
          <a:prstGeom prst="rect">
            <a:avLst/>
          </a:prstGeom>
          <a:solidFill>
            <a:srgbClr val="D8E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64748B"/>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64748B"/>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0A1A30"/>
                </a:solidFill>
                <a:latin typeface="Calibri"/>
              </a:defRPr>
            </a:pPr>
            <a:r>
              <a:t>Slide 19 of 20</a:t>
            </a:r>
          </a:p>
        </p:txBody>
      </p:sp>
      <p:sp>
        <p:nvSpPr>
          <p:cNvPr id="8" name="Rounded Rectangle 7"/>
          <p:cNvSpPr/>
          <p:nvPr/>
        </p:nvSpPr>
        <p:spPr>
          <a:xfrm>
            <a:off x="548640" y="1353312"/>
            <a:ext cx="4297680"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100" b="1">
                <a:solidFill>
                  <a:srgbClr val="0D9488"/>
                </a:solidFill>
                <a:latin typeface="Calibri"/>
              </a:defRPr>
            </a:pPr>
            <a:r>
              <a:t>FEATURE SPACE INSPECTOR</a:t>
            </a:r>
          </a:p>
          <a:p>
            <a:pPr>
              <a:spcBef>
                <a:spcPts val="300"/>
              </a:spcBef>
              <a:defRPr sz="1550" b="1">
                <a:solidFill>
                  <a:srgbClr val="0A1A30"/>
                </a:solidFill>
                <a:latin typeface="Cambria"/>
              </a:defRPr>
            </a:pPr>
            <a:r>
              <a:t>Clinical Lexical Transparency</a:t>
            </a:r>
          </a:p>
          <a:p>
            <a:pPr>
              <a:spcBef>
                <a:spcPts val="900"/>
              </a:spcBef>
            </a:pPr>
            <a:r>
              <a:rPr b="1" sz="1100">
                <a:solidFill>
                  <a:srgbClr val="0A1A30"/>
                </a:solidFill>
              </a:rPr>
              <a:t>▪ Specialty Dropdown Selector
</a:t>
            </a:r>
            <a:r>
              <a:rPr sz="1000">
                <a:solidFill>
                  <a:srgbClr val="1E293B"/>
                </a:solidFill>
              </a:rPr>
              <a:t>Select any of the 8 departments to audit top-weighted n-grams.</a:t>
            </a:r>
          </a:p>
          <a:p>
            <a:pPr>
              <a:spcBef>
                <a:spcPts val="900"/>
              </a:spcBef>
            </a:pPr>
            <a:r>
              <a:rPr b="1" sz="1100">
                <a:solidFill>
                  <a:srgbClr val="0A1A30"/>
                </a:solidFill>
              </a:rPr>
              <a:t>▪ Ophthalmology Vocabulary
</a:t>
            </a:r>
            <a:r>
              <a:rPr sz="1000">
                <a:solidFill>
                  <a:srgbClr val="1E293B"/>
                </a:solidFill>
              </a:rPr>
              <a:t>cataract, lens, phacoemulsification, intraocular, visual acuity.</a:t>
            </a:r>
          </a:p>
          <a:p>
            <a:pPr>
              <a:spcBef>
                <a:spcPts val="900"/>
              </a:spcBef>
            </a:pPr>
            <a:r>
              <a:rPr b="1" sz="1100">
                <a:solidFill>
                  <a:srgbClr val="0A1A30"/>
                </a:solidFill>
              </a:rPr>
              <a:t>▪ Cardiology Vocabulary
</a:t>
            </a:r>
            <a:r>
              <a:rPr sz="1000">
                <a:solidFill>
                  <a:srgbClr val="1E293B"/>
                </a:solidFill>
              </a:rPr>
              <a:t>coronary, stenosis, catheter, myocardial, angioplasty, stent.</a:t>
            </a:r>
          </a:p>
          <a:p>
            <a:pPr>
              <a:spcBef>
                <a:spcPts val="900"/>
              </a:spcBef>
            </a:pPr>
            <a:r>
              <a:rPr b="1" sz="1100">
                <a:solidFill>
                  <a:srgbClr val="0A1A30"/>
                </a:solidFill>
              </a:rPr>
              <a:t>▪ Orthopedic Vocabulary
</a:t>
            </a:r>
            <a:r>
              <a:rPr sz="1000">
                <a:solidFill>
                  <a:srgbClr val="1E293B"/>
                </a:solidFill>
              </a:rPr>
              <a:t>fracture, fixation, femur, tibia, joint, arthroplasty, graft.</a:t>
            </a:r>
          </a:p>
          <a:p>
            <a:pPr>
              <a:spcBef>
                <a:spcPts val="900"/>
              </a:spcBef>
            </a:pPr>
            <a:r>
              <a:rPr b="1" sz="1100">
                <a:solidFill>
                  <a:srgbClr val="0A1A30"/>
                </a:solidFill>
              </a:rPr>
              <a:t>▪ Spurious Correlation Audit
</a:t>
            </a:r>
            <a:r>
              <a:rPr sz="1000">
                <a:solidFill>
                  <a:srgbClr val="1E293B"/>
                </a:solidFill>
              </a:rPr>
              <a:t>Validates that models learned true anatomy, not clerical noise.</a:t>
            </a:r>
          </a:p>
        </p:txBody>
      </p:sp>
      <p:sp>
        <p:nvSpPr>
          <p:cNvPr id="9" name="Rounded Rectangle 8"/>
          <p:cNvSpPr/>
          <p:nvPr/>
        </p:nvSpPr>
        <p:spPr>
          <a:xfrm>
            <a:off x="566928" y="1371600"/>
            <a:ext cx="426110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353312"/>
            <a:ext cx="6611112" cy="4892040"/>
          </a:xfrm>
          <a:prstGeom prst="roundRect">
            <a:avLst/>
          </a:prstGeom>
          <a:solidFill>
            <a:srgbClr val="FFFFFF"/>
          </a:solidFill>
          <a:ln w="1270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47488" y="1371600"/>
            <a:ext cx="6574536" cy="54864"/>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i_features.png"/>
          <p:cNvPicPr>
            <a:picLocks noChangeAspect="1"/>
          </p:cNvPicPr>
          <p:nvPr/>
        </p:nvPicPr>
        <p:blipFill>
          <a:blip r:embed="rId2"/>
          <a:stretch>
            <a:fillRect/>
          </a:stretch>
        </p:blipFill>
        <p:spPr>
          <a:xfrm>
            <a:off x="5120640" y="1444752"/>
            <a:ext cx="6428232" cy="47091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1122"/>
        </a:solidFill>
        <a:effectLst/>
      </p:bgPr>
    </p:bg>
    <p:spTree>
      <p:nvGrpSpPr>
        <p:cNvPr id="1" name=""/>
        <p:cNvGrpSpPr/>
        <p:nvPr/>
      </p:nvGrpSpPr>
      <p:grpSpPr/>
      <p:sp>
        <p:nvSpPr>
          <p:cNvPr id="2" name="Rounded Rectangle 1"/>
          <p:cNvSpPr/>
          <p:nvPr/>
        </p:nvSpPr>
        <p:spPr>
          <a:xfrm>
            <a:off x="548640" y="292608"/>
            <a:ext cx="4389120" cy="310896"/>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defRPr sz="1000" b="1">
                <a:solidFill>
                  <a:srgbClr val="FFFFFF"/>
                </a:solidFill>
                <a:latin typeface="Calibri"/>
              </a:defRPr>
            </a:pPr>
            <a:r>
              <a:t>CONCLUSION &amp; FUTURE HORIZONS</a:t>
            </a:r>
          </a:p>
        </p:txBody>
      </p:sp>
      <p:sp>
        <p:nvSpPr>
          <p:cNvPr id="3" name="TextBox 2"/>
          <p:cNvSpPr txBox="1"/>
          <p:nvPr/>
        </p:nvSpPr>
        <p:spPr>
          <a:xfrm>
            <a:off x="548640" y="621792"/>
            <a:ext cx="11091672" cy="594360"/>
          </a:xfrm>
          <a:prstGeom prst="rect">
            <a:avLst/>
          </a:prstGeom>
          <a:noFill/>
        </p:spPr>
        <p:txBody>
          <a:bodyPr wrap="square" lIns="0" rIns="0" tIns="0" bIns="0">
            <a:spAutoFit/>
          </a:bodyPr>
          <a:lstStyle/>
          <a:p>
            <a:pPr>
              <a:defRPr sz="2200" b="1">
                <a:solidFill>
                  <a:srgbClr val="FFFFFF"/>
                </a:solidFill>
                <a:latin typeface="Cambria"/>
              </a:defRPr>
            </a:pPr>
            <a:r>
              <a:t>Project Deliverables, Research Contributions, Future Scope &amp; Thanks</a:t>
            </a:r>
          </a:p>
        </p:txBody>
      </p:sp>
      <p:sp>
        <p:nvSpPr>
          <p:cNvPr id="4" name="Rectangle 3"/>
          <p:cNvSpPr/>
          <p:nvPr/>
        </p:nvSpPr>
        <p:spPr>
          <a:xfrm>
            <a:off x="548640" y="6446520"/>
            <a:ext cx="11091672" cy="13716"/>
          </a:xfrm>
          <a:prstGeom prst="rect">
            <a:avLst/>
          </a:prstGeom>
          <a:solidFill>
            <a:srgbClr val="1B3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4114800" cy="274320"/>
          </a:xfrm>
          <a:prstGeom prst="rect">
            <a:avLst/>
          </a:prstGeom>
          <a:noFill/>
        </p:spPr>
        <p:txBody>
          <a:bodyPr wrap="none" lIns="0" rIns="0" tIns="0" bIns="0">
            <a:spAutoFit/>
          </a:bodyPr>
          <a:lstStyle/>
          <a:p>
            <a:pPr>
              <a:defRPr sz="950">
                <a:solidFill>
                  <a:srgbClr val="94A3B8"/>
                </a:solidFill>
                <a:latin typeface="Calibri"/>
              </a:defRPr>
            </a:pPr>
            <a:r>
              <a:t>Department of Computer Applications | MACE (Autonomous)</a:t>
            </a:r>
          </a:p>
        </p:txBody>
      </p:sp>
      <p:sp>
        <p:nvSpPr>
          <p:cNvPr id="6" name="TextBox 5"/>
          <p:cNvSpPr txBox="1"/>
          <p:nvPr/>
        </p:nvSpPr>
        <p:spPr>
          <a:xfrm>
            <a:off x="4114800" y="6492240"/>
            <a:ext cx="4572000" cy="274320"/>
          </a:xfrm>
          <a:prstGeom prst="rect">
            <a:avLst/>
          </a:prstGeom>
          <a:noFill/>
        </p:spPr>
        <p:txBody>
          <a:bodyPr wrap="none" lIns="0" rIns="0" tIns="0" bIns="0">
            <a:spAutoFit/>
          </a:bodyPr>
          <a:lstStyle/>
          <a:p>
            <a:pPr algn="ctr">
              <a:defRPr sz="950">
                <a:solidFill>
                  <a:srgbClr val="94A3B8"/>
                </a:solidFill>
                <a:latin typeface="Calibri"/>
              </a:defRPr>
            </a:pPr>
            <a:r>
              <a:t>Medical Specialty Classification | Final Defense | 29-10-2026</a:t>
            </a:r>
          </a:p>
        </p:txBody>
      </p:sp>
      <p:sp>
        <p:nvSpPr>
          <p:cNvPr id="7" name="TextBox 6"/>
          <p:cNvSpPr txBox="1"/>
          <p:nvPr/>
        </p:nvSpPr>
        <p:spPr>
          <a:xfrm>
            <a:off x="9144000" y="6492240"/>
            <a:ext cx="2496312" cy="274320"/>
          </a:xfrm>
          <a:prstGeom prst="rect">
            <a:avLst/>
          </a:prstGeom>
          <a:noFill/>
        </p:spPr>
        <p:txBody>
          <a:bodyPr wrap="none" lIns="0" rIns="0" tIns="0" bIns="0">
            <a:spAutoFit/>
          </a:bodyPr>
          <a:lstStyle/>
          <a:p>
            <a:pPr algn="r">
              <a:defRPr sz="950" b="1">
                <a:solidFill>
                  <a:srgbClr val="38BDF8"/>
                </a:solidFill>
                <a:latin typeface="Calibri"/>
              </a:defRPr>
            </a:pPr>
            <a:r>
              <a:t>Slide 20 of 20</a:t>
            </a:r>
          </a:p>
        </p:txBody>
      </p:sp>
      <p:sp>
        <p:nvSpPr>
          <p:cNvPr id="8" name="Rounded Rectangle 7"/>
          <p:cNvSpPr/>
          <p:nvPr/>
        </p:nvSpPr>
        <p:spPr>
          <a:xfrm>
            <a:off x="548640" y="1353312"/>
            <a:ext cx="347472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D9488"/>
                </a:solidFill>
                <a:latin typeface="Calibri"/>
              </a:defRPr>
            </a:pPr>
            <a:r>
              <a:t>1. ACHIEVEMENTS</a:t>
            </a:r>
          </a:p>
          <a:p>
            <a:pPr>
              <a:spcBef>
                <a:spcPts val="400"/>
              </a:spcBef>
              <a:defRPr sz="1700" b="1">
                <a:solidFill>
                  <a:srgbClr val="FFFFFF"/>
                </a:solidFill>
                <a:latin typeface="Cambria"/>
              </a:defRPr>
            </a:pPr>
            <a:r>
              <a:t>Milestones Met</a:t>
            </a:r>
          </a:p>
          <a:p>
            <a:pPr>
              <a:spcBef>
                <a:spcPts val="1200"/>
              </a:spcBef>
            </a:pPr>
            <a:r>
              <a:rPr b="1" sz="1200">
                <a:solidFill>
                  <a:srgbClr val="0D9488"/>
                </a:solidFill>
              </a:rPr>
              <a:t>✔ Accuracy Target Exceeded
</a:t>
            </a:r>
            <a:r>
              <a:rPr sz="1050">
                <a:solidFill>
                  <a:srgbClr val="CBD5E1"/>
                </a:solidFill>
              </a:rPr>
              <a:t>SVM: 88.59% (0.8971 F1); Ensemble: 87.99% (0.8898 F1) vs 75% target.</a:t>
            </a:r>
          </a:p>
          <a:p>
            <a:pPr>
              <a:spcBef>
                <a:spcPts val="1200"/>
              </a:spcBef>
            </a:pPr>
            <a:r>
              <a:rPr b="1" sz="1200">
                <a:solidFill>
                  <a:srgbClr val="0D9488"/>
                </a:solidFill>
              </a:rPr>
              <a:t>✔ Clean 8-Class Benchmark
</a:t>
            </a:r>
            <a:r>
              <a:rPr sz="1050">
                <a:solidFill>
                  <a:srgbClr val="CBD5E1"/>
                </a:solidFill>
              </a:rPr>
              <a:t>1,663 records resolving administrative contamination.</a:t>
            </a:r>
          </a:p>
          <a:p>
            <a:pPr>
              <a:spcBef>
                <a:spcPts val="1200"/>
              </a:spcBef>
            </a:pPr>
            <a:r>
              <a:rPr b="1" sz="1200">
                <a:solidFill>
                  <a:srgbClr val="0D9488"/>
                </a:solidFill>
              </a:rPr>
              <a:t>✔ Sub-10ms CPU Latency
</a:t>
            </a:r>
            <a:r>
              <a:rPr sz="1050">
                <a:solidFill>
                  <a:srgbClr val="CBD5E1"/>
                </a:solidFill>
              </a:rPr>
              <a:t>9.20 ms total turnaround (&gt;100 TPS without GPU).</a:t>
            </a:r>
          </a:p>
          <a:p>
            <a:pPr>
              <a:spcBef>
                <a:spcPts val="1200"/>
              </a:spcBef>
            </a:pPr>
            <a:r>
              <a:rPr b="1" sz="1200">
                <a:solidFill>
                  <a:srgbClr val="0D9488"/>
                </a:solidFill>
              </a:rPr>
              <a:t>✔ Open-Set Clinical Safety
</a:t>
            </a:r>
            <a:r>
              <a:rPr sz="1050">
                <a:solidFill>
                  <a:srgbClr val="CBD5E1"/>
                </a:solidFill>
              </a:rPr>
              <a:t>100% out-of-domain interception via threshold τ = 0.48.</a:t>
            </a:r>
          </a:p>
        </p:txBody>
      </p:sp>
      <p:sp>
        <p:nvSpPr>
          <p:cNvPr id="9" name="Rounded Rectangle 8"/>
          <p:cNvSpPr/>
          <p:nvPr/>
        </p:nvSpPr>
        <p:spPr>
          <a:xfrm>
            <a:off x="566928" y="1371600"/>
            <a:ext cx="3438144" cy="54864"/>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52544" y="1353312"/>
            <a:ext cx="347472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06B6D4"/>
                </a:solidFill>
                <a:latin typeface="Calibri"/>
              </a:defRPr>
            </a:pPr>
            <a:r>
              <a:t>2. DELIVERABLES</a:t>
            </a:r>
          </a:p>
          <a:p>
            <a:pPr>
              <a:spcBef>
                <a:spcPts val="400"/>
              </a:spcBef>
              <a:defRPr sz="1700" b="1">
                <a:solidFill>
                  <a:srgbClr val="FFFFFF"/>
                </a:solidFill>
                <a:latin typeface="Cambria"/>
              </a:defRPr>
            </a:pPr>
            <a:r>
              <a:t>Software Artifacts</a:t>
            </a:r>
          </a:p>
          <a:p>
            <a:pPr>
              <a:spcBef>
                <a:spcPts val="1200"/>
              </a:spcBef>
            </a:pPr>
            <a:r>
              <a:rPr b="1" sz="1200">
                <a:solidFill>
                  <a:srgbClr val="06B6D4"/>
                </a:solidFill>
              </a:rPr>
              <a:t>▪ Production Web App
</a:t>
            </a:r>
            <a:r>
              <a:rPr sz="1050">
                <a:solidFill>
                  <a:srgbClr val="CBD5E1"/>
                </a:solidFill>
              </a:rPr>
              <a:t>MedSpecialty AI dashboard with 4 interactive modules.</a:t>
            </a:r>
          </a:p>
          <a:p>
            <a:pPr>
              <a:spcBef>
                <a:spcPts val="1200"/>
              </a:spcBef>
            </a:pPr>
            <a:r>
              <a:rPr b="1" sz="1200">
                <a:solidFill>
                  <a:srgbClr val="06B6D4"/>
                </a:solidFill>
              </a:rPr>
              <a:t>▪ In-Memory PDF Parsing
</a:t>
            </a:r>
            <a:r>
              <a:rPr sz="1050">
                <a:solidFill>
                  <a:srgbClr val="CBD5E1"/>
                </a:solidFill>
              </a:rPr>
              <a:t>3.85 ms PyMuPDF extraction with zero disk residue.</a:t>
            </a:r>
          </a:p>
          <a:p>
            <a:pPr>
              <a:spcBef>
                <a:spcPts val="1200"/>
              </a:spcBef>
            </a:pPr>
            <a:r>
              <a:rPr b="1" sz="1200">
                <a:solidFill>
                  <a:srgbClr val="06B6D4"/>
                </a:solidFill>
              </a:rPr>
              <a:t>▪ Serialized ML Binaries
</a:t>
            </a:r>
            <a:r>
              <a:rPr sz="1050">
                <a:solidFill>
                  <a:srgbClr val="CBD5E1"/>
                </a:solidFill>
              </a:rPr>
              <a:t>Joblib compressed 8,000-term TF-IDF &amp; 4-model ensemble.</a:t>
            </a:r>
          </a:p>
          <a:p>
            <a:pPr>
              <a:spcBef>
                <a:spcPts val="1200"/>
              </a:spcBef>
            </a:pPr>
            <a:r>
              <a:rPr b="1" sz="1200">
                <a:solidFill>
                  <a:srgbClr val="06B6D4"/>
                </a:solidFill>
              </a:rPr>
              <a:t>▪ IEEE LaTeX Final Report
</a:t>
            </a:r>
            <a:r>
              <a:rPr sz="1050">
                <a:solidFill>
                  <a:srgbClr val="CBD5E1"/>
                </a:solidFill>
              </a:rPr>
              <a:t>Comprehensive documentation prepared with academic rigor.</a:t>
            </a:r>
          </a:p>
        </p:txBody>
      </p:sp>
      <p:sp>
        <p:nvSpPr>
          <p:cNvPr id="11" name="Rounded Rectangle 10"/>
          <p:cNvSpPr/>
          <p:nvPr/>
        </p:nvSpPr>
        <p:spPr>
          <a:xfrm>
            <a:off x="4370832" y="1371600"/>
            <a:ext cx="3438144" cy="5486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56448" y="1353312"/>
            <a:ext cx="3474720" cy="4892040"/>
          </a:xfrm>
          <a:prstGeom prst="roundRect">
            <a:avLst/>
          </a:prstGeom>
          <a:solidFill>
            <a:srgbClr val="0E1E38"/>
          </a:solidFill>
          <a:ln w="12700">
            <a:solidFill>
              <a:srgbClr val="1B355D"/>
            </a:solidFill>
          </a:ln>
        </p:spPr>
        <p:style>
          <a:lnRef idx="1">
            <a:schemeClr val="accent1"/>
          </a:lnRef>
          <a:fillRef idx="3">
            <a:schemeClr val="accent1"/>
          </a:fillRef>
          <a:effectRef idx="2">
            <a:schemeClr val="accent1"/>
          </a:effectRef>
          <a:fontRef idx="minor">
            <a:schemeClr val="lt1"/>
          </a:fontRef>
        </p:style>
        <p:txBody>
          <a:bodyPr rtlCol="0" anchor="ctr" lIns="256032" rIns="256032" tIns="256032"/>
          <a:lstStyle/>
          <a:p>
            <a:pPr algn="ctr">
              <a:defRPr sz="1200" b="1">
                <a:solidFill>
                  <a:srgbClr val="10B981"/>
                </a:solidFill>
                <a:latin typeface="Calibri"/>
              </a:defRPr>
            </a:pPr>
            <a:r>
              <a:t>3. FUTURE WORK &amp; THANKS</a:t>
            </a:r>
          </a:p>
          <a:p>
            <a:pPr>
              <a:spcBef>
                <a:spcPts val="400"/>
              </a:spcBef>
              <a:defRPr sz="1700" b="1">
                <a:solidFill>
                  <a:srgbClr val="FFFFFF"/>
                </a:solidFill>
                <a:latin typeface="Cambria"/>
              </a:defRPr>
            </a:pPr>
            <a:r>
              <a:t>Expansion &amp; Acknowledgements</a:t>
            </a:r>
          </a:p>
          <a:p>
            <a:pPr>
              <a:spcBef>
                <a:spcPts val="1200"/>
              </a:spcBef>
            </a:pPr>
            <a:r>
              <a:rPr b="1" sz="1200">
                <a:solidFill>
                  <a:srgbClr val="10B981"/>
                </a:solidFill>
              </a:rPr>
              <a:t>✨ HL7 / FHIR Integration
</a:t>
            </a:r>
            <a:r>
              <a:rPr sz="1050">
                <a:solidFill>
                  <a:srgbClr val="CBD5E1"/>
                </a:solidFill>
              </a:rPr>
              <a:t>Direct connection to hospital EHR message queues.</a:t>
            </a:r>
          </a:p>
          <a:p>
            <a:pPr>
              <a:spcBef>
                <a:spcPts val="1200"/>
              </a:spcBef>
            </a:pPr>
            <a:r>
              <a:rPr b="1" sz="1200">
                <a:solidFill>
                  <a:srgbClr val="10B981"/>
                </a:solidFill>
              </a:rPr>
              <a:t>✨ Active Learning Loop
</a:t>
            </a:r>
            <a:r>
              <a:rPr sz="1050">
                <a:solidFill>
                  <a:srgbClr val="CBD5E1"/>
                </a:solidFill>
              </a:rPr>
              <a:t>Physician feedback loop to refine borderline predictions.</a:t>
            </a:r>
          </a:p>
          <a:p>
            <a:pPr>
              <a:spcBef>
                <a:spcPts val="1200"/>
              </a:spcBef>
            </a:pPr>
            <a:r>
              <a:rPr b="1" sz="1200">
                <a:solidFill>
                  <a:srgbClr val="10B981"/>
                </a:solidFill>
              </a:rPr>
              <a:t>✨ Multilingual NLP
</a:t>
            </a:r>
            <a:r>
              <a:rPr sz="1050">
                <a:solidFill>
                  <a:srgbClr val="CBD5E1"/>
                </a:solidFill>
              </a:rPr>
              <a:t>Extension to regional Indian languages (Malayalam, Hindi).</a:t>
            </a:r>
          </a:p>
          <a:p>
            <a:pPr>
              <a:spcBef>
                <a:spcPts val="1200"/>
              </a:spcBef>
            </a:pPr>
            <a:r>
              <a:rPr b="1" sz="1200">
                <a:solidFill>
                  <a:srgbClr val="10B981"/>
                </a:solidFill>
              </a:rPr>
              <a:t>✨ Heartfelt Acknowledgements
</a:t>
            </a:r>
            <a:r>
              <a:rPr sz="1050">
                <a:solidFill>
                  <a:srgbClr val="CBD5E1"/>
                </a:solidFill>
              </a:rPr>
              <a:t>Gratitude to Guide Prof. Biju Skaria, HOD Dr. Sonia Abraham, Dr. Manu John, &amp; faculty.</a:t>
            </a:r>
          </a:p>
        </p:txBody>
      </p:sp>
      <p:sp>
        <p:nvSpPr>
          <p:cNvPr id="13" name="Rounded Rectangle 12"/>
          <p:cNvSpPr/>
          <p:nvPr/>
        </p:nvSpPr>
        <p:spPr>
          <a:xfrm>
            <a:off x="8174736" y="1371600"/>
            <a:ext cx="3438144"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