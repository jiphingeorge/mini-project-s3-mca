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731520" y="731520"/>
            <a:ext cx="182880" cy="5394960"/>
          </a:xfrm>
          <a:prstGeom prst="rect">
            <a:avLst/>
          </a:prstGeom>
          <a:solidFill>
            <a:srgbClr val="1D4E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777240"/>
            <a:ext cx="10058400" cy="365760"/>
          </a:xfrm>
          <a:prstGeom prst="rect">
            <a:avLst/>
          </a:prstGeom>
          <a:noFill/>
        </p:spPr>
        <p:txBody>
          <a:bodyPr wrap="none" lIns="0" tIns="0" rIns="0" bIns="0">
            <a:spAutoFit/>
          </a:bodyPr>
          <a:lstStyle/>
          <a:p>
            <a:pPr>
              <a:defRPr sz="1100" b="1">
                <a:solidFill>
                  <a:srgbClr val="0D9488"/>
                </a:solidFill>
                <a:latin typeface="Calibri"/>
              </a:defRPr>
            </a:pPr>
            <a:r>
              <a:t>MAR ATHANASIUS COLLEGE OF ENGINEERING, KOTHAMANGALAM</a:t>
            </a:r>
          </a:p>
        </p:txBody>
      </p:sp>
      <p:sp>
        <p:nvSpPr>
          <p:cNvPr id="4" name="TextBox 3"/>
          <p:cNvSpPr txBox="1"/>
          <p:nvPr/>
        </p:nvSpPr>
        <p:spPr>
          <a:xfrm>
            <a:off x="1143000" y="1051560"/>
            <a:ext cx="10058400" cy="320040"/>
          </a:xfrm>
          <a:prstGeom prst="rect">
            <a:avLst/>
          </a:prstGeom>
          <a:noFill/>
        </p:spPr>
        <p:txBody>
          <a:bodyPr wrap="none" lIns="0" tIns="0" rIns="0" bIns="0">
            <a:spAutoFit/>
          </a:bodyPr>
          <a:lstStyle/>
          <a:p>
            <a:pPr>
              <a:defRPr sz="1100">
                <a:solidFill>
                  <a:srgbClr val="64748B"/>
                </a:solidFill>
                <a:latin typeface="Calibri"/>
              </a:defRPr>
            </a:pPr>
            <a:r>
              <a:t>Department of Computer Applications  |  MCA Mini Project (Semester 3)</a:t>
            </a:r>
          </a:p>
        </p:txBody>
      </p:sp>
      <p:sp>
        <p:nvSpPr>
          <p:cNvPr id="5" name="TextBox 4"/>
          <p:cNvSpPr txBox="1"/>
          <p:nvPr/>
        </p:nvSpPr>
        <p:spPr>
          <a:xfrm>
            <a:off x="1143000" y="1600200"/>
            <a:ext cx="10241280" cy="1280160"/>
          </a:xfrm>
          <a:prstGeom prst="rect">
            <a:avLst/>
          </a:prstGeom>
          <a:noFill/>
        </p:spPr>
        <p:txBody>
          <a:bodyPr wrap="square" lIns="0" tIns="0" rIns="0" bIns="0">
            <a:spAutoFit/>
          </a:bodyPr>
          <a:lstStyle/>
          <a:p>
            <a:pPr>
              <a:defRPr sz="2800" b="1">
                <a:solidFill>
                  <a:srgbClr val="0F172A"/>
                </a:solidFill>
                <a:latin typeface="Calibri"/>
              </a:defRPr>
            </a:pPr>
            <a:r>
              <a:t>Medical Specialty Classification using TF-IDF and Ensemble Machine Learning</a:t>
            </a:r>
          </a:p>
        </p:txBody>
      </p:sp>
      <p:sp>
        <p:nvSpPr>
          <p:cNvPr id="6" name="TextBox 5"/>
          <p:cNvSpPr txBox="1"/>
          <p:nvPr/>
        </p:nvSpPr>
        <p:spPr>
          <a:xfrm>
            <a:off x="1143000" y="2971800"/>
            <a:ext cx="10058400" cy="411480"/>
          </a:xfrm>
          <a:prstGeom prst="rect">
            <a:avLst/>
          </a:prstGeom>
          <a:noFill/>
        </p:spPr>
        <p:txBody>
          <a:bodyPr wrap="square" lIns="0" tIns="0" rIns="0" bIns="0">
            <a:spAutoFit/>
          </a:bodyPr>
          <a:lstStyle/>
          <a:p>
            <a:pPr>
              <a:defRPr sz="1400" b="1">
                <a:solidFill>
                  <a:srgbClr val="2563EB"/>
                </a:solidFill>
                <a:latin typeface="Calibri"/>
              </a:defRPr>
            </a:pPr>
            <a:r>
              <a:t>FIRST PROJECT PRESENTATION — SPRINT RELEASE I</a:t>
            </a:r>
          </a:p>
        </p:txBody>
      </p:sp>
      <p:sp>
        <p:nvSpPr>
          <p:cNvPr id="7" name="Rounded Rectangle 6"/>
          <p:cNvSpPr/>
          <p:nvPr/>
        </p:nvSpPr>
        <p:spPr>
          <a:xfrm>
            <a:off x="1143000" y="3520440"/>
            <a:ext cx="1874519" cy="320040"/>
          </a:xfrm>
          <a:prstGeom prst="roundRect">
            <a:avLst/>
          </a:prstGeom>
          <a:solidFill>
            <a:srgbClr val="EFF6FF"/>
          </a:solidFill>
          <a:ln>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b="1">
                <a:solidFill>
                  <a:srgbClr val="1D4ED8"/>
                </a:solidFill>
                <a:latin typeface="Calibri"/>
              </a:defRPr>
            </a:pPr>
            <a:r>
              <a:t>Clinical NLP</a:t>
            </a:r>
          </a:p>
        </p:txBody>
      </p:sp>
      <p:sp>
        <p:nvSpPr>
          <p:cNvPr id="8" name="Rounded Rectangle 7"/>
          <p:cNvSpPr/>
          <p:nvPr/>
        </p:nvSpPr>
        <p:spPr>
          <a:xfrm>
            <a:off x="3182111" y="3520440"/>
            <a:ext cx="1874519" cy="320040"/>
          </a:xfrm>
          <a:prstGeom prst="roundRect">
            <a:avLst/>
          </a:prstGeom>
          <a:solidFill>
            <a:srgbClr val="EFF6FF"/>
          </a:solidFill>
          <a:ln>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b="1">
                <a:solidFill>
                  <a:srgbClr val="1D4ED8"/>
                </a:solidFill>
                <a:latin typeface="Calibri"/>
              </a:defRPr>
            </a:pPr>
            <a:r>
              <a:t>TF-IDF Vectorization</a:t>
            </a:r>
          </a:p>
        </p:txBody>
      </p:sp>
      <p:sp>
        <p:nvSpPr>
          <p:cNvPr id="9" name="Rounded Rectangle 8"/>
          <p:cNvSpPr/>
          <p:nvPr/>
        </p:nvSpPr>
        <p:spPr>
          <a:xfrm>
            <a:off x="5221222" y="3520440"/>
            <a:ext cx="1874519" cy="320040"/>
          </a:xfrm>
          <a:prstGeom prst="roundRect">
            <a:avLst/>
          </a:prstGeom>
          <a:solidFill>
            <a:srgbClr val="EFF6FF"/>
          </a:solidFill>
          <a:ln>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b="1">
                <a:solidFill>
                  <a:srgbClr val="1D4ED8"/>
                </a:solidFill>
                <a:latin typeface="Calibri"/>
              </a:defRPr>
            </a:pPr>
            <a:r>
              <a:t>Supervised ML</a:t>
            </a:r>
          </a:p>
        </p:txBody>
      </p:sp>
      <p:sp>
        <p:nvSpPr>
          <p:cNvPr id="10" name="Rounded Rectangle 9"/>
          <p:cNvSpPr/>
          <p:nvPr/>
        </p:nvSpPr>
        <p:spPr>
          <a:xfrm>
            <a:off x="7260333" y="3520440"/>
            <a:ext cx="1874519" cy="320040"/>
          </a:xfrm>
          <a:prstGeom prst="roundRect">
            <a:avLst/>
          </a:prstGeom>
          <a:solidFill>
            <a:srgbClr val="EFF6FF"/>
          </a:solidFill>
          <a:ln>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b="1">
                <a:solidFill>
                  <a:srgbClr val="1D4ED8"/>
                </a:solidFill>
                <a:latin typeface="Calibri"/>
              </a:defRPr>
            </a:pPr>
            <a:r>
              <a:t>Soft Voting Ensemble</a:t>
            </a:r>
          </a:p>
        </p:txBody>
      </p:sp>
      <p:sp>
        <p:nvSpPr>
          <p:cNvPr id="11" name="Rounded Rectangle 10"/>
          <p:cNvSpPr/>
          <p:nvPr/>
        </p:nvSpPr>
        <p:spPr>
          <a:xfrm>
            <a:off x="9299444" y="3520440"/>
            <a:ext cx="1874519" cy="320040"/>
          </a:xfrm>
          <a:prstGeom prst="roundRect">
            <a:avLst/>
          </a:prstGeom>
          <a:solidFill>
            <a:srgbClr val="EFF6FF"/>
          </a:solidFill>
          <a:ln>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b="1">
                <a:solidFill>
                  <a:srgbClr val="1D4ED8"/>
                </a:solidFill>
                <a:latin typeface="Calibri"/>
              </a:defRPr>
            </a:pPr>
            <a:r>
              <a:t>Flask Deployment</a:t>
            </a:r>
          </a:p>
        </p:txBody>
      </p:sp>
      <p:sp>
        <p:nvSpPr>
          <p:cNvPr id="12" name="Rounded Rectangle 11"/>
          <p:cNvSpPr/>
          <p:nvPr/>
        </p:nvSpPr>
        <p:spPr>
          <a:xfrm>
            <a:off x="1143000" y="4160520"/>
            <a:ext cx="4846320" cy="182880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371600" y="4297680"/>
            <a:ext cx="4389120" cy="1554480"/>
          </a:xfrm>
          <a:prstGeom prst="rect">
            <a:avLst/>
          </a:prstGeom>
          <a:noFill/>
        </p:spPr>
        <p:txBody>
          <a:bodyPr wrap="square">
            <a:spAutoFit/>
          </a:bodyPr>
          <a:lstStyle/>
          <a:p>
            <a:pPr>
              <a:defRPr sz="950" b="1">
                <a:solidFill>
                  <a:srgbClr val="0D9488"/>
                </a:solidFill>
              </a:defRPr>
            </a:pPr>
            <a:r>
              <a:t>PRESENTED BY</a:t>
            </a:r>
          </a:p>
          <a:p>
            <a:pPr>
              <a:defRPr sz="1700" b="1">
                <a:solidFill>
                  <a:srgbClr val="0F172A"/>
                </a:solidFill>
              </a:defRPr>
            </a:pPr>
            <a:r>
              <a:t>Jiphin George</a:t>
            </a:r>
          </a:p>
          <a:p>
            <a:pPr>
              <a:defRPr sz="1050">
                <a:solidFill>
                  <a:srgbClr val="334155"/>
                </a:solidFill>
              </a:defRPr>
            </a:pPr>
            <a:r>
              <a:t>Register No: MAC25MCA-2033</a:t>
            </a:r>
            <a:br/>
            <a:r>
              <a:t>Course: Master of Computer Applications (MCA)</a:t>
            </a:r>
          </a:p>
        </p:txBody>
      </p:sp>
      <p:sp>
        <p:nvSpPr>
          <p:cNvPr id="14" name="Rounded Rectangle 13"/>
          <p:cNvSpPr/>
          <p:nvPr/>
        </p:nvSpPr>
        <p:spPr>
          <a:xfrm>
            <a:off x="6217920" y="4160520"/>
            <a:ext cx="5166360" cy="182880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46520" y="4297680"/>
            <a:ext cx="4709160" cy="1554480"/>
          </a:xfrm>
          <a:prstGeom prst="rect">
            <a:avLst/>
          </a:prstGeom>
          <a:noFill/>
        </p:spPr>
        <p:txBody>
          <a:bodyPr wrap="square">
            <a:spAutoFit/>
          </a:bodyPr>
          <a:lstStyle/>
          <a:p>
            <a:pPr>
              <a:defRPr sz="950" b="1">
                <a:solidFill>
                  <a:srgbClr val="0D9488"/>
                </a:solidFill>
              </a:defRPr>
            </a:pPr>
            <a:r>
              <a:t>PROJECT GUIDE</a:t>
            </a:r>
          </a:p>
          <a:p>
            <a:pPr>
              <a:defRPr sz="1700" b="1">
                <a:solidFill>
                  <a:srgbClr val="0F172A"/>
                </a:solidFill>
              </a:defRPr>
            </a:pPr>
            <a:r>
              <a:t>Prof. Biju Skaria</a:t>
            </a:r>
          </a:p>
          <a:p>
            <a:pPr>
              <a:defRPr sz="1050">
                <a:solidFill>
                  <a:srgbClr val="334155"/>
                </a:solidFill>
              </a:defRPr>
            </a:pPr>
            <a:r>
              <a:t>Department of Computer Applications</a:t>
            </a:r>
            <a:br/>
            <a:r>
              <a:t>Mar Athanasius College of Engineering, Kothamangalam</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256032"/>
            <a:ext cx="5486400" cy="274320"/>
          </a:xfrm>
          <a:prstGeom prst="rect">
            <a:avLst/>
          </a:prstGeom>
          <a:noFill/>
        </p:spPr>
        <p:txBody>
          <a:bodyPr wrap="none" lIns="0" tIns="0" rIns="0" bIns="0">
            <a:spAutoFit/>
          </a:bodyPr>
          <a:lstStyle/>
          <a:p>
            <a:pPr>
              <a:defRPr sz="950" b="1">
                <a:solidFill>
                  <a:srgbClr val="0D9488"/>
                </a:solidFill>
                <a:latin typeface="Calibri"/>
              </a:defRPr>
            </a:pPr>
            <a:r>
              <a:t>MCA MINI PROJECT  |  INTRODUCTION</a:t>
            </a:r>
          </a:p>
        </p:txBody>
      </p:sp>
      <p:sp>
        <p:nvSpPr>
          <p:cNvPr id="3" name="TextBox 2"/>
          <p:cNvSpPr txBox="1"/>
          <p:nvPr/>
        </p:nvSpPr>
        <p:spPr>
          <a:xfrm>
            <a:off x="5029200" y="256032"/>
            <a:ext cx="6430975" cy="274320"/>
          </a:xfrm>
          <a:prstGeom prst="rect">
            <a:avLst/>
          </a:prstGeom>
          <a:noFill/>
        </p:spPr>
        <p:txBody>
          <a:bodyPr wrap="none" lIns="0" tIns="0" rIns="0" bIns="0">
            <a:spAutoFit/>
          </a:bodyPr>
          <a:lstStyle/>
          <a:p>
            <a:pPr algn="r">
              <a:defRPr sz="900">
                <a:solidFill>
                  <a:srgbClr val="64748B"/>
                </a:solidFill>
                <a:latin typeface="Calibri"/>
              </a:defRPr>
            </a:pPr>
            <a:r>
              <a:t>Medical Specialty Classification using TF-IDF and Ensemble Machine Learning</a:t>
            </a:r>
          </a:p>
        </p:txBody>
      </p:sp>
      <p:sp>
        <p:nvSpPr>
          <p:cNvPr id="4" name="TextBox 3"/>
          <p:cNvSpPr txBox="1"/>
          <p:nvPr/>
        </p:nvSpPr>
        <p:spPr>
          <a:xfrm>
            <a:off x="731520" y="502920"/>
            <a:ext cx="10728655" cy="457200"/>
          </a:xfrm>
          <a:prstGeom prst="rect">
            <a:avLst/>
          </a:prstGeom>
          <a:noFill/>
        </p:spPr>
        <p:txBody>
          <a:bodyPr wrap="square" lIns="0" tIns="0" rIns="0" bIns="0">
            <a:spAutoFit/>
          </a:bodyPr>
          <a:lstStyle/>
          <a:p>
            <a:pPr>
              <a:defRPr sz="2100" b="1">
                <a:solidFill>
                  <a:srgbClr val="0F172A"/>
                </a:solidFill>
                <a:latin typeface="Calibri"/>
              </a:defRPr>
            </a:pPr>
            <a:r>
              <a:t>Problem Statement &amp; Project Overview</a:t>
            </a:r>
          </a:p>
        </p:txBody>
      </p:sp>
      <p:sp>
        <p:nvSpPr>
          <p:cNvPr id="5" name="Rectangle 4"/>
          <p:cNvSpPr/>
          <p:nvPr/>
        </p:nvSpPr>
        <p:spPr>
          <a:xfrm>
            <a:off x="731520" y="1005840"/>
            <a:ext cx="10728655" cy="13716"/>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31520" y="6355080"/>
            <a:ext cx="10728655" cy="13716"/>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6419088"/>
            <a:ext cx="5486400" cy="274320"/>
          </a:xfrm>
          <a:prstGeom prst="rect">
            <a:avLst/>
          </a:prstGeom>
          <a:noFill/>
        </p:spPr>
        <p:txBody>
          <a:bodyPr wrap="none" lIns="0" tIns="0" rIns="0" bIns="0">
            <a:spAutoFit/>
          </a:bodyPr>
          <a:lstStyle/>
          <a:p>
            <a:pPr>
              <a:defRPr sz="950">
                <a:solidFill>
                  <a:srgbClr val="64748B"/>
                </a:solidFill>
                <a:latin typeface="Calibri"/>
              </a:defRPr>
            </a:pPr>
            <a:r>
              <a:t>Department of Computer Applications | MACE</a:t>
            </a:r>
          </a:p>
        </p:txBody>
      </p:sp>
      <p:sp>
        <p:nvSpPr>
          <p:cNvPr id="8" name="TextBox 7"/>
          <p:cNvSpPr txBox="1"/>
          <p:nvPr/>
        </p:nvSpPr>
        <p:spPr>
          <a:xfrm>
            <a:off x="4114800" y="6419088"/>
            <a:ext cx="4114800" cy="274320"/>
          </a:xfrm>
          <a:prstGeom prst="rect">
            <a:avLst/>
          </a:prstGeom>
          <a:noFill/>
        </p:spPr>
        <p:txBody>
          <a:bodyPr wrap="none" lIns="0" tIns="0" rIns="0" bIns="0">
            <a:spAutoFit/>
          </a:bodyPr>
          <a:lstStyle/>
          <a:p>
            <a:pPr algn="ctr">
              <a:defRPr sz="900">
                <a:solidFill>
                  <a:srgbClr val="64748B"/>
                </a:solidFill>
                <a:latin typeface="Calibri"/>
              </a:defRPr>
            </a:pPr>
            <a:r>
              <a:t>Mar Athanasius College of Engineering, Kothamangalam</a:t>
            </a:r>
          </a:p>
        </p:txBody>
      </p:sp>
      <p:sp>
        <p:nvSpPr>
          <p:cNvPr id="9" name="TextBox 8"/>
          <p:cNvSpPr txBox="1"/>
          <p:nvPr/>
        </p:nvSpPr>
        <p:spPr>
          <a:xfrm>
            <a:off x="8716975" y="6419088"/>
            <a:ext cx="2743200" cy="274320"/>
          </a:xfrm>
          <a:prstGeom prst="rect">
            <a:avLst/>
          </a:prstGeom>
          <a:noFill/>
        </p:spPr>
        <p:txBody>
          <a:bodyPr wrap="none" lIns="0" tIns="0" rIns="0" bIns="0">
            <a:spAutoFit/>
          </a:bodyPr>
          <a:lstStyle/>
          <a:p>
            <a:pPr algn="r">
              <a:defRPr sz="950" b="1">
                <a:solidFill>
                  <a:srgbClr val="1D4ED8"/>
                </a:solidFill>
                <a:latin typeface="Calibri"/>
              </a:defRPr>
            </a:pPr>
            <a:r>
              <a:t>Slide 2 of 15</a:t>
            </a:r>
          </a:p>
        </p:txBody>
      </p:sp>
      <p:sp>
        <p:nvSpPr>
          <p:cNvPr id="10" name="Rounded Rectangle 9"/>
          <p:cNvSpPr/>
          <p:nvPr/>
        </p:nvSpPr>
        <p:spPr>
          <a:xfrm>
            <a:off x="731520" y="1188720"/>
            <a:ext cx="2029968" cy="960120"/>
          </a:xfrm>
          <a:prstGeom prst="roundRect">
            <a:avLst/>
          </a:prstGeom>
          <a:solidFill>
            <a:srgbClr val="F0F9FF"/>
          </a:solidFill>
          <a:ln w="12700">
            <a:solidFill>
              <a:srgbClr val="BAE6F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2960" y="1234440"/>
            <a:ext cx="1847088" cy="868680"/>
          </a:xfrm>
          <a:prstGeom prst="rect">
            <a:avLst/>
          </a:prstGeom>
          <a:noFill/>
        </p:spPr>
        <p:txBody>
          <a:bodyPr wrap="square">
            <a:spAutoFit/>
          </a:bodyPr>
          <a:lstStyle/>
          <a:p>
            <a:pPr>
              <a:defRPr sz="1050" b="1">
                <a:solidFill>
                  <a:srgbClr val="1D4ED8"/>
                </a:solidFill>
              </a:defRPr>
            </a:pPr>
            <a:r>
              <a:t>1. Clinical Text</a:t>
            </a:r>
          </a:p>
          <a:p>
            <a:pPr>
              <a:defRPr sz="850">
                <a:solidFill>
                  <a:srgbClr val="334155"/>
                </a:solidFill>
              </a:defRPr>
            </a:pPr>
            <a:r>
              <a:t>Unstructured medical narratives &amp; patient records</a:t>
            </a:r>
          </a:p>
        </p:txBody>
      </p:sp>
      <p:sp>
        <p:nvSpPr>
          <p:cNvPr id="12" name="Rounded Rectangle 11"/>
          <p:cNvSpPr/>
          <p:nvPr/>
        </p:nvSpPr>
        <p:spPr>
          <a:xfrm>
            <a:off x="2898648" y="1188720"/>
            <a:ext cx="2029968" cy="960120"/>
          </a:xfrm>
          <a:prstGeom prst="roundRect">
            <a:avLst/>
          </a:prstGeom>
          <a:solidFill>
            <a:srgbClr val="F0F9FF"/>
          </a:solidFill>
          <a:ln w="12700">
            <a:solidFill>
              <a:srgbClr val="BAE6F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990088" y="1234440"/>
            <a:ext cx="1847088" cy="868680"/>
          </a:xfrm>
          <a:prstGeom prst="rect">
            <a:avLst/>
          </a:prstGeom>
          <a:noFill/>
        </p:spPr>
        <p:txBody>
          <a:bodyPr wrap="square">
            <a:spAutoFit/>
          </a:bodyPr>
          <a:lstStyle/>
          <a:p>
            <a:pPr>
              <a:defRPr sz="1050" b="1">
                <a:solidFill>
                  <a:srgbClr val="1D4ED8"/>
                </a:solidFill>
              </a:defRPr>
            </a:pPr>
            <a:r>
              <a:t>2. Text Preprocessing</a:t>
            </a:r>
          </a:p>
          <a:p>
            <a:pPr>
              <a:defRPr sz="850">
                <a:solidFill>
                  <a:srgbClr val="334155"/>
                </a:solidFill>
              </a:defRPr>
            </a:pPr>
            <a:r>
              <a:t>Cleaning, lemmatization &amp; medical stop-words</a:t>
            </a:r>
          </a:p>
        </p:txBody>
      </p:sp>
      <p:sp>
        <p:nvSpPr>
          <p:cNvPr id="14" name="Rounded Rectangle 13"/>
          <p:cNvSpPr/>
          <p:nvPr/>
        </p:nvSpPr>
        <p:spPr>
          <a:xfrm>
            <a:off x="5065776" y="1188720"/>
            <a:ext cx="2029968" cy="960120"/>
          </a:xfrm>
          <a:prstGeom prst="roundRect">
            <a:avLst/>
          </a:prstGeom>
          <a:solidFill>
            <a:srgbClr val="F0F9FF"/>
          </a:solidFill>
          <a:ln w="12700">
            <a:solidFill>
              <a:srgbClr val="BAE6F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157216" y="1234440"/>
            <a:ext cx="1847088" cy="868680"/>
          </a:xfrm>
          <a:prstGeom prst="rect">
            <a:avLst/>
          </a:prstGeom>
          <a:noFill/>
        </p:spPr>
        <p:txBody>
          <a:bodyPr wrap="square">
            <a:spAutoFit/>
          </a:bodyPr>
          <a:lstStyle/>
          <a:p>
            <a:pPr>
              <a:defRPr sz="1050" b="1">
                <a:solidFill>
                  <a:srgbClr val="1D4ED8"/>
                </a:solidFill>
              </a:defRPr>
            </a:pPr>
            <a:r>
              <a:t>3. TF-IDF Extraction</a:t>
            </a:r>
          </a:p>
          <a:p>
            <a:pPr>
              <a:defRPr sz="850">
                <a:solidFill>
                  <a:srgbClr val="334155"/>
                </a:solidFill>
              </a:defRPr>
            </a:pPr>
            <a:r>
              <a:t>Unigram/bigram numerical vectorization</a:t>
            </a:r>
          </a:p>
        </p:txBody>
      </p:sp>
      <p:sp>
        <p:nvSpPr>
          <p:cNvPr id="16" name="Rounded Rectangle 15"/>
          <p:cNvSpPr/>
          <p:nvPr/>
        </p:nvSpPr>
        <p:spPr>
          <a:xfrm>
            <a:off x="7232904" y="1188720"/>
            <a:ext cx="2029968" cy="960120"/>
          </a:xfrm>
          <a:prstGeom prst="roundRect">
            <a:avLst/>
          </a:prstGeom>
          <a:solidFill>
            <a:srgbClr val="F0F9FF"/>
          </a:solidFill>
          <a:ln w="12700">
            <a:solidFill>
              <a:srgbClr val="BAE6F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24344" y="1234440"/>
            <a:ext cx="1847088" cy="868680"/>
          </a:xfrm>
          <a:prstGeom prst="rect">
            <a:avLst/>
          </a:prstGeom>
          <a:noFill/>
        </p:spPr>
        <p:txBody>
          <a:bodyPr wrap="square">
            <a:spAutoFit/>
          </a:bodyPr>
          <a:lstStyle/>
          <a:p>
            <a:pPr>
              <a:defRPr sz="1050" b="1">
                <a:solidFill>
                  <a:srgbClr val="1D4ED8"/>
                </a:solidFill>
              </a:defRPr>
            </a:pPr>
            <a:r>
              <a:t>4. Ensemble ML</a:t>
            </a:r>
          </a:p>
          <a:p>
            <a:pPr>
              <a:defRPr sz="850">
                <a:solidFill>
                  <a:srgbClr val="334155"/>
                </a:solidFill>
              </a:defRPr>
            </a:pPr>
            <a:r>
              <a:t>Proposed Calibrated Soft-Voting Ensemble</a:t>
            </a:r>
          </a:p>
        </p:txBody>
      </p:sp>
      <p:sp>
        <p:nvSpPr>
          <p:cNvPr id="18" name="Rounded Rectangle 17"/>
          <p:cNvSpPr/>
          <p:nvPr/>
        </p:nvSpPr>
        <p:spPr>
          <a:xfrm>
            <a:off x="9400032" y="1188720"/>
            <a:ext cx="2029968" cy="960120"/>
          </a:xfrm>
          <a:prstGeom prst="roundRect">
            <a:avLst/>
          </a:prstGeom>
          <a:solidFill>
            <a:srgbClr val="F0F9FF"/>
          </a:solidFill>
          <a:ln w="12700">
            <a:solidFill>
              <a:srgbClr val="BAE6F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491472" y="1234440"/>
            <a:ext cx="1847088" cy="868680"/>
          </a:xfrm>
          <a:prstGeom prst="rect">
            <a:avLst/>
          </a:prstGeom>
          <a:noFill/>
        </p:spPr>
        <p:txBody>
          <a:bodyPr wrap="square">
            <a:spAutoFit/>
          </a:bodyPr>
          <a:lstStyle/>
          <a:p>
            <a:pPr>
              <a:defRPr sz="1050" b="1">
                <a:solidFill>
                  <a:srgbClr val="1D4ED8"/>
                </a:solidFill>
              </a:defRPr>
            </a:pPr>
            <a:r>
              <a:t>5. Medical Specialty</a:t>
            </a:r>
          </a:p>
          <a:p>
            <a:pPr>
              <a:defRPr sz="850">
                <a:solidFill>
                  <a:srgbClr val="334155"/>
                </a:solidFill>
              </a:defRPr>
            </a:pPr>
            <a:r>
              <a:t>Automated prediction across 40 departments</a:t>
            </a:r>
          </a:p>
        </p:txBody>
      </p:sp>
      <p:sp>
        <p:nvSpPr>
          <p:cNvPr id="20" name="Rounded Rectangle 19"/>
          <p:cNvSpPr/>
          <p:nvPr/>
        </p:nvSpPr>
        <p:spPr>
          <a:xfrm>
            <a:off x="731520" y="2331720"/>
            <a:ext cx="5230368" cy="3840480"/>
          </a:xfrm>
          <a:prstGeom prst="roundRect">
            <a:avLst/>
          </a:prstGeom>
          <a:solidFill>
            <a:srgbClr val="FFFFFF"/>
          </a:solidFill>
          <a:ln w="12700">
            <a:solidFill>
              <a:srgbClr val="FECA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60120" y="2468880"/>
            <a:ext cx="4773168" cy="411480"/>
          </a:xfrm>
          <a:prstGeom prst="rect">
            <a:avLst/>
          </a:prstGeom>
          <a:noFill/>
        </p:spPr>
        <p:txBody>
          <a:bodyPr wrap="none">
            <a:spAutoFit/>
          </a:bodyPr>
          <a:lstStyle/>
          <a:p>
            <a:pPr>
              <a:defRPr sz="1200" b="1">
                <a:solidFill>
                  <a:srgbClr val="DC2626"/>
                </a:solidFill>
              </a:defRPr>
            </a:pPr>
            <a:r>
              <a:t>THE CLINICAL CHALLENGE: MANUAL CLASSIFICATION</a:t>
            </a:r>
          </a:p>
        </p:txBody>
      </p:sp>
      <p:sp>
        <p:nvSpPr>
          <p:cNvPr id="22" name="TextBox 21"/>
          <p:cNvSpPr txBox="1"/>
          <p:nvPr/>
        </p:nvSpPr>
        <p:spPr>
          <a:xfrm>
            <a:off x="960120" y="2926080"/>
            <a:ext cx="4773168" cy="3108960"/>
          </a:xfrm>
          <a:prstGeom prst="rect">
            <a:avLst/>
          </a:prstGeom>
          <a:noFill/>
        </p:spPr>
        <p:txBody>
          <a:bodyPr wrap="square">
            <a:spAutoFit/>
          </a:bodyPr>
          <a:lstStyle/>
          <a:p>
            <a:pPr>
              <a:spcBef>
                <a:spcPts val="0"/>
              </a:spcBef>
              <a:defRPr sz="1050" b="1">
                <a:solidFill>
                  <a:srgbClr val="0F172A"/>
                </a:solidFill>
              </a:defRPr>
            </a:pPr>
            <a:r>
              <a:t>•  Unstructured Clinical Narratives: </a:t>
            </a:r>
            <a:r>
              <a:rPr b="0" sz="950">
                <a:solidFill>
                  <a:srgbClr val="334155"/>
                </a:solidFill>
              </a:rPr>
              <a:t>Modern hospitals generate thousands of medical dictations, discharge summaries, and consult notes daily stored entirely as unstructured free text.</a:t>
            </a:r>
          </a:p>
          <a:p>
            <a:pPr>
              <a:spcBef>
                <a:spcPts val="600"/>
              </a:spcBef>
              <a:defRPr sz="1050" b="1">
                <a:solidFill>
                  <a:srgbClr val="0F172A"/>
                </a:solidFill>
              </a:defRPr>
            </a:pPr>
            <a:r>
              <a:t>•  High Vocabulary Diversity &amp; Jargon: </a:t>
            </a:r>
            <a:r>
              <a:rPr b="0" sz="950">
                <a:solidFill>
                  <a:srgbClr val="334155"/>
                </a:solidFill>
              </a:rPr>
              <a:t>Medical terminology varies drastically between subdomains, containing dense Latin roots, complex clinical abbreviations, and doctor-specific phrasing.</a:t>
            </a:r>
          </a:p>
          <a:p>
            <a:pPr>
              <a:spcBef>
                <a:spcPts val="600"/>
              </a:spcBef>
              <a:defRPr sz="1050" b="1">
                <a:solidFill>
                  <a:srgbClr val="0F172A"/>
                </a:solidFill>
              </a:defRPr>
            </a:pPr>
            <a:r>
              <a:t>•  Labor-Intensive &amp; Error-Prone Tagging: </a:t>
            </a:r>
            <a:r>
              <a:rPr b="0" sz="950">
                <a:solidFill>
                  <a:srgbClr val="334155"/>
                </a:solidFill>
              </a:rPr>
              <a:t>Manual review and indexing across 40+ medical specialties is severely time-consuming, expensive, and subject to human cognitive fatigue.</a:t>
            </a:r>
          </a:p>
          <a:p>
            <a:pPr>
              <a:spcBef>
                <a:spcPts val="600"/>
              </a:spcBef>
              <a:defRPr sz="1050" b="1">
                <a:solidFill>
                  <a:srgbClr val="0F172A"/>
                </a:solidFill>
              </a:defRPr>
            </a:pPr>
            <a:r>
              <a:t>•  Inconsistent Cross-Department Labeling: </a:t>
            </a:r>
            <a:r>
              <a:rPr b="0" sz="950">
                <a:solidFill>
                  <a:srgbClr val="334155"/>
                </a:solidFill>
              </a:rPr>
              <a:t>Different human annotators assign conflicting specialty tags to overlapping patient cases, impairing hospital record retrieval and patient workflow.</a:t>
            </a:r>
          </a:p>
        </p:txBody>
      </p:sp>
      <p:sp>
        <p:nvSpPr>
          <p:cNvPr id="23" name="Rounded Rectangle 22"/>
          <p:cNvSpPr/>
          <p:nvPr/>
        </p:nvSpPr>
        <p:spPr>
          <a:xfrm>
            <a:off x="6217920" y="2331720"/>
            <a:ext cx="5230368" cy="3840480"/>
          </a:xfrm>
          <a:prstGeom prst="roundRect">
            <a:avLst/>
          </a:prstGeom>
          <a:solidFill>
            <a:srgbClr val="FFFFFF"/>
          </a:solidFill>
          <a:ln w="12700">
            <a:solidFill>
              <a:srgbClr val="BBF7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46520" y="2468880"/>
            <a:ext cx="4773168" cy="411480"/>
          </a:xfrm>
          <a:prstGeom prst="rect">
            <a:avLst/>
          </a:prstGeom>
          <a:noFill/>
        </p:spPr>
        <p:txBody>
          <a:bodyPr wrap="none">
            <a:spAutoFit/>
          </a:bodyPr>
          <a:lstStyle/>
          <a:p>
            <a:pPr>
              <a:defRPr sz="1200" b="1">
                <a:solidFill>
                  <a:srgbClr val="166534"/>
                </a:solidFill>
              </a:defRPr>
            </a:pPr>
            <a:r>
              <a:t>THE PROPOSED SOLUTION: AUTOMATED ML PIPELINE</a:t>
            </a:r>
          </a:p>
        </p:txBody>
      </p:sp>
      <p:sp>
        <p:nvSpPr>
          <p:cNvPr id="25" name="TextBox 24"/>
          <p:cNvSpPr txBox="1"/>
          <p:nvPr/>
        </p:nvSpPr>
        <p:spPr>
          <a:xfrm>
            <a:off x="6446520" y="2926080"/>
            <a:ext cx="4773168" cy="3108960"/>
          </a:xfrm>
          <a:prstGeom prst="rect">
            <a:avLst/>
          </a:prstGeom>
          <a:noFill/>
        </p:spPr>
        <p:txBody>
          <a:bodyPr wrap="square">
            <a:spAutoFit/>
          </a:bodyPr>
          <a:lstStyle/>
          <a:p>
            <a:pPr>
              <a:spcBef>
                <a:spcPts val="0"/>
              </a:spcBef>
              <a:defRPr sz="1050" b="1">
                <a:solidFill>
                  <a:srgbClr val="0F172A"/>
                </a:solidFill>
              </a:defRPr>
            </a:pPr>
            <a:r>
              <a:t>✓  Automated NLP &amp; TF-IDF Extraction: </a:t>
            </a:r>
            <a:r>
              <a:rPr b="0" sz="950">
                <a:solidFill>
                  <a:srgbClr val="334155"/>
                </a:solidFill>
              </a:rPr>
              <a:t>Transforms unstructured medical text through lowercasing, stop-word removal, and lemmatization into standardized, high-dimensional TF-IDF feature vectors.</a:t>
            </a:r>
          </a:p>
          <a:p>
            <a:pPr>
              <a:spcBef>
                <a:spcPts val="600"/>
              </a:spcBef>
              <a:defRPr sz="1050" b="1">
                <a:solidFill>
                  <a:srgbClr val="0F172A"/>
                </a:solidFill>
              </a:defRPr>
            </a:pPr>
            <a:r>
              <a:t>✓  Multi-Classifier Supervised Learning: </a:t>
            </a:r>
            <a:r>
              <a:rPr b="0" sz="950">
                <a:solidFill>
                  <a:srgbClr val="334155"/>
                </a:solidFill>
              </a:rPr>
              <a:t>Evaluates four distinct algorithms: SVM, Random Forest, Logistic Regression, and Multinomial Naive Bayes.</a:t>
            </a:r>
          </a:p>
          <a:p>
            <a:pPr>
              <a:spcBef>
                <a:spcPts val="600"/>
              </a:spcBef>
              <a:defRPr sz="1050" b="1">
                <a:solidFill>
                  <a:srgbClr val="0F172A"/>
                </a:solidFill>
              </a:defRPr>
            </a:pPr>
            <a:r>
              <a:t>✓  Soft Consensus Voting Ensemble: </a:t>
            </a:r>
            <a:r>
              <a:rPr b="0" sz="950">
                <a:solidFill>
                  <a:srgbClr val="334155"/>
                </a:solidFill>
              </a:rPr>
              <a:t>Synthesizes average probability distributions across candidate models to mitigate individual classifier bias and reduce variance.</a:t>
            </a:r>
          </a:p>
          <a:p>
            <a:pPr>
              <a:spcBef>
                <a:spcPts val="600"/>
              </a:spcBef>
              <a:defRPr sz="1050" b="1">
                <a:solidFill>
                  <a:srgbClr val="0F172A"/>
                </a:solidFill>
              </a:defRPr>
            </a:pPr>
            <a:r>
              <a:t>✓  Live Interactive Web Deployment: </a:t>
            </a:r>
            <a:r>
              <a:rPr b="0" sz="950">
                <a:solidFill>
                  <a:srgbClr val="334155"/>
                </a:solidFill>
              </a:rPr>
              <a:t>Integrates the serialized pipeline into a lightweight Flask web application, delivering instant specialty predictions and confidence scores for clinicians.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256032"/>
            <a:ext cx="5486400" cy="274320"/>
          </a:xfrm>
          <a:prstGeom prst="rect">
            <a:avLst/>
          </a:prstGeom>
          <a:noFill/>
        </p:spPr>
        <p:txBody>
          <a:bodyPr wrap="none" lIns="0" tIns="0" rIns="0" bIns="0">
            <a:spAutoFit/>
          </a:bodyPr>
          <a:lstStyle/>
          <a:p>
            <a:pPr>
              <a:defRPr sz="950" b="1">
                <a:solidFill>
                  <a:srgbClr val="0D9488"/>
                </a:solidFill>
                <a:latin typeface="Calibri"/>
              </a:defRPr>
            </a:pPr>
            <a:r>
              <a:t>MCA MINI PROJECT  |  LITERATURE REVIEW</a:t>
            </a:r>
          </a:p>
        </p:txBody>
      </p:sp>
      <p:sp>
        <p:nvSpPr>
          <p:cNvPr id="3" name="TextBox 2"/>
          <p:cNvSpPr txBox="1"/>
          <p:nvPr/>
        </p:nvSpPr>
        <p:spPr>
          <a:xfrm>
            <a:off x="5029200" y="256032"/>
            <a:ext cx="6430975" cy="274320"/>
          </a:xfrm>
          <a:prstGeom prst="rect">
            <a:avLst/>
          </a:prstGeom>
          <a:noFill/>
        </p:spPr>
        <p:txBody>
          <a:bodyPr wrap="none" lIns="0" tIns="0" rIns="0" bIns="0">
            <a:spAutoFit/>
          </a:bodyPr>
          <a:lstStyle/>
          <a:p>
            <a:pPr algn="r">
              <a:defRPr sz="900">
                <a:solidFill>
                  <a:srgbClr val="64748B"/>
                </a:solidFill>
                <a:latin typeface="Calibri"/>
              </a:defRPr>
            </a:pPr>
            <a:r>
              <a:t>Medical Specialty Classification using TF-IDF and Ensemble Machine Learning</a:t>
            </a:r>
          </a:p>
        </p:txBody>
      </p:sp>
      <p:sp>
        <p:nvSpPr>
          <p:cNvPr id="4" name="TextBox 3"/>
          <p:cNvSpPr txBox="1"/>
          <p:nvPr/>
        </p:nvSpPr>
        <p:spPr>
          <a:xfrm>
            <a:off x="731520" y="502920"/>
            <a:ext cx="10728655" cy="457200"/>
          </a:xfrm>
          <a:prstGeom prst="rect">
            <a:avLst/>
          </a:prstGeom>
          <a:noFill/>
        </p:spPr>
        <p:txBody>
          <a:bodyPr wrap="square" lIns="0" tIns="0" rIns="0" bIns="0">
            <a:spAutoFit/>
          </a:bodyPr>
          <a:lstStyle/>
          <a:p>
            <a:pPr>
              <a:defRPr sz="2100" b="1">
                <a:solidFill>
                  <a:srgbClr val="0F172A"/>
                </a:solidFill>
                <a:latin typeface="Calibri"/>
              </a:defRPr>
            </a:pPr>
            <a:r>
              <a:t>Literature Review: Background &amp; Research Landscape</a:t>
            </a:r>
          </a:p>
        </p:txBody>
      </p:sp>
      <p:sp>
        <p:nvSpPr>
          <p:cNvPr id="5" name="Rectangle 4"/>
          <p:cNvSpPr/>
          <p:nvPr/>
        </p:nvSpPr>
        <p:spPr>
          <a:xfrm>
            <a:off x="731520" y="1005840"/>
            <a:ext cx="10728655" cy="13716"/>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31520" y="6355080"/>
            <a:ext cx="10728655" cy="13716"/>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6419088"/>
            <a:ext cx="5486400" cy="274320"/>
          </a:xfrm>
          <a:prstGeom prst="rect">
            <a:avLst/>
          </a:prstGeom>
          <a:noFill/>
        </p:spPr>
        <p:txBody>
          <a:bodyPr wrap="none" lIns="0" tIns="0" rIns="0" bIns="0">
            <a:spAutoFit/>
          </a:bodyPr>
          <a:lstStyle/>
          <a:p>
            <a:pPr>
              <a:defRPr sz="950">
                <a:solidFill>
                  <a:srgbClr val="64748B"/>
                </a:solidFill>
                <a:latin typeface="Calibri"/>
              </a:defRPr>
            </a:pPr>
            <a:r>
              <a:t>Department of Computer Applications | MACE</a:t>
            </a:r>
          </a:p>
        </p:txBody>
      </p:sp>
      <p:sp>
        <p:nvSpPr>
          <p:cNvPr id="8" name="TextBox 7"/>
          <p:cNvSpPr txBox="1"/>
          <p:nvPr/>
        </p:nvSpPr>
        <p:spPr>
          <a:xfrm>
            <a:off x="4114800" y="6419088"/>
            <a:ext cx="4114800" cy="274320"/>
          </a:xfrm>
          <a:prstGeom prst="rect">
            <a:avLst/>
          </a:prstGeom>
          <a:noFill/>
        </p:spPr>
        <p:txBody>
          <a:bodyPr wrap="none" lIns="0" tIns="0" rIns="0" bIns="0">
            <a:spAutoFit/>
          </a:bodyPr>
          <a:lstStyle/>
          <a:p>
            <a:pPr algn="ctr">
              <a:defRPr sz="900">
                <a:solidFill>
                  <a:srgbClr val="64748B"/>
                </a:solidFill>
                <a:latin typeface="Calibri"/>
              </a:defRPr>
            </a:pPr>
            <a:r>
              <a:t>Mar Athanasius College of Engineering, Kothamangalam</a:t>
            </a:r>
          </a:p>
        </p:txBody>
      </p:sp>
      <p:sp>
        <p:nvSpPr>
          <p:cNvPr id="9" name="TextBox 8"/>
          <p:cNvSpPr txBox="1"/>
          <p:nvPr/>
        </p:nvSpPr>
        <p:spPr>
          <a:xfrm>
            <a:off x="8716975" y="6419088"/>
            <a:ext cx="2743200" cy="274320"/>
          </a:xfrm>
          <a:prstGeom prst="rect">
            <a:avLst/>
          </a:prstGeom>
          <a:noFill/>
        </p:spPr>
        <p:txBody>
          <a:bodyPr wrap="none" lIns="0" tIns="0" rIns="0" bIns="0">
            <a:spAutoFit/>
          </a:bodyPr>
          <a:lstStyle/>
          <a:p>
            <a:pPr algn="r">
              <a:defRPr sz="950" b="1">
                <a:solidFill>
                  <a:srgbClr val="1D4ED8"/>
                </a:solidFill>
                <a:latin typeface="Calibri"/>
              </a:defRPr>
            </a:pPr>
            <a:r>
              <a:t>Slide 3 of 15</a:t>
            </a:r>
          </a:p>
        </p:txBody>
      </p:sp>
      <p:sp>
        <p:nvSpPr>
          <p:cNvPr id="10" name="Rounded Rectangle 9"/>
          <p:cNvSpPr/>
          <p:nvPr/>
        </p:nvSpPr>
        <p:spPr>
          <a:xfrm>
            <a:off x="731520" y="1143000"/>
            <a:ext cx="2542032" cy="777240"/>
          </a:xfrm>
          <a:prstGeom prst="roundRect">
            <a:avLst/>
          </a:prstGeom>
          <a:solidFill>
            <a:srgbClr val="F1F5F9"/>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2960" y="1188720"/>
            <a:ext cx="2359152" cy="685800"/>
          </a:xfrm>
          <a:prstGeom prst="rect">
            <a:avLst/>
          </a:prstGeom>
          <a:noFill/>
        </p:spPr>
        <p:txBody>
          <a:bodyPr wrap="square">
            <a:spAutoFit/>
          </a:bodyPr>
          <a:lstStyle/>
          <a:p>
            <a:pPr>
              <a:defRPr sz="1000" b="1">
                <a:solidFill>
                  <a:srgbClr val="1D4ED8"/>
                </a:solidFill>
              </a:defRPr>
            </a:pPr>
            <a:r>
              <a:t>1. Prior Literature</a:t>
            </a:r>
          </a:p>
          <a:p>
            <a:pPr>
              <a:defRPr sz="850">
                <a:solidFill>
                  <a:srgbClr val="64748B"/>
                </a:solidFill>
              </a:defRPr>
            </a:pPr>
            <a:r>
              <a:t>Validation of ML for clinical text</a:t>
            </a:r>
          </a:p>
        </p:txBody>
      </p:sp>
      <p:sp>
        <p:nvSpPr>
          <p:cNvPr id="12" name="Rounded Rectangle 11"/>
          <p:cNvSpPr/>
          <p:nvPr/>
        </p:nvSpPr>
        <p:spPr>
          <a:xfrm>
            <a:off x="3456432" y="1143000"/>
            <a:ext cx="2542032" cy="777240"/>
          </a:xfrm>
          <a:prstGeom prst="roundRect">
            <a:avLst/>
          </a:prstGeom>
          <a:solidFill>
            <a:srgbClr val="F1F5F9"/>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547872" y="1188720"/>
            <a:ext cx="2359152" cy="685800"/>
          </a:xfrm>
          <a:prstGeom prst="rect">
            <a:avLst/>
          </a:prstGeom>
          <a:noFill/>
        </p:spPr>
        <p:txBody>
          <a:bodyPr wrap="square">
            <a:spAutoFit/>
          </a:bodyPr>
          <a:lstStyle/>
          <a:p>
            <a:pPr>
              <a:defRPr sz="1000" b="1">
                <a:solidFill>
                  <a:srgbClr val="1D4ED8"/>
                </a:solidFill>
              </a:defRPr>
            </a:pPr>
            <a:r>
              <a:t>2. Key Methodologies</a:t>
            </a:r>
          </a:p>
          <a:p>
            <a:pPr>
              <a:defRPr sz="850">
                <a:solidFill>
                  <a:srgbClr val="64748B"/>
                </a:solidFill>
              </a:defRPr>
            </a:pPr>
            <a:r>
              <a:t>TF-IDF vectorization &amp; linear classifiers</a:t>
            </a:r>
          </a:p>
        </p:txBody>
      </p:sp>
      <p:sp>
        <p:nvSpPr>
          <p:cNvPr id="14" name="Rounded Rectangle 13"/>
          <p:cNvSpPr/>
          <p:nvPr/>
        </p:nvSpPr>
        <p:spPr>
          <a:xfrm>
            <a:off x="6181344" y="1143000"/>
            <a:ext cx="2542032" cy="777240"/>
          </a:xfrm>
          <a:prstGeom prst="roundRect">
            <a:avLst/>
          </a:prstGeom>
          <a:solidFill>
            <a:srgbClr val="F1F5F9"/>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272784" y="1188720"/>
            <a:ext cx="2359152" cy="685800"/>
          </a:xfrm>
          <a:prstGeom prst="rect">
            <a:avLst/>
          </a:prstGeom>
          <a:noFill/>
        </p:spPr>
        <p:txBody>
          <a:bodyPr wrap="square">
            <a:spAutoFit/>
          </a:bodyPr>
          <a:lstStyle/>
          <a:p>
            <a:pPr>
              <a:defRPr sz="1000" b="1">
                <a:solidFill>
                  <a:srgbClr val="1D4ED8"/>
                </a:solidFill>
              </a:defRPr>
            </a:pPr>
            <a:r>
              <a:t>3. Identified Gap</a:t>
            </a:r>
          </a:p>
          <a:p>
            <a:pPr>
              <a:defRPr sz="850">
                <a:solidFill>
                  <a:srgbClr val="64748B"/>
                </a:solidFill>
              </a:defRPr>
            </a:pPr>
            <a:r>
              <a:t>High compute requirements &amp; model variance</a:t>
            </a:r>
          </a:p>
        </p:txBody>
      </p:sp>
      <p:sp>
        <p:nvSpPr>
          <p:cNvPr id="16" name="Rounded Rectangle 15"/>
          <p:cNvSpPr/>
          <p:nvPr/>
        </p:nvSpPr>
        <p:spPr>
          <a:xfrm>
            <a:off x="8906256" y="1143000"/>
            <a:ext cx="2542032" cy="777240"/>
          </a:xfrm>
          <a:prstGeom prst="roundRect">
            <a:avLst/>
          </a:prstGeom>
          <a:solidFill>
            <a:srgbClr val="F1F5F9"/>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997696" y="1188720"/>
            <a:ext cx="2359152" cy="685800"/>
          </a:xfrm>
          <a:prstGeom prst="rect">
            <a:avLst/>
          </a:prstGeom>
          <a:noFill/>
        </p:spPr>
        <p:txBody>
          <a:bodyPr wrap="square">
            <a:spAutoFit/>
          </a:bodyPr>
          <a:lstStyle/>
          <a:p>
            <a:pPr>
              <a:defRPr sz="1000" b="1">
                <a:solidFill>
                  <a:srgbClr val="1D4ED8"/>
                </a:solidFill>
              </a:defRPr>
            </a:pPr>
            <a:r>
              <a:t>4. Proposed Architecture</a:t>
            </a:r>
          </a:p>
          <a:p>
            <a:pPr>
              <a:defRPr sz="850">
                <a:solidFill>
                  <a:srgbClr val="64748B"/>
                </a:solidFill>
              </a:defRPr>
            </a:pPr>
            <a:r>
              <a:t>Lightweight soft voting ensemble on web</a:t>
            </a:r>
          </a:p>
        </p:txBody>
      </p:sp>
      <p:sp>
        <p:nvSpPr>
          <p:cNvPr id="18" name="Rounded Rectangle 17"/>
          <p:cNvSpPr/>
          <p:nvPr/>
        </p:nvSpPr>
        <p:spPr>
          <a:xfrm>
            <a:off x="731520" y="2148840"/>
            <a:ext cx="5230368" cy="19659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731520" y="2148840"/>
            <a:ext cx="73152" cy="196596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0120" y="2258568"/>
            <a:ext cx="4864608" cy="1737360"/>
          </a:xfrm>
          <a:prstGeom prst="rect">
            <a:avLst/>
          </a:prstGeom>
          <a:noFill/>
        </p:spPr>
        <p:txBody>
          <a:bodyPr wrap="square">
            <a:spAutoFit/>
          </a:bodyPr>
          <a:lstStyle/>
          <a:p>
            <a:pPr>
              <a:defRPr sz="1150" b="1">
                <a:solidFill>
                  <a:srgbClr val="0D9488"/>
                </a:solidFill>
              </a:defRPr>
            </a:pPr>
            <a:r>
              <a:t>Clinical NLP &amp; Preprocessing</a:t>
            </a:r>
          </a:p>
          <a:p>
            <a:pPr>
              <a:spcBef>
                <a:spcPts val="400"/>
              </a:spcBef>
              <a:defRPr sz="960">
                <a:solidFill>
                  <a:srgbClr val="334155"/>
                </a:solidFill>
              </a:defRPr>
            </a:pPr>
            <a:r>
              <a:t>•  Clinical narratives contain abbreviations, punctuation noise, and non-standard doctor shorthand.</a:t>
            </a:r>
          </a:p>
          <a:p>
            <a:pPr>
              <a:spcBef>
                <a:spcPts val="400"/>
              </a:spcBef>
              <a:defRPr sz="960">
                <a:solidFill>
                  <a:srgbClr val="334155"/>
                </a:solidFill>
              </a:defRPr>
            </a:pPr>
            <a:r>
              <a:t>•  Implements a 5-step sequence: Cleaning, Lowercasing, Tokenization, Stop-word removal, and Lemmatization.</a:t>
            </a:r>
          </a:p>
          <a:p>
            <a:pPr>
              <a:spcBef>
                <a:spcPts val="400"/>
              </a:spcBef>
              <a:defRPr sz="960">
                <a:solidFill>
                  <a:srgbClr val="334155"/>
                </a:solidFill>
              </a:defRPr>
            </a:pPr>
            <a:r>
              <a:t>•  Morphological lemmatization normalizes inflected clinical terms while preserving diagnostic root semantics.</a:t>
            </a:r>
          </a:p>
        </p:txBody>
      </p:sp>
      <p:sp>
        <p:nvSpPr>
          <p:cNvPr id="21" name="Rounded Rectangle 20"/>
          <p:cNvSpPr/>
          <p:nvPr/>
        </p:nvSpPr>
        <p:spPr>
          <a:xfrm>
            <a:off x="6217920" y="2148840"/>
            <a:ext cx="5230368" cy="19659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217920" y="2148840"/>
            <a:ext cx="73152" cy="1965960"/>
          </a:xfrm>
          <a:prstGeom prst="rect">
            <a:avLst/>
          </a:prstGeom>
          <a:solidFill>
            <a:srgbClr val="1D4E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46520" y="2258568"/>
            <a:ext cx="4864608" cy="1737360"/>
          </a:xfrm>
          <a:prstGeom prst="rect">
            <a:avLst/>
          </a:prstGeom>
          <a:noFill/>
        </p:spPr>
        <p:txBody>
          <a:bodyPr wrap="square">
            <a:spAutoFit/>
          </a:bodyPr>
          <a:lstStyle/>
          <a:p>
            <a:pPr>
              <a:defRPr sz="1150" b="1">
                <a:solidFill>
                  <a:srgbClr val="1D4ED8"/>
                </a:solidFill>
              </a:defRPr>
            </a:pPr>
            <a:r>
              <a:t>TF-IDF Feature Representation</a:t>
            </a:r>
          </a:p>
          <a:p>
            <a:pPr>
              <a:spcBef>
                <a:spcPts val="400"/>
              </a:spcBef>
              <a:defRPr sz="960">
                <a:solidFill>
                  <a:srgbClr val="334155"/>
                </a:solidFill>
              </a:defRPr>
            </a:pPr>
            <a:r>
              <a:t>•  Converts unstructured medical text into standardized, high-dimensional sparse numerical feature vectors.</a:t>
            </a:r>
          </a:p>
          <a:p>
            <a:pPr>
              <a:spcBef>
                <a:spcPts val="400"/>
              </a:spcBef>
              <a:defRPr sz="960">
                <a:solidFill>
                  <a:srgbClr val="334155"/>
                </a:solidFill>
              </a:defRPr>
            </a:pPr>
            <a:r>
              <a:t>•  Sublinear scaling (1 + log(TF)) dampens repetitive non-informative terms while highlighting discriminative tokens.</a:t>
            </a:r>
          </a:p>
          <a:p>
            <a:pPr>
              <a:spcBef>
                <a:spcPts val="400"/>
              </a:spcBef>
              <a:defRPr sz="960">
                <a:solidFill>
                  <a:srgbClr val="334155"/>
                </a:solidFill>
              </a:defRPr>
            </a:pPr>
            <a:r>
              <a:t>•  Computationally lightweight; enables rapid CPU-based real-time inference on web platforms.</a:t>
            </a:r>
          </a:p>
        </p:txBody>
      </p:sp>
      <p:sp>
        <p:nvSpPr>
          <p:cNvPr id="24" name="Rounded Rectangle 23"/>
          <p:cNvSpPr/>
          <p:nvPr/>
        </p:nvSpPr>
        <p:spPr>
          <a:xfrm>
            <a:off x="731520" y="4251960"/>
            <a:ext cx="5230368" cy="19659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731520" y="4251960"/>
            <a:ext cx="73152" cy="196596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60120" y="4361688"/>
            <a:ext cx="4864608" cy="1737360"/>
          </a:xfrm>
          <a:prstGeom prst="rect">
            <a:avLst/>
          </a:prstGeom>
          <a:noFill/>
        </p:spPr>
        <p:txBody>
          <a:bodyPr wrap="square">
            <a:spAutoFit/>
          </a:bodyPr>
          <a:lstStyle/>
          <a:p>
            <a:pPr>
              <a:defRPr sz="1150" b="1">
                <a:solidFill>
                  <a:srgbClr val="2563EB"/>
                </a:solidFill>
              </a:defRPr>
            </a:pPr>
            <a:r>
              <a:t>Supervised ML Classifiers</a:t>
            </a:r>
          </a:p>
          <a:p>
            <a:pPr>
              <a:spcBef>
                <a:spcPts val="400"/>
              </a:spcBef>
              <a:defRPr sz="960">
                <a:solidFill>
                  <a:srgbClr val="334155"/>
                </a:solidFill>
              </a:defRPr>
            </a:pPr>
            <a:r>
              <a:t>•  Linear models (SVM, Logistic Regression) excel on high-dimensional sparse text representations.</a:t>
            </a:r>
          </a:p>
          <a:p>
            <a:pPr>
              <a:spcBef>
                <a:spcPts val="400"/>
              </a:spcBef>
              <a:defRPr sz="960">
                <a:solidFill>
                  <a:srgbClr val="334155"/>
                </a:solidFill>
              </a:defRPr>
            </a:pPr>
            <a:r>
              <a:t>•  Random Forest introduces non-linear decision partitioning and bagging variance reduction.</a:t>
            </a:r>
          </a:p>
          <a:p>
            <a:pPr>
              <a:spcBef>
                <a:spcPts val="400"/>
              </a:spcBef>
              <a:defRPr sz="960">
                <a:solidFill>
                  <a:srgbClr val="334155"/>
                </a:solidFill>
              </a:defRPr>
            </a:pPr>
            <a:r>
              <a:t>•  Multinomial Naive Bayes provides fast, effective probabilistic likelihood estimation for text vectors.</a:t>
            </a:r>
          </a:p>
        </p:txBody>
      </p:sp>
      <p:sp>
        <p:nvSpPr>
          <p:cNvPr id="27" name="Rounded Rectangle 26"/>
          <p:cNvSpPr/>
          <p:nvPr/>
        </p:nvSpPr>
        <p:spPr>
          <a:xfrm>
            <a:off x="6217920" y="4251960"/>
            <a:ext cx="5230368" cy="19659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6217920" y="4251960"/>
            <a:ext cx="73152" cy="1965960"/>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446520" y="4361688"/>
            <a:ext cx="4864608" cy="1737360"/>
          </a:xfrm>
          <a:prstGeom prst="rect">
            <a:avLst/>
          </a:prstGeom>
          <a:noFill/>
        </p:spPr>
        <p:txBody>
          <a:bodyPr wrap="square">
            <a:spAutoFit/>
          </a:bodyPr>
          <a:lstStyle/>
          <a:p>
            <a:pPr>
              <a:defRPr sz="1150" b="1">
                <a:solidFill>
                  <a:srgbClr val="7C3AED"/>
                </a:solidFill>
              </a:defRPr>
            </a:pPr>
            <a:r>
              <a:t>Ensemble Learning &amp; Research Gap</a:t>
            </a:r>
          </a:p>
          <a:p>
            <a:pPr>
              <a:spcBef>
                <a:spcPts val="400"/>
              </a:spcBef>
              <a:defRPr sz="960">
                <a:solidFill>
                  <a:srgbClr val="334155"/>
                </a:solidFill>
              </a:defRPr>
            </a:pPr>
            <a:r>
              <a:t>•  Identified Gap: Many deep learning approaches demand heavy GPU resources, while single models show variance on rare specialties.</a:t>
            </a:r>
          </a:p>
          <a:p>
            <a:pPr>
              <a:spcBef>
                <a:spcPts val="400"/>
              </a:spcBef>
              <a:defRPr sz="960">
                <a:solidFill>
                  <a:srgbClr val="334155"/>
                </a:solidFill>
              </a:defRPr>
            </a:pPr>
            <a:r>
              <a:t>•  Proposed Solution: An accessible Soft Voting Ensemble combining calibrated base models for balanced classification.</a:t>
            </a:r>
          </a:p>
          <a:p>
            <a:pPr>
              <a:spcBef>
                <a:spcPts val="400"/>
              </a:spcBef>
              <a:defRPr sz="960">
                <a:solidFill>
                  <a:srgbClr val="334155"/>
                </a:solidFill>
              </a:defRPr>
            </a:pPr>
            <a:r>
              <a:t>•  Practical Outcome: Achieves robust multi-class accuracy across all 40 specialties on standard CPU hardware.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256032"/>
            <a:ext cx="5486400" cy="274320"/>
          </a:xfrm>
          <a:prstGeom prst="rect">
            <a:avLst/>
          </a:prstGeom>
          <a:noFill/>
        </p:spPr>
        <p:txBody>
          <a:bodyPr wrap="none" lIns="0" tIns="0" rIns="0" bIns="0">
            <a:spAutoFit/>
          </a:bodyPr>
          <a:lstStyle/>
          <a:p>
            <a:pPr>
              <a:defRPr sz="950" b="1">
                <a:solidFill>
                  <a:srgbClr val="0D9488"/>
                </a:solidFill>
                <a:latin typeface="Calibri"/>
              </a:defRPr>
            </a:pPr>
            <a:r>
              <a:t>MCA MINI PROJECT  |  LITERATURE REVIEW</a:t>
            </a:r>
          </a:p>
        </p:txBody>
      </p:sp>
      <p:sp>
        <p:nvSpPr>
          <p:cNvPr id="3" name="TextBox 2"/>
          <p:cNvSpPr txBox="1"/>
          <p:nvPr/>
        </p:nvSpPr>
        <p:spPr>
          <a:xfrm>
            <a:off x="5029200" y="256032"/>
            <a:ext cx="6430975" cy="274320"/>
          </a:xfrm>
          <a:prstGeom prst="rect">
            <a:avLst/>
          </a:prstGeom>
          <a:noFill/>
        </p:spPr>
        <p:txBody>
          <a:bodyPr wrap="none" lIns="0" tIns="0" rIns="0" bIns="0">
            <a:spAutoFit/>
          </a:bodyPr>
          <a:lstStyle/>
          <a:p>
            <a:pPr algn="r">
              <a:defRPr sz="900">
                <a:solidFill>
                  <a:srgbClr val="64748B"/>
                </a:solidFill>
                <a:latin typeface="Calibri"/>
              </a:defRPr>
            </a:pPr>
            <a:r>
              <a:t>Medical Specialty Classification using TF-IDF and Ensemble Machine Learning</a:t>
            </a:r>
          </a:p>
        </p:txBody>
      </p:sp>
      <p:sp>
        <p:nvSpPr>
          <p:cNvPr id="4" name="TextBox 3"/>
          <p:cNvSpPr txBox="1"/>
          <p:nvPr/>
        </p:nvSpPr>
        <p:spPr>
          <a:xfrm>
            <a:off x="731520" y="502920"/>
            <a:ext cx="10728655" cy="457200"/>
          </a:xfrm>
          <a:prstGeom prst="rect">
            <a:avLst/>
          </a:prstGeom>
          <a:noFill/>
        </p:spPr>
        <p:txBody>
          <a:bodyPr wrap="square" lIns="0" tIns="0" rIns="0" bIns="0">
            <a:spAutoFit/>
          </a:bodyPr>
          <a:lstStyle/>
          <a:p>
            <a:pPr>
              <a:defRPr sz="2100" b="1">
                <a:solidFill>
                  <a:srgbClr val="0F172A"/>
                </a:solidFill>
                <a:latin typeface="Calibri"/>
              </a:defRPr>
            </a:pPr>
            <a:r>
              <a:t>Summary of Key Research Papers</a:t>
            </a:r>
          </a:p>
        </p:txBody>
      </p:sp>
      <p:sp>
        <p:nvSpPr>
          <p:cNvPr id="5" name="Rectangle 4"/>
          <p:cNvSpPr/>
          <p:nvPr/>
        </p:nvSpPr>
        <p:spPr>
          <a:xfrm>
            <a:off x="731520" y="1005840"/>
            <a:ext cx="10728655" cy="13716"/>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31520" y="6355080"/>
            <a:ext cx="10728655" cy="13716"/>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6419088"/>
            <a:ext cx="5486400" cy="274320"/>
          </a:xfrm>
          <a:prstGeom prst="rect">
            <a:avLst/>
          </a:prstGeom>
          <a:noFill/>
        </p:spPr>
        <p:txBody>
          <a:bodyPr wrap="none" lIns="0" tIns="0" rIns="0" bIns="0">
            <a:spAutoFit/>
          </a:bodyPr>
          <a:lstStyle/>
          <a:p>
            <a:pPr>
              <a:defRPr sz="950">
                <a:solidFill>
                  <a:srgbClr val="64748B"/>
                </a:solidFill>
                <a:latin typeface="Calibri"/>
              </a:defRPr>
            </a:pPr>
            <a:r>
              <a:t>Department of Computer Applications | MACE</a:t>
            </a:r>
          </a:p>
        </p:txBody>
      </p:sp>
      <p:sp>
        <p:nvSpPr>
          <p:cNvPr id="8" name="TextBox 7"/>
          <p:cNvSpPr txBox="1"/>
          <p:nvPr/>
        </p:nvSpPr>
        <p:spPr>
          <a:xfrm>
            <a:off x="4114800" y="6419088"/>
            <a:ext cx="4114800" cy="274320"/>
          </a:xfrm>
          <a:prstGeom prst="rect">
            <a:avLst/>
          </a:prstGeom>
          <a:noFill/>
        </p:spPr>
        <p:txBody>
          <a:bodyPr wrap="none" lIns="0" tIns="0" rIns="0" bIns="0">
            <a:spAutoFit/>
          </a:bodyPr>
          <a:lstStyle/>
          <a:p>
            <a:pPr algn="ctr">
              <a:defRPr sz="900">
                <a:solidFill>
                  <a:srgbClr val="64748B"/>
                </a:solidFill>
                <a:latin typeface="Calibri"/>
              </a:defRPr>
            </a:pPr>
            <a:r>
              <a:t>Mar Athanasius College of Engineering, Kothamangalam</a:t>
            </a:r>
          </a:p>
        </p:txBody>
      </p:sp>
      <p:sp>
        <p:nvSpPr>
          <p:cNvPr id="9" name="TextBox 8"/>
          <p:cNvSpPr txBox="1"/>
          <p:nvPr/>
        </p:nvSpPr>
        <p:spPr>
          <a:xfrm>
            <a:off x="8716975" y="6419088"/>
            <a:ext cx="2743200" cy="274320"/>
          </a:xfrm>
          <a:prstGeom prst="rect">
            <a:avLst/>
          </a:prstGeom>
          <a:noFill/>
        </p:spPr>
        <p:txBody>
          <a:bodyPr wrap="none" lIns="0" tIns="0" rIns="0" bIns="0">
            <a:spAutoFit/>
          </a:bodyPr>
          <a:lstStyle/>
          <a:p>
            <a:pPr algn="r">
              <a:defRPr sz="950" b="1">
                <a:solidFill>
                  <a:srgbClr val="1D4ED8"/>
                </a:solidFill>
                <a:latin typeface="Calibri"/>
              </a:defRPr>
            </a:pPr>
            <a:r>
              <a:t>Slide 4 of 15</a:t>
            </a:r>
          </a:p>
        </p:txBody>
      </p:sp>
      <p:sp>
        <p:nvSpPr>
          <p:cNvPr id="10" name="Rounded Rectangle 9"/>
          <p:cNvSpPr/>
          <p:nvPr/>
        </p:nvSpPr>
        <p:spPr>
          <a:xfrm>
            <a:off x="731520" y="1188720"/>
            <a:ext cx="3429000" cy="49377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31520" y="1188720"/>
            <a:ext cx="3429000" cy="109728"/>
          </a:xfrm>
          <a:prstGeom prst="rect">
            <a:avLst/>
          </a:prstGeom>
          <a:solidFill>
            <a:srgbClr val="1D4E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4400" y="1371600"/>
            <a:ext cx="3063240" cy="4645152"/>
          </a:xfrm>
          <a:prstGeom prst="rect">
            <a:avLst/>
          </a:prstGeom>
          <a:noFill/>
        </p:spPr>
        <p:txBody>
          <a:bodyPr wrap="square">
            <a:spAutoFit/>
          </a:bodyPr>
          <a:lstStyle/>
          <a:p>
            <a:pPr>
              <a:defRPr sz="950" b="1">
                <a:solidFill>
                  <a:srgbClr val="1D4ED8"/>
                </a:solidFill>
              </a:defRPr>
            </a:pPr>
            <a:r>
              <a:t>PAPER 1</a:t>
            </a:r>
          </a:p>
          <a:p>
            <a:pPr>
              <a:spcBef>
                <a:spcPts val="200"/>
              </a:spcBef>
              <a:defRPr sz="1080" b="1">
                <a:solidFill>
                  <a:srgbClr val="0F172A"/>
                </a:solidFill>
              </a:defRPr>
            </a:pPr>
            <a:r>
              <a:t>Clinical Text Classification with Word Representation Features and Machine Learning</a:t>
            </a:r>
          </a:p>
          <a:p>
            <a:pPr>
              <a:spcBef>
                <a:spcPts val="300"/>
              </a:spcBef>
              <a:defRPr sz="900">
                <a:solidFill>
                  <a:srgbClr val="64748B"/>
                </a:solidFill>
              </a:defRPr>
            </a:pPr>
            <a:r>
              <a:t>Authors: Omar AM, Elhoseny M, Hassanien AM (2023)</a:t>
            </a:r>
          </a:p>
          <a:p>
            <a:pPr>
              <a:spcBef>
                <a:spcPts val="1000"/>
              </a:spcBef>
              <a:defRPr sz="950" b="1">
                <a:solidFill>
                  <a:srgbClr val="1D4ED8"/>
                </a:solidFill>
              </a:defRPr>
            </a:pPr>
            <a:r>
              <a:t>METHODOLOGY &amp; DATASET:</a:t>
            </a:r>
          </a:p>
          <a:p>
            <a:pPr>
              <a:spcBef>
                <a:spcPts val="200"/>
              </a:spcBef>
              <a:defRPr sz="919">
                <a:solidFill>
                  <a:srgbClr val="334155"/>
                </a:solidFill>
              </a:defRPr>
            </a:pPr>
            <a:r>
              <a:t>EMR Clinical Transcriptions | Evaluated BOW, TF-IDF, and Word2Vec across LR, SVM, Naive Bayes, and k-NN.</a:t>
            </a:r>
          </a:p>
          <a:p>
            <a:pPr>
              <a:spcBef>
                <a:spcPts val="1000"/>
              </a:spcBef>
              <a:defRPr sz="950" b="1">
                <a:solidFill>
                  <a:srgbClr val="0D9488"/>
                </a:solidFill>
              </a:defRPr>
            </a:pPr>
            <a:r>
              <a:t>KEY RESEARCH FINDING:</a:t>
            </a:r>
          </a:p>
          <a:p>
            <a:pPr>
              <a:spcBef>
                <a:spcPts val="200"/>
              </a:spcBef>
              <a:defRPr sz="919">
                <a:solidFill>
                  <a:srgbClr val="334155"/>
                </a:solidFill>
              </a:defRPr>
            </a:pPr>
            <a:r>
              <a:t>Linear classifiers and SVM proved highly effective and computationally efficient on high-dimensional text vectors.</a:t>
            </a:r>
          </a:p>
          <a:p>
            <a:pPr>
              <a:spcBef>
                <a:spcPts val="1000"/>
              </a:spcBef>
              <a:defRPr sz="950" b="1">
                <a:solidFill>
                  <a:srgbClr val="7C3AED"/>
                </a:solidFill>
              </a:defRPr>
            </a:pPr>
            <a:r>
              <a:t>DIRECT RELEVANCE TO OUR SYSTEM:</a:t>
            </a:r>
          </a:p>
          <a:p>
            <a:pPr>
              <a:spcBef>
                <a:spcPts val="200"/>
              </a:spcBef>
              <a:defRPr sz="919">
                <a:solidFill>
                  <a:srgbClr val="334155"/>
                </a:solidFill>
              </a:defRPr>
            </a:pPr>
            <a:r>
              <a:t>Establishes our multi-phase text preprocessing and TF-IDF feature representation pipeline.</a:t>
            </a:r>
          </a:p>
        </p:txBody>
      </p:sp>
      <p:sp>
        <p:nvSpPr>
          <p:cNvPr id="13" name="Rounded Rectangle 12"/>
          <p:cNvSpPr/>
          <p:nvPr/>
        </p:nvSpPr>
        <p:spPr>
          <a:xfrm>
            <a:off x="4379976" y="1188720"/>
            <a:ext cx="3429000" cy="49377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379976" y="1188720"/>
            <a:ext cx="3429000" cy="109728"/>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62856" y="1371600"/>
            <a:ext cx="3063240" cy="4645152"/>
          </a:xfrm>
          <a:prstGeom prst="rect">
            <a:avLst/>
          </a:prstGeom>
          <a:noFill/>
        </p:spPr>
        <p:txBody>
          <a:bodyPr wrap="square">
            <a:spAutoFit/>
          </a:bodyPr>
          <a:lstStyle/>
          <a:p>
            <a:pPr>
              <a:defRPr sz="950" b="1">
                <a:solidFill>
                  <a:srgbClr val="0D9488"/>
                </a:solidFill>
              </a:defRPr>
            </a:pPr>
            <a:r>
              <a:t>PAPER 2</a:t>
            </a:r>
          </a:p>
          <a:p>
            <a:pPr>
              <a:spcBef>
                <a:spcPts val="200"/>
              </a:spcBef>
              <a:defRPr sz="1080" b="1">
                <a:solidFill>
                  <a:srgbClr val="0F172A"/>
                </a:solidFill>
              </a:defRPr>
            </a:pPr>
            <a:r>
              <a:t>Medical Specialty Classification Based on Semiadversarial Data Augmentation</a:t>
            </a:r>
          </a:p>
          <a:p>
            <a:pPr>
              <a:spcBef>
                <a:spcPts val="300"/>
              </a:spcBef>
              <a:defRPr sz="900">
                <a:solidFill>
                  <a:srgbClr val="64748B"/>
                </a:solidFill>
              </a:defRPr>
            </a:pPr>
            <a:r>
              <a:t>Authors: Zhang H, Zhu D, Tan H, Shafiq M, Gu Z (2023)</a:t>
            </a:r>
          </a:p>
          <a:p>
            <a:pPr>
              <a:spcBef>
                <a:spcPts val="1000"/>
              </a:spcBef>
              <a:defRPr sz="950" b="1">
                <a:solidFill>
                  <a:srgbClr val="1D4ED8"/>
                </a:solidFill>
              </a:defRPr>
            </a:pPr>
            <a:r>
              <a:t>METHODOLOGY &amp; DATASET:</a:t>
            </a:r>
          </a:p>
          <a:p>
            <a:pPr>
              <a:spcBef>
                <a:spcPts val="200"/>
              </a:spcBef>
              <a:defRPr sz="919">
                <a:solidFill>
                  <a:srgbClr val="334155"/>
                </a:solidFill>
              </a:defRPr>
            </a:pPr>
            <a:r>
              <a:t>Kaggle Medical Specialty Dataset | Evaluated domain noun weighting and feature representations across specialty classes.</a:t>
            </a:r>
          </a:p>
          <a:p>
            <a:pPr>
              <a:spcBef>
                <a:spcPts val="1000"/>
              </a:spcBef>
              <a:defRPr sz="950" b="1">
                <a:solidFill>
                  <a:srgbClr val="0D9488"/>
                </a:solidFill>
              </a:defRPr>
            </a:pPr>
            <a:r>
              <a:t>KEY RESEARCH FINDING:</a:t>
            </a:r>
          </a:p>
          <a:p>
            <a:pPr>
              <a:spcBef>
                <a:spcPts val="200"/>
              </a:spcBef>
              <a:defRPr sz="919">
                <a:solidFill>
                  <a:srgbClr val="334155"/>
                </a:solidFill>
              </a:defRPr>
            </a:pPr>
            <a:r>
              <a:t>Domain-specific medical nouns carry the strongest discriminative signal for specialty categorization.</a:t>
            </a:r>
          </a:p>
          <a:p>
            <a:pPr>
              <a:spcBef>
                <a:spcPts val="1000"/>
              </a:spcBef>
              <a:defRPr sz="950" b="1">
                <a:solidFill>
                  <a:srgbClr val="7C3AED"/>
                </a:solidFill>
              </a:defRPr>
            </a:pPr>
            <a:r>
              <a:t>DIRECT RELEVANCE TO OUR SYSTEM:</a:t>
            </a:r>
          </a:p>
          <a:p>
            <a:pPr>
              <a:spcBef>
                <a:spcPts val="200"/>
              </a:spcBef>
              <a:defRPr sz="919">
                <a:solidFill>
                  <a:srgbClr val="334155"/>
                </a:solidFill>
              </a:defRPr>
            </a:pPr>
            <a:r>
              <a:t>Highlights class imbalance in MTSamples; motivates an accessible TF-IDF ensemble for all 40 classes on standard CPUs.</a:t>
            </a:r>
          </a:p>
        </p:txBody>
      </p:sp>
      <p:sp>
        <p:nvSpPr>
          <p:cNvPr id="16" name="Rounded Rectangle 15"/>
          <p:cNvSpPr/>
          <p:nvPr/>
        </p:nvSpPr>
        <p:spPr>
          <a:xfrm>
            <a:off x="8028432" y="1188720"/>
            <a:ext cx="3429000" cy="49377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028432" y="1188720"/>
            <a:ext cx="3429000" cy="109728"/>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11312" y="1371600"/>
            <a:ext cx="3063240" cy="4645152"/>
          </a:xfrm>
          <a:prstGeom prst="rect">
            <a:avLst/>
          </a:prstGeom>
          <a:noFill/>
        </p:spPr>
        <p:txBody>
          <a:bodyPr wrap="square">
            <a:spAutoFit/>
          </a:bodyPr>
          <a:lstStyle/>
          <a:p>
            <a:pPr>
              <a:defRPr sz="950" b="1">
                <a:solidFill>
                  <a:srgbClr val="7C3AED"/>
                </a:solidFill>
              </a:defRPr>
            </a:pPr>
            <a:r>
              <a:t>PAPER 3</a:t>
            </a:r>
          </a:p>
          <a:p>
            <a:pPr>
              <a:spcBef>
                <a:spcPts val="200"/>
              </a:spcBef>
              <a:defRPr sz="1080" b="1">
                <a:solidFill>
                  <a:srgbClr val="0F172A"/>
                </a:solidFill>
              </a:defRPr>
            </a:pPr>
            <a:r>
              <a:t>A Keyword-Enhanced Approach to Handle Class Imbalance in Clinical Text</a:t>
            </a:r>
          </a:p>
          <a:p>
            <a:pPr>
              <a:spcBef>
                <a:spcPts val="300"/>
              </a:spcBef>
              <a:defRPr sz="900">
                <a:solidFill>
                  <a:srgbClr val="64748B"/>
                </a:solidFill>
              </a:defRPr>
            </a:pPr>
            <a:r>
              <a:t>Authors: Blanchard AE, Gao S, Yoon HJ, Tourassi G (2022)</a:t>
            </a:r>
          </a:p>
          <a:p>
            <a:pPr>
              <a:spcBef>
                <a:spcPts val="1000"/>
              </a:spcBef>
              <a:defRPr sz="950" b="1">
                <a:solidFill>
                  <a:srgbClr val="1D4ED8"/>
                </a:solidFill>
              </a:defRPr>
            </a:pPr>
            <a:r>
              <a:t>METHODOLOGY &amp; DATASET:</a:t>
            </a:r>
          </a:p>
          <a:p>
            <a:pPr>
              <a:spcBef>
                <a:spcPts val="200"/>
              </a:spcBef>
              <a:defRPr sz="919">
                <a:solidFill>
                  <a:srgbClr val="334155"/>
                </a:solidFill>
              </a:defRPr>
            </a:pPr>
            <a:r>
              <a:t>Clinical Pathology Reports | Evaluated keyword-constrained weighting on imbalanced clinical narratives.</a:t>
            </a:r>
          </a:p>
          <a:p>
            <a:pPr>
              <a:spcBef>
                <a:spcPts val="1000"/>
              </a:spcBef>
              <a:defRPr sz="950" b="1">
                <a:solidFill>
                  <a:srgbClr val="0D9488"/>
                </a:solidFill>
              </a:defRPr>
            </a:pPr>
            <a:r>
              <a:t>KEY RESEARCH FINDING:</a:t>
            </a:r>
          </a:p>
          <a:p>
            <a:pPr>
              <a:spcBef>
                <a:spcPts val="200"/>
              </a:spcBef>
              <a:defRPr sz="919">
                <a:solidFill>
                  <a:srgbClr val="334155"/>
                </a:solidFill>
              </a:defRPr>
            </a:pPr>
            <a:r>
              <a:t>Targeted keyword features improved classification on minority classes without degrading majority performance.</a:t>
            </a:r>
          </a:p>
          <a:p>
            <a:pPr>
              <a:spcBef>
                <a:spcPts val="1000"/>
              </a:spcBef>
              <a:defRPr sz="950" b="1">
                <a:solidFill>
                  <a:srgbClr val="7C3AED"/>
                </a:solidFill>
              </a:defRPr>
            </a:pPr>
            <a:r>
              <a:t>DIRECT RELEVANCE TO OUR SYSTEM:</a:t>
            </a:r>
          </a:p>
          <a:p>
            <a:pPr>
              <a:spcBef>
                <a:spcPts val="200"/>
              </a:spcBef>
              <a:defRPr sz="919">
                <a:solidFill>
                  <a:srgbClr val="334155"/>
                </a:solidFill>
              </a:defRPr>
            </a:pPr>
            <a:r>
              <a:t>Confirms n-gram keyword weighting preserves rare specialty signals, justifying TF-IDF and stratified evaluation.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256032"/>
            <a:ext cx="5486400" cy="274320"/>
          </a:xfrm>
          <a:prstGeom prst="rect">
            <a:avLst/>
          </a:prstGeom>
          <a:noFill/>
        </p:spPr>
        <p:txBody>
          <a:bodyPr wrap="none" lIns="0" tIns="0" rIns="0" bIns="0">
            <a:spAutoFit/>
          </a:bodyPr>
          <a:lstStyle/>
          <a:p>
            <a:pPr>
              <a:defRPr sz="950" b="1">
                <a:solidFill>
                  <a:srgbClr val="0D9488"/>
                </a:solidFill>
                <a:latin typeface="Calibri"/>
              </a:defRPr>
            </a:pPr>
            <a:r>
              <a:t>MCA MINI PROJECT  |  DATA EXPLORATION</a:t>
            </a:r>
          </a:p>
        </p:txBody>
      </p:sp>
      <p:sp>
        <p:nvSpPr>
          <p:cNvPr id="3" name="TextBox 2"/>
          <p:cNvSpPr txBox="1"/>
          <p:nvPr/>
        </p:nvSpPr>
        <p:spPr>
          <a:xfrm>
            <a:off x="5029200" y="256032"/>
            <a:ext cx="6430975" cy="274320"/>
          </a:xfrm>
          <a:prstGeom prst="rect">
            <a:avLst/>
          </a:prstGeom>
          <a:noFill/>
        </p:spPr>
        <p:txBody>
          <a:bodyPr wrap="none" lIns="0" tIns="0" rIns="0" bIns="0">
            <a:spAutoFit/>
          </a:bodyPr>
          <a:lstStyle/>
          <a:p>
            <a:pPr algn="r">
              <a:defRPr sz="900">
                <a:solidFill>
                  <a:srgbClr val="64748B"/>
                </a:solidFill>
                <a:latin typeface="Calibri"/>
              </a:defRPr>
            </a:pPr>
            <a:r>
              <a:t>Medical Specialty Classification using TF-IDF and Ensemble Machine Learning</a:t>
            </a:r>
          </a:p>
        </p:txBody>
      </p:sp>
      <p:sp>
        <p:nvSpPr>
          <p:cNvPr id="4" name="TextBox 3"/>
          <p:cNvSpPr txBox="1"/>
          <p:nvPr/>
        </p:nvSpPr>
        <p:spPr>
          <a:xfrm>
            <a:off x="731520" y="502920"/>
            <a:ext cx="10728655" cy="457200"/>
          </a:xfrm>
          <a:prstGeom prst="rect">
            <a:avLst/>
          </a:prstGeom>
          <a:noFill/>
        </p:spPr>
        <p:txBody>
          <a:bodyPr wrap="square" lIns="0" tIns="0" rIns="0" bIns="0">
            <a:spAutoFit/>
          </a:bodyPr>
          <a:lstStyle/>
          <a:p>
            <a:pPr>
              <a:defRPr sz="2100" b="1">
                <a:solidFill>
                  <a:srgbClr val="0F172A"/>
                </a:solidFill>
                <a:latin typeface="Calibri"/>
              </a:defRPr>
            </a:pPr>
            <a:r>
              <a:t>Dataset Overview: Kaggle MTSamples Corpus</a:t>
            </a:r>
          </a:p>
        </p:txBody>
      </p:sp>
      <p:sp>
        <p:nvSpPr>
          <p:cNvPr id="5" name="Rectangle 4"/>
          <p:cNvSpPr/>
          <p:nvPr/>
        </p:nvSpPr>
        <p:spPr>
          <a:xfrm>
            <a:off x="731520" y="1005840"/>
            <a:ext cx="10728655" cy="13716"/>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31520" y="6355080"/>
            <a:ext cx="10728655" cy="13716"/>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6419088"/>
            <a:ext cx="5486400" cy="274320"/>
          </a:xfrm>
          <a:prstGeom prst="rect">
            <a:avLst/>
          </a:prstGeom>
          <a:noFill/>
        </p:spPr>
        <p:txBody>
          <a:bodyPr wrap="none" lIns="0" tIns="0" rIns="0" bIns="0">
            <a:spAutoFit/>
          </a:bodyPr>
          <a:lstStyle/>
          <a:p>
            <a:pPr>
              <a:defRPr sz="950">
                <a:solidFill>
                  <a:srgbClr val="64748B"/>
                </a:solidFill>
                <a:latin typeface="Calibri"/>
              </a:defRPr>
            </a:pPr>
            <a:r>
              <a:t>Department of Computer Applications | MACE</a:t>
            </a:r>
          </a:p>
        </p:txBody>
      </p:sp>
      <p:sp>
        <p:nvSpPr>
          <p:cNvPr id="8" name="TextBox 7"/>
          <p:cNvSpPr txBox="1"/>
          <p:nvPr/>
        </p:nvSpPr>
        <p:spPr>
          <a:xfrm>
            <a:off x="4114800" y="6419088"/>
            <a:ext cx="4114800" cy="274320"/>
          </a:xfrm>
          <a:prstGeom prst="rect">
            <a:avLst/>
          </a:prstGeom>
          <a:noFill/>
        </p:spPr>
        <p:txBody>
          <a:bodyPr wrap="none" lIns="0" tIns="0" rIns="0" bIns="0">
            <a:spAutoFit/>
          </a:bodyPr>
          <a:lstStyle/>
          <a:p>
            <a:pPr algn="ctr">
              <a:defRPr sz="900">
                <a:solidFill>
                  <a:srgbClr val="64748B"/>
                </a:solidFill>
                <a:latin typeface="Calibri"/>
              </a:defRPr>
            </a:pPr>
            <a:r>
              <a:t>Mar Athanasius College of Engineering, Kothamangalam</a:t>
            </a:r>
          </a:p>
        </p:txBody>
      </p:sp>
      <p:sp>
        <p:nvSpPr>
          <p:cNvPr id="9" name="TextBox 8"/>
          <p:cNvSpPr txBox="1"/>
          <p:nvPr/>
        </p:nvSpPr>
        <p:spPr>
          <a:xfrm>
            <a:off x="8716975" y="6419088"/>
            <a:ext cx="2743200" cy="274320"/>
          </a:xfrm>
          <a:prstGeom prst="rect">
            <a:avLst/>
          </a:prstGeom>
          <a:noFill/>
        </p:spPr>
        <p:txBody>
          <a:bodyPr wrap="none" lIns="0" tIns="0" rIns="0" bIns="0">
            <a:spAutoFit/>
          </a:bodyPr>
          <a:lstStyle/>
          <a:p>
            <a:pPr algn="r">
              <a:defRPr sz="950" b="1">
                <a:solidFill>
                  <a:srgbClr val="1D4ED8"/>
                </a:solidFill>
                <a:latin typeface="Calibri"/>
              </a:defRPr>
            </a:pPr>
            <a:r>
              <a:t>Slide 5 of 15</a:t>
            </a:r>
          </a:p>
        </p:txBody>
      </p:sp>
      <p:sp>
        <p:nvSpPr>
          <p:cNvPr id="10" name="Rounded Rectangle 9"/>
          <p:cNvSpPr/>
          <p:nvPr/>
        </p:nvSpPr>
        <p:spPr>
          <a:xfrm>
            <a:off x="731520" y="1188720"/>
            <a:ext cx="2542032" cy="12344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31520" y="1188720"/>
            <a:ext cx="2542032" cy="73152"/>
          </a:xfrm>
          <a:prstGeom prst="rect">
            <a:avLst/>
          </a:prstGeom>
          <a:solidFill>
            <a:srgbClr val="1D4E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68680" y="1325880"/>
            <a:ext cx="2267712" cy="1051560"/>
          </a:xfrm>
          <a:prstGeom prst="rect">
            <a:avLst/>
          </a:prstGeom>
          <a:noFill/>
        </p:spPr>
        <p:txBody>
          <a:bodyPr wrap="square">
            <a:spAutoFit/>
          </a:bodyPr>
          <a:lstStyle/>
          <a:p>
            <a:pPr>
              <a:defRPr sz="2200" b="1">
                <a:solidFill>
                  <a:srgbClr val="1D4ED8"/>
                </a:solidFill>
              </a:defRPr>
            </a:pPr>
            <a:r>
              <a:t>4,999</a:t>
            </a:r>
          </a:p>
          <a:p>
            <a:pPr>
              <a:defRPr sz="850" b="1">
                <a:solidFill>
                  <a:srgbClr val="0F172A"/>
                </a:solidFill>
              </a:defRPr>
            </a:pPr>
            <a:r>
              <a:t>INITIAL RAW RECORDS</a:t>
            </a:r>
          </a:p>
          <a:p>
            <a:pPr>
              <a:defRPr sz="800">
                <a:solidFill>
                  <a:srgbClr val="64748B"/>
                </a:solidFill>
              </a:defRPr>
            </a:pPr>
            <a:r>
              <a:t>Total transcription files in Kaggle dataset</a:t>
            </a:r>
          </a:p>
        </p:txBody>
      </p:sp>
      <p:sp>
        <p:nvSpPr>
          <p:cNvPr id="13" name="Rounded Rectangle 12"/>
          <p:cNvSpPr/>
          <p:nvPr/>
        </p:nvSpPr>
        <p:spPr>
          <a:xfrm>
            <a:off x="3456432" y="1188720"/>
            <a:ext cx="2542032" cy="12344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456432" y="1188720"/>
            <a:ext cx="2542032" cy="73152"/>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593592" y="1325880"/>
            <a:ext cx="2267712" cy="1051560"/>
          </a:xfrm>
          <a:prstGeom prst="rect">
            <a:avLst/>
          </a:prstGeom>
          <a:noFill/>
        </p:spPr>
        <p:txBody>
          <a:bodyPr wrap="square">
            <a:spAutoFit/>
          </a:bodyPr>
          <a:lstStyle/>
          <a:p>
            <a:pPr>
              <a:defRPr sz="2200" b="1">
                <a:solidFill>
                  <a:srgbClr val="0D9488"/>
                </a:solidFill>
              </a:defRPr>
            </a:pPr>
            <a:r>
              <a:t>~40</a:t>
            </a:r>
          </a:p>
          <a:p>
            <a:pPr>
              <a:defRPr sz="850" b="1">
                <a:solidFill>
                  <a:srgbClr val="0F172A"/>
                </a:solidFill>
              </a:defRPr>
            </a:pPr>
            <a:r>
              <a:t>MEDICAL SPECIALTIES</a:t>
            </a:r>
          </a:p>
          <a:p>
            <a:pPr>
              <a:defRPr sz="800">
                <a:solidFill>
                  <a:srgbClr val="64748B"/>
                </a:solidFill>
              </a:defRPr>
            </a:pPr>
            <a:r>
              <a:t>Multi-class medical classification targets</a:t>
            </a:r>
          </a:p>
        </p:txBody>
      </p:sp>
      <p:sp>
        <p:nvSpPr>
          <p:cNvPr id="16" name="Rounded Rectangle 15"/>
          <p:cNvSpPr/>
          <p:nvPr/>
        </p:nvSpPr>
        <p:spPr>
          <a:xfrm>
            <a:off x="6181344" y="1188720"/>
            <a:ext cx="2542032" cy="12344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181344" y="1188720"/>
            <a:ext cx="2542032" cy="73152"/>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318504" y="1325880"/>
            <a:ext cx="2267712" cy="1051560"/>
          </a:xfrm>
          <a:prstGeom prst="rect">
            <a:avLst/>
          </a:prstGeom>
          <a:noFill/>
        </p:spPr>
        <p:txBody>
          <a:bodyPr wrap="square">
            <a:spAutoFit/>
          </a:bodyPr>
          <a:lstStyle/>
          <a:p>
            <a:pPr>
              <a:defRPr sz="2200" b="1">
                <a:solidFill>
                  <a:srgbClr val="10B981"/>
                </a:solidFill>
              </a:defRPr>
            </a:pPr>
            <a:r>
              <a:t>4,966</a:t>
            </a:r>
          </a:p>
          <a:p>
            <a:pPr>
              <a:defRPr sz="850" b="1">
                <a:solidFill>
                  <a:srgbClr val="0F172A"/>
                </a:solidFill>
              </a:defRPr>
            </a:pPr>
            <a:r>
              <a:t>USABLE REPORTS AFTER CLEANING</a:t>
            </a:r>
          </a:p>
          <a:p>
            <a:pPr>
              <a:defRPr sz="800">
                <a:solidFill>
                  <a:srgbClr val="64748B"/>
                </a:solidFill>
              </a:defRPr>
            </a:pPr>
            <a:r>
              <a:t>Complete records after dropping blank nulls</a:t>
            </a:r>
          </a:p>
        </p:txBody>
      </p:sp>
      <p:sp>
        <p:nvSpPr>
          <p:cNvPr id="19" name="Rounded Rectangle 18"/>
          <p:cNvSpPr/>
          <p:nvPr/>
        </p:nvSpPr>
        <p:spPr>
          <a:xfrm>
            <a:off x="8906256" y="1188720"/>
            <a:ext cx="2542032" cy="12344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906256" y="1188720"/>
            <a:ext cx="2542032" cy="73152"/>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043416" y="1325880"/>
            <a:ext cx="2267712" cy="1051560"/>
          </a:xfrm>
          <a:prstGeom prst="rect">
            <a:avLst/>
          </a:prstGeom>
          <a:noFill/>
        </p:spPr>
        <p:txBody>
          <a:bodyPr wrap="square">
            <a:spAutoFit/>
          </a:bodyPr>
          <a:lstStyle/>
          <a:p>
            <a:pPr>
              <a:defRPr sz="2200" b="1">
                <a:solidFill>
                  <a:srgbClr val="D97706"/>
                </a:solidFill>
              </a:defRPr>
            </a:pPr>
            <a:r>
              <a:t>33</a:t>
            </a:r>
          </a:p>
          <a:p>
            <a:pPr>
              <a:defRPr sz="850" b="1">
                <a:solidFill>
                  <a:srgbClr val="0F172A"/>
                </a:solidFill>
              </a:defRPr>
            </a:pPr>
            <a:r>
              <a:t>DROPPED NULL SAMPLES</a:t>
            </a:r>
          </a:p>
          <a:p>
            <a:pPr>
              <a:defRPr sz="800">
                <a:solidFill>
                  <a:srgbClr val="64748B"/>
                </a:solidFill>
              </a:defRPr>
            </a:pPr>
            <a:r>
              <a:t>Zero-length empty text reports identified</a:t>
            </a:r>
          </a:p>
        </p:txBody>
      </p:sp>
      <p:sp>
        <p:nvSpPr>
          <p:cNvPr id="22" name="Rounded Rectangle 21"/>
          <p:cNvSpPr/>
          <p:nvPr/>
        </p:nvSpPr>
        <p:spPr>
          <a:xfrm>
            <a:off x="731520" y="2606040"/>
            <a:ext cx="5230368" cy="35661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60120" y="2743200"/>
            <a:ext cx="4773168" cy="3291840"/>
          </a:xfrm>
          <a:prstGeom prst="rect">
            <a:avLst/>
          </a:prstGeom>
          <a:noFill/>
        </p:spPr>
        <p:txBody>
          <a:bodyPr wrap="square">
            <a:spAutoFit/>
          </a:bodyPr>
          <a:lstStyle/>
          <a:p>
            <a:pPr>
              <a:defRPr sz="1200" b="1">
                <a:solidFill>
                  <a:srgbClr val="1D4ED8"/>
                </a:solidFill>
              </a:defRPr>
            </a:pPr>
            <a:r>
              <a:t>DATASET PROVENANCE &amp; CLINICAL CONTEXT</a:t>
            </a:r>
          </a:p>
          <a:p>
            <a:pPr>
              <a:spcBef>
                <a:spcPts val="600"/>
              </a:spcBef>
              <a:defRPr sz="1000" b="1">
                <a:solidFill>
                  <a:srgbClr val="0F172A"/>
                </a:solidFill>
              </a:defRPr>
            </a:pPr>
            <a:r>
              <a:t>•  Public Benchmark Dataset: </a:t>
            </a:r>
            <a:r>
              <a:rPr b="0" sz="900">
                <a:solidFill>
                  <a:srgbClr val="334155"/>
                </a:solidFill>
              </a:rPr>
              <a:t>The MTSamples dataset is a publicly available collection of medical transcription samples commonly used for text classification research.</a:t>
            </a:r>
          </a:p>
          <a:p>
            <a:pPr>
              <a:spcBef>
                <a:spcPts val="600"/>
              </a:spcBef>
              <a:defRPr sz="1000" b="1">
                <a:solidFill>
                  <a:srgbClr val="0F172A"/>
                </a:solidFill>
              </a:defRPr>
            </a:pPr>
            <a:r>
              <a:t>•  Privacy Consideration: </a:t>
            </a:r>
            <a:r>
              <a:rPr b="0" sz="900">
                <a:solidFill>
                  <a:srgbClr val="334155"/>
                </a:solidFill>
              </a:rPr>
              <a:t>Enables machine learning experimentation on realistic clinical narratives without requiring access to private hospital records.</a:t>
            </a:r>
          </a:p>
          <a:p>
            <a:pPr>
              <a:spcBef>
                <a:spcPts val="600"/>
              </a:spcBef>
              <a:defRPr sz="1000" b="1">
                <a:solidFill>
                  <a:srgbClr val="0F172A"/>
                </a:solidFill>
              </a:defRPr>
            </a:pPr>
            <a:r>
              <a:t>•  Diverse Medical Narratives: </a:t>
            </a:r>
            <a:r>
              <a:rPr b="0" sz="900">
                <a:solidFill>
                  <a:srgbClr val="334155"/>
                </a:solidFill>
              </a:rPr>
              <a:t>Contains actual physician dictations spanning operative notes, discharge summaries, emergency consultations, physical examinations, and patient histories.</a:t>
            </a:r>
          </a:p>
          <a:p>
            <a:pPr>
              <a:spcBef>
                <a:spcPts val="600"/>
              </a:spcBef>
              <a:defRPr sz="1000" b="1">
                <a:solidFill>
                  <a:srgbClr val="0F172A"/>
                </a:solidFill>
              </a:defRPr>
            </a:pPr>
            <a:r>
              <a:t>•  Multi-Class Domain Breadth: </a:t>
            </a:r>
            <a:r>
              <a:rPr b="0" sz="900">
                <a:solidFill>
                  <a:srgbClr val="334155"/>
                </a:solidFill>
              </a:rPr>
              <a:t>Encompasses 40 distinct specialty disciplines from General Medicine and Surgery to Neurosurgery, Cardiology, and Pediatrics.</a:t>
            </a:r>
          </a:p>
        </p:txBody>
      </p:sp>
      <p:sp>
        <p:nvSpPr>
          <p:cNvPr id="24" name="Rounded Rectangle 23"/>
          <p:cNvSpPr/>
          <p:nvPr/>
        </p:nvSpPr>
        <p:spPr>
          <a:xfrm>
            <a:off x="6217920" y="2606040"/>
            <a:ext cx="5230368" cy="35661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46520" y="2743200"/>
            <a:ext cx="4773168" cy="3291840"/>
          </a:xfrm>
          <a:prstGeom prst="rect">
            <a:avLst/>
          </a:prstGeom>
          <a:noFill/>
        </p:spPr>
        <p:txBody>
          <a:bodyPr wrap="square">
            <a:spAutoFit/>
          </a:bodyPr>
          <a:lstStyle/>
          <a:p>
            <a:pPr>
              <a:defRPr sz="1200" b="1">
                <a:solidFill>
                  <a:srgbClr val="0D9488"/>
                </a:solidFill>
              </a:defRPr>
            </a:pPr>
            <a:r>
              <a:t>KEY DATASET ATTRIBUTES &amp; ROLES</a:t>
            </a:r>
          </a:p>
          <a:p>
            <a:pPr>
              <a:spcBef>
                <a:spcPts val="600"/>
              </a:spcBef>
              <a:defRPr sz="1000" b="1">
                <a:solidFill>
                  <a:srgbClr val="0F172A"/>
                </a:solidFill>
              </a:defRPr>
            </a:pPr>
            <a:r>
              <a:t>•  transcription (Primary Feature Input): </a:t>
            </a:r>
            <a:r>
              <a:rPr b="0" sz="900">
                <a:solidFill>
                  <a:srgbClr val="334155"/>
                </a:solidFill>
              </a:rPr>
              <a:t>Contains full free-text clinical narrative. Serves as the raw textual input for our 5-step NLP preprocessing and TF-IDF feature extraction pipeline.</a:t>
            </a:r>
          </a:p>
          <a:p>
            <a:pPr>
              <a:spcBef>
                <a:spcPts val="600"/>
              </a:spcBef>
              <a:defRPr sz="1000" b="1">
                <a:solidFill>
                  <a:srgbClr val="0F172A"/>
                </a:solidFill>
              </a:defRPr>
            </a:pPr>
            <a:r>
              <a:t>•  medical_specialty (Target Class Label): </a:t>
            </a:r>
            <a:r>
              <a:rPr b="0" sz="900">
                <a:solidFill>
                  <a:srgbClr val="334155"/>
                </a:solidFill>
              </a:rPr>
              <a:t>The ground-truth categorical specialty label (40 distinct classes) to be learned and predicted by the supervised machine learning models.</a:t>
            </a:r>
          </a:p>
          <a:p>
            <a:pPr>
              <a:spcBef>
                <a:spcPts val="600"/>
              </a:spcBef>
              <a:defRPr sz="1000" b="1">
                <a:solidFill>
                  <a:srgbClr val="0F172A"/>
                </a:solidFill>
              </a:defRPr>
            </a:pPr>
            <a:r>
              <a:t>•  description (Secondary Context): </a:t>
            </a:r>
            <a:r>
              <a:rPr b="0" sz="900">
                <a:solidFill>
                  <a:srgbClr val="334155"/>
                </a:solidFill>
              </a:rPr>
              <a:t>Short clinician summary of the medical case; utilized during exploratory validation to verify narrative diagnostic alignment.</a:t>
            </a:r>
          </a:p>
          <a:p>
            <a:pPr>
              <a:spcBef>
                <a:spcPts val="600"/>
              </a:spcBef>
              <a:defRPr sz="1000" b="1">
                <a:solidFill>
                  <a:srgbClr val="0F172A"/>
                </a:solidFill>
              </a:defRPr>
            </a:pPr>
            <a:r>
              <a:t>•  keywords (Omitted Attribute): </a:t>
            </a:r>
            <a:r>
              <a:rPr b="0" sz="900">
                <a:solidFill>
                  <a:srgbClr val="334155"/>
                </a:solidFill>
              </a:rPr>
              <a:t>Free-form clinician tags containing 21.36% missing values. Omitted from the model pipeline to prevent sparse keyword noise.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256032"/>
            <a:ext cx="5486400" cy="274320"/>
          </a:xfrm>
          <a:prstGeom prst="rect">
            <a:avLst/>
          </a:prstGeom>
          <a:noFill/>
        </p:spPr>
        <p:txBody>
          <a:bodyPr wrap="none" lIns="0" tIns="0" rIns="0" bIns="0">
            <a:spAutoFit/>
          </a:bodyPr>
          <a:lstStyle/>
          <a:p>
            <a:pPr>
              <a:defRPr sz="950" b="1">
                <a:solidFill>
                  <a:srgbClr val="0D9488"/>
                </a:solidFill>
                <a:latin typeface="Calibri"/>
              </a:defRPr>
            </a:pPr>
            <a:r>
              <a:t>MCA MINI PROJECT  |  DATA EXPLORATION</a:t>
            </a:r>
          </a:p>
        </p:txBody>
      </p:sp>
      <p:sp>
        <p:nvSpPr>
          <p:cNvPr id="3" name="TextBox 2"/>
          <p:cNvSpPr txBox="1"/>
          <p:nvPr/>
        </p:nvSpPr>
        <p:spPr>
          <a:xfrm>
            <a:off x="5029200" y="256032"/>
            <a:ext cx="6430975" cy="274320"/>
          </a:xfrm>
          <a:prstGeom prst="rect">
            <a:avLst/>
          </a:prstGeom>
          <a:noFill/>
        </p:spPr>
        <p:txBody>
          <a:bodyPr wrap="none" lIns="0" tIns="0" rIns="0" bIns="0">
            <a:spAutoFit/>
          </a:bodyPr>
          <a:lstStyle/>
          <a:p>
            <a:pPr algn="r">
              <a:defRPr sz="900">
                <a:solidFill>
                  <a:srgbClr val="64748B"/>
                </a:solidFill>
                <a:latin typeface="Calibri"/>
              </a:defRPr>
            </a:pPr>
            <a:r>
              <a:t>Medical Specialty Classification using TF-IDF and Ensemble Machine Learning</a:t>
            </a:r>
          </a:p>
        </p:txBody>
      </p:sp>
      <p:sp>
        <p:nvSpPr>
          <p:cNvPr id="4" name="TextBox 3"/>
          <p:cNvSpPr txBox="1"/>
          <p:nvPr/>
        </p:nvSpPr>
        <p:spPr>
          <a:xfrm>
            <a:off x="731520" y="502920"/>
            <a:ext cx="10728655" cy="457200"/>
          </a:xfrm>
          <a:prstGeom prst="rect">
            <a:avLst/>
          </a:prstGeom>
          <a:noFill/>
        </p:spPr>
        <p:txBody>
          <a:bodyPr wrap="square" lIns="0" tIns="0" rIns="0" bIns="0">
            <a:spAutoFit/>
          </a:bodyPr>
          <a:lstStyle/>
          <a:p>
            <a:pPr>
              <a:defRPr sz="2100" b="1">
                <a:solidFill>
                  <a:srgbClr val="0F172A"/>
                </a:solidFill>
                <a:latin typeface="Calibri"/>
              </a:defRPr>
            </a:pPr>
            <a:r>
              <a:t>Data Exploration: Dataset Quality &amp; Missing Value Analysis</a:t>
            </a:r>
          </a:p>
        </p:txBody>
      </p:sp>
      <p:sp>
        <p:nvSpPr>
          <p:cNvPr id="5" name="Rectangle 4"/>
          <p:cNvSpPr/>
          <p:nvPr/>
        </p:nvSpPr>
        <p:spPr>
          <a:xfrm>
            <a:off x="731520" y="1005840"/>
            <a:ext cx="10728655" cy="13716"/>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31520" y="6355080"/>
            <a:ext cx="10728655" cy="13716"/>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6419088"/>
            <a:ext cx="5486400" cy="274320"/>
          </a:xfrm>
          <a:prstGeom prst="rect">
            <a:avLst/>
          </a:prstGeom>
          <a:noFill/>
        </p:spPr>
        <p:txBody>
          <a:bodyPr wrap="none" lIns="0" tIns="0" rIns="0" bIns="0">
            <a:spAutoFit/>
          </a:bodyPr>
          <a:lstStyle/>
          <a:p>
            <a:pPr>
              <a:defRPr sz="950">
                <a:solidFill>
                  <a:srgbClr val="64748B"/>
                </a:solidFill>
                <a:latin typeface="Calibri"/>
              </a:defRPr>
            </a:pPr>
            <a:r>
              <a:t>Department of Computer Applications | MACE</a:t>
            </a:r>
          </a:p>
        </p:txBody>
      </p:sp>
      <p:sp>
        <p:nvSpPr>
          <p:cNvPr id="8" name="TextBox 7"/>
          <p:cNvSpPr txBox="1"/>
          <p:nvPr/>
        </p:nvSpPr>
        <p:spPr>
          <a:xfrm>
            <a:off x="4114800" y="6419088"/>
            <a:ext cx="4114800" cy="274320"/>
          </a:xfrm>
          <a:prstGeom prst="rect">
            <a:avLst/>
          </a:prstGeom>
          <a:noFill/>
        </p:spPr>
        <p:txBody>
          <a:bodyPr wrap="none" lIns="0" tIns="0" rIns="0" bIns="0">
            <a:spAutoFit/>
          </a:bodyPr>
          <a:lstStyle/>
          <a:p>
            <a:pPr algn="ctr">
              <a:defRPr sz="900">
                <a:solidFill>
                  <a:srgbClr val="64748B"/>
                </a:solidFill>
                <a:latin typeface="Calibri"/>
              </a:defRPr>
            </a:pPr>
            <a:r>
              <a:t>Mar Athanasius College of Engineering, Kothamangalam</a:t>
            </a:r>
          </a:p>
        </p:txBody>
      </p:sp>
      <p:sp>
        <p:nvSpPr>
          <p:cNvPr id="9" name="TextBox 8"/>
          <p:cNvSpPr txBox="1"/>
          <p:nvPr/>
        </p:nvSpPr>
        <p:spPr>
          <a:xfrm>
            <a:off x="8716975" y="6419088"/>
            <a:ext cx="2743200" cy="274320"/>
          </a:xfrm>
          <a:prstGeom prst="rect">
            <a:avLst/>
          </a:prstGeom>
          <a:noFill/>
        </p:spPr>
        <p:txBody>
          <a:bodyPr wrap="none" lIns="0" tIns="0" rIns="0" bIns="0">
            <a:spAutoFit/>
          </a:bodyPr>
          <a:lstStyle/>
          <a:p>
            <a:pPr algn="r">
              <a:defRPr sz="950" b="1">
                <a:solidFill>
                  <a:srgbClr val="1D4ED8"/>
                </a:solidFill>
                <a:latin typeface="Calibri"/>
              </a:defRPr>
            </a:pPr>
            <a:r>
              <a:t>Slide 6 of 15</a:t>
            </a:r>
          </a:p>
        </p:txBody>
      </p:sp>
      <p:pic>
        <p:nvPicPr>
          <p:cNvPr id="10" name="Picture 9" descr="01_missing_values.png"/>
          <p:cNvPicPr>
            <a:picLocks noChangeAspect="1"/>
          </p:cNvPicPr>
          <p:nvPr/>
        </p:nvPicPr>
        <p:blipFill>
          <a:blip r:embed="rId2"/>
          <a:stretch>
            <a:fillRect/>
          </a:stretch>
        </p:blipFill>
        <p:spPr>
          <a:xfrm>
            <a:off x="731520" y="1280160"/>
            <a:ext cx="5852160" cy="3483864"/>
          </a:xfrm>
          <a:prstGeom prst="rect">
            <a:avLst/>
          </a:prstGeom>
        </p:spPr>
      </p:pic>
      <p:sp>
        <p:nvSpPr>
          <p:cNvPr id="11" name="Rounded Rectangle 10"/>
          <p:cNvSpPr/>
          <p:nvPr/>
        </p:nvSpPr>
        <p:spPr>
          <a:xfrm>
            <a:off x="731520" y="4892040"/>
            <a:ext cx="5852160" cy="12344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68680" y="4983480"/>
            <a:ext cx="5577840" cy="1051560"/>
          </a:xfrm>
          <a:prstGeom prst="rect">
            <a:avLst/>
          </a:prstGeom>
          <a:noFill/>
        </p:spPr>
        <p:txBody>
          <a:bodyPr wrap="square">
            <a:spAutoFit/>
          </a:bodyPr>
          <a:lstStyle/>
          <a:p>
            <a:pPr>
              <a:defRPr sz="950" b="1">
                <a:solidFill>
                  <a:srgbClr val="0F172A"/>
                </a:solidFill>
              </a:defRPr>
            </a:pPr>
            <a:r>
              <a:t>Figure: Missing Value Distribution across Dataset Attributes</a:t>
            </a:r>
          </a:p>
          <a:p>
            <a:pPr>
              <a:defRPr sz="850">
                <a:solidFill>
                  <a:srgbClr val="64748B"/>
                </a:solidFill>
              </a:defRPr>
            </a:pPr>
            <a:r>
              <a:t>Systematic missing value analysis verifies that transcription has minimal nulls (0.66%), medical_specialty is 100% complete, and keywords has severe sparsity (21.36%).</a:t>
            </a:r>
          </a:p>
        </p:txBody>
      </p:sp>
      <p:sp>
        <p:nvSpPr>
          <p:cNvPr id="13" name="Rounded Rectangle 12"/>
          <p:cNvSpPr/>
          <p:nvPr/>
        </p:nvSpPr>
        <p:spPr>
          <a:xfrm>
            <a:off x="6858000" y="1280160"/>
            <a:ext cx="4572000" cy="48463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086600" y="1463040"/>
            <a:ext cx="4114800" cy="4480560"/>
          </a:xfrm>
          <a:prstGeom prst="rect">
            <a:avLst/>
          </a:prstGeom>
          <a:noFill/>
        </p:spPr>
        <p:txBody>
          <a:bodyPr wrap="square">
            <a:spAutoFit/>
          </a:bodyPr>
          <a:lstStyle/>
          <a:p>
            <a:pPr>
              <a:defRPr sz="1200" b="1">
                <a:solidFill>
                  <a:srgbClr val="1D4ED8"/>
                </a:solidFill>
              </a:defRPr>
            </a:pPr>
            <a:r>
              <a:t>CRITICAL DATA QUALITY OBSERVATIONS</a:t>
            </a:r>
          </a:p>
          <a:p>
            <a:pPr>
              <a:spcBef>
                <a:spcPts val="800"/>
              </a:spcBef>
              <a:defRPr sz="1000" b="1">
                <a:solidFill>
                  <a:srgbClr val="10B981"/>
                </a:solidFill>
              </a:defRPr>
            </a:pPr>
            <a:r>
              <a:t>✓  Transcription Missing Values (33 Records)</a:t>
            </a:r>
          </a:p>
          <a:p>
            <a:pPr>
              <a:spcBef>
                <a:spcPts val="200"/>
              </a:spcBef>
              <a:defRPr sz="880">
                <a:solidFill>
                  <a:srgbClr val="334155"/>
                </a:solidFill>
              </a:defRPr>
            </a:pPr>
            <a:r>
              <a:t>Exploratory audit revealed exactly 33 records (0.66%) with completely blank/null transcription text. Because clinical narrative is the core model input, these 33 rows were safely pruned.</a:t>
            </a:r>
          </a:p>
          <a:p>
            <a:pPr>
              <a:spcBef>
                <a:spcPts val="800"/>
              </a:spcBef>
              <a:defRPr sz="1000" b="1">
                <a:solidFill>
                  <a:srgbClr val="0D9488"/>
                </a:solidFill>
              </a:defRPr>
            </a:pPr>
            <a:r>
              <a:t>✓  Target Label Completeness (0 Missing)</a:t>
            </a:r>
          </a:p>
          <a:p>
            <a:pPr>
              <a:spcBef>
                <a:spcPts val="200"/>
              </a:spcBef>
              <a:defRPr sz="880">
                <a:solidFill>
                  <a:srgbClr val="334155"/>
                </a:solidFill>
              </a:defRPr>
            </a:pPr>
            <a:r>
              <a:t>The target variable 'medical_specialty' exhibits 100% data integrity with zero null values across all 4,999 records, ensuring dependable supervised classification ground truth.</a:t>
            </a:r>
          </a:p>
          <a:p>
            <a:pPr>
              <a:spcBef>
                <a:spcPts val="800"/>
              </a:spcBef>
              <a:defRPr sz="1000" b="1">
                <a:solidFill>
                  <a:srgbClr val="D97706"/>
                </a:solidFill>
              </a:defRPr>
            </a:pPr>
            <a:r>
              <a:t>✓  Keywords Attribute Sparsity (1,068 Missing)</a:t>
            </a:r>
          </a:p>
          <a:p>
            <a:pPr>
              <a:spcBef>
                <a:spcPts val="200"/>
              </a:spcBef>
              <a:defRPr sz="880">
                <a:solidFill>
                  <a:srgbClr val="334155"/>
                </a:solidFill>
              </a:defRPr>
            </a:pPr>
            <a:r>
              <a:t>The 'keywords' field contains 1,068 missing entries (21.36%). To avoid artificial noise and severe missingness imputation, it was excluded from feature vectorization.</a:t>
            </a:r>
          </a:p>
          <a:p>
            <a:pPr>
              <a:spcBef>
                <a:spcPts val="800"/>
              </a:spcBef>
              <a:defRPr sz="1000" b="1">
                <a:solidFill>
                  <a:srgbClr val="1D4ED8"/>
                </a:solidFill>
              </a:defRPr>
            </a:pPr>
            <a:r>
              <a:t>✓  Final Usable Dataset (4,966 Records)</a:t>
            </a:r>
          </a:p>
          <a:p>
            <a:pPr>
              <a:spcBef>
                <a:spcPts val="200"/>
              </a:spcBef>
              <a:defRPr sz="880">
                <a:solidFill>
                  <a:srgbClr val="334155"/>
                </a:solidFill>
              </a:defRPr>
            </a:pPr>
            <a:r>
              <a:t>Following systematic data cleaning, a pristine subset of 4,966 high-integrity clinical reports remains, providing robust data for model training and cross-validation.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256032"/>
            <a:ext cx="5486400" cy="274320"/>
          </a:xfrm>
          <a:prstGeom prst="rect">
            <a:avLst/>
          </a:prstGeom>
          <a:noFill/>
        </p:spPr>
        <p:txBody>
          <a:bodyPr wrap="none" lIns="0" tIns="0" rIns="0" bIns="0">
            <a:spAutoFit/>
          </a:bodyPr>
          <a:lstStyle/>
          <a:p>
            <a:pPr>
              <a:defRPr sz="950" b="1">
                <a:solidFill>
                  <a:srgbClr val="0D9488"/>
                </a:solidFill>
                <a:latin typeface="Calibri"/>
              </a:defRPr>
            </a:pPr>
            <a:r>
              <a:t>MCA MINI PROJECT  |  DATA EXPLORATION</a:t>
            </a:r>
          </a:p>
        </p:txBody>
      </p:sp>
      <p:sp>
        <p:nvSpPr>
          <p:cNvPr id="3" name="TextBox 2"/>
          <p:cNvSpPr txBox="1"/>
          <p:nvPr/>
        </p:nvSpPr>
        <p:spPr>
          <a:xfrm>
            <a:off x="5029200" y="256032"/>
            <a:ext cx="6430975" cy="274320"/>
          </a:xfrm>
          <a:prstGeom prst="rect">
            <a:avLst/>
          </a:prstGeom>
          <a:noFill/>
        </p:spPr>
        <p:txBody>
          <a:bodyPr wrap="none" lIns="0" tIns="0" rIns="0" bIns="0">
            <a:spAutoFit/>
          </a:bodyPr>
          <a:lstStyle/>
          <a:p>
            <a:pPr algn="r">
              <a:defRPr sz="900">
                <a:solidFill>
                  <a:srgbClr val="64748B"/>
                </a:solidFill>
                <a:latin typeface="Calibri"/>
              </a:defRPr>
            </a:pPr>
            <a:r>
              <a:t>Medical Specialty Classification using TF-IDF and Ensemble Machine Learning</a:t>
            </a:r>
          </a:p>
        </p:txBody>
      </p:sp>
      <p:sp>
        <p:nvSpPr>
          <p:cNvPr id="4" name="TextBox 3"/>
          <p:cNvSpPr txBox="1"/>
          <p:nvPr/>
        </p:nvSpPr>
        <p:spPr>
          <a:xfrm>
            <a:off x="731520" y="502920"/>
            <a:ext cx="10728655" cy="457200"/>
          </a:xfrm>
          <a:prstGeom prst="rect">
            <a:avLst/>
          </a:prstGeom>
          <a:noFill/>
        </p:spPr>
        <p:txBody>
          <a:bodyPr wrap="square" lIns="0" tIns="0" rIns="0" bIns="0">
            <a:spAutoFit/>
          </a:bodyPr>
          <a:lstStyle/>
          <a:p>
            <a:pPr>
              <a:defRPr sz="2100" b="1">
                <a:solidFill>
                  <a:srgbClr val="0F172A"/>
                </a:solidFill>
                <a:latin typeface="Calibri"/>
              </a:defRPr>
            </a:pPr>
            <a:r>
              <a:t>Data Exploration: Medical Specialty Class Distribution</a:t>
            </a:r>
          </a:p>
        </p:txBody>
      </p:sp>
      <p:sp>
        <p:nvSpPr>
          <p:cNvPr id="5" name="Rectangle 4"/>
          <p:cNvSpPr/>
          <p:nvPr/>
        </p:nvSpPr>
        <p:spPr>
          <a:xfrm>
            <a:off x="731520" y="1005840"/>
            <a:ext cx="10728655" cy="13716"/>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31520" y="6355080"/>
            <a:ext cx="10728655" cy="13716"/>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6419088"/>
            <a:ext cx="5486400" cy="274320"/>
          </a:xfrm>
          <a:prstGeom prst="rect">
            <a:avLst/>
          </a:prstGeom>
          <a:noFill/>
        </p:spPr>
        <p:txBody>
          <a:bodyPr wrap="none" lIns="0" tIns="0" rIns="0" bIns="0">
            <a:spAutoFit/>
          </a:bodyPr>
          <a:lstStyle/>
          <a:p>
            <a:pPr>
              <a:defRPr sz="950">
                <a:solidFill>
                  <a:srgbClr val="64748B"/>
                </a:solidFill>
                <a:latin typeface="Calibri"/>
              </a:defRPr>
            </a:pPr>
            <a:r>
              <a:t>Department of Computer Applications | MACE</a:t>
            </a:r>
          </a:p>
        </p:txBody>
      </p:sp>
      <p:sp>
        <p:nvSpPr>
          <p:cNvPr id="8" name="TextBox 7"/>
          <p:cNvSpPr txBox="1"/>
          <p:nvPr/>
        </p:nvSpPr>
        <p:spPr>
          <a:xfrm>
            <a:off x="4114800" y="6419088"/>
            <a:ext cx="4114800" cy="274320"/>
          </a:xfrm>
          <a:prstGeom prst="rect">
            <a:avLst/>
          </a:prstGeom>
          <a:noFill/>
        </p:spPr>
        <p:txBody>
          <a:bodyPr wrap="none" lIns="0" tIns="0" rIns="0" bIns="0">
            <a:spAutoFit/>
          </a:bodyPr>
          <a:lstStyle/>
          <a:p>
            <a:pPr algn="ctr">
              <a:defRPr sz="900">
                <a:solidFill>
                  <a:srgbClr val="64748B"/>
                </a:solidFill>
                <a:latin typeface="Calibri"/>
              </a:defRPr>
            </a:pPr>
            <a:r>
              <a:t>Mar Athanasius College of Engineering, Kothamangalam</a:t>
            </a:r>
          </a:p>
        </p:txBody>
      </p:sp>
      <p:sp>
        <p:nvSpPr>
          <p:cNvPr id="9" name="TextBox 8"/>
          <p:cNvSpPr txBox="1"/>
          <p:nvPr/>
        </p:nvSpPr>
        <p:spPr>
          <a:xfrm>
            <a:off x="8716975" y="6419088"/>
            <a:ext cx="2743200" cy="274320"/>
          </a:xfrm>
          <a:prstGeom prst="rect">
            <a:avLst/>
          </a:prstGeom>
          <a:noFill/>
        </p:spPr>
        <p:txBody>
          <a:bodyPr wrap="none" lIns="0" tIns="0" rIns="0" bIns="0">
            <a:spAutoFit/>
          </a:bodyPr>
          <a:lstStyle/>
          <a:p>
            <a:pPr algn="r">
              <a:defRPr sz="950" b="1">
                <a:solidFill>
                  <a:srgbClr val="1D4ED8"/>
                </a:solidFill>
                <a:latin typeface="Calibri"/>
              </a:defRPr>
            </a:pPr>
            <a:r>
              <a:t>Slide 7 of 15</a:t>
            </a:r>
          </a:p>
        </p:txBody>
      </p:sp>
      <p:pic>
        <p:nvPicPr>
          <p:cNvPr id="10" name="Picture 9" descr="02_top10_medical_specialties.png"/>
          <p:cNvPicPr>
            <a:picLocks noChangeAspect="1"/>
          </p:cNvPicPr>
          <p:nvPr/>
        </p:nvPicPr>
        <p:blipFill>
          <a:blip r:embed="rId2"/>
          <a:stretch>
            <a:fillRect/>
          </a:stretch>
        </p:blipFill>
        <p:spPr>
          <a:xfrm>
            <a:off x="731520" y="1280160"/>
            <a:ext cx="6035040" cy="3502152"/>
          </a:xfrm>
          <a:prstGeom prst="rect">
            <a:avLst/>
          </a:prstGeom>
        </p:spPr>
      </p:pic>
      <p:sp>
        <p:nvSpPr>
          <p:cNvPr id="11" name="Rounded Rectangle 10"/>
          <p:cNvSpPr/>
          <p:nvPr/>
        </p:nvSpPr>
        <p:spPr>
          <a:xfrm>
            <a:off x="731520" y="4892040"/>
            <a:ext cx="6035040" cy="12344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68680" y="4983480"/>
            <a:ext cx="5760720" cy="1051560"/>
          </a:xfrm>
          <a:prstGeom prst="rect">
            <a:avLst/>
          </a:prstGeom>
          <a:noFill/>
        </p:spPr>
        <p:txBody>
          <a:bodyPr wrap="square">
            <a:spAutoFit/>
          </a:bodyPr>
          <a:lstStyle/>
          <a:p>
            <a:pPr>
              <a:defRPr sz="950" b="1">
                <a:solidFill>
                  <a:srgbClr val="0F172A"/>
                </a:solidFill>
              </a:defRPr>
            </a:pPr>
            <a:r>
              <a:t>Figure: Frequency Distribution of Top 10 Medical Specialties</a:t>
            </a:r>
          </a:p>
          <a:p>
            <a:pPr>
              <a:defRPr sz="850">
                <a:solidFill>
                  <a:srgbClr val="64748B"/>
                </a:solidFill>
              </a:defRPr>
            </a:pPr>
            <a:r>
              <a:t>Surgery dominates the dataset with 1,088 reports, followed by Consultative Medicine (516) and Cardiovascular (371), creating a classic long-tailed multi-class distribution.</a:t>
            </a:r>
          </a:p>
        </p:txBody>
      </p:sp>
      <p:sp>
        <p:nvSpPr>
          <p:cNvPr id="13" name="Rounded Rectangle 12"/>
          <p:cNvSpPr/>
          <p:nvPr/>
        </p:nvSpPr>
        <p:spPr>
          <a:xfrm>
            <a:off x="7040880" y="1280160"/>
            <a:ext cx="4389120" cy="48463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269480" y="1463040"/>
            <a:ext cx="3931920" cy="4480560"/>
          </a:xfrm>
          <a:prstGeom prst="rect">
            <a:avLst/>
          </a:prstGeom>
          <a:noFill/>
        </p:spPr>
        <p:txBody>
          <a:bodyPr wrap="square">
            <a:spAutoFit/>
          </a:bodyPr>
          <a:lstStyle/>
          <a:p>
            <a:pPr>
              <a:defRPr sz="1200" b="1">
                <a:solidFill>
                  <a:srgbClr val="1D4ED8"/>
                </a:solidFill>
              </a:defRPr>
            </a:pPr>
            <a:r>
              <a:t>DISTRIBUTION INSIGHTS &amp; STRATEGY</a:t>
            </a:r>
          </a:p>
          <a:p>
            <a:pPr>
              <a:spcBef>
                <a:spcPts val="800"/>
              </a:spcBef>
              <a:defRPr sz="1000" b="1">
                <a:solidFill>
                  <a:srgbClr val="D97706"/>
                </a:solidFill>
              </a:defRPr>
            </a:pPr>
            <a:r>
              <a:t>•  Prominent Class Imbalance</a:t>
            </a:r>
          </a:p>
          <a:p>
            <a:pPr>
              <a:spcBef>
                <a:spcPts val="200"/>
              </a:spcBef>
              <a:defRPr sz="880">
                <a:solidFill>
                  <a:srgbClr val="334155"/>
                </a:solidFill>
              </a:defRPr>
            </a:pPr>
            <a:r>
              <a:t>Surgery represents 1,088 out of 4,966 records (~21.9%), while minority specialties (e.g., Hospice, Allergy) contain fewer than 20 cases each.</a:t>
            </a:r>
          </a:p>
          <a:p>
            <a:pPr>
              <a:spcBef>
                <a:spcPts val="800"/>
              </a:spcBef>
              <a:defRPr sz="1000" b="1">
                <a:solidFill>
                  <a:srgbClr val="0F172A"/>
                </a:solidFill>
              </a:defRPr>
            </a:pPr>
            <a:r>
              <a:t>•  Top 10 High Concentration</a:t>
            </a:r>
          </a:p>
          <a:p>
            <a:pPr>
              <a:spcBef>
                <a:spcPts val="200"/>
              </a:spcBef>
              <a:defRPr sz="880">
                <a:solidFill>
                  <a:srgbClr val="334155"/>
                </a:solidFill>
              </a:defRPr>
            </a:pPr>
            <a:r>
              <a:t>The top 10 medical specialties collectively account for over 70% of all clinical reports, forming a pronounced majority cluster.</a:t>
            </a:r>
          </a:p>
          <a:p>
            <a:pPr>
              <a:spcBef>
                <a:spcPts val="800"/>
              </a:spcBef>
              <a:defRPr sz="1000" b="1">
                <a:solidFill>
                  <a:srgbClr val="0D9488"/>
                </a:solidFill>
              </a:defRPr>
            </a:pPr>
            <a:r>
              <a:t>•  Mandatory Stratified Splitting</a:t>
            </a:r>
          </a:p>
          <a:p>
            <a:pPr>
              <a:spcBef>
                <a:spcPts val="200"/>
              </a:spcBef>
              <a:defRPr sz="880">
                <a:solidFill>
                  <a:srgbClr val="334155"/>
                </a:solidFill>
              </a:defRPr>
            </a:pPr>
            <a:r>
              <a:t>To prevent minority classes from being excluded during train-test partitioning, stratified sampling (80% train / 20% test) is strictly required.</a:t>
            </a:r>
          </a:p>
          <a:p>
            <a:pPr>
              <a:spcBef>
                <a:spcPts val="800"/>
              </a:spcBef>
              <a:defRPr sz="1000" b="1">
                <a:solidFill>
                  <a:srgbClr val="7C3AED"/>
                </a:solidFill>
              </a:defRPr>
            </a:pPr>
            <a:r>
              <a:t>•  Multi-Metric Evaluation Design</a:t>
            </a:r>
          </a:p>
          <a:p>
            <a:pPr>
              <a:spcBef>
                <a:spcPts val="200"/>
              </a:spcBef>
              <a:defRPr sz="880">
                <a:solidFill>
                  <a:srgbClr val="334155"/>
                </a:solidFill>
              </a:defRPr>
            </a:pPr>
            <a:r>
              <a:t>Accuracy alone is misleading on imbalanced data. Evaluation must incorporate Macro-Precision, Macro-Recall, and Weighted F1-Score.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256032"/>
            <a:ext cx="5486400" cy="274320"/>
          </a:xfrm>
          <a:prstGeom prst="rect">
            <a:avLst/>
          </a:prstGeom>
          <a:noFill/>
        </p:spPr>
        <p:txBody>
          <a:bodyPr wrap="none" lIns="0" tIns="0" rIns="0" bIns="0">
            <a:spAutoFit/>
          </a:bodyPr>
          <a:lstStyle/>
          <a:p>
            <a:pPr>
              <a:defRPr sz="950" b="1">
                <a:solidFill>
                  <a:srgbClr val="0D9488"/>
                </a:solidFill>
                <a:latin typeface="Calibri"/>
              </a:defRPr>
            </a:pPr>
            <a:r>
              <a:t>MCA MINI PROJECT  |  DATA EXPLORATION</a:t>
            </a:r>
          </a:p>
        </p:txBody>
      </p:sp>
      <p:sp>
        <p:nvSpPr>
          <p:cNvPr id="3" name="TextBox 2"/>
          <p:cNvSpPr txBox="1"/>
          <p:nvPr/>
        </p:nvSpPr>
        <p:spPr>
          <a:xfrm>
            <a:off x="5029200" y="256032"/>
            <a:ext cx="6430975" cy="274320"/>
          </a:xfrm>
          <a:prstGeom prst="rect">
            <a:avLst/>
          </a:prstGeom>
          <a:noFill/>
        </p:spPr>
        <p:txBody>
          <a:bodyPr wrap="none" lIns="0" tIns="0" rIns="0" bIns="0">
            <a:spAutoFit/>
          </a:bodyPr>
          <a:lstStyle/>
          <a:p>
            <a:pPr algn="r">
              <a:defRPr sz="900">
                <a:solidFill>
                  <a:srgbClr val="64748B"/>
                </a:solidFill>
                <a:latin typeface="Calibri"/>
              </a:defRPr>
            </a:pPr>
            <a:r>
              <a:t>Medical Specialty Classification using TF-IDF and Ensemble Machine Learning</a:t>
            </a:r>
          </a:p>
        </p:txBody>
      </p:sp>
      <p:sp>
        <p:nvSpPr>
          <p:cNvPr id="4" name="TextBox 3"/>
          <p:cNvSpPr txBox="1"/>
          <p:nvPr/>
        </p:nvSpPr>
        <p:spPr>
          <a:xfrm>
            <a:off x="731520" y="502920"/>
            <a:ext cx="10728655" cy="457200"/>
          </a:xfrm>
          <a:prstGeom prst="rect">
            <a:avLst/>
          </a:prstGeom>
          <a:noFill/>
        </p:spPr>
        <p:txBody>
          <a:bodyPr wrap="square" lIns="0" tIns="0" rIns="0" bIns="0">
            <a:spAutoFit/>
          </a:bodyPr>
          <a:lstStyle/>
          <a:p>
            <a:pPr>
              <a:defRPr sz="2100" b="1">
                <a:solidFill>
                  <a:srgbClr val="0F172A"/>
                </a:solidFill>
                <a:latin typeface="Calibri"/>
              </a:defRPr>
            </a:pPr>
            <a:r>
              <a:t>Data Exploration: Clinical Transcription Text &amp; Lexical Analysis</a:t>
            </a:r>
          </a:p>
        </p:txBody>
      </p:sp>
      <p:sp>
        <p:nvSpPr>
          <p:cNvPr id="5" name="Rectangle 4"/>
          <p:cNvSpPr/>
          <p:nvPr/>
        </p:nvSpPr>
        <p:spPr>
          <a:xfrm>
            <a:off x="731520" y="1005840"/>
            <a:ext cx="10728655" cy="13716"/>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31520" y="6355080"/>
            <a:ext cx="10728655" cy="13716"/>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6419088"/>
            <a:ext cx="5486400" cy="274320"/>
          </a:xfrm>
          <a:prstGeom prst="rect">
            <a:avLst/>
          </a:prstGeom>
          <a:noFill/>
        </p:spPr>
        <p:txBody>
          <a:bodyPr wrap="none" lIns="0" tIns="0" rIns="0" bIns="0">
            <a:spAutoFit/>
          </a:bodyPr>
          <a:lstStyle/>
          <a:p>
            <a:pPr>
              <a:defRPr sz="950">
                <a:solidFill>
                  <a:srgbClr val="64748B"/>
                </a:solidFill>
                <a:latin typeface="Calibri"/>
              </a:defRPr>
            </a:pPr>
            <a:r>
              <a:t>Department of Computer Applications | MACE</a:t>
            </a:r>
          </a:p>
        </p:txBody>
      </p:sp>
      <p:sp>
        <p:nvSpPr>
          <p:cNvPr id="8" name="TextBox 7"/>
          <p:cNvSpPr txBox="1"/>
          <p:nvPr/>
        </p:nvSpPr>
        <p:spPr>
          <a:xfrm>
            <a:off x="4114800" y="6419088"/>
            <a:ext cx="4114800" cy="274320"/>
          </a:xfrm>
          <a:prstGeom prst="rect">
            <a:avLst/>
          </a:prstGeom>
          <a:noFill/>
        </p:spPr>
        <p:txBody>
          <a:bodyPr wrap="none" lIns="0" tIns="0" rIns="0" bIns="0">
            <a:spAutoFit/>
          </a:bodyPr>
          <a:lstStyle/>
          <a:p>
            <a:pPr algn="ctr">
              <a:defRPr sz="900">
                <a:solidFill>
                  <a:srgbClr val="64748B"/>
                </a:solidFill>
                <a:latin typeface="Calibri"/>
              </a:defRPr>
            </a:pPr>
            <a:r>
              <a:t>Mar Athanasius College of Engineering, Kothamangalam</a:t>
            </a:r>
          </a:p>
        </p:txBody>
      </p:sp>
      <p:sp>
        <p:nvSpPr>
          <p:cNvPr id="9" name="TextBox 8"/>
          <p:cNvSpPr txBox="1"/>
          <p:nvPr/>
        </p:nvSpPr>
        <p:spPr>
          <a:xfrm>
            <a:off x="8716975" y="6419088"/>
            <a:ext cx="2743200" cy="274320"/>
          </a:xfrm>
          <a:prstGeom prst="rect">
            <a:avLst/>
          </a:prstGeom>
          <a:noFill/>
        </p:spPr>
        <p:txBody>
          <a:bodyPr wrap="none" lIns="0" tIns="0" rIns="0" bIns="0">
            <a:spAutoFit/>
          </a:bodyPr>
          <a:lstStyle/>
          <a:p>
            <a:pPr algn="r">
              <a:defRPr sz="950" b="1">
                <a:solidFill>
                  <a:srgbClr val="1D4ED8"/>
                </a:solidFill>
                <a:latin typeface="Calibri"/>
              </a:defRPr>
            </a:pPr>
            <a:r>
              <a:t>Slide 8 of 15</a:t>
            </a:r>
          </a:p>
        </p:txBody>
      </p:sp>
      <p:pic>
        <p:nvPicPr>
          <p:cNvPr id="10" name="Picture 9" descr="04_transcription_length_distribution.png"/>
          <p:cNvPicPr>
            <a:picLocks noChangeAspect="1"/>
          </p:cNvPicPr>
          <p:nvPr/>
        </p:nvPicPr>
        <p:blipFill>
          <a:blip r:embed="rId2"/>
          <a:stretch>
            <a:fillRect/>
          </a:stretch>
        </p:blipFill>
        <p:spPr>
          <a:xfrm>
            <a:off x="731520" y="1188720"/>
            <a:ext cx="5120640" cy="2542032"/>
          </a:xfrm>
          <a:prstGeom prst="rect">
            <a:avLst/>
          </a:prstGeom>
        </p:spPr>
      </p:pic>
      <p:pic>
        <p:nvPicPr>
          <p:cNvPr id="11" name="Picture 10" descr="06_medical_transcription_wordcloud.png"/>
          <p:cNvPicPr>
            <a:picLocks noChangeAspect="1"/>
          </p:cNvPicPr>
          <p:nvPr/>
        </p:nvPicPr>
        <p:blipFill>
          <a:blip r:embed="rId3"/>
          <a:stretch>
            <a:fillRect/>
          </a:stretch>
        </p:blipFill>
        <p:spPr>
          <a:xfrm>
            <a:off x="6217920" y="1188720"/>
            <a:ext cx="5212080" cy="3063240"/>
          </a:xfrm>
          <a:prstGeom prst="rect">
            <a:avLst/>
          </a:prstGeom>
        </p:spPr>
      </p:pic>
      <p:sp>
        <p:nvSpPr>
          <p:cNvPr id="12" name="Rounded Rectangle 11"/>
          <p:cNvSpPr/>
          <p:nvPr/>
        </p:nvSpPr>
        <p:spPr>
          <a:xfrm>
            <a:off x="731520" y="3840480"/>
            <a:ext cx="5120640" cy="23317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68680" y="3931920"/>
            <a:ext cx="4846320" cy="2148840"/>
          </a:xfrm>
          <a:prstGeom prst="rect">
            <a:avLst/>
          </a:prstGeom>
          <a:noFill/>
        </p:spPr>
        <p:txBody>
          <a:bodyPr wrap="square">
            <a:spAutoFit/>
          </a:bodyPr>
          <a:lstStyle/>
          <a:p>
            <a:pPr>
              <a:defRPr sz="1050" b="1">
                <a:solidFill>
                  <a:srgbClr val="1D4ED8"/>
                </a:solidFill>
              </a:defRPr>
            </a:pPr>
            <a:r>
              <a:t>KEY FINDINGS: TEXT LENGTH DISTRIBUTION</a:t>
            </a:r>
          </a:p>
          <a:p>
            <a:pPr>
              <a:spcBef>
                <a:spcPts val="300"/>
              </a:spcBef>
              <a:defRPr sz="880">
                <a:solidFill>
                  <a:srgbClr val="334155"/>
                </a:solidFill>
              </a:defRPr>
            </a:pPr>
            <a:r>
              <a:t>•  Right-Skewed Distribution: Most clinical notes span 200 to 700 words, reflecting concise clinical summaries.</a:t>
            </a:r>
          </a:p>
          <a:p>
            <a:pPr>
              <a:spcBef>
                <a:spcPts val="300"/>
              </a:spcBef>
              <a:defRPr sz="880">
                <a:solidFill>
                  <a:srgbClr val="334155"/>
                </a:solidFill>
              </a:defRPr>
            </a:pPr>
            <a:r>
              <a:t>•  Detailed Operative Reports: A long tail extends beyond 1,500+ words for complex surgical procedures and multi-system consults.</a:t>
            </a:r>
          </a:p>
          <a:p>
            <a:pPr>
              <a:spcBef>
                <a:spcPts val="300"/>
              </a:spcBef>
              <a:defRPr sz="880">
                <a:solidFill>
                  <a:srgbClr val="334155"/>
                </a:solidFill>
              </a:defRPr>
            </a:pPr>
            <a:r>
              <a:t>•  Impact on Feature Representation: Variation in document length supports the use of normalized TF-IDF representations to reduce the influence of document magnitude on feature comparison.</a:t>
            </a:r>
          </a:p>
        </p:txBody>
      </p:sp>
      <p:sp>
        <p:nvSpPr>
          <p:cNvPr id="14" name="Rounded Rectangle 13"/>
          <p:cNvSpPr/>
          <p:nvPr/>
        </p:nvSpPr>
        <p:spPr>
          <a:xfrm>
            <a:off x="6217920" y="4389120"/>
            <a:ext cx="5212080" cy="17830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55080" y="4480560"/>
            <a:ext cx="4937760" cy="1600200"/>
          </a:xfrm>
          <a:prstGeom prst="rect">
            <a:avLst/>
          </a:prstGeom>
          <a:noFill/>
        </p:spPr>
        <p:txBody>
          <a:bodyPr wrap="square">
            <a:spAutoFit/>
          </a:bodyPr>
          <a:lstStyle/>
          <a:p>
            <a:pPr>
              <a:defRPr sz="1050" b="1">
                <a:solidFill>
                  <a:srgbClr val="0D9488"/>
                </a:solidFill>
              </a:defRPr>
            </a:pPr>
            <a:r>
              <a:t>KEY FINDINGS: CLINICAL LEXICAL PATTERNS</a:t>
            </a:r>
          </a:p>
          <a:p>
            <a:pPr>
              <a:spcBef>
                <a:spcPts val="300"/>
              </a:spcBef>
              <a:defRPr sz="880">
                <a:solidFill>
                  <a:srgbClr val="334155"/>
                </a:solidFill>
              </a:defRPr>
            </a:pPr>
            <a:r>
              <a:t>•  Dominant Clinical Jargon: Pervasive occurrences of clinical terms like 'patient', 'procedure', 'history', 'diagnosis', 'left', 'right'.</a:t>
            </a:r>
          </a:p>
          <a:p>
            <a:pPr>
              <a:spcBef>
                <a:spcPts val="300"/>
              </a:spcBef>
              <a:defRPr sz="880">
                <a:solidFill>
                  <a:srgbClr val="334155"/>
                </a:solidFill>
              </a:defRPr>
            </a:pPr>
            <a:r>
              <a:t>•  Stop-word Handling: Common non-informative words are removed during preprocessing while preserving clinically meaningful terminology.</a:t>
            </a:r>
          </a:p>
          <a:p>
            <a:pPr>
              <a:spcBef>
                <a:spcPts val="300"/>
              </a:spcBef>
              <a:defRPr sz="880">
                <a:solidFill>
                  <a:srgbClr val="334155"/>
                </a:solidFill>
              </a:defRPr>
            </a:pPr>
            <a:r>
              <a:t>•  Sublinear Term Frequency: Sublinear scaling (1 + log(TF)) dampens repetitive non-informative terms to highlight discriminative features.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256032"/>
            <a:ext cx="5486400" cy="274320"/>
          </a:xfrm>
          <a:prstGeom prst="rect">
            <a:avLst/>
          </a:prstGeom>
          <a:noFill/>
        </p:spPr>
        <p:txBody>
          <a:bodyPr wrap="none" lIns="0" tIns="0" rIns="0" bIns="0">
            <a:spAutoFit/>
          </a:bodyPr>
          <a:lstStyle/>
          <a:p>
            <a:pPr>
              <a:defRPr sz="950" b="1">
                <a:solidFill>
                  <a:srgbClr val="0D9488"/>
                </a:solidFill>
                <a:latin typeface="Calibri"/>
              </a:defRPr>
            </a:pPr>
            <a:r>
              <a:t>MCA MINI PROJECT  |  DATA EXPLORATION</a:t>
            </a:r>
          </a:p>
        </p:txBody>
      </p:sp>
      <p:sp>
        <p:nvSpPr>
          <p:cNvPr id="3" name="TextBox 2"/>
          <p:cNvSpPr txBox="1"/>
          <p:nvPr/>
        </p:nvSpPr>
        <p:spPr>
          <a:xfrm>
            <a:off x="5029200" y="256032"/>
            <a:ext cx="6430975" cy="274320"/>
          </a:xfrm>
          <a:prstGeom prst="rect">
            <a:avLst/>
          </a:prstGeom>
          <a:noFill/>
        </p:spPr>
        <p:txBody>
          <a:bodyPr wrap="none" lIns="0" tIns="0" rIns="0" bIns="0">
            <a:spAutoFit/>
          </a:bodyPr>
          <a:lstStyle/>
          <a:p>
            <a:pPr algn="r">
              <a:defRPr sz="900">
                <a:solidFill>
                  <a:srgbClr val="64748B"/>
                </a:solidFill>
                <a:latin typeface="Calibri"/>
              </a:defRPr>
            </a:pPr>
            <a:r>
              <a:t>Medical Specialty Classification using TF-IDF and Ensemble Machine Learning</a:t>
            </a:r>
          </a:p>
        </p:txBody>
      </p:sp>
      <p:sp>
        <p:nvSpPr>
          <p:cNvPr id="4" name="TextBox 3"/>
          <p:cNvSpPr txBox="1"/>
          <p:nvPr/>
        </p:nvSpPr>
        <p:spPr>
          <a:xfrm>
            <a:off x="731520" y="502920"/>
            <a:ext cx="10728655" cy="457200"/>
          </a:xfrm>
          <a:prstGeom prst="rect">
            <a:avLst/>
          </a:prstGeom>
          <a:noFill/>
        </p:spPr>
        <p:txBody>
          <a:bodyPr wrap="square" lIns="0" tIns="0" rIns="0" bIns="0">
            <a:spAutoFit/>
          </a:bodyPr>
          <a:lstStyle/>
          <a:p>
            <a:pPr>
              <a:defRPr sz="2100" b="1">
                <a:solidFill>
                  <a:srgbClr val="0F172A"/>
                </a:solidFill>
                <a:latin typeface="Calibri"/>
              </a:defRPr>
            </a:pPr>
            <a:r>
              <a:t>Transcription Length Across Medical Specialties &amp; EDA Summary</a:t>
            </a:r>
          </a:p>
        </p:txBody>
      </p:sp>
      <p:sp>
        <p:nvSpPr>
          <p:cNvPr id="5" name="Rectangle 4"/>
          <p:cNvSpPr/>
          <p:nvPr/>
        </p:nvSpPr>
        <p:spPr>
          <a:xfrm>
            <a:off x="731520" y="1005840"/>
            <a:ext cx="10728655" cy="13716"/>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31520" y="6355080"/>
            <a:ext cx="10728655" cy="13716"/>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6419088"/>
            <a:ext cx="5486400" cy="274320"/>
          </a:xfrm>
          <a:prstGeom prst="rect">
            <a:avLst/>
          </a:prstGeom>
          <a:noFill/>
        </p:spPr>
        <p:txBody>
          <a:bodyPr wrap="none" lIns="0" tIns="0" rIns="0" bIns="0">
            <a:spAutoFit/>
          </a:bodyPr>
          <a:lstStyle/>
          <a:p>
            <a:pPr>
              <a:defRPr sz="950">
                <a:solidFill>
                  <a:srgbClr val="64748B"/>
                </a:solidFill>
                <a:latin typeface="Calibri"/>
              </a:defRPr>
            </a:pPr>
            <a:r>
              <a:t>Department of Computer Applications | MACE</a:t>
            </a:r>
          </a:p>
        </p:txBody>
      </p:sp>
      <p:sp>
        <p:nvSpPr>
          <p:cNvPr id="8" name="TextBox 7"/>
          <p:cNvSpPr txBox="1"/>
          <p:nvPr/>
        </p:nvSpPr>
        <p:spPr>
          <a:xfrm>
            <a:off x="4114800" y="6419088"/>
            <a:ext cx="4114800" cy="274320"/>
          </a:xfrm>
          <a:prstGeom prst="rect">
            <a:avLst/>
          </a:prstGeom>
          <a:noFill/>
        </p:spPr>
        <p:txBody>
          <a:bodyPr wrap="none" lIns="0" tIns="0" rIns="0" bIns="0">
            <a:spAutoFit/>
          </a:bodyPr>
          <a:lstStyle/>
          <a:p>
            <a:pPr algn="ctr">
              <a:defRPr sz="900">
                <a:solidFill>
                  <a:srgbClr val="64748B"/>
                </a:solidFill>
                <a:latin typeface="Calibri"/>
              </a:defRPr>
            </a:pPr>
            <a:r>
              <a:t>Mar Athanasius College of Engineering, Kothamangalam</a:t>
            </a:r>
          </a:p>
        </p:txBody>
      </p:sp>
      <p:sp>
        <p:nvSpPr>
          <p:cNvPr id="9" name="TextBox 8"/>
          <p:cNvSpPr txBox="1"/>
          <p:nvPr/>
        </p:nvSpPr>
        <p:spPr>
          <a:xfrm>
            <a:off x="8716975" y="6419088"/>
            <a:ext cx="2743200" cy="274320"/>
          </a:xfrm>
          <a:prstGeom prst="rect">
            <a:avLst/>
          </a:prstGeom>
          <a:noFill/>
        </p:spPr>
        <p:txBody>
          <a:bodyPr wrap="none" lIns="0" tIns="0" rIns="0" bIns="0">
            <a:spAutoFit/>
          </a:bodyPr>
          <a:lstStyle/>
          <a:p>
            <a:pPr algn="r">
              <a:defRPr sz="950" b="1">
                <a:solidFill>
                  <a:srgbClr val="1D4ED8"/>
                </a:solidFill>
                <a:latin typeface="Calibri"/>
              </a:defRPr>
            </a:pPr>
            <a:r>
              <a:t>Slide 9 of 15</a:t>
            </a:r>
          </a:p>
        </p:txBody>
      </p:sp>
      <p:pic>
        <p:nvPicPr>
          <p:cNvPr id="10" name="Picture 9" descr="05_transcription_length_by_specialty.png"/>
          <p:cNvPicPr>
            <a:picLocks noChangeAspect="1"/>
          </p:cNvPicPr>
          <p:nvPr/>
        </p:nvPicPr>
        <p:blipFill>
          <a:blip r:embed="rId2"/>
          <a:stretch>
            <a:fillRect/>
          </a:stretch>
        </p:blipFill>
        <p:spPr>
          <a:xfrm>
            <a:off x="731520" y="1280160"/>
            <a:ext cx="6035040" cy="3456432"/>
          </a:xfrm>
          <a:prstGeom prst="rect">
            <a:avLst/>
          </a:prstGeom>
        </p:spPr>
      </p:pic>
      <p:sp>
        <p:nvSpPr>
          <p:cNvPr id="11" name="Rounded Rectangle 10"/>
          <p:cNvSpPr/>
          <p:nvPr/>
        </p:nvSpPr>
        <p:spPr>
          <a:xfrm>
            <a:off x="731520" y="4846320"/>
            <a:ext cx="6035040" cy="12801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68680" y="4937760"/>
            <a:ext cx="5760720" cy="1097280"/>
          </a:xfrm>
          <a:prstGeom prst="rect">
            <a:avLst/>
          </a:prstGeom>
          <a:noFill/>
        </p:spPr>
        <p:txBody>
          <a:bodyPr wrap="square">
            <a:spAutoFit/>
          </a:bodyPr>
          <a:lstStyle/>
          <a:p>
            <a:pPr>
              <a:defRPr sz="950" b="1">
                <a:solidFill>
                  <a:srgbClr val="0F172A"/>
                </a:solidFill>
              </a:defRPr>
            </a:pPr>
            <a:r>
              <a:t>Figure: Transcription Length Boxplots Across Top 10 Specialties</a:t>
            </a:r>
          </a:p>
          <a:p>
            <a:pPr>
              <a:defRPr sz="850">
                <a:solidFill>
                  <a:srgbClr val="64748B"/>
                </a:solidFill>
              </a:defRPr>
            </a:pPr>
            <a:r>
              <a:t>Substantial variance exists between specialties: surgical notes feature high median lengths and widespread upper outliers, whereas consultative and diagnostic notes are comparatively concise.</a:t>
            </a:r>
          </a:p>
        </p:txBody>
      </p:sp>
      <p:sp>
        <p:nvSpPr>
          <p:cNvPr id="13" name="Rounded Rectangle 12"/>
          <p:cNvSpPr/>
          <p:nvPr/>
        </p:nvSpPr>
        <p:spPr>
          <a:xfrm>
            <a:off x="7040880" y="1280160"/>
            <a:ext cx="4389120" cy="48463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269480" y="1463040"/>
            <a:ext cx="3931920" cy="4480560"/>
          </a:xfrm>
          <a:prstGeom prst="rect">
            <a:avLst/>
          </a:prstGeom>
          <a:noFill/>
        </p:spPr>
        <p:txBody>
          <a:bodyPr wrap="square">
            <a:spAutoFit/>
          </a:bodyPr>
          <a:lstStyle/>
          <a:p>
            <a:pPr>
              <a:defRPr sz="1150" b="1">
                <a:solidFill>
                  <a:srgbClr val="1D4ED8"/>
                </a:solidFill>
              </a:defRPr>
            </a:pPr>
            <a:r>
              <a:t>SPECIALTY-WISE VARIATION</a:t>
            </a:r>
          </a:p>
          <a:p>
            <a:pPr>
              <a:spcBef>
                <a:spcPts val="400"/>
              </a:spcBef>
              <a:defRPr sz="950" b="1">
                <a:solidFill>
                  <a:srgbClr val="0F172A"/>
                </a:solidFill>
              </a:defRPr>
            </a:pPr>
            <a:r>
              <a:t>•  Procedural vs Diagnostic Documentation: </a:t>
            </a:r>
            <a:r>
              <a:rPr b="0" sz="880">
                <a:solidFill>
                  <a:srgbClr val="334155"/>
                </a:solidFill>
              </a:rPr>
              <a:t>Specialties like Surgery and Orthopedic require comprehensive documentation of intra-operative procedures, yielding longer texts with heavy technical outliers.</a:t>
            </a:r>
          </a:p>
          <a:p>
            <a:pPr>
              <a:spcBef>
                <a:spcPts val="400"/>
              </a:spcBef>
              <a:defRPr sz="950" b="1">
                <a:solidFill>
                  <a:srgbClr val="0F172A"/>
                </a:solidFill>
              </a:defRPr>
            </a:pPr>
            <a:r>
              <a:t>•  Concise Clinical Encounters: </a:t>
            </a:r>
            <a:r>
              <a:rPr b="0" sz="880">
                <a:solidFill>
                  <a:srgbClr val="334155"/>
                </a:solidFill>
              </a:rPr>
              <a:t>Fields like Dermatology and Radiology center around concise focal findings, presenting substantially tighter word count distributions.</a:t>
            </a:r>
          </a:p>
          <a:p>
            <a:pPr>
              <a:spcBef>
                <a:spcPts val="1200"/>
              </a:spcBef>
              <a:defRPr sz="1100" b="1">
                <a:solidFill>
                  <a:srgbClr val="0D9488"/>
                </a:solidFill>
              </a:defRPr>
            </a:pPr>
            <a:r>
              <a:t>EDA PHASE CONCLUSION</a:t>
            </a:r>
          </a:p>
          <a:p>
            <a:pPr>
              <a:spcBef>
                <a:spcPts val="300"/>
              </a:spcBef>
              <a:defRPr sz="880">
                <a:solidFill>
                  <a:srgbClr val="334155"/>
                </a:solidFill>
              </a:defRPr>
            </a:pPr>
            <a:r>
              <a:t>The comprehensive exploratory analysis confirms that the clinical corpus exhibits diverse document lengths, lexical sparsity, missing values, and severe class imbalance.</a:t>
            </a:r>
            <a:br/>
            <a:br/>
            <a:r>
              <a:t>These empirical findings establish the foundation for our 5-step NLP preprocessing, sublinear TF-IDF vectorization, stratified partitioning, and soft voting ensemble modeling.</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256032"/>
            <a:ext cx="5486400" cy="274320"/>
          </a:xfrm>
          <a:prstGeom prst="rect">
            <a:avLst/>
          </a:prstGeom>
          <a:noFill/>
        </p:spPr>
        <p:txBody>
          <a:bodyPr wrap="none" lIns="0" tIns="0" rIns="0" bIns="0">
            <a:spAutoFit/>
          </a:bodyPr>
          <a:lstStyle/>
          <a:p>
            <a:pPr>
              <a:defRPr sz="950" b="1">
                <a:solidFill>
                  <a:srgbClr val="0D9488"/>
                </a:solidFill>
                <a:latin typeface="Calibri"/>
              </a:defRPr>
            </a:pPr>
            <a:r>
              <a:t>MCA MINI PROJECT  |  PROPOSED ALGORITHMS</a:t>
            </a:r>
          </a:p>
        </p:txBody>
      </p:sp>
      <p:sp>
        <p:nvSpPr>
          <p:cNvPr id="3" name="TextBox 2"/>
          <p:cNvSpPr txBox="1"/>
          <p:nvPr/>
        </p:nvSpPr>
        <p:spPr>
          <a:xfrm>
            <a:off x="5029200" y="256032"/>
            <a:ext cx="6430975" cy="274320"/>
          </a:xfrm>
          <a:prstGeom prst="rect">
            <a:avLst/>
          </a:prstGeom>
          <a:noFill/>
        </p:spPr>
        <p:txBody>
          <a:bodyPr wrap="none" lIns="0" tIns="0" rIns="0" bIns="0">
            <a:spAutoFit/>
          </a:bodyPr>
          <a:lstStyle/>
          <a:p>
            <a:pPr algn="r">
              <a:defRPr sz="900">
                <a:solidFill>
                  <a:srgbClr val="64748B"/>
                </a:solidFill>
                <a:latin typeface="Calibri"/>
              </a:defRPr>
            </a:pPr>
            <a:r>
              <a:t>Medical Specialty Classification using TF-IDF and Ensemble Machine Learning</a:t>
            </a:r>
          </a:p>
        </p:txBody>
      </p:sp>
      <p:sp>
        <p:nvSpPr>
          <p:cNvPr id="4" name="TextBox 3"/>
          <p:cNvSpPr txBox="1"/>
          <p:nvPr/>
        </p:nvSpPr>
        <p:spPr>
          <a:xfrm>
            <a:off x="731520" y="502920"/>
            <a:ext cx="10728655" cy="457200"/>
          </a:xfrm>
          <a:prstGeom prst="rect">
            <a:avLst/>
          </a:prstGeom>
          <a:noFill/>
        </p:spPr>
        <p:txBody>
          <a:bodyPr wrap="square" lIns="0" tIns="0" rIns="0" bIns="0">
            <a:spAutoFit/>
          </a:bodyPr>
          <a:lstStyle/>
          <a:p>
            <a:pPr>
              <a:defRPr sz="2100" b="1">
                <a:solidFill>
                  <a:srgbClr val="0F172A"/>
                </a:solidFill>
                <a:latin typeface="Calibri"/>
              </a:defRPr>
            </a:pPr>
            <a:r>
              <a:t>Details of Proposed Machine Learning Algorithms</a:t>
            </a:r>
          </a:p>
        </p:txBody>
      </p:sp>
      <p:sp>
        <p:nvSpPr>
          <p:cNvPr id="5" name="Rectangle 4"/>
          <p:cNvSpPr/>
          <p:nvPr/>
        </p:nvSpPr>
        <p:spPr>
          <a:xfrm>
            <a:off x="731520" y="1005840"/>
            <a:ext cx="10728655" cy="13716"/>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31520" y="6355080"/>
            <a:ext cx="10728655" cy="13716"/>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6419088"/>
            <a:ext cx="5486400" cy="274320"/>
          </a:xfrm>
          <a:prstGeom prst="rect">
            <a:avLst/>
          </a:prstGeom>
          <a:noFill/>
        </p:spPr>
        <p:txBody>
          <a:bodyPr wrap="none" lIns="0" tIns="0" rIns="0" bIns="0">
            <a:spAutoFit/>
          </a:bodyPr>
          <a:lstStyle/>
          <a:p>
            <a:pPr>
              <a:defRPr sz="950">
                <a:solidFill>
                  <a:srgbClr val="64748B"/>
                </a:solidFill>
                <a:latin typeface="Calibri"/>
              </a:defRPr>
            </a:pPr>
            <a:r>
              <a:t>Department of Computer Applications | MACE</a:t>
            </a:r>
          </a:p>
        </p:txBody>
      </p:sp>
      <p:sp>
        <p:nvSpPr>
          <p:cNvPr id="8" name="TextBox 7"/>
          <p:cNvSpPr txBox="1"/>
          <p:nvPr/>
        </p:nvSpPr>
        <p:spPr>
          <a:xfrm>
            <a:off x="4114800" y="6419088"/>
            <a:ext cx="4114800" cy="274320"/>
          </a:xfrm>
          <a:prstGeom prst="rect">
            <a:avLst/>
          </a:prstGeom>
          <a:noFill/>
        </p:spPr>
        <p:txBody>
          <a:bodyPr wrap="none" lIns="0" tIns="0" rIns="0" bIns="0">
            <a:spAutoFit/>
          </a:bodyPr>
          <a:lstStyle/>
          <a:p>
            <a:pPr algn="ctr">
              <a:defRPr sz="900">
                <a:solidFill>
                  <a:srgbClr val="64748B"/>
                </a:solidFill>
                <a:latin typeface="Calibri"/>
              </a:defRPr>
            </a:pPr>
            <a:r>
              <a:t>Mar Athanasius College of Engineering, Kothamangalam</a:t>
            </a:r>
          </a:p>
        </p:txBody>
      </p:sp>
      <p:sp>
        <p:nvSpPr>
          <p:cNvPr id="9" name="TextBox 8"/>
          <p:cNvSpPr txBox="1"/>
          <p:nvPr/>
        </p:nvSpPr>
        <p:spPr>
          <a:xfrm>
            <a:off x="8716975" y="6419088"/>
            <a:ext cx="2743200" cy="274320"/>
          </a:xfrm>
          <a:prstGeom prst="rect">
            <a:avLst/>
          </a:prstGeom>
          <a:noFill/>
        </p:spPr>
        <p:txBody>
          <a:bodyPr wrap="none" lIns="0" tIns="0" rIns="0" bIns="0">
            <a:spAutoFit/>
          </a:bodyPr>
          <a:lstStyle/>
          <a:p>
            <a:pPr algn="r">
              <a:defRPr sz="950" b="1">
                <a:solidFill>
                  <a:srgbClr val="1D4ED8"/>
                </a:solidFill>
                <a:latin typeface="Calibri"/>
              </a:defRPr>
            </a:pPr>
            <a:r>
              <a:t>Slide 10 of 15</a:t>
            </a:r>
          </a:p>
        </p:txBody>
      </p:sp>
      <p:sp>
        <p:nvSpPr>
          <p:cNvPr id="10" name="Rounded Rectangle 9"/>
          <p:cNvSpPr/>
          <p:nvPr/>
        </p:nvSpPr>
        <p:spPr>
          <a:xfrm>
            <a:off x="731520" y="1143000"/>
            <a:ext cx="10728655" cy="731520"/>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14400" y="1188720"/>
            <a:ext cx="10362895" cy="640080"/>
          </a:xfrm>
          <a:prstGeom prst="rect">
            <a:avLst/>
          </a:prstGeom>
          <a:noFill/>
        </p:spPr>
        <p:txBody>
          <a:bodyPr wrap="square">
            <a:spAutoFit/>
          </a:bodyPr>
          <a:lstStyle/>
          <a:p>
            <a:pPr>
              <a:defRPr sz="1050" b="1">
                <a:solidFill>
                  <a:srgbClr val="1D4ED8"/>
                </a:solidFill>
              </a:defRPr>
            </a:pPr>
            <a:r>
              <a:t>FOUNDATIONAL DISTINCTION: FEATURE EXTRACTION vs. CLASSIFICATION ESTIMATORS</a:t>
            </a:r>
          </a:p>
          <a:p>
            <a:pPr>
              <a:defRPr sz="900">
                <a:solidFill>
                  <a:srgbClr val="334155"/>
                </a:solidFill>
              </a:defRPr>
            </a:pPr>
            <a:r>
              <a:t>TF-IDF (Term Frequency–Inverse Document Frequency) is the mathematical feature representation technique that vectorizes text into sparse matrices. The four algorithms below are the distinct Supervised Machine Learning Classifiers evaluated in our pipeline.</a:t>
            </a:r>
          </a:p>
        </p:txBody>
      </p:sp>
      <p:sp>
        <p:nvSpPr>
          <p:cNvPr id="12" name="Rounded Rectangle 11"/>
          <p:cNvSpPr/>
          <p:nvPr/>
        </p:nvSpPr>
        <p:spPr>
          <a:xfrm>
            <a:off x="731520" y="2057400"/>
            <a:ext cx="5230368" cy="20116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31520" y="2057400"/>
            <a:ext cx="73152" cy="2011680"/>
          </a:xfrm>
          <a:prstGeom prst="rect">
            <a:avLst/>
          </a:prstGeom>
          <a:solidFill>
            <a:srgbClr val="1D4E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60120" y="2167128"/>
            <a:ext cx="4864608" cy="1783080"/>
          </a:xfrm>
          <a:prstGeom prst="rect">
            <a:avLst/>
          </a:prstGeom>
          <a:noFill/>
        </p:spPr>
        <p:txBody>
          <a:bodyPr wrap="square">
            <a:spAutoFit/>
          </a:bodyPr>
          <a:lstStyle/>
          <a:p>
            <a:pPr>
              <a:defRPr sz="1200" b="1">
                <a:solidFill>
                  <a:srgbClr val="1D4ED8"/>
                </a:solidFill>
              </a:defRPr>
            </a:pPr>
            <a:r>
              <a:t>Logistic Regression (LR)</a:t>
            </a:r>
          </a:p>
          <a:p>
            <a:pPr>
              <a:defRPr sz="850" b="1">
                <a:solidFill>
                  <a:srgbClr val="64748B"/>
                </a:solidFill>
              </a:defRPr>
            </a:pPr>
            <a:r>
              <a:t>LINEAR PROBABILISTIC BASELINE</a:t>
            </a:r>
          </a:p>
          <a:p>
            <a:pPr>
              <a:spcBef>
                <a:spcPts val="300"/>
              </a:spcBef>
              <a:defRPr sz="900">
                <a:solidFill>
                  <a:srgbClr val="334155"/>
                </a:solidFill>
              </a:defRPr>
            </a:pPr>
            <a:r>
              <a:t>•  Formulation: Multi-class linear model using cross-entropy loss and softmax probability mapping.</a:t>
            </a:r>
          </a:p>
          <a:p>
            <a:pPr>
              <a:spcBef>
                <a:spcPts val="300"/>
              </a:spcBef>
              <a:defRPr sz="900">
                <a:solidFill>
                  <a:srgbClr val="334155"/>
                </a:solidFill>
              </a:defRPr>
            </a:pPr>
            <a:r>
              <a:t>•  High-Dimensional Efficacy: Highly efficient and fast convergence on sparse, high-dimensional TF-IDF vectors.</a:t>
            </a:r>
          </a:p>
          <a:p>
            <a:pPr>
              <a:spcBef>
                <a:spcPts val="300"/>
              </a:spcBef>
              <a:defRPr sz="900">
                <a:solidFill>
                  <a:srgbClr val="334155"/>
                </a:solidFill>
              </a:defRPr>
            </a:pPr>
            <a:r>
              <a:t>•  Calibrated Outputs: Inherently yields smooth, well-calibrated class probability estimates for soft voting.</a:t>
            </a:r>
          </a:p>
        </p:txBody>
      </p:sp>
      <p:sp>
        <p:nvSpPr>
          <p:cNvPr id="15" name="Rounded Rectangle 14"/>
          <p:cNvSpPr/>
          <p:nvPr/>
        </p:nvSpPr>
        <p:spPr>
          <a:xfrm>
            <a:off x="6217920" y="2057400"/>
            <a:ext cx="5230368" cy="20116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217920" y="2057400"/>
            <a:ext cx="73152" cy="201168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46520" y="2167128"/>
            <a:ext cx="4864608" cy="1783080"/>
          </a:xfrm>
          <a:prstGeom prst="rect">
            <a:avLst/>
          </a:prstGeom>
          <a:noFill/>
        </p:spPr>
        <p:txBody>
          <a:bodyPr wrap="square">
            <a:spAutoFit/>
          </a:bodyPr>
          <a:lstStyle/>
          <a:p>
            <a:pPr>
              <a:defRPr sz="1200" b="1">
                <a:solidFill>
                  <a:srgbClr val="0D9488"/>
                </a:solidFill>
              </a:defRPr>
            </a:pPr>
            <a:r>
              <a:t>Support Vector Machine (SVM)</a:t>
            </a:r>
          </a:p>
          <a:p>
            <a:pPr>
              <a:defRPr sz="850" b="1">
                <a:solidFill>
                  <a:srgbClr val="64748B"/>
                </a:solidFill>
              </a:defRPr>
            </a:pPr>
            <a:r>
              <a:t>MAXIMUM-MARGIN HYPERPLANE</a:t>
            </a:r>
          </a:p>
          <a:p>
            <a:pPr>
              <a:spcBef>
                <a:spcPts val="300"/>
              </a:spcBef>
              <a:defRPr sz="900">
                <a:solidFill>
                  <a:srgbClr val="334155"/>
                </a:solidFill>
              </a:defRPr>
            </a:pPr>
            <a:r>
              <a:t>•  Formulation: Constructs optimal decision boundaries by maximizing the margin between different medical specialty classes.</a:t>
            </a:r>
          </a:p>
          <a:p>
            <a:pPr>
              <a:spcBef>
                <a:spcPts val="300"/>
              </a:spcBef>
              <a:defRPr sz="900">
                <a:solidFill>
                  <a:srgbClr val="334155"/>
                </a:solidFill>
              </a:defRPr>
            </a:pPr>
            <a:r>
              <a:t>•  Sparse Vector Superiority: Consistently recognized in clinical NLP literature as a top performer for high-dimensional text classification.</a:t>
            </a:r>
          </a:p>
          <a:p>
            <a:pPr>
              <a:spcBef>
                <a:spcPts val="300"/>
              </a:spcBef>
              <a:defRPr sz="900">
                <a:solidFill>
                  <a:srgbClr val="334155"/>
                </a:solidFill>
              </a:defRPr>
            </a:pPr>
            <a:r>
              <a:t>•  Decision Boundary Optimization: Effectively establishes robust decision boundaries across high-dimensional clinical feature vectors.</a:t>
            </a:r>
          </a:p>
        </p:txBody>
      </p:sp>
      <p:sp>
        <p:nvSpPr>
          <p:cNvPr id="18" name="Rounded Rectangle 17"/>
          <p:cNvSpPr/>
          <p:nvPr/>
        </p:nvSpPr>
        <p:spPr>
          <a:xfrm>
            <a:off x="731520" y="4206240"/>
            <a:ext cx="5230368" cy="20116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731520" y="4206240"/>
            <a:ext cx="73152" cy="2011680"/>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0120" y="4315968"/>
            <a:ext cx="4864608" cy="1783080"/>
          </a:xfrm>
          <a:prstGeom prst="rect">
            <a:avLst/>
          </a:prstGeom>
          <a:noFill/>
        </p:spPr>
        <p:txBody>
          <a:bodyPr wrap="square">
            <a:spAutoFit/>
          </a:bodyPr>
          <a:lstStyle/>
          <a:p>
            <a:pPr>
              <a:defRPr sz="1200" b="1">
                <a:solidFill>
                  <a:srgbClr val="7C3AED"/>
                </a:solidFill>
              </a:defRPr>
            </a:pPr>
            <a:r>
              <a:t>Random Forest (RF)</a:t>
            </a:r>
          </a:p>
          <a:p>
            <a:pPr>
              <a:defRPr sz="850" b="1">
                <a:solidFill>
                  <a:srgbClr val="64748B"/>
                </a:solidFill>
              </a:defRPr>
            </a:pPr>
            <a:r>
              <a:t>BAGGED DECISION TREE ENSEMBLE</a:t>
            </a:r>
          </a:p>
          <a:p>
            <a:pPr>
              <a:spcBef>
                <a:spcPts val="300"/>
              </a:spcBef>
              <a:defRPr sz="900">
                <a:solidFill>
                  <a:srgbClr val="334155"/>
                </a:solidFill>
              </a:defRPr>
            </a:pPr>
            <a:r>
              <a:t>•  Formulation: Ensemble of decorrelated decision trees trained via bootstrap aggregating and random feature subsets.</a:t>
            </a:r>
          </a:p>
          <a:p>
            <a:pPr>
              <a:spcBef>
                <a:spcPts val="300"/>
              </a:spcBef>
              <a:defRPr sz="900">
                <a:solidFill>
                  <a:srgbClr val="334155"/>
                </a:solidFill>
              </a:defRPr>
            </a:pPr>
            <a:r>
              <a:t>•  Non-Linear Interactions: Effectively captures complex term co-occurrences and non-linear clinical relationships.</a:t>
            </a:r>
          </a:p>
          <a:p>
            <a:pPr>
              <a:spcBef>
                <a:spcPts val="300"/>
              </a:spcBef>
              <a:defRPr sz="900">
                <a:solidFill>
                  <a:srgbClr val="334155"/>
                </a:solidFill>
              </a:defRPr>
            </a:pPr>
            <a:r>
              <a:t>•  Robustness to Overfitting: High resistance to individual feature noise and document length variations.</a:t>
            </a:r>
          </a:p>
        </p:txBody>
      </p:sp>
      <p:sp>
        <p:nvSpPr>
          <p:cNvPr id="21" name="Rounded Rectangle 20"/>
          <p:cNvSpPr/>
          <p:nvPr/>
        </p:nvSpPr>
        <p:spPr>
          <a:xfrm>
            <a:off x="6217920" y="4206240"/>
            <a:ext cx="5230368" cy="20116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217920" y="4206240"/>
            <a:ext cx="73152" cy="201168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46520" y="4315968"/>
            <a:ext cx="4864608" cy="1783080"/>
          </a:xfrm>
          <a:prstGeom prst="rect">
            <a:avLst/>
          </a:prstGeom>
          <a:noFill/>
        </p:spPr>
        <p:txBody>
          <a:bodyPr wrap="square">
            <a:spAutoFit/>
          </a:bodyPr>
          <a:lstStyle/>
          <a:p>
            <a:pPr>
              <a:defRPr sz="1200" b="1">
                <a:solidFill>
                  <a:srgbClr val="1E293B"/>
                </a:solidFill>
              </a:defRPr>
            </a:pPr>
            <a:r>
              <a:t>Multinomial Naïve Bayes (MNB)</a:t>
            </a:r>
          </a:p>
          <a:p>
            <a:pPr>
              <a:defRPr sz="850" b="1">
                <a:solidFill>
                  <a:srgbClr val="64748B"/>
                </a:solidFill>
              </a:defRPr>
            </a:pPr>
            <a:r>
              <a:t>PROBABILISTIC FEATURE MODEL</a:t>
            </a:r>
          </a:p>
          <a:p>
            <a:pPr>
              <a:spcBef>
                <a:spcPts val="300"/>
              </a:spcBef>
              <a:defRPr sz="900">
                <a:solidFill>
                  <a:srgbClr val="334155"/>
                </a:solidFill>
              </a:defRPr>
            </a:pPr>
            <a:r>
              <a:t>•  Formulation: Applies Bayes' theorem with conditional feature independence to compute posterior class probabilities.</a:t>
            </a:r>
          </a:p>
          <a:p>
            <a:pPr>
              <a:spcBef>
                <a:spcPts val="300"/>
              </a:spcBef>
              <a:defRPr sz="900">
                <a:solidFill>
                  <a:srgbClr val="334155"/>
                </a:solidFill>
              </a:defRPr>
            </a:pPr>
            <a:r>
              <a:t>•  Feature Compatibility: Effectively handles non-negative TF-IDF feature representations for probabilistic text classification.</a:t>
            </a:r>
          </a:p>
          <a:p>
            <a:pPr>
              <a:spcBef>
                <a:spcPts val="300"/>
              </a:spcBef>
              <a:defRPr sz="900">
                <a:solidFill>
                  <a:srgbClr val="334155"/>
                </a:solidFill>
              </a:defRPr>
            </a:pPr>
            <a:r>
              <a:t>•  Laplace Smoothing: Handles zero-probability terms for unobserved medical tokens in test transcriptions.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256032"/>
            <a:ext cx="5486400" cy="274320"/>
          </a:xfrm>
          <a:prstGeom prst="rect">
            <a:avLst/>
          </a:prstGeom>
          <a:noFill/>
        </p:spPr>
        <p:txBody>
          <a:bodyPr wrap="none" lIns="0" tIns="0" rIns="0" bIns="0">
            <a:spAutoFit/>
          </a:bodyPr>
          <a:lstStyle/>
          <a:p>
            <a:pPr>
              <a:defRPr sz="950" b="1">
                <a:solidFill>
                  <a:srgbClr val="0D9488"/>
                </a:solidFill>
                <a:latin typeface="Calibri"/>
              </a:defRPr>
            </a:pPr>
            <a:r>
              <a:t>MCA MINI PROJECT  |  PROPOSED ALGORITHMS</a:t>
            </a:r>
          </a:p>
        </p:txBody>
      </p:sp>
      <p:sp>
        <p:nvSpPr>
          <p:cNvPr id="3" name="TextBox 2"/>
          <p:cNvSpPr txBox="1"/>
          <p:nvPr/>
        </p:nvSpPr>
        <p:spPr>
          <a:xfrm>
            <a:off x="5029200" y="256032"/>
            <a:ext cx="6430975" cy="274320"/>
          </a:xfrm>
          <a:prstGeom prst="rect">
            <a:avLst/>
          </a:prstGeom>
          <a:noFill/>
        </p:spPr>
        <p:txBody>
          <a:bodyPr wrap="none" lIns="0" tIns="0" rIns="0" bIns="0">
            <a:spAutoFit/>
          </a:bodyPr>
          <a:lstStyle/>
          <a:p>
            <a:pPr algn="r">
              <a:defRPr sz="900">
                <a:solidFill>
                  <a:srgbClr val="64748B"/>
                </a:solidFill>
                <a:latin typeface="Calibri"/>
              </a:defRPr>
            </a:pPr>
            <a:r>
              <a:t>Medical Specialty Classification using TF-IDF and Ensemble Machine Learning</a:t>
            </a:r>
          </a:p>
        </p:txBody>
      </p:sp>
      <p:sp>
        <p:nvSpPr>
          <p:cNvPr id="4" name="TextBox 3"/>
          <p:cNvSpPr txBox="1"/>
          <p:nvPr/>
        </p:nvSpPr>
        <p:spPr>
          <a:xfrm>
            <a:off x="731520" y="502920"/>
            <a:ext cx="10728655" cy="457200"/>
          </a:xfrm>
          <a:prstGeom prst="rect">
            <a:avLst/>
          </a:prstGeom>
          <a:noFill/>
        </p:spPr>
        <p:txBody>
          <a:bodyPr wrap="square" lIns="0" tIns="0" rIns="0" bIns="0">
            <a:spAutoFit/>
          </a:bodyPr>
          <a:lstStyle/>
          <a:p>
            <a:pPr>
              <a:defRPr sz="2100" b="1">
                <a:solidFill>
                  <a:srgbClr val="0F172A"/>
                </a:solidFill>
                <a:latin typeface="Calibri"/>
              </a:defRPr>
            </a:pPr>
            <a:r>
              <a:t>Ensemble Machine Learning Architecture: Soft Voting Strategy</a:t>
            </a:r>
          </a:p>
        </p:txBody>
      </p:sp>
      <p:sp>
        <p:nvSpPr>
          <p:cNvPr id="5" name="Rectangle 4"/>
          <p:cNvSpPr/>
          <p:nvPr/>
        </p:nvSpPr>
        <p:spPr>
          <a:xfrm>
            <a:off x="731520" y="1005840"/>
            <a:ext cx="10728655" cy="13716"/>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31520" y="6355080"/>
            <a:ext cx="10728655" cy="13716"/>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6419088"/>
            <a:ext cx="5486400" cy="274320"/>
          </a:xfrm>
          <a:prstGeom prst="rect">
            <a:avLst/>
          </a:prstGeom>
          <a:noFill/>
        </p:spPr>
        <p:txBody>
          <a:bodyPr wrap="none" lIns="0" tIns="0" rIns="0" bIns="0">
            <a:spAutoFit/>
          </a:bodyPr>
          <a:lstStyle/>
          <a:p>
            <a:pPr>
              <a:defRPr sz="950">
                <a:solidFill>
                  <a:srgbClr val="64748B"/>
                </a:solidFill>
                <a:latin typeface="Calibri"/>
              </a:defRPr>
            </a:pPr>
            <a:r>
              <a:t>Department of Computer Applications | MACE</a:t>
            </a:r>
          </a:p>
        </p:txBody>
      </p:sp>
      <p:sp>
        <p:nvSpPr>
          <p:cNvPr id="8" name="TextBox 7"/>
          <p:cNvSpPr txBox="1"/>
          <p:nvPr/>
        </p:nvSpPr>
        <p:spPr>
          <a:xfrm>
            <a:off x="4114800" y="6419088"/>
            <a:ext cx="4114800" cy="274320"/>
          </a:xfrm>
          <a:prstGeom prst="rect">
            <a:avLst/>
          </a:prstGeom>
          <a:noFill/>
        </p:spPr>
        <p:txBody>
          <a:bodyPr wrap="none" lIns="0" tIns="0" rIns="0" bIns="0">
            <a:spAutoFit/>
          </a:bodyPr>
          <a:lstStyle/>
          <a:p>
            <a:pPr algn="ctr">
              <a:defRPr sz="900">
                <a:solidFill>
                  <a:srgbClr val="64748B"/>
                </a:solidFill>
                <a:latin typeface="Calibri"/>
              </a:defRPr>
            </a:pPr>
            <a:r>
              <a:t>Mar Athanasius College of Engineering, Kothamangalam</a:t>
            </a:r>
          </a:p>
        </p:txBody>
      </p:sp>
      <p:sp>
        <p:nvSpPr>
          <p:cNvPr id="9" name="TextBox 8"/>
          <p:cNvSpPr txBox="1"/>
          <p:nvPr/>
        </p:nvSpPr>
        <p:spPr>
          <a:xfrm>
            <a:off x="8716975" y="6419088"/>
            <a:ext cx="2743200" cy="274320"/>
          </a:xfrm>
          <a:prstGeom prst="rect">
            <a:avLst/>
          </a:prstGeom>
          <a:noFill/>
        </p:spPr>
        <p:txBody>
          <a:bodyPr wrap="none" lIns="0" tIns="0" rIns="0" bIns="0">
            <a:spAutoFit/>
          </a:bodyPr>
          <a:lstStyle/>
          <a:p>
            <a:pPr algn="r">
              <a:defRPr sz="950" b="1">
                <a:solidFill>
                  <a:srgbClr val="1D4ED8"/>
                </a:solidFill>
                <a:latin typeface="Calibri"/>
              </a:defRPr>
            </a:pPr>
            <a:r>
              <a:t>Slide 11 of 15</a:t>
            </a:r>
          </a:p>
        </p:txBody>
      </p:sp>
      <p:sp>
        <p:nvSpPr>
          <p:cNvPr id="10" name="Rounded Rectangle 9"/>
          <p:cNvSpPr/>
          <p:nvPr/>
        </p:nvSpPr>
        <p:spPr>
          <a:xfrm>
            <a:off x="731520" y="1188720"/>
            <a:ext cx="2286000" cy="1188720"/>
          </a:xfrm>
          <a:prstGeom prst="roundRect">
            <a:avLst/>
          </a:prstGeom>
          <a:solidFill>
            <a:srgbClr val="F1F5F9"/>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2960" y="1280160"/>
            <a:ext cx="2103120" cy="1005840"/>
          </a:xfrm>
          <a:prstGeom prst="rect">
            <a:avLst/>
          </a:prstGeom>
          <a:noFill/>
        </p:spPr>
        <p:txBody>
          <a:bodyPr wrap="square">
            <a:spAutoFit/>
          </a:bodyPr>
          <a:lstStyle/>
          <a:p>
            <a:pPr>
              <a:defRPr sz="1100" b="1">
                <a:solidFill>
                  <a:srgbClr val="1D4ED8"/>
                </a:solidFill>
              </a:defRPr>
            </a:pPr>
            <a:r>
              <a:t>TF-IDF VECTORS</a:t>
            </a:r>
          </a:p>
          <a:p>
            <a:pPr>
              <a:defRPr sz="850">
                <a:solidFill>
                  <a:srgbClr val="334155"/>
                </a:solidFill>
              </a:defRPr>
            </a:pPr>
            <a:r>
              <a:t>Sublinear frequency</a:t>
            </a:r>
            <a:br/>
            <a:r>
              <a:t>Unigrams &amp; Bigrams</a:t>
            </a:r>
            <a:br/>
            <a:r>
              <a:t>Sparse Matrix</a:t>
            </a:r>
          </a:p>
        </p:txBody>
      </p:sp>
      <p:sp>
        <p:nvSpPr>
          <p:cNvPr id="12" name="Rounded Rectangle 11"/>
          <p:cNvSpPr/>
          <p:nvPr/>
        </p:nvSpPr>
        <p:spPr>
          <a:xfrm>
            <a:off x="3383280" y="1143000"/>
            <a:ext cx="2926080" cy="384048"/>
          </a:xfrm>
          <a:prstGeom prst="roundRect">
            <a:avLst/>
          </a:prstGeom>
          <a:solidFill>
            <a:srgbClr val="FFFFFF"/>
          </a:solidFill>
          <a:ln w="1270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383280" y="1179576"/>
            <a:ext cx="2926080" cy="310896"/>
          </a:xfrm>
          <a:prstGeom prst="rect">
            <a:avLst/>
          </a:prstGeom>
          <a:noFill/>
        </p:spPr>
        <p:txBody>
          <a:bodyPr wrap="none">
            <a:spAutoFit/>
          </a:bodyPr>
          <a:lstStyle/>
          <a:p>
            <a:pPr algn="ctr">
              <a:defRPr sz="950" b="1">
                <a:solidFill>
                  <a:srgbClr val="0D9488"/>
                </a:solidFill>
              </a:defRPr>
            </a:pPr>
            <a:r>
              <a:t>Calibrated SVM</a:t>
            </a:r>
          </a:p>
        </p:txBody>
      </p:sp>
      <p:sp>
        <p:nvSpPr>
          <p:cNvPr id="14" name="Rounded Rectangle 13"/>
          <p:cNvSpPr/>
          <p:nvPr/>
        </p:nvSpPr>
        <p:spPr>
          <a:xfrm>
            <a:off x="3383280" y="1581912"/>
            <a:ext cx="2926080" cy="384048"/>
          </a:xfrm>
          <a:prstGeom prst="roundRect">
            <a:avLst/>
          </a:prstGeom>
          <a:solidFill>
            <a:srgbClr val="FFFFFF"/>
          </a:solidFill>
          <a:ln w="12700">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383280" y="1618488"/>
            <a:ext cx="2926080" cy="310896"/>
          </a:xfrm>
          <a:prstGeom prst="rect">
            <a:avLst/>
          </a:prstGeom>
          <a:noFill/>
        </p:spPr>
        <p:txBody>
          <a:bodyPr wrap="none">
            <a:spAutoFit/>
          </a:bodyPr>
          <a:lstStyle/>
          <a:p>
            <a:pPr algn="ctr">
              <a:defRPr sz="950" b="1">
                <a:solidFill>
                  <a:srgbClr val="7C3AED"/>
                </a:solidFill>
              </a:defRPr>
            </a:pPr>
            <a:r>
              <a:t>Random Forest</a:t>
            </a:r>
          </a:p>
        </p:txBody>
      </p:sp>
      <p:sp>
        <p:nvSpPr>
          <p:cNvPr id="16" name="Rounded Rectangle 15"/>
          <p:cNvSpPr/>
          <p:nvPr/>
        </p:nvSpPr>
        <p:spPr>
          <a:xfrm>
            <a:off x="3383280" y="2020824"/>
            <a:ext cx="2926080" cy="384048"/>
          </a:xfrm>
          <a:prstGeom prst="roundRect">
            <a:avLst/>
          </a:prstGeom>
          <a:solidFill>
            <a:srgbClr val="FFFFFF"/>
          </a:solidFill>
          <a:ln w="12700">
            <a:solidFill>
              <a:srgbClr val="1D4E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383280" y="2057400"/>
            <a:ext cx="2926080" cy="310896"/>
          </a:xfrm>
          <a:prstGeom prst="rect">
            <a:avLst/>
          </a:prstGeom>
          <a:noFill/>
        </p:spPr>
        <p:txBody>
          <a:bodyPr wrap="none">
            <a:spAutoFit/>
          </a:bodyPr>
          <a:lstStyle/>
          <a:p>
            <a:pPr algn="ctr">
              <a:defRPr sz="950" b="1">
                <a:solidFill>
                  <a:srgbClr val="1D4ED8"/>
                </a:solidFill>
              </a:defRPr>
            </a:pPr>
            <a:r>
              <a:t>Logistic Regression</a:t>
            </a:r>
          </a:p>
        </p:txBody>
      </p:sp>
      <p:sp>
        <p:nvSpPr>
          <p:cNvPr id="18" name="Rounded Rectangle 17"/>
          <p:cNvSpPr/>
          <p:nvPr/>
        </p:nvSpPr>
        <p:spPr>
          <a:xfrm>
            <a:off x="3383280" y="2459736"/>
            <a:ext cx="2926080" cy="384048"/>
          </a:xfrm>
          <a:prstGeom prst="roundRect">
            <a:avLst/>
          </a:prstGeom>
          <a:solidFill>
            <a:srgbClr val="FFFFFF"/>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383280" y="2496312"/>
            <a:ext cx="2926080" cy="310896"/>
          </a:xfrm>
          <a:prstGeom prst="rect">
            <a:avLst/>
          </a:prstGeom>
          <a:noFill/>
        </p:spPr>
        <p:txBody>
          <a:bodyPr wrap="none">
            <a:spAutoFit/>
          </a:bodyPr>
          <a:lstStyle/>
          <a:p>
            <a:pPr algn="ctr">
              <a:defRPr sz="950" b="1">
                <a:solidFill>
                  <a:srgbClr val="1E293B"/>
                </a:solidFill>
              </a:defRPr>
            </a:pPr>
            <a:r>
              <a:t>Multinomial Naive Bayes</a:t>
            </a:r>
          </a:p>
        </p:txBody>
      </p:sp>
      <p:sp>
        <p:nvSpPr>
          <p:cNvPr id="20" name="Rounded Rectangle 19"/>
          <p:cNvSpPr/>
          <p:nvPr/>
        </p:nvSpPr>
        <p:spPr>
          <a:xfrm>
            <a:off x="6675120" y="1188720"/>
            <a:ext cx="2651760" cy="1188720"/>
          </a:xfrm>
          <a:prstGeom prst="roundRect">
            <a:avLst/>
          </a:prstGeom>
          <a:solidFill>
            <a:srgbClr val="FAF5FF"/>
          </a:solidFill>
          <a:ln w="12700">
            <a:solidFill>
              <a:srgbClr val="D8B4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766560" y="1280160"/>
            <a:ext cx="2468880" cy="1005840"/>
          </a:xfrm>
          <a:prstGeom prst="rect">
            <a:avLst/>
          </a:prstGeom>
          <a:noFill/>
        </p:spPr>
        <p:txBody>
          <a:bodyPr wrap="square">
            <a:spAutoFit/>
          </a:bodyPr>
          <a:lstStyle/>
          <a:p>
            <a:pPr>
              <a:defRPr sz="1100" b="1">
                <a:solidFill>
                  <a:srgbClr val="7C3AED"/>
                </a:solidFill>
              </a:defRPr>
            </a:pPr>
            <a:r>
              <a:t>SOFT VOTING ENSEMBLE</a:t>
            </a:r>
          </a:p>
          <a:p>
            <a:pPr>
              <a:defRPr sz="850">
                <a:solidFill>
                  <a:srgbClr val="334155"/>
                </a:solidFill>
              </a:defRPr>
            </a:pPr>
            <a:r>
              <a:t>Probability Consensus</a:t>
            </a:r>
            <a:br/>
            <a:r>
              <a:t>Average Probability Aggregation</a:t>
            </a:r>
            <a:br/>
            <a:r>
              <a:t>Variance Reduction</a:t>
            </a:r>
          </a:p>
        </p:txBody>
      </p:sp>
      <p:sp>
        <p:nvSpPr>
          <p:cNvPr id="22" name="Rounded Rectangle 21"/>
          <p:cNvSpPr/>
          <p:nvPr/>
        </p:nvSpPr>
        <p:spPr>
          <a:xfrm>
            <a:off x="9631375" y="1188720"/>
            <a:ext cx="1828800" cy="1188720"/>
          </a:xfrm>
          <a:prstGeom prst="roundRect">
            <a:avLst/>
          </a:prstGeom>
          <a:solidFill>
            <a:srgbClr val="ECFDF5"/>
          </a:solidFill>
          <a:ln w="12700">
            <a:solidFill>
              <a:srgbClr val="A7F3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722815" y="1280160"/>
            <a:ext cx="1645920" cy="1005840"/>
          </a:xfrm>
          <a:prstGeom prst="rect">
            <a:avLst/>
          </a:prstGeom>
          <a:noFill/>
        </p:spPr>
        <p:txBody>
          <a:bodyPr wrap="square">
            <a:spAutoFit/>
          </a:bodyPr>
          <a:lstStyle/>
          <a:p>
            <a:pPr>
              <a:defRPr sz="1100" b="1">
                <a:solidFill>
                  <a:srgbClr val="10B981"/>
                </a:solidFill>
              </a:defRPr>
            </a:pPr>
            <a:r>
              <a:t>FINAL PREDICTION</a:t>
            </a:r>
          </a:p>
          <a:p>
            <a:pPr>
              <a:defRPr sz="850">
                <a:solidFill>
                  <a:srgbClr val="334155"/>
                </a:solidFill>
              </a:defRPr>
            </a:pPr>
            <a:r>
              <a:t>Predicted Specialty +</a:t>
            </a:r>
            <a:br/>
            <a:r>
              <a:t>Confidence Score</a:t>
            </a:r>
          </a:p>
        </p:txBody>
      </p:sp>
      <p:sp>
        <p:nvSpPr>
          <p:cNvPr id="24" name="Rounded Rectangle 23"/>
          <p:cNvSpPr/>
          <p:nvPr/>
        </p:nvSpPr>
        <p:spPr>
          <a:xfrm>
            <a:off x="731520" y="3154680"/>
            <a:ext cx="3429000" cy="29718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731520" y="3154680"/>
            <a:ext cx="3429000" cy="73152"/>
          </a:xfrm>
          <a:prstGeom prst="rect">
            <a:avLst/>
          </a:prstGeom>
          <a:solidFill>
            <a:srgbClr val="1D4E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96112" y="3291840"/>
            <a:ext cx="3099816" cy="2697480"/>
          </a:xfrm>
          <a:prstGeom prst="rect">
            <a:avLst/>
          </a:prstGeom>
          <a:noFill/>
        </p:spPr>
        <p:txBody>
          <a:bodyPr wrap="square">
            <a:spAutoFit/>
          </a:bodyPr>
          <a:lstStyle/>
          <a:p>
            <a:pPr>
              <a:defRPr sz="1100" b="1">
                <a:solidFill>
                  <a:srgbClr val="1D4ED8"/>
                </a:solidFill>
              </a:defRPr>
            </a:pPr>
            <a:r>
              <a:t>Why Soft Voting Over Hard Voting?</a:t>
            </a:r>
          </a:p>
          <a:p>
            <a:pPr>
              <a:spcBef>
                <a:spcPts val="400"/>
              </a:spcBef>
              <a:defRPr sz="880">
                <a:solidFill>
                  <a:srgbClr val="334155"/>
                </a:solidFill>
              </a:defRPr>
            </a:pPr>
            <a:r>
              <a:t>•  Probability Granularity: Hard voting counts binary majority votes, ignoring confidence. Soft voting averages class probability distributions.</a:t>
            </a:r>
          </a:p>
          <a:p>
            <a:pPr>
              <a:spcBef>
                <a:spcPts val="400"/>
              </a:spcBef>
              <a:defRPr sz="880">
                <a:solidFill>
                  <a:srgbClr val="334155"/>
                </a:solidFill>
              </a:defRPr>
            </a:pPr>
            <a:r>
              <a:t>•  Preserves Subtle Confidence: Ambiguous clinical notes yield smooth probability distributions rather than abrupt majority deadlocks.</a:t>
            </a:r>
          </a:p>
          <a:p>
            <a:pPr>
              <a:spcBef>
                <a:spcPts val="400"/>
              </a:spcBef>
              <a:defRPr sz="880">
                <a:solidFill>
                  <a:srgbClr val="334155"/>
                </a:solidFill>
              </a:defRPr>
            </a:pPr>
            <a:r>
              <a:t>•  Reduced Misclassification: Leverages agreement across diverse inductive biases to reduce individual classifier variance.</a:t>
            </a:r>
          </a:p>
        </p:txBody>
      </p:sp>
      <p:sp>
        <p:nvSpPr>
          <p:cNvPr id="27" name="Rounded Rectangle 26"/>
          <p:cNvSpPr/>
          <p:nvPr/>
        </p:nvSpPr>
        <p:spPr>
          <a:xfrm>
            <a:off x="4379976" y="3154680"/>
            <a:ext cx="3429000" cy="29718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4379976" y="3154680"/>
            <a:ext cx="3429000" cy="73152"/>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544568" y="3291840"/>
            <a:ext cx="3099816" cy="2697480"/>
          </a:xfrm>
          <a:prstGeom prst="rect">
            <a:avLst/>
          </a:prstGeom>
          <a:noFill/>
        </p:spPr>
        <p:txBody>
          <a:bodyPr wrap="square">
            <a:spAutoFit/>
          </a:bodyPr>
          <a:lstStyle/>
          <a:p>
            <a:pPr>
              <a:defRPr sz="1100" b="1">
                <a:solidFill>
                  <a:srgbClr val="0D9488"/>
                </a:solidFill>
              </a:defRPr>
            </a:pPr>
            <a:r>
              <a:t>SVM in the Ensemble</a:t>
            </a:r>
          </a:p>
          <a:p>
            <a:pPr>
              <a:spcBef>
                <a:spcPts val="400"/>
              </a:spcBef>
              <a:defRPr sz="880">
                <a:solidFill>
                  <a:srgbClr val="334155"/>
                </a:solidFill>
              </a:defRPr>
            </a:pPr>
            <a:r>
              <a:t>•  SVM is used as one of the base machine learning classifiers for medical specialty classification.</a:t>
            </a:r>
          </a:p>
          <a:p>
            <a:pPr>
              <a:spcBef>
                <a:spcPts val="400"/>
              </a:spcBef>
              <a:defRPr sz="880">
                <a:solidFill>
                  <a:srgbClr val="334155"/>
                </a:solidFill>
              </a:defRPr>
            </a:pPr>
            <a:r>
              <a:t>•  Probability calibration enables the SVM classifier to contribute class probability estimates to the soft-voting ensemble.</a:t>
            </a:r>
          </a:p>
          <a:p>
            <a:pPr>
              <a:spcBef>
                <a:spcPts val="400"/>
              </a:spcBef>
              <a:defRPr sz="880">
                <a:solidFill>
                  <a:srgbClr val="334155"/>
                </a:solidFill>
              </a:defRPr>
            </a:pPr>
            <a:r>
              <a:t>•  It learns decision boundaries between different medical specialty categories using the TF-IDF feature representation.</a:t>
            </a:r>
          </a:p>
        </p:txBody>
      </p:sp>
      <p:sp>
        <p:nvSpPr>
          <p:cNvPr id="30" name="Rounded Rectangle 29"/>
          <p:cNvSpPr/>
          <p:nvPr/>
        </p:nvSpPr>
        <p:spPr>
          <a:xfrm>
            <a:off x="8028432" y="3154680"/>
            <a:ext cx="3429000" cy="29718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8028432" y="3154680"/>
            <a:ext cx="3429000" cy="73152"/>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193024" y="3291840"/>
            <a:ext cx="3099816" cy="2697480"/>
          </a:xfrm>
          <a:prstGeom prst="rect">
            <a:avLst/>
          </a:prstGeom>
          <a:noFill/>
        </p:spPr>
        <p:txBody>
          <a:bodyPr wrap="square">
            <a:spAutoFit/>
          </a:bodyPr>
          <a:lstStyle/>
          <a:p>
            <a:pPr>
              <a:defRPr sz="1100" b="1">
                <a:solidFill>
                  <a:srgbClr val="7C3AED"/>
                </a:solidFill>
              </a:defRPr>
            </a:pPr>
            <a:r>
              <a:t>Expected Ensemble Advantages</a:t>
            </a:r>
          </a:p>
          <a:p>
            <a:pPr>
              <a:spcBef>
                <a:spcPts val="400"/>
              </a:spcBef>
              <a:defRPr sz="880">
                <a:solidFill>
                  <a:srgbClr val="334155"/>
                </a:solidFill>
              </a:defRPr>
            </a:pPr>
            <a:r>
              <a:t>•  Bias-Variance Trade-off: Combines linear hyperplanes (SVM, LR) with tree partitioning (RF) and probabilistic priors (MNB) to reduce prediction variance.</a:t>
            </a:r>
          </a:p>
          <a:p>
            <a:pPr>
              <a:spcBef>
                <a:spcPts val="400"/>
              </a:spcBef>
              <a:defRPr sz="880">
                <a:solidFill>
                  <a:srgbClr val="334155"/>
                </a:solidFill>
              </a:defRPr>
            </a:pPr>
            <a:r>
              <a:t>•  Minority Specialty Sensitivity: Potentially improves recognition of under-represented medical classes with fewer training notes.</a:t>
            </a:r>
          </a:p>
          <a:p>
            <a:pPr>
              <a:spcBef>
                <a:spcPts val="400"/>
              </a:spcBef>
              <a:defRPr sz="880">
                <a:solidFill>
                  <a:srgbClr val="334155"/>
                </a:solidFill>
              </a:defRPr>
            </a:pPr>
            <a:r>
              <a:t>•  Production Reliability: Is expected to deliver robust, dependable inference prior to serializing the pipeline for Flask web serving.</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256032"/>
            <a:ext cx="5486400" cy="274320"/>
          </a:xfrm>
          <a:prstGeom prst="rect">
            <a:avLst/>
          </a:prstGeom>
          <a:noFill/>
        </p:spPr>
        <p:txBody>
          <a:bodyPr wrap="none" lIns="0" tIns="0" rIns="0" bIns="0">
            <a:spAutoFit/>
          </a:bodyPr>
          <a:lstStyle/>
          <a:p>
            <a:pPr>
              <a:defRPr sz="950" b="1">
                <a:solidFill>
                  <a:srgbClr val="0D9488"/>
                </a:solidFill>
                <a:latin typeface="Calibri"/>
              </a:defRPr>
            </a:pPr>
            <a:r>
              <a:t>MCA MINI PROJECT  |  PROJECT PIPELINE</a:t>
            </a:r>
          </a:p>
        </p:txBody>
      </p:sp>
      <p:sp>
        <p:nvSpPr>
          <p:cNvPr id="3" name="TextBox 2"/>
          <p:cNvSpPr txBox="1"/>
          <p:nvPr/>
        </p:nvSpPr>
        <p:spPr>
          <a:xfrm>
            <a:off x="5029200" y="256032"/>
            <a:ext cx="6430975" cy="274320"/>
          </a:xfrm>
          <a:prstGeom prst="rect">
            <a:avLst/>
          </a:prstGeom>
          <a:noFill/>
        </p:spPr>
        <p:txBody>
          <a:bodyPr wrap="none" lIns="0" tIns="0" rIns="0" bIns="0">
            <a:spAutoFit/>
          </a:bodyPr>
          <a:lstStyle/>
          <a:p>
            <a:pPr algn="r">
              <a:defRPr sz="900">
                <a:solidFill>
                  <a:srgbClr val="64748B"/>
                </a:solidFill>
                <a:latin typeface="Calibri"/>
              </a:defRPr>
            </a:pPr>
            <a:r>
              <a:t>Medical Specialty Classification using TF-IDF and Ensemble Machine Learning</a:t>
            </a:r>
          </a:p>
        </p:txBody>
      </p:sp>
      <p:sp>
        <p:nvSpPr>
          <p:cNvPr id="4" name="TextBox 3"/>
          <p:cNvSpPr txBox="1"/>
          <p:nvPr/>
        </p:nvSpPr>
        <p:spPr>
          <a:xfrm>
            <a:off x="731520" y="502920"/>
            <a:ext cx="10728655" cy="457200"/>
          </a:xfrm>
          <a:prstGeom prst="rect">
            <a:avLst/>
          </a:prstGeom>
          <a:noFill/>
        </p:spPr>
        <p:txBody>
          <a:bodyPr wrap="square" lIns="0" tIns="0" rIns="0" bIns="0">
            <a:spAutoFit/>
          </a:bodyPr>
          <a:lstStyle/>
          <a:p>
            <a:pPr>
              <a:defRPr sz="2100" b="1">
                <a:solidFill>
                  <a:srgbClr val="0F172A"/>
                </a:solidFill>
                <a:latin typeface="Calibri"/>
              </a:defRPr>
            </a:pPr>
            <a:r>
              <a:t>Proposed End-to-End System Project Pipeline</a:t>
            </a:r>
          </a:p>
        </p:txBody>
      </p:sp>
      <p:sp>
        <p:nvSpPr>
          <p:cNvPr id="5" name="Rectangle 4"/>
          <p:cNvSpPr/>
          <p:nvPr/>
        </p:nvSpPr>
        <p:spPr>
          <a:xfrm>
            <a:off x="731520" y="1005840"/>
            <a:ext cx="10728655" cy="13716"/>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31520" y="6355080"/>
            <a:ext cx="10728655" cy="13716"/>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6419088"/>
            <a:ext cx="5486400" cy="274320"/>
          </a:xfrm>
          <a:prstGeom prst="rect">
            <a:avLst/>
          </a:prstGeom>
          <a:noFill/>
        </p:spPr>
        <p:txBody>
          <a:bodyPr wrap="none" lIns="0" tIns="0" rIns="0" bIns="0">
            <a:spAutoFit/>
          </a:bodyPr>
          <a:lstStyle/>
          <a:p>
            <a:pPr>
              <a:defRPr sz="950">
                <a:solidFill>
                  <a:srgbClr val="64748B"/>
                </a:solidFill>
                <a:latin typeface="Calibri"/>
              </a:defRPr>
            </a:pPr>
            <a:r>
              <a:t>Department of Computer Applications | MACE</a:t>
            </a:r>
          </a:p>
        </p:txBody>
      </p:sp>
      <p:sp>
        <p:nvSpPr>
          <p:cNvPr id="8" name="TextBox 7"/>
          <p:cNvSpPr txBox="1"/>
          <p:nvPr/>
        </p:nvSpPr>
        <p:spPr>
          <a:xfrm>
            <a:off x="4114800" y="6419088"/>
            <a:ext cx="4114800" cy="274320"/>
          </a:xfrm>
          <a:prstGeom prst="rect">
            <a:avLst/>
          </a:prstGeom>
          <a:noFill/>
        </p:spPr>
        <p:txBody>
          <a:bodyPr wrap="none" lIns="0" tIns="0" rIns="0" bIns="0">
            <a:spAutoFit/>
          </a:bodyPr>
          <a:lstStyle/>
          <a:p>
            <a:pPr algn="ctr">
              <a:defRPr sz="900">
                <a:solidFill>
                  <a:srgbClr val="64748B"/>
                </a:solidFill>
                <a:latin typeface="Calibri"/>
              </a:defRPr>
            </a:pPr>
            <a:r>
              <a:t>Mar Athanasius College of Engineering, Kothamangalam</a:t>
            </a:r>
          </a:p>
        </p:txBody>
      </p:sp>
      <p:sp>
        <p:nvSpPr>
          <p:cNvPr id="9" name="TextBox 8"/>
          <p:cNvSpPr txBox="1"/>
          <p:nvPr/>
        </p:nvSpPr>
        <p:spPr>
          <a:xfrm>
            <a:off x="8716975" y="6419088"/>
            <a:ext cx="2743200" cy="274320"/>
          </a:xfrm>
          <a:prstGeom prst="rect">
            <a:avLst/>
          </a:prstGeom>
          <a:noFill/>
        </p:spPr>
        <p:txBody>
          <a:bodyPr wrap="none" lIns="0" tIns="0" rIns="0" bIns="0">
            <a:spAutoFit/>
          </a:bodyPr>
          <a:lstStyle/>
          <a:p>
            <a:pPr algn="r">
              <a:defRPr sz="950" b="1">
                <a:solidFill>
                  <a:srgbClr val="1D4ED8"/>
                </a:solidFill>
                <a:latin typeface="Calibri"/>
              </a:defRPr>
            </a:pPr>
            <a:r>
              <a:t>Slide 12 of 15</a:t>
            </a:r>
          </a:p>
        </p:txBody>
      </p:sp>
      <p:pic>
        <p:nvPicPr>
          <p:cNvPr id="10" name="Picture 9" descr="07_project_pipeline.png"/>
          <p:cNvPicPr>
            <a:picLocks noChangeAspect="1"/>
          </p:cNvPicPr>
          <p:nvPr/>
        </p:nvPicPr>
        <p:blipFill>
          <a:blip r:embed="rId2"/>
          <a:stretch>
            <a:fillRect/>
          </a:stretch>
        </p:blipFill>
        <p:spPr>
          <a:xfrm>
            <a:off x="731520" y="1188720"/>
            <a:ext cx="6217920" cy="4946904"/>
          </a:xfrm>
          <a:prstGeom prst="rect">
            <a:avLst/>
          </a:prstGeom>
        </p:spPr>
      </p:pic>
      <p:sp>
        <p:nvSpPr>
          <p:cNvPr id="11" name="Rounded Rectangle 10"/>
          <p:cNvSpPr/>
          <p:nvPr/>
        </p:nvSpPr>
        <p:spPr>
          <a:xfrm>
            <a:off x="7205472" y="1188720"/>
            <a:ext cx="4251960" cy="1572768"/>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205472" y="1188720"/>
            <a:ext cx="73152" cy="1572768"/>
          </a:xfrm>
          <a:prstGeom prst="rect">
            <a:avLst/>
          </a:prstGeom>
          <a:solidFill>
            <a:srgbClr val="1D4E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88352" y="1280160"/>
            <a:ext cx="3931920" cy="1389888"/>
          </a:xfrm>
          <a:prstGeom prst="rect">
            <a:avLst/>
          </a:prstGeom>
          <a:noFill/>
        </p:spPr>
        <p:txBody>
          <a:bodyPr wrap="square">
            <a:spAutoFit/>
          </a:bodyPr>
          <a:lstStyle/>
          <a:p>
            <a:pPr>
              <a:defRPr sz="1050" b="1">
                <a:solidFill>
                  <a:srgbClr val="1D4ED8"/>
                </a:solidFill>
              </a:defRPr>
            </a:pPr>
            <a:r>
              <a:t>CONTAINER 1: DATA STAGE</a:t>
            </a:r>
          </a:p>
          <a:p>
            <a:pPr>
              <a:spcBef>
                <a:spcPts val="200"/>
              </a:spcBef>
              <a:defRPr sz="850">
                <a:solidFill>
                  <a:srgbClr val="334155"/>
                </a:solidFill>
              </a:defRPr>
            </a:pPr>
            <a:r>
              <a:t>•  Kaggle MTSamples: 4,966 cleaned multi-specialty clinical transcriptions.</a:t>
            </a:r>
          </a:p>
          <a:p>
            <a:pPr>
              <a:spcBef>
                <a:spcPts val="200"/>
              </a:spcBef>
              <a:defRPr sz="850">
                <a:solidFill>
                  <a:srgbClr val="334155"/>
                </a:solidFill>
              </a:defRPr>
            </a:pPr>
            <a:r>
              <a:t>•  Text Preprocessing: Lowercasing, character cleaning, stop-word removal, and WordNet lemmatization.</a:t>
            </a:r>
          </a:p>
          <a:p>
            <a:pPr>
              <a:spcBef>
                <a:spcPts val="200"/>
              </a:spcBef>
              <a:defRPr sz="850">
                <a:solidFill>
                  <a:srgbClr val="334155"/>
                </a:solidFill>
              </a:defRPr>
            </a:pPr>
            <a:r>
              <a:t>•  TF-IDF Vectorization: Unigram and bigram features with sublinear scaling transformed into a sparse numerical feature matrix.</a:t>
            </a:r>
          </a:p>
        </p:txBody>
      </p:sp>
      <p:sp>
        <p:nvSpPr>
          <p:cNvPr id="14" name="Rounded Rectangle 13"/>
          <p:cNvSpPr/>
          <p:nvPr/>
        </p:nvSpPr>
        <p:spPr>
          <a:xfrm>
            <a:off x="7205472" y="2880360"/>
            <a:ext cx="4251960" cy="1572768"/>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205472" y="2880360"/>
            <a:ext cx="73152" cy="1572768"/>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88352" y="2971800"/>
            <a:ext cx="3931920" cy="1389888"/>
          </a:xfrm>
          <a:prstGeom prst="rect">
            <a:avLst/>
          </a:prstGeom>
          <a:noFill/>
        </p:spPr>
        <p:txBody>
          <a:bodyPr wrap="square">
            <a:spAutoFit/>
          </a:bodyPr>
          <a:lstStyle/>
          <a:p>
            <a:pPr>
              <a:defRPr sz="1050" b="1">
                <a:solidFill>
                  <a:srgbClr val="0D9488"/>
                </a:solidFill>
              </a:defRPr>
            </a:pPr>
            <a:r>
              <a:t>CONTAINER 2: MODEL BUILDING</a:t>
            </a:r>
          </a:p>
          <a:p>
            <a:pPr>
              <a:spcBef>
                <a:spcPts val="200"/>
              </a:spcBef>
              <a:defRPr sz="850">
                <a:solidFill>
                  <a:srgbClr val="334155"/>
                </a:solidFill>
              </a:defRPr>
            </a:pPr>
            <a:r>
              <a:t>•  80/20 Stratified Split: Strict preservation of minority class proportions across all 40 specialties.</a:t>
            </a:r>
          </a:p>
          <a:p>
            <a:pPr>
              <a:spcBef>
                <a:spcPts val="200"/>
              </a:spcBef>
              <a:defRPr sz="850">
                <a:solidFill>
                  <a:srgbClr val="334155"/>
                </a:solidFill>
              </a:defRPr>
            </a:pPr>
            <a:r>
              <a:t>•  Parallel Training: Calibrated SVM, Random Forest, Logistic Regression, and Multinomial Naive Bayes.</a:t>
            </a:r>
          </a:p>
          <a:p>
            <a:pPr>
              <a:spcBef>
                <a:spcPts val="200"/>
              </a:spcBef>
              <a:defRPr sz="850">
                <a:solidFill>
                  <a:srgbClr val="334155"/>
                </a:solidFill>
              </a:defRPr>
            </a:pPr>
            <a:r>
              <a:t>•  Soft Voting Ensemble: Synthesizes probability consensus via average pooling; evaluated across multi-class metrics.</a:t>
            </a:r>
          </a:p>
        </p:txBody>
      </p:sp>
      <p:sp>
        <p:nvSpPr>
          <p:cNvPr id="17" name="Rounded Rectangle 16"/>
          <p:cNvSpPr/>
          <p:nvPr/>
        </p:nvSpPr>
        <p:spPr>
          <a:xfrm>
            <a:off x="7205472" y="4572000"/>
            <a:ext cx="4251960" cy="1572768"/>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205472" y="4572000"/>
            <a:ext cx="73152" cy="1572768"/>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388352" y="4663440"/>
            <a:ext cx="3931920" cy="1389888"/>
          </a:xfrm>
          <a:prstGeom prst="rect">
            <a:avLst/>
          </a:prstGeom>
          <a:noFill/>
        </p:spPr>
        <p:txBody>
          <a:bodyPr wrap="square">
            <a:spAutoFit/>
          </a:bodyPr>
          <a:lstStyle/>
          <a:p>
            <a:pPr>
              <a:defRPr sz="1050" b="1">
                <a:solidFill>
                  <a:srgbClr val="7C3AED"/>
                </a:solidFill>
              </a:defRPr>
            </a:pPr>
            <a:r>
              <a:t>CONTAINER 3: DEPLOYMENT STAGE</a:t>
            </a:r>
          </a:p>
          <a:p>
            <a:pPr>
              <a:spcBef>
                <a:spcPts val="200"/>
              </a:spcBef>
              <a:defRPr sz="850">
                <a:solidFill>
                  <a:srgbClr val="334155"/>
                </a:solidFill>
              </a:defRPr>
            </a:pPr>
            <a:r>
              <a:t>•  Flask Web Application: Interactive clinician-facing dashboard for clinical note entry and automated triage.</a:t>
            </a:r>
          </a:p>
          <a:p>
            <a:pPr>
              <a:spcBef>
                <a:spcPts val="200"/>
              </a:spcBef>
              <a:defRPr sz="850">
                <a:solidFill>
                  <a:srgbClr val="334155"/>
                </a:solidFill>
              </a:defRPr>
            </a:pPr>
            <a:r>
              <a:t>•  Pipeline Serialization: Trained TF-IDF vectorizer and ensemble model are serialized together for deployment.</a:t>
            </a:r>
          </a:p>
          <a:p>
            <a:pPr>
              <a:spcBef>
                <a:spcPts val="200"/>
              </a:spcBef>
              <a:defRPr sz="850">
                <a:solidFill>
                  <a:srgbClr val="334155"/>
                </a:solidFill>
              </a:defRPr>
            </a:pPr>
            <a:r>
              <a:t>•  Confidence Output: Returns predicted specialty category and associated classification confidence percentage.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256032"/>
            <a:ext cx="5486400" cy="274320"/>
          </a:xfrm>
          <a:prstGeom prst="rect">
            <a:avLst/>
          </a:prstGeom>
          <a:noFill/>
        </p:spPr>
        <p:txBody>
          <a:bodyPr wrap="none" lIns="0" tIns="0" rIns="0" bIns="0">
            <a:spAutoFit/>
          </a:bodyPr>
          <a:lstStyle/>
          <a:p>
            <a:pPr>
              <a:defRPr sz="950" b="1">
                <a:solidFill>
                  <a:srgbClr val="0D9488"/>
                </a:solidFill>
                <a:latin typeface="Calibri"/>
              </a:defRPr>
            </a:pPr>
            <a:r>
              <a:t>MCA MINI PROJECT  |  PROGRESS &amp; ROADMAP</a:t>
            </a:r>
          </a:p>
        </p:txBody>
      </p:sp>
      <p:sp>
        <p:nvSpPr>
          <p:cNvPr id="3" name="TextBox 2"/>
          <p:cNvSpPr txBox="1"/>
          <p:nvPr/>
        </p:nvSpPr>
        <p:spPr>
          <a:xfrm>
            <a:off x="5029200" y="256032"/>
            <a:ext cx="6430975" cy="274320"/>
          </a:xfrm>
          <a:prstGeom prst="rect">
            <a:avLst/>
          </a:prstGeom>
          <a:noFill/>
        </p:spPr>
        <p:txBody>
          <a:bodyPr wrap="none" lIns="0" tIns="0" rIns="0" bIns="0">
            <a:spAutoFit/>
          </a:bodyPr>
          <a:lstStyle/>
          <a:p>
            <a:pPr algn="r">
              <a:defRPr sz="900">
                <a:solidFill>
                  <a:srgbClr val="64748B"/>
                </a:solidFill>
                <a:latin typeface="Calibri"/>
              </a:defRPr>
            </a:pPr>
            <a:r>
              <a:t>Medical Specialty Classification using TF-IDF and Ensemble Machine Learning</a:t>
            </a:r>
          </a:p>
        </p:txBody>
      </p:sp>
      <p:sp>
        <p:nvSpPr>
          <p:cNvPr id="4" name="TextBox 3"/>
          <p:cNvSpPr txBox="1"/>
          <p:nvPr/>
        </p:nvSpPr>
        <p:spPr>
          <a:xfrm>
            <a:off x="731520" y="502920"/>
            <a:ext cx="10728655" cy="457200"/>
          </a:xfrm>
          <a:prstGeom prst="rect">
            <a:avLst/>
          </a:prstGeom>
          <a:noFill/>
        </p:spPr>
        <p:txBody>
          <a:bodyPr wrap="square" lIns="0" tIns="0" rIns="0" bIns="0">
            <a:spAutoFit/>
          </a:bodyPr>
          <a:lstStyle/>
          <a:p>
            <a:pPr>
              <a:defRPr sz="2100" b="1">
                <a:solidFill>
                  <a:srgbClr val="0F172A"/>
                </a:solidFill>
                <a:latin typeface="Calibri"/>
              </a:defRPr>
            </a:pPr>
            <a:r>
              <a:t>Current Project Progress &amp; Implementation Roadmap</a:t>
            </a:r>
          </a:p>
        </p:txBody>
      </p:sp>
      <p:sp>
        <p:nvSpPr>
          <p:cNvPr id="5" name="Rectangle 4"/>
          <p:cNvSpPr/>
          <p:nvPr/>
        </p:nvSpPr>
        <p:spPr>
          <a:xfrm>
            <a:off x="731520" y="1005840"/>
            <a:ext cx="10728655" cy="13716"/>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31520" y="6355080"/>
            <a:ext cx="10728655" cy="13716"/>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6419088"/>
            <a:ext cx="5486400" cy="274320"/>
          </a:xfrm>
          <a:prstGeom prst="rect">
            <a:avLst/>
          </a:prstGeom>
          <a:noFill/>
        </p:spPr>
        <p:txBody>
          <a:bodyPr wrap="none" lIns="0" tIns="0" rIns="0" bIns="0">
            <a:spAutoFit/>
          </a:bodyPr>
          <a:lstStyle/>
          <a:p>
            <a:pPr>
              <a:defRPr sz="950">
                <a:solidFill>
                  <a:srgbClr val="64748B"/>
                </a:solidFill>
                <a:latin typeface="Calibri"/>
              </a:defRPr>
            </a:pPr>
            <a:r>
              <a:t>Department of Computer Applications | MACE</a:t>
            </a:r>
          </a:p>
        </p:txBody>
      </p:sp>
      <p:sp>
        <p:nvSpPr>
          <p:cNvPr id="8" name="TextBox 7"/>
          <p:cNvSpPr txBox="1"/>
          <p:nvPr/>
        </p:nvSpPr>
        <p:spPr>
          <a:xfrm>
            <a:off x="4114800" y="6419088"/>
            <a:ext cx="4114800" cy="274320"/>
          </a:xfrm>
          <a:prstGeom prst="rect">
            <a:avLst/>
          </a:prstGeom>
          <a:noFill/>
        </p:spPr>
        <p:txBody>
          <a:bodyPr wrap="none" lIns="0" tIns="0" rIns="0" bIns="0">
            <a:spAutoFit/>
          </a:bodyPr>
          <a:lstStyle/>
          <a:p>
            <a:pPr algn="ctr">
              <a:defRPr sz="900">
                <a:solidFill>
                  <a:srgbClr val="64748B"/>
                </a:solidFill>
                <a:latin typeface="Calibri"/>
              </a:defRPr>
            </a:pPr>
            <a:r>
              <a:t>Mar Athanasius College of Engineering, Kothamangalam</a:t>
            </a:r>
          </a:p>
        </p:txBody>
      </p:sp>
      <p:sp>
        <p:nvSpPr>
          <p:cNvPr id="9" name="TextBox 8"/>
          <p:cNvSpPr txBox="1"/>
          <p:nvPr/>
        </p:nvSpPr>
        <p:spPr>
          <a:xfrm>
            <a:off x="8716975" y="6419088"/>
            <a:ext cx="2743200" cy="274320"/>
          </a:xfrm>
          <a:prstGeom prst="rect">
            <a:avLst/>
          </a:prstGeom>
          <a:noFill/>
        </p:spPr>
        <p:txBody>
          <a:bodyPr wrap="none" lIns="0" tIns="0" rIns="0" bIns="0">
            <a:spAutoFit/>
          </a:bodyPr>
          <a:lstStyle/>
          <a:p>
            <a:pPr algn="r">
              <a:defRPr sz="950" b="1">
                <a:solidFill>
                  <a:srgbClr val="1D4ED8"/>
                </a:solidFill>
                <a:latin typeface="Calibri"/>
              </a:defRPr>
            </a:pPr>
            <a:r>
              <a:t>Slide 13 of 15</a:t>
            </a:r>
          </a:p>
        </p:txBody>
      </p:sp>
      <p:sp>
        <p:nvSpPr>
          <p:cNvPr id="10" name="Rounded Rectangle 9"/>
          <p:cNvSpPr/>
          <p:nvPr/>
        </p:nvSpPr>
        <p:spPr>
          <a:xfrm>
            <a:off x="731520" y="1188720"/>
            <a:ext cx="5230368" cy="4114800"/>
          </a:xfrm>
          <a:prstGeom prst="roundRect">
            <a:avLst/>
          </a:prstGeom>
          <a:solidFill>
            <a:srgbClr val="FFFFFF"/>
          </a:solidFill>
          <a:ln w="12700">
            <a:solidFill>
              <a:srgbClr val="BBF7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60120" y="1325880"/>
            <a:ext cx="4773168" cy="3840480"/>
          </a:xfrm>
          <a:prstGeom prst="rect">
            <a:avLst/>
          </a:prstGeom>
          <a:noFill/>
        </p:spPr>
        <p:txBody>
          <a:bodyPr wrap="square">
            <a:spAutoFit/>
          </a:bodyPr>
          <a:lstStyle/>
          <a:p>
            <a:pPr>
              <a:defRPr sz="1200" b="1">
                <a:solidFill>
                  <a:srgbClr val="166534"/>
                </a:solidFill>
              </a:defRPr>
            </a:pPr>
            <a:r>
              <a:t>CURRENT PROGRESS (PHASE 1 / SPRINT RELEASE I)</a:t>
            </a:r>
          </a:p>
          <a:p>
            <a:pPr>
              <a:spcBef>
                <a:spcPts val="400"/>
              </a:spcBef>
              <a:defRPr sz="950" b="1">
                <a:solidFill>
                  <a:srgbClr val="0F172A"/>
                </a:solidFill>
              </a:defRPr>
            </a:pPr>
            <a:r>
              <a:t>✓  Comprehensive Literature Review: </a:t>
            </a:r>
            <a:r>
              <a:rPr b="0" sz="850">
                <a:solidFill>
                  <a:srgbClr val="334155"/>
                </a:solidFill>
              </a:rPr>
              <a:t>Surveyed clinical NLP and machine learning papers, establishing preprocessing standards.</a:t>
            </a:r>
          </a:p>
          <a:p>
            <a:pPr>
              <a:spcBef>
                <a:spcPts val="400"/>
              </a:spcBef>
              <a:defRPr sz="950" b="1">
                <a:solidFill>
                  <a:srgbClr val="0F172A"/>
                </a:solidFill>
              </a:defRPr>
            </a:pPr>
            <a:r>
              <a:t>✓  Dataset Acquisition &amp; Cleaning Audit: </a:t>
            </a:r>
            <a:r>
              <a:rPr b="0" sz="850">
                <a:solidFill>
                  <a:srgbClr val="334155"/>
                </a:solidFill>
              </a:rPr>
              <a:t>Acquired Kaggle MTSamples (4,999 records); identified and pruned 33 blank transcripts.</a:t>
            </a:r>
          </a:p>
          <a:p>
            <a:pPr>
              <a:spcBef>
                <a:spcPts val="400"/>
              </a:spcBef>
              <a:defRPr sz="950" b="1">
                <a:solidFill>
                  <a:srgbClr val="0F172A"/>
                </a:solidFill>
              </a:defRPr>
            </a:pPr>
            <a:r>
              <a:t>✓  Complete Exploratory Data Analysis: </a:t>
            </a:r>
            <a:r>
              <a:rPr b="0" sz="850">
                <a:solidFill>
                  <a:srgbClr val="334155"/>
                </a:solidFill>
              </a:rPr>
              <a:t>Generated 6 specialized visual distributions covering missing values, class imbalance, and text lengths.</a:t>
            </a:r>
          </a:p>
          <a:p>
            <a:pPr>
              <a:spcBef>
                <a:spcPts val="400"/>
              </a:spcBef>
              <a:defRPr sz="950" b="1">
                <a:solidFill>
                  <a:srgbClr val="0F172A"/>
                </a:solidFill>
              </a:defRPr>
            </a:pPr>
            <a:r>
              <a:t>✓  Class Imbalance Profiling: </a:t>
            </a:r>
            <a:r>
              <a:rPr b="0" sz="850">
                <a:solidFill>
                  <a:srgbClr val="334155"/>
                </a:solidFill>
              </a:rPr>
              <a:t>Characterized severe class skew across 40 specialties, formulating stratified sampling strategy.</a:t>
            </a:r>
          </a:p>
          <a:p>
            <a:pPr>
              <a:spcBef>
                <a:spcPts val="400"/>
              </a:spcBef>
              <a:defRPr sz="950" b="1">
                <a:solidFill>
                  <a:srgbClr val="0F172A"/>
                </a:solidFill>
              </a:defRPr>
            </a:pPr>
            <a:r>
              <a:t>✓  NLP Preprocessing Pipeline Design: </a:t>
            </a:r>
            <a:r>
              <a:rPr b="0" sz="850">
                <a:solidFill>
                  <a:srgbClr val="334155"/>
                </a:solidFill>
              </a:rPr>
              <a:t>Finalized 5-step sequence: Character Cleaning, Lowercasing, Tokenization, Stop-word Removal, and Lemmatization.</a:t>
            </a:r>
          </a:p>
          <a:p>
            <a:pPr>
              <a:spcBef>
                <a:spcPts val="400"/>
              </a:spcBef>
              <a:defRPr sz="950" b="1">
                <a:solidFill>
                  <a:srgbClr val="0F172A"/>
                </a:solidFill>
              </a:defRPr>
            </a:pPr>
            <a:r>
              <a:t>✓  TF-IDF Vectorization Architecture: </a:t>
            </a:r>
            <a:r>
              <a:rPr b="0" sz="850">
                <a:solidFill>
                  <a:srgbClr val="334155"/>
                </a:solidFill>
              </a:rPr>
              <a:t>Selected unigram/bigram tokenization with sublinear term-frequency scaling and L2 normalization.</a:t>
            </a:r>
          </a:p>
          <a:p>
            <a:pPr>
              <a:spcBef>
                <a:spcPts val="400"/>
              </a:spcBef>
              <a:defRPr sz="950" b="1">
                <a:solidFill>
                  <a:srgbClr val="0F172A"/>
                </a:solidFill>
              </a:defRPr>
            </a:pPr>
            <a:r>
              <a:t>✓  Model &amp; Ensemble Architecture Formulated: </a:t>
            </a:r>
            <a:r>
              <a:rPr b="0" sz="850">
                <a:solidFill>
                  <a:srgbClr val="334155"/>
                </a:solidFill>
              </a:rPr>
              <a:t>Selected Calibrated SVM, RF, LR, MNB and soft voting probability consensus aggregation.</a:t>
            </a:r>
          </a:p>
        </p:txBody>
      </p:sp>
      <p:sp>
        <p:nvSpPr>
          <p:cNvPr id="12" name="Rounded Rectangle 11"/>
          <p:cNvSpPr/>
          <p:nvPr/>
        </p:nvSpPr>
        <p:spPr>
          <a:xfrm>
            <a:off x="6217920" y="1188720"/>
            <a:ext cx="5230368" cy="4114800"/>
          </a:xfrm>
          <a:prstGeom prst="roundRect">
            <a:avLst/>
          </a:prstGeom>
          <a:solidFill>
            <a:srgbClr val="FFFF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46520" y="1325880"/>
            <a:ext cx="4773168" cy="3840480"/>
          </a:xfrm>
          <a:prstGeom prst="rect">
            <a:avLst/>
          </a:prstGeom>
          <a:noFill/>
        </p:spPr>
        <p:txBody>
          <a:bodyPr wrap="square">
            <a:spAutoFit/>
          </a:bodyPr>
          <a:lstStyle/>
          <a:p>
            <a:pPr>
              <a:defRPr sz="1200" b="1">
                <a:solidFill>
                  <a:srgbClr val="1D4ED8"/>
                </a:solidFill>
              </a:defRPr>
            </a:pPr>
            <a:r>
              <a:t>PLANNED NEXT STEPS (PHASE 2 / SPRINT RELEASE II)</a:t>
            </a:r>
          </a:p>
          <a:p>
            <a:pPr>
              <a:spcBef>
                <a:spcPts val="400"/>
              </a:spcBef>
              <a:defRPr sz="950" b="1">
                <a:solidFill>
                  <a:srgbClr val="0F172A"/>
                </a:solidFill>
              </a:defRPr>
            </a:pPr>
            <a:r>
              <a:t>→  Execute Automated Preprocessing Pipeline: </a:t>
            </a:r>
            <a:r>
              <a:rPr b="0" sz="850">
                <a:solidFill>
                  <a:srgbClr val="334155"/>
                </a:solidFill>
              </a:rPr>
              <a:t>Implement modular Python text cleaner to generate clean tokenized transcripts.</a:t>
            </a:r>
          </a:p>
          <a:p>
            <a:pPr>
              <a:spcBef>
                <a:spcPts val="400"/>
              </a:spcBef>
              <a:defRPr sz="950" b="1">
                <a:solidFill>
                  <a:srgbClr val="0F172A"/>
                </a:solidFill>
              </a:defRPr>
            </a:pPr>
            <a:r>
              <a:t>→  TF-IDF Vectorizer &amp; Feature Representation: </a:t>
            </a:r>
            <a:r>
              <a:rPr b="0" sz="850">
                <a:solidFill>
                  <a:srgbClr val="334155"/>
                </a:solidFill>
              </a:rPr>
              <a:t>Fit and persist TF-IDF vectorizer; generate high-dimensional sparse feature matrix.</a:t>
            </a:r>
          </a:p>
          <a:p>
            <a:pPr>
              <a:spcBef>
                <a:spcPts val="400"/>
              </a:spcBef>
              <a:defRPr sz="950" b="1">
                <a:solidFill>
                  <a:srgbClr val="0F172A"/>
                </a:solidFill>
              </a:defRPr>
            </a:pPr>
            <a:r>
              <a:t>→  Candidate Model Training: </a:t>
            </a:r>
            <a:r>
              <a:rPr b="0" sz="850">
                <a:solidFill>
                  <a:srgbClr val="334155"/>
                </a:solidFill>
              </a:rPr>
              <a:t>Train Calibrated SVM, Random Forest, Logistic Regression, and Multinomial Naive Bayes classifiers.</a:t>
            </a:r>
          </a:p>
          <a:p>
            <a:pPr>
              <a:spcBef>
                <a:spcPts val="400"/>
              </a:spcBef>
              <a:defRPr sz="950" b="1">
                <a:solidFill>
                  <a:srgbClr val="0F172A"/>
                </a:solidFill>
              </a:defRPr>
            </a:pPr>
            <a:r>
              <a:t>→  Soft Voting Ensemble Implementation: </a:t>
            </a:r>
            <a:r>
              <a:rPr b="0" sz="850">
                <a:solidFill>
                  <a:srgbClr val="334155"/>
                </a:solidFill>
              </a:rPr>
              <a:t>Implement soft consensus probability aggregation combining all four candidate estimators.</a:t>
            </a:r>
          </a:p>
          <a:p>
            <a:pPr>
              <a:spcBef>
                <a:spcPts val="400"/>
              </a:spcBef>
              <a:defRPr sz="950" b="1">
                <a:solidFill>
                  <a:srgbClr val="0F172A"/>
                </a:solidFill>
              </a:defRPr>
            </a:pPr>
            <a:r>
              <a:t>→  Rigorous Multi-Class Model Evaluation: </a:t>
            </a:r>
            <a:r>
              <a:rPr b="0" sz="850">
                <a:solidFill>
                  <a:srgbClr val="334155"/>
                </a:solidFill>
              </a:rPr>
              <a:t>Compute multi-class evaluation metrics: Macro/Weighted Precision, Recall, F1, and Confusion Matrices.</a:t>
            </a:r>
          </a:p>
          <a:p>
            <a:pPr>
              <a:spcBef>
                <a:spcPts val="400"/>
              </a:spcBef>
              <a:defRPr sz="950" b="1">
                <a:solidFill>
                  <a:srgbClr val="0F172A"/>
                </a:solidFill>
              </a:defRPr>
            </a:pPr>
            <a:r>
              <a:t>→  Model Serialization &amp; Web Deployment: </a:t>
            </a:r>
            <a:r>
              <a:rPr b="0" sz="850">
                <a:solidFill>
                  <a:srgbClr val="334155"/>
                </a:solidFill>
              </a:rPr>
              <a:t>Serialize trained ensemble with Joblib; build interactive clinician dashboard using Flask.</a:t>
            </a:r>
          </a:p>
          <a:p>
            <a:pPr>
              <a:spcBef>
                <a:spcPts val="400"/>
              </a:spcBef>
              <a:defRPr sz="950" b="1">
                <a:solidFill>
                  <a:srgbClr val="0F172A"/>
                </a:solidFill>
              </a:defRPr>
            </a:pPr>
            <a:r>
              <a:t>→  System Testing &amp; Validation: </a:t>
            </a:r>
            <a:r>
              <a:rPr b="0" sz="850">
                <a:solidFill>
                  <a:srgbClr val="334155"/>
                </a:solidFill>
              </a:rPr>
              <a:t>Validate inference latency, specialty prediction accuracy, and confidence score reliability.</a:t>
            </a:r>
          </a:p>
        </p:txBody>
      </p:sp>
      <p:sp>
        <p:nvSpPr>
          <p:cNvPr id="14" name="Rounded Rectangle 13"/>
          <p:cNvSpPr/>
          <p:nvPr/>
        </p:nvSpPr>
        <p:spPr>
          <a:xfrm>
            <a:off x="731520" y="5440680"/>
            <a:ext cx="10716768" cy="731520"/>
          </a:xfrm>
          <a:prstGeom prst="roundRect">
            <a:avLst/>
          </a:prstGeom>
          <a:solidFill>
            <a:srgbClr val="F0FDFA"/>
          </a:solidFill>
          <a:ln w="12700">
            <a:solidFill>
              <a:srgbClr val="99F6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14400" y="5504688"/>
            <a:ext cx="10351008" cy="594360"/>
          </a:xfrm>
          <a:prstGeom prst="rect">
            <a:avLst/>
          </a:prstGeom>
          <a:noFill/>
        </p:spPr>
        <p:txBody>
          <a:bodyPr wrap="square">
            <a:spAutoFit/>
          </a:bodyPr>
          <a:lstStyle/>
          <a:p>
            <a:pPr>
              <a:defRPr sz="1000" b="1">
                <a:solidFill>
                  <a:srgbClr val="0D9488"/>
                </a:solidFill>
              </a:defRPr>
            </a:pPr>
            <a:r>
              <a:t>CURRENT STATUS SUMMARY &amp; MILESTONE ALIGNMENT</a:t>
            </a:r>
          </a:p>
          <a:p>
            <a:pPr>
              <a:defRPr sz="850">
                <a:solidFill>
                  <a:srgbClr val="334155"/>
                </a:solidFill>
              </a:defRPr>
            </a:pPr>
            <a:r>
              <a:t>The project has successfully completed the literature review, dataset exploration, and architectural design phases (Sprint Release I). The implementation phase is now commencing according to the project timeline.</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256032"/>
            <a:ext cx="5486400" cy="274320"/>
          </a:xfrm>
          <a:prstGeom prst="rect">
            <a:avLst/>
          </a:prstGeom>
          <a:noFill/>
        </p:spPr>
        <p:txBody>
          <a:bodyPr wrap="none" lIns="0" tIns="0" rIns="0" bIns="0">
            <a:spAutoFit/>
          </a:bodyPr>
          <a:lstStyle/>
          <a:p>
            <a:pPr>
              <a:defRPr sz="950" b="1">
                <a:solidFill>
                  <a:srgbClr val="0D9488"/>
                </a:solidFill>
                <a:latin typeface="Calibri"/>
              </a:defRPr>
            </a:pPr>
            <a:r>
              <a:t>MCA MINI PROJECT  |  PROJECT TIMELINE</a:t>
            </a:r>
          </a:p>
        </p:txBody>
      </p:sp>
      <p:sp>
        <p:nvSpPr>
          <p:cNvPr id="3" name="TextBox 2"/>
          <p:cNvSpPr txBox="1"/>
          <p:nvPr/>
        </p:nvSpPr>
        <p:spPr>
          <a:xfrm>
            <a:off x="5029200" y="256032"/>
            <a:ext cx="6430975" cy="274320"/>
          </a:xfrm>
          <a:prstGeom prst="rect">
            <a:avLst/>
          </a:prstGeom>
          <a:noFill/>
        </p:spPr>
        <p:txBody>
          <a:bodyPr wrap="none" lIns="0" tIns="0" rIns="0" bIns="0">
            <a:spAutoFit/>
          </a:bodyPr>
          <a:lstStyle/>
          <a:p>
            <a:pPr algn="r">
              <a:defRPr sz="900">
                <a:solidFill>
                  <a:srgbClr val="64748B"/>
                </a:solidFill>
                <a:latin typeface="Calibri"/>
              </a:defRPr>
            </a:pPr>
            <a:r>
              <a:t>Medical Specialty Classification using TF-IDF and Ensemble Machine Learning</a:t>
            </a:r>
          </a:p>
        </p:txBody>
      </p:sp>
      <p:sp>
        <p:nvSpPr>
          <p:cNvPr id="4" name="TextBox 3"/>
          <p:cNvSpPr txBox="1"/>
          <p:nvPr/>
        </p:nvSpPr>
        <p:spPr>
          <a:xfrm>
            <a:off x="731520" y="502920"/>
            <a:ext cx="10728655" cy="457200"/>
          </a:xfrm>
          <a:prstGeom prst="rect">
            <a:avLst/>
          </a:prstGeom>
          <a:noFill/>
        </p:spPr>
        <p:txBody>
          <a:bodyPr wrap="square" lIns="0" tIns="0" rIns="0" bIns="0">
            <a:spAutoFit/>
          </a:bodyPr>
          <a:lstStyle/>
          <a:p>
            <a:pPr>
              <a:defRPr sz="2100" b="1">
                <a:solidFill>
                  <a:srgbClr val="0F172A"/>
                </a:solidFill>
                <a:latin typeface="Calibri"/>
              </a:defRPr>
            </a:pPr>
            <a:r>
              <a:t>Project Timeline &amp; Milestone Schedule</a:t>
            </a:r>
          </a:p>
        </p:txBody>
      </p:sp>
      <p:sp>
        <p:nvSpPr>
          <p:cNvPr id="5" name="Rectangle 4"/>
          <p:cNvSpPr/>
          <p:nvPr/>
        </p:nvSpPr>
        <p:spPr>
          <a:xfrm>
            <a:off x="731520" y="1005840"/>
            <a:ext cx="10728655" cy="13716"/>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31520" y="6355080"/>
            <a:ext cx="10728655" cy="13716"/>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6419088"/>
            <a:ext cx="5486400" cy="274320"/>
          </a:xfrm>
          <a:prstGeom prst="rect">
            <a:avLst/>
          </a:prstGeom>
          <a:noFill/>
        </p:spPr>
        <p:txBody>
          <a:bodyPr wrap="none" lIns="0" tIns="0" rIns="0" bIns="0">
            <a:spAutoFit/>
          </a:bodyPr>
          <a:lstStyle/>
          <a:p>
            <a:pPr>
              <a:defRPr sz="950">
                <a:solidFill>
                  <a:srgbClr val="64748B"/>
                </a:solidFill>
                <a:latin typeface="Calibri"/>
              </a:defRPr>
            </a:pPr>
            <a:r>
              <a:t>Department of Computer Applications | MACE</a:t>
            </a:r>
          </a:p>
        </p:txBody>
      </p:sp>
      <p:sp>
        <p:nvSpPr>
          <p:cNvPr id="8" name="TextBox 7"/>
          <p:cNvSpPr txBox="1"/>
          <p:nvPr/>
        </p:nvSpPr>
        <p:spPr>
          <a:xfrm>
            <a:off x="4114800" y="6419088"/>
            <a:ext cx="4114800" cy="274320"/>
          </a:xfrm>
          <a:prstGeom prst="rect">
            <a:avLst/>
          </a:prstGeom>
          <a:noFill/>
        </p:spPr>
        <p:txBody>
          <a:bodyPr wrap="none" lIns="0" tIns="0" rIns="0" bIns="0">
            <a:spAutoFit/>
          </a:bodyPr>
          <a:lstStyle/>
          <a:p>
            <a:pPr algn="ctr">
              <a:defRPr sz="900">
                <a:solidFill>
                  <a:srgbClr val="64748B"/>
                </a:solidFill>
                <a:latin typeface="Calibri"/>
              </a:defRPr>
            </a:pPr>
            <a:r>
              <a:t>Mar Athanasius College of Engineering, Kothamangalam</a:t>
            </a:r>
          </a:p>
        </p:txBody>
      </p:sp>
      <p:sp>
        <p:nvSpPr>
          <p:cNvPr id="9" name="TextBox 8"/>
          <p:cNvSpPr txBox="1"/>
          <p:nvPr/>
        </p:nvSpPr>
        <p:spPr>
          <a:xfrm>
            <a:off x="8716975" y="6419088"/>
            <a:ext cx="2743200" cy="274320"/>
          </a:xfrm>
          <a:prstGeom prst="rect">
            <a:avLst/>
          </a:prstGeom>
          <a:noFill/>
        </p:spPr>
        <p:txBody>
          <a:bodyPr wrap="none" lIns="0" tIns="0" rIns="0" bIns="0">
            <a:spAutoFit/>
          </a:bodyPr>
          <a:lstStyle/>
          <a:p>
            <a:pPr algn="r">
              <a:defRPr sz="950" b="1">
                <a:solidFill>
                  <a:srgbClr val="1D4ED8"/>
                </a:solidFill>
                <a:latin typeface="Calibri"/>
              </a:defRPr>
            </a:pPr>
            <a:r>
              <a:t>Slide 14 of 15</a:t>
            </a:r>
          </a:p>
        </p:txBody>
      </p:sp>
      <p:sp>
        <p:nvSpPr>
          <p:cNvPr id="10" name="Rounded Rectangle 9"/>
          <p:cNvSpPr/>
          <p:nvPr/>
        </p:nvSpPr>
        <p:spPr>
          <a:xfrm>
            <a:off x="731520" y="1115568"/>
            <a:ext cx="10728655" cy="438912"/>
          </a:xfrm>
          <a:prstGeom prst="roundRect">
            <a:avLst/>
          </a:prstGeom>
          <a:solidFill>
            <a:srgbClr val="F0F9FF"/>
          </a:solidFill>
          <a:ln w="12700">
            <a:solidFill>
              <a:srgbClr val="BAE6F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152144"/>
            <a:ext cx="10424160" cy="365760"/>
          </a:xfrm>
          <a:prstGeom prst="rect">
            <a:avLst/>
          </a:prstGeom>
          <a:noFill/>
        </p:spPr>
        <p:txBody>
          <a:bodyPr wrap="square">
            <a:spAutoFit/>
          </a:bodyPr>
          <a:lstStyle/>
          <a:p>
            <a:pPr>
              <a:defRPr sz="950" b="1">
                <a:solidFill>
                  <a:srgbClr val="1D4ED8"/>
                </a:solidFill>
                <a:latin typeface="Calibri"/>
              </a:defRPr>
            </a:pPr>
            <a:r>
              <a:t>ACADEMIC TIMELINE &amp; PRESENTATION MILESTONES (SEMESTER 3 MCA MINI PROJECT)</a:t>
            </a:r>
          </a:p>
        </p:txBody>
      </p:sp>
      <p:sp>
        <p:nvSpPr>
          <p:cNvPr id="12" name="Rounded Rectangle 11"/>
          <p:cNvSpPr/>
          <p:nvPr/>
        </p:nvSpPr>
        <p:spPr>
          <a:xfrm>
            <a:off x="731520" y="1645920"/>
            <a:ext cx="5230368" cy="4617720"/>
          </a:xfrm>
          <a:prstGeom prst="roundRect">
            <a:avLst/>
          </a:prstGeom>
          <a:solidFill>
            <a:srgbClr val="FFFFFF"/>
          </a:solidFill>
          <a:ln w="12700">
            <a:solidFill>
              <a:srgbClr val="BBF7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96112" y="1755648"/>
            <a:ext cx="4901184" cy="4398264"/>
          </a:xfrm>
          <a:prstGeom prst="rect">
            <a:avLst/>
          </a:prstGeom>
          <a:noFill/>
        </p:spPr>
        <p:txBody>
          <a:bodyPr wrap="square">
            <a:spAutoFit/>
          </a:bodyPr>
          <a:lstStyle/>
          <a:p>
            <a:pPr>
              <a:defRPr sz="1100" b="1">
                <a:solidFill>
                  <a:srgbClr val="166534"/>
                </a:solidFill>
              </a:defRPr>
            </a:pPr>
            <a:r>
              <a:t>PHASE 1: FOUNDATION &amp; SPRINT RELEASE I</a:t>
            </a:r>
          </a:p>
          <a:p>
            <a:pPr>
              <a:spcBef>
                <a:spcPts val="500"/>
              </a:spcBef>
              <a:defRPr sz="919" b="1">
                <a:solidFill>
                  <a:srgbClr val="0F172A"/>
                </a:solidFill>
              </a:defRPr>
            </a:pPr>
            <a:r>
              <a:t>✓  [17.07.2026]  Project Proposal &amp; Synopsis Approval by Guide</a:t>
            </a:r>
          </a:p>
          <a:p>
            <a:pPr>
              <a:spcBef>
                <a:spcPts val="100"/>
              </a:spcBef>
              <a:defRPr sz="819">
                <a:solidFill>
                  <a:srgbClr val="334155"/>
                </a:solidFill>
              </a:defRPr>
            </a:pPr>
            <a:r>
              <a:t>     Formal approval of project scope, objectives, and feasibility by faculty guide.</a:t>
            </a:r>
          </a:p>
          <a:p>
            <a:pPr>
              <a:spcBef>
                <a:spcPts val="500"/>
              </a:spcBef>
              <a:defRPr sz="919" b="1">
                <a:solidFill>
                  <a:srgbClr val="0F172A"/>
                </a:solidFill>
              </a:defRPr>
            </a:pPr>
            <a:r>
              <a:t>✓  [20.07.2026 – 21.07.2026]  Project Proposal Presentation</a:t>
            </a:r>
          </a:p>
          <a:p>
            <a:pPr>
              <a:spcBef>
                <a:spcPts val="100"/>
              </a:spcBef>
              <a:defRPr sz="819">
                <a:solidFill>
                  <a:srgbClr val="334155"/>
                </a:solidFill>
              </a:defRPr>
            </a:pPr>
            <a:r>
              <a:t>     Presented proposal before Department Project Approval Committee.</a:t>
            </a:r>
          </a:p>
          <a:p>
            <a:pPr>
              <a:spcBef>
                <a:spcPts val="500"/>
              </a:spcBef>
              <a:defRPr sz="919" b="1">
                <a:solidFill>
                  <a:srgbClr val="0F172A"/>
                </a:solidFill>
              </a:defRPr>
            </a:pPr>
            <a:r>
              <a:t>✓  [Weeks 1–2]  Dataset Collection &amp; Exploratory Data Analysis</a:t>
            </a:r>
          </a:p>
          <a:p>
            <a:pPr>
              <a:spcBef>
                <a:spcPts val="100"/>
              </a:spcBef>
              <a:defRPr sz="819">
                <a:solidFill>
                  <a:srgbClr val="334155"/>
                </a:solidFill>
              </a:defRPr>
            </a:pPr>
            <a:r>
              <a:t>     Acquired Kaggle MTSamples (4,999 records); audited nulls and generated 6 EDA plots.</a:t>
            </a:r>
          </a:p>
          <a:p>
            <a:pPr>
              <a:spcBef>
                <a:spcPts val="500"/>
              </a:spcBef>
              <a:defRPr sz="919" b="1">
                <a:solidFill>
                  <a:srgbClr val="0F172A"/>
                </a:solidFill>
              </a:defRPr>
            </a:pPr>
            <a:r>
              <a:t>✓  [Weeks 3–4]  Clinical Text Preprocessing Pipeline</a:t>
            </a:r>
          </a:p>
          <a:p>
            <a:pPr>
              <a:spcBef>
                <a:spcPts val="100"/>
              </a:spcBef>
              <a:defRPr sz="819">
                <a:solidFill>
                  <a:srgbClr val="334155"/>
                </a:solidFill>
              </a:defRPr>
            </a:pPr>
            <a:r>
              <a:t>     Designed 5-step sequence: Cleaning, Lowercasing, Tokenization, Stop-words, Lemmatization.</a:t>
            </a:r>
          </a:p>
          <a:p>
            <a:pPr>
              <a:spcBef>
                <a:spcPts val="500"/>
              </a:spcBef>
              <a:defRPr sz="919" b="1">
                <a:solidFill>
                  <a:srgbClr val="0F172A"/>
                </a:solidFill>
              </a:defRPr>
            </a:pPr>
            <a:r>
              <a:t>✓  [Week 5]  TF-IDF Vectorization Architecture</a:t>
            </a:r>
          </a:p>
          <a:p>
            <a:pPr>
              <a:spcBef>
                <a:spcPts val="100"/>
              </a:spcBef>
              <a:defRPr sz="819">
                <a:solidFill>
                  <a:srgbClr val="334155"/>
                </a:solidFill>
              </a:defRPr>
            </a:pPr>
            <a:r>
              <a:t>     Formulated unigram/bigram tokenization with sublinear scaling and sparse matrix layout.</a:t>
            </a:r>
          </a:p>
          <a:p>
            <a:pPr>
              <a:spcBef>
                <a:spcPts val="500"/>
              </a:spcBef>
              <a:defRPr sz="919" b="1">
                <a:solidFill>
                  <a:srgbClr val="1D4ED8"/>
                </a:solidFill>
              </a:defRPr>
            </a:pPr>
            <a:r>
              <a:t>★  [08.09.2026]  First Project Presentation ★</a:t>
            </a:r>
          </a:p>
          <a:p>
            <a:pPr>
              <a:spcBef>
                <a:spcPts val="100"/>
              </a:spcBef>
              <a:defRPr sz="819">
                <a:solidFill>
                  <a:srgbClr val="334155"/>
                </a:solidFill>
              </a:defRPr>
            </a:pPr>
            <a:r>
              <a:t>     Current Milestone — Phase 1 Faculty Review &amp; Initial Progress Defense.</a:t>
            </a:r>
          </a:p>
          <a:p>
            <a:pPr>
              <a:spcBef>
                <a:spcPts val="500"/>
              </a:spcBef>
              <a:defRPr sz="919" b="1">
                <a:solidFill>
                  <a:srgbClr val="1D4ED8"/>
                </a:solidFill>
              </a:defRPr>
            </a:pPr>
            <a:r>
              <a:t>★  [09.09.2026]  Sprint Release I ★</a:t>
            </a:r>
          </a:p>
          <a:p>
            <a:pPr>
              <a:spcBef>
                <a:spcPts val="100"/>
              </a:spcBef>
              <a:defRPr sz="819">
                <a:solidFill>
                  <a:srgbClr val="334155"/>
                </a:solidFill>
              </a:defRPr>
            </a:pPr>
            <a:r>
              <a:t>     Formal submission: EDA diagrams, architecture specifications, and Phase 1 report.</a:t>
            </a:r>
          </a:p>
        </p:txBody>
      </p:sp>
      <p:sp>
        <p:nvSpPr>
          <p:cNvPr id="14" name="Rounded Rectangle 13"/>
          <p:cNvSpPr/>
          <p:nvPr/>
        </p:nvSpPr>
        <p:spPr>
          <a:xfrm>
            <a:off x="6217920" y="1645920"/>
            <a:ext cx="5230368" cy="4617720"/>
          </a:xfrm>
          <a:prstGeom prst="roundRect">
            <a:avLst/>
          </a:prstGeom>
          <a:solidFill>
            <a:srgbClr val="FFFF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82512" y="1755648"/>
            <a:ext cx="4901184" cy="4398264"/>
          </a:xfrm>
          <a:prstGeom prst="rect">
            <a:avLst/>
          </a:prstGeom>
          <a:noFill/>
        </p:spPr>
        <p:txBody>
          <a:bodyPr wrap="square">
            <a:spAutoFit/>
          </a:bodyPr>
          <a:lstStyle/>
          <a:p>
            <a:pPr>
              <a:defRPr sz="1100" b="1">
                <a:solidFill>
                  <a:srgbClr val="1D4ED8"/>
                </a:solidFill>
              </a:defRPr>
            </a:pPr>
            <a:r>
              <a:t>PHASES 2 &amp; 3: MODEL BUILDING, ENSEMBLE &amp; DEPLOYMENT</a:t>
            </a:r>
          </a:p>
          <a:p>
            <a:pPr>
              <a:spcBef>
                <a:spcPts val="300"/>
              </a:spcBef>
              <a:defRPr sz="880" b="1">
                <a:solidFill>
                  <a:srgbClr val="0F172A"/>
                </a:solidFill>
              </a:defRPr>
            </a:pPr>
            <a:r>
              <a:t>→  [Week 6]  Candidate Model Training &amp; Baseline Evaluation</a:t>
            </a:r>
          </a:p>
          <a:p>
            <a:pPr>
              <a:spcBef>
                <a:spcPts val="100"/>
              </a:spcBef>
              <a:defRPr sz="800">
                <a:solidFill>
                  <a:srgbClr val="334155"/>
                </a:solidFill>
              </a:defRPr>
            </a:pPr>
            <a:r>
              <a:t>     Train Calibrated SVM, Random Forest, Logistic Regression, and MNB.</a:t>
            </a:r>
          </a:p>
          <a:p>
            <a:pPr>
              <a:spcBef>
                <a:spcPts val="300"/>
              </a:spcBef>
              <a:defRPr sz="880" b="1">
                <a:solidFill>
                  <a:srgbClr val="7C3AED"/>
                </a:solidFill>
              </a:defRPr>
            </a:pPr>
            <a:r>
              <a:t>★  [18.09.2026]  Sprint Release II ★</a:t>
            </a:r>
          </a:p>
          <a:p>
            <a:pPr>
              <a:spcBef>
                <a:spcPts val="100"/>
              </a:spcBef>
              <a:defRPr sz="800">
                <a:solidFill>
                  <a:srgbClr val="334155"/>
                </a:solidFill>
              </a:defRPr>
            </a:pPr>
            <a:r>
              <a:t>     Milestone release: Trained baseline classifiers and preliminary metrics.</a:t>
            </a:r>
          </a:p>
          <a:p>
            <a:pPr>
              <a:spcBef>
                <a:spcPts val="300"/>
              </a:spcBef>
              <a:defRPr sz="880" b="1">
                <a:solidFill>
                  <a:srgbClr val="0F172A"/>
                </a:solidFill>
              </a:defRPr>
            </a:pPr>
            <a:r>
              <a:t>→  [Week 7]  Hyperparameter Tuning &amp; Model Comparison</a:t>
            </a:r>
          </a:p>
          <a:p>
            <a:pPr>
              <a:spcBef>
                <a:spcPts val="100"/>
              </a:spcBef>
              <a:defRPr sz="800">
                <a:solidFill>
                  <a:srgbClr val="334155"/>
                </a:solidFill>
              </a:defRPr>
            </a:pPr>
            <a:r>
              <a:t>     Systematic tuning and comparative performance profiling across candidate estimators.</a:t>
            </a:r>
          </a:p>
          <a:p>
            <a:pPr>
              <a:spcBef>
                <a:spcPts val="300"/>
              </a:spcBef>
              <a:defRPr sz="880" b="1">
                <a:solidFill>
                  <a:srgbClr val="0F172A"/>
                </a:solidFill>
              </a:defRPr>
            </a:pPr>
            <a:r>
              <a:t>→  [Week 8]  Soft Voting Ensemble Implementation</a:t>
            </a:r>
          </a:p>
          <a:p>
            <a:pPr>
              <a:spcBef>
                <a:spcPts val="100"/>
              </a:spcBef>
              <a:defRPr sz="800">
                <a:solidFill>
                  <a:srgbClr val="334155"/>
                </a:solidFill>
              </a:defRPr>
            </a:pPr>
            <a:r>
              <a:t>     Construct soft voting ensemble; aggregate consensus probability distributions.</a:t>
            </a:r>
          </a:p>
          <a:p>
            <a:pPr>
              <a:spcBef>
                <a:spcPts val="300"/>
              </a:spcBef>
              <a:defRPr sz="880" b="1">
                <a:solidFill>
                  <a:srgbClr val="7C3AED"/>
                </a:solidFill>
              </a:defRPr>
            </a:pPr>
            <a:r>
              <a:t>★  [29.09.2026 – 30.09.2026]  Interim Project Presentation ★</a:t>
            </a:r>
          </a:p>
          <a:p>
            <a:pPr>
              <a:spcBef>
                <a:spcPts val="100"/>
              </a:spcBef>
              <a:defRPr sz="800">
                <a:solidFill>
                  <a:srgbClr val="334155"/>
                </a:solidFill>
              </a:defRPr>
            </a:pPr>
            <a:r>
              <a:t>     Progress review and working model demonstration before faculty committee.</a:t>
            </a:r>
          </a:p>
          <a:p>
            <a:pPr>
              <a:spcBef>
                <a:spcPts val="300"/>
              </a:spcBef>
              <a:defRPr sz="880" b="1">
                <a:solidFill>
                  <a:srgbClr val="0F172A"/>
                </a:solidFill>
              </a:defRPr>
            </a:pPr>
            <a:r>
              <a:t>→  [Week 9]  Flask Web Integration &amp; Serialization</a:t>
            </a:r>
          </a:p>
          <a:p>
            <a:pPr>
              <a:spcBef>
                <a:spcPts val="100"/>
              </a:spcBef>
              <a:defRPr sz="800">
                <a:solidFill>
                  <a:srgbClr val="334155"/>
                </a:solidFill>
              </a:defRPr>
            </a:pPr>
            <a:r>
              <a:t>     Serialize pipeline with Joblib; build interactive clinician UI for live inference.</a:t>
            </a:r>
          </a:p>
          <a:p>
            <a:pPr>
              <a:spcBef>
                <a:spcPts val="300"/>
              </a:spcBef>
              <a:defRPr sz="880" b="1">
                <a:solidFill>
                  <a:srgbClr val="7C3AED"/>
                </a:solidFill>
              </a:defRPr>
            </a:pPr>
            <a:r>
              <a:t>★  [09.10.2026]  Sprint Release III ★</a:t>
            </a:r>
          </a:p>
          <a:p>
            <a:pPr>
              <a:spcBef>
                <a:spcPts val="100"/>
              </a:spcBef>
              <a:defRPr sz="800">
                <a:solidFill>
                  <a:srgbClr val="334155"/>
                </a:solidFill>
              </a:defRPr>
            </a:pPr>
            <a:r>
              <a:t>     Integrated system release: Flask web application and serialized ensemble.</a:t>
            </a:r>
          </a:p>
          <a:p>
            <a:pPr>
              <a:spcBef>
                <a:spcPts val="300"/>
              </a:spcBef>
              <a:defRPr sz="880" b="1">
                <a:solidFill>
                  <a:srgbClr val="0F172A"/>
                </a:solidFill>
              </a:defRPr>
            </a:pPr>
            <a:r>
              <a:t>→  [Weeks 10–11]  Evaluation &amp; System Testing</a:t>
            </a:r>
          </a:p>
          <a:p>
            <a:pPr>
              <a:spcBef>
                <a:spcPts val="100"/>
              </a:spcBef>
              <a:defRPr sz="800">
                <a:solidFill>
                  <a:srgbClr val="334155"/>
                </a:solidFill>
              </a:defRPr>
            </a:pPr>
            <a:r>
              <a:t>     Multi-class metrics (Macro F1, Recall), confusion matrix analysis, and validation.</a:t>
            </a:r>
          </a:p>
          <a:p>
            <a:pPr>
              <a:spcBef>
                <a:spcPts val="300"/>
              </a:spcBef>
              <a:defRPr sz="880" b="1">
                <a:solidFill>
                  <a:srgbClr val="7C3AED"/>
                </a:solidFill>
              </a:defRPr>
            </a:pPr>
            <a:r>
              <a:t>★  [22.10.2026 – 23.10.2026]  Final Project Presentation ★</a:t>
            </a:r>
          </a:p>
          <a:p>
            <a:pPr>
              <a:spcBef>
                <a:spcPts val="100"/>
              </a:spcBef>
              <a:defRPr sz="800">
                <a:solidFill>
                  <a:srgbClr val="334155"/>
                </a:solidFill>
              </a:defRPr>
            </a:pPr>
            <a:r>
              <a:t>     Comprehensive final project defense before the examination board.</a:t>
            </a:r>
          </a:p>
          <a:p>
            <a:pPr>
              <a:spcBef>
                <a:spcPts val="300"/>
              </a:spcBef>
              <a:defRPr sz="880" b="1">
                <a:solidFill>
                  <a:srgbClr val="7C3AED"/>
                </a:solidFill>
              </a:defRPr>
            </a:pPr>
            <a:r>
              <a:t>★  [30.10.2026]  Final Report Submission ★</a:t>
            </a:r>
          </a:p>
          <a:p>
            <a:pPr>
              <a:spcBef>
                <a:spcPts val="100"/>
              </a:spcBef>
              <a:defRPr sz="800">
                <a:solidFill>
                  <a:srgbClr val="334155"/>
                </a:solidFill>
              </a:defRPr>
            </a:pPr>
            <a:r>
              <a:t>     Submission of finalized documentation, technical report, and source code.</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731520" y="914400"/>
            <a:ext cx="182880" cy="5029200"/>
          </a:xfrm>
          <a:prstGeom prst="rect">
            <a:avLst/>
          </a:prstGeom>
          <a:solidFill>
            <a:srgbClr val="1D4E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88720" y="1188720"/>
            <a:ext cx="9601200" cy="1188720"/>
          </a:xfrm>
          <a:prstGeom prst="rect">
            <a:avLst/>
          </a:prstGeom>
          <a:noFill/>
        </p:spPr>
        <p:txBody>
          <a:bodyPr wrap="none">
            <a:spAutoFit/>
          </a:bodyPr>
          <a:lstStyle/>
          <a:p>
            <a:pPr>
              <a:defRPr sz="4000" b="1">
                <a:solidFill>
                  <a:srgbClr val="0F172A"/>
                </a:solidFill>
                <a:latin typeface="Calibri"/>
              </a:defRPr>
            </a:pPr>
            <a:r>
              <a:t>Thank You!</a:t>
            </a:r>
          </a:p>
          <a:p>
            <a:pPr>
              <a:spcBef>
                <a:spcPts val="400"/>
              </a:spcBef>
              <a:defRPr sz="2000" b="1">
                <a:solidFill>
                  <a:srgbClr val="0D9488"/>
                </a:solidFill>
              </a:defRPr>
            </a:pPr>
            <a:r>
              <a:t>Questions &amp; Discussion</a:t>
            </a:r>
          </a:p>
        </p:txBody>
      </p:sp>
      <p:sp>
        <p:nvSpPr>
          <p:cNvPr id="4" name="Rounded Rectangle 3"/>
          <p:cNvSpPr/>
          <p:nvPr/>
        </p:nvSpPr>
        <p:spPr>
          <a:xfrm>
            <a:off x="1188720" y="2651760"/>
            <a:ext cx="9601200" cy="109728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371600" y="2743200"/>
            <a:ext cx="9235440" cy="914400"/>
          </a:xfrm>
          <a:prstGeom prst="rect">
            <a:avLst/>
          </a:prstGeom>
          <a:noFill/>
        </p:spPr>
        <p:txBody>
          <a:bodyPr wrap="square">
            <a:spAutoFit/>
          </a:bodyPr>
          <a:lstStyle/>
          <a:p>
            <a:pPr>
              <a:defRPr sz="950" b="1">
                <a:solidFill>
                  <a:srgbClr val="1D4ED8"/>
                </a:solidFill>
              </a:defRPr>
            </a:pPr>
            <a:r>
              <a:t>PROJECT TITLE</a:t>
            </a:r>
          </a:p>
          <a:p>
            <a:pPr>
              <a:defRPr sz="1600" b="1">
                <a:solidFill>
                  <a:srgbClr val="0F172A"/>
                </a:solidFill>
              </a:defRPr>
            </a:pPr>
            <a:r>
              <a:t>Medical Specialty Classification using TF-IDF and Ensemble Machine Learning</a:t>
            </a:r>
          </a:p>
        </p:txBody>
      </p:sp>
      <p:sp>
        <p:nvSpPr>
          <p:cNvPr id="6" name="Rounded Rectangle 5"/>
          <p:cNvSpPr/>
          <p:nvPr/>
        </p:nvSpPr>
        <p:spPr>
          <a:xfrm>
            <a:off x="1188720" y="3977639"/>
            <a:ext cx="4663440" cy="16459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371600" y="4069080"/>
            <a:ext cx="4297680" cy="1371600"/>
          </a:xfrm>
          <a:prstGeom prst="rect">
            <a:avLst/>
          </a:prstGeom>
          <a:noFill/>
        </p:spPr>
        <p:txBody>
          <a:bodyPr wrap="none">
            <a:spAutoFit/>
          </a:bodyPr>
          <a:lstStyle/>
          <a:p>
            <a:pPr>
              <a:defRPr sz="950" b="1">
                <a:solidFill>
                  <a:srgbClr val="0D9488"/>
                </a:solidFill>
              </a:defRPr>
            </a:pPr>
            <a:r>
              <a:t>STUDENT DETAILS</a:t>
            </a:r>
          </a:p>
          <a:p>
            <a:pPr>
              <a:defRPr sz="1300" b="1">
                <a:solidFill>
                  <a:srgbClr val="0F172A"/>
                </a:solidFill>
              </a:defRPr>
            </a:pPr>
            <a:r>
              <a:t>Jiphin George  (MAC25MCA-2033)</a:t>
            </a:r>
          </a:p>
          <a:p>
            <a:pPr>
              <a:defRPr sz="1000">
                <a:solidFill>
                  <a:srgbClr val="334155"/>
                </a:solidFill>
              </a:defRPr>
            </a:pPr>
            <a:r>
              <a:t>Master of Computer Applications (MCA - S3)</a:t>
            </a:r>
            <a:br/>
            <a:r>
              <a:t>Department of Computer Applications</a:t>
            </a:r>
          </a:p>
        </p:txBody>
      </p:sp>
      <p:sp>
        <p:nvSpPr>
          <p:cNvPr id="8" name="Rounded Rectangle 7"/>
          <p:cNvSpPr/>
          <p:nvPr/>
        </p:nvSpPr>
        <p:spPr>
          <a:xfrm>
            <a:off x="6035040" y="3977639"/>
            <a:ext cx="4754880" cy="16459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217920" y="4069080"/>
            <a:ext cx="4389120" cy="1371600"/>
          </a:xfrm>
          <a:prstGeom prst="rect">
            <a:avLst/>
          </a:prstGeom>
          <a:noFill/>
        </p:spPr>
        <p:txBody>
          <a:bodyPr wrap="none">
            <a:spAutoFit/>
          </a:bodyPr>
          <a:lstStyle/>
          <a:p>
            <a:pPr>
              <a:defRPr sz="950" b="1">
                <a:solidFill>
                  <a:srgbClr val="0D9488"/>
                </a:solidFill>
              </a:defRPr>
            </a:pPr>
            <a:r>
              <a:t>PROJECT GUIDE &amp; INSTITUTION</a:t>
            </a:r>
          </a:p>
          <a:p>
            <a:pPr>
              <a:defRPr sz="1300" b="1">
                <a:solidFill>
                  <a:srgbClr val="0F172A"/>
                </a:solidFill>
              </a:defRPr>
            </a:pPr>
            <a:r>
              <a:t>Prof. Biju Skaria</a:t>
            </a:r>
          </a:p>
          <a:p>
            <a:pPr>
              <a:defRPr sz="1000">
                <a:solidFill>
                  <a:srgbClr val="334155"/>
                </a:solidFill>
              </a:defRPr>
            </a:pPr>
            <a:r>
              <a:t>Department of Computer Applications</a:t>
            </a:r>
            <a:br/>
            <a:r>
              <a:t>Mar Athanasius College of Engineering, Kothamangalam</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