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1.png"/><Relationship Id="rId4" Type="http://schemas.openxmlformats.org/officeDocument/2006/relationships/image" Target="../media/image-2-1.png"/><Relationship Id="rId5" Type="http://schemas.openxmlformats.org/officeDocument/2006/relationships/image" Target="../media/image-2-1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297680"/>
            <a:ext cx="3291840" cy="329184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663440"/>
            <a:ext cx="2194560" cy="219456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698480" y="502920"/>
            <a:ext cx="777240" cy="777240"/>
          </a:xfrm>
          <a:prstGeom prst="ellipse">
            <a:avLst/>
          </a:prstGeom>
          <a:solidFill>
            <a:srgbClr val="065A82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pic>
        <p:nvPicPr>
          <p:cNvPr id="6" name="Image 0" descr="/home/claude/mca_deck/icons/title_steth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5018" y="689458"/>
            <a:ext cx="404165" cy="40416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5257800"/>
            <a:ext cx="777240" cy="777240"/>
          </a:xfrm>
          <a:prstGeom prst="ellipse">
            <a:avLst/>
          </a:prstGeom>
          <a:solidFill>
            <a:srgbClr val="065A82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pic>
        <p:nvPicPr>
          <p:cNvPr id="8" name="Image 1" descr="/home/claude/mca_deck/icons/title_chi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458" y="5444338"/>
            <a:ext cx="404165" cy="40416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972800" y="5440680"/>
            <a:ext cx="640080" cy="640080"/>
          </a:xfrm>
          <a:prstGeom prst="ellipse">
            <a:avLst/>
          </a:prstGeom>
          <a:solidFill>
            <a:srgbClr val="065A82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pic>
        <p:nvPicPr>
          <p:cNvPr id="10" name="Image 2" descr="/home/claude/mca_deck/icons/title_wav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6419" y="5594299"/>
            <a:ext cx="332842" cy="33284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9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 MINI PROJECT PROPOSAL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822960" y="1828800"/>
            <a:ext cx="98755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Medical Specialty Classification using TF-IDF and Ensemble Machine Learning</a:t>
            </a:r>
            <a:endParaRPr lang="en-US" sz="3400" dirty="0"/>
          </a:p>
        </p:txBody>
      </p:sp>
      <p:sp>
        <p:nvSpPr>
          <p:cNvPr id="13" name="Text 8"/>
          <p:cNvSpPr/>
          <p:nvPr/>
        </p:nvSpPr>
        <p:spPr>
          <a:xfrm>
            <a:off x="822960" y="370332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CF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NLP-driven approach to automatically classify medical transcription reports by clinical specialty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822960" y="4709160"/>
            <a:ext cx="105156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1051560" y="4910328"/>
            <a:ext cx="22631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F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1051560" y="5212080"/>
            <a:ext cx="22631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Jiphin George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3680460" y="4910328"/>
            <a:ext cx="22631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F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3680460" y="5212080"/>
            <a:ext cx="22631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of Computer Applications (MCA)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3451860" y="4910328"/>
            <a:ext cx="0" cy="1014984"/>
          </a:xfrm>
          <a:prstGeom prst="line">
            <a:avLst/>
          </a:prstGeom>
          <a:noFill/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309360" y="4910328"/>
            <a:ext cx="22631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F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6309360" y="5212080"/>
            <a:ext cx="22631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Athanasius College of Engineering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6080760" y="4910328"/>
            <a:ext cx="0" cy="1014984"/>
          </a:xfrm>
          <a:prstGeom prst="line">
            <a:avLst/>
          </a:prstGeom>
          <a:noFill/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8938260" y="4910328"/>
            <a:ext cx="22631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F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8938260" y="5212080"/>
            <a:ext cx="22631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Biju Skaria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8709660" y="4910328"/>
            <a:ext cx="0" cy="1014984"/>
          </a:xfrm>
          <a:prstGeom prst="line">
            <a:avLst/>
          </a:prstGeom>
          <a:noFill/>
          <a:ln w="9525">
            <a:solidFill>
              <a:srgbClr val="FFFFFF">
                <a:alpha val="3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manual classification of medical reports no longer scales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91056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/home/claude/mca_deck/icons/pro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664208"/>
            <a:ext cx="146304" cy="1463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554480"/>
            <a:ext cx="47091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generate thousands of medical transcription reports daily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157984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8" name="Image 1" descr="/home/claude/mca_deck/icons/proble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231136"/>
            <a:ext cx="146304" cy="14630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1560" y="2121408"/>
            <a:ext cx="47091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are usually stored as unstructured free text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48640" y="2724912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2" descr="/home/claude/mca_deck/icons/proble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798064"/>
            <a:ext cx="146304" cy="14630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51560" y="2688336"/>
            <a:ext cx="47091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classification into medical specialties is time-consuming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548640" y="3291840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4" name="Image 3" descr="/home/claude/mca_deck/icons/proble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3364992"/>
            <a:ext cx="146304" cy="14630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51560" y="3255264"/>
            <a:ext cx="47091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categorization can introduce inconsistencies and errors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548640" y="3858768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7" name="Image 4" descr="/home/claude/mca_deck/icons/proble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3931920"/>
            <a:ext cx="146304" cy="14630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51560" y="3822192"/>
            <a:ext cx="47091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and organizing reports becomes inefficient</a:t>
            </a:r>
            <a:endParaRPr lang="en-US" sz="1300" dirty="0"/>
          </a:p>
        </p:txBody>
      </p:sp>
      <p:sp>
        <p:nvSpPr>
          <p:cNvPr id="19" name="Shape 12"/>
          <p:cNvSpPr/>
          <p:nvPr/>
        </p:nvSpPr>
        <p:spPr>
          <a:xfrm>
            <a:off x="548640" y="4526280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EAF3F9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777240" y="452628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 automated Medical Specialty Classification System using NLP and Machine Learning.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6263640" y="1508760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vs. Automated Classification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6263640" y="1965960"/>
            <a:ext cx="2514600" cy="3657600"/>
          </a:xfrm>
          <a:prstGeom prst="roundRect">
            <a:avLst>
              <a:gd name="adj" fmla="val 3636"/>
            </a:avLst>
          </a:prstGeom>
          <a:solidFill>
            <a:srgbClr val="F4F6F8"/>
          </a:solidFill>
          <a:ln w="12700">
            <a:solidFill>
              <a:srgbClr val="D7DEE4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7109460" y="2286000"/>
            <a:ext cx="822960" cy="822960"/>
          </a:xfrm>
          <a:prstGeom prst="ellipse">
            <a:avLst/>
          </a:prstGeom>
          <a:solidFill>
            <a:srgbClr val="5B7184"/>
          </a:solidFill>
          <a:ln/>
        </p:spPr>
      </p:sp>
      <p:pic>
        <p:nvPicPr>
          <p:cNvPr id="24" name="Image 5" descr="/home/claude/mca_deck/icons/manu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1484" y="2478024"/>
            <a:ext cx="438912" cy="43891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263640" y="32461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500" dirty="0"/>
          </a:p>
        </p:txBody>
      </p:sp>
      <p:sp>
        <p:nvSpPr>
          <p:cNvPr id="26" name="Text 18"/>
          <p:cNvSpPr/>
          <p:nvPr/>
        </p:nvSpPr>
        <p:spPr>
          <a:xfrm>
            <a:off x="6492240" y="3657600"/>
            <a:ext cx="2057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labor-intensive</a:t>
            </a:r>
            <a:endParaRPr lang="en-US" sz="1100" dirty="0"/>
          </a:p>
          <a:p>
            <a:pPr algn="l"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Error-prone tagging</a:t>
            </a:r>
            <a:endParaRPr lang="en-US" sz="1100" dirty="0"/>
          </a:p>
          <a:p>
            <a:pPr algn="l"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labels</a:t>
            </a:r>
            <a:endParaRPr lang="en-US" sz="1100" dirty="0"/>
          </a:p>
          <a:p>
            <a:pPr algn="l"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to scale</a:t>
            </a:r>
            <a:endParaRPr lang="en-US" sz="1100" dirty="0"/>
          </a:p>
        </p:txBody>
      </p:sp>
      <p:sp>
        <p:nvSpPr>
          <p:cNvPr id="27" name="Shape 19"/>
          <p:cNvSpPr/>
          <p:nvPr/>
        </p:nvSpPr>
        <p:spPr>
          <a:xfrm>
            <a:off x="8796528" y="3593592"/>
            <a:ext cx="274320" cy="402336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28" name="Shape 20"/>
          <p:cNvSpPr/>
          <p:nvPr/>
        </p:nvSpPr>
        <p:spPr>
          <a:xfrm>
            <a:off x="9098280" y="1965960"/>
            <a:ext cx="2514600" cy="3657600"/>
          </a:xfrm>
          <a:prstGeom prst="roundRect">
            <a:avLst>
              <a:gd name="adj" fmla="val 3636"/>
            </a:avLst>
          </a:prstGeom>
          <a:solidFill>
            <a:srgbClr val="065A82"/>
          </a:solidFill>
          <a:ln/>
        </p:spPr>
      </p:sp>
      <p:sp>
        <p:nvSpPr>
          <p:cNvPr id="29" name="Shape 21"/>
          <p:cNvSpPr/>
          <p:nvPr/>
        </p:nvSpPr>
        <p:spPr>
          <a:xfrm>
            <a:off x="9944100" y="228600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0" name="Image 6" descr="/home/claude/mca_deck/icons/automat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36124" y="2478024"/>
            <a:ext cx="438912" cy="438912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9098280" y="32461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1500" dirty="0"/>
          </a:p>
        </p:txBody>
      </p:sp>
      <p:sp>
        <p:nvSpPr>
          <p:cNvPr id="32" name="Text 23"/>
          <p:cNvSpPr/>
          <p:nvPr/>
        </p:nvSpPr>
        <p:spPr>
          <a:xfrm>
            <a:off x="9326880" y="3657600"/>
            <a:ext cx="2057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D9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consistent output</a:t>
            </a:r>
            <a:endParaRPr lang="en-US" sz="1100" dirty="0"/>
          </a:p>
          <a:p>
            <a:pPr algn="l"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D9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+ ML driven</a:t>
            </a:r>
            <a:endParaRPr lang="en-US" sz="1100" dirty="0"/>
          </a:p>
          <a:p>
            <a:pPr algn="l"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D9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with report volume</a:t>
            </a:r>
            <a:endParaRPr lang="en-US" sz="1100" dirty="0"/>
          </a:p>
          <a:p>
            <a:pPr algn="l"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D9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human error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from raw report to predicted specialty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921764" y="2020824"/>
            <a:ext cx="880872" cy="256032"/>
          </a:xfrm>
          <a:prstGeom prst="rightArrow">
            <a:avLst/>
          </a:prstGeom>
          <a:solidFill>
            <a:srgbClr val="C7D8E3"/>
          </a:solidFill>
          <a:ln/>
        </p:spPr>
      </p:sp>
      <p:sp>
        <p:nvSpPr>
          <p:cNvPr id="5" name="Shape 3"/>
          <p:cNvSpPr/>
          <p:nvPr/>
        </p:nvSpPr>
        <p:spPr>
          <a:xfrm>
            <a:off x="998220" y="1714500"/>
            <a:ext cx="868680" cy="86868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6" name="Image 0" descr="/home/claude/mca_deck/icons/wf_re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2248" y="1938528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98220" y="1421892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76072" y="2720340"/>
            <a:ext cx="171297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Report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781044" y="2020824"/>
            <a:ext cx="880872" cy="256032"/>
          </a:xfrm>
          <a:prstGeom prst="rightArrow">
            <a:avLst/>
          </a:prstGeom>
          <a:solidFill>
            <a:srgbClr val="C7D8E3"/>
          </a:solidFill>
          <a:ln/>
        </p:spPr>
      </p:sp>
      <p:sp>
        <p:nvSpPr>
          <p:cNvPr id="10" name="Shape 7"/>
          <p:cNvSpPr/>
          <p:nvPr/>
        </p:nvSpPr>
        <p:spPr>
          <a:xfrm>
            <a:off x="2857500" y="1714500"/>
            <a:ext cx="868680" cy="86868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11" name="Image 1" descr="/home/claude/mca_deck/icons/wf_preproce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528" y="1938528"/>
            <a:ext cx="420624" cy="4206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57500" y="1421892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2435352" y="2720340"/>
            <a:ext cx="171297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640324" y="2020824"/>
            <a:ext cx="880872" cy="256032"/>
          </a:xfrm>
          <a:prstGeom prst="rightArrow">
            <a:avLst/>
          </a:prstGeom>
          <a:solidFill>
            <a:srgbClr val="C7D8E3"/>
          </a:solidFill>
          <a:ln/>
        </p:spPr>
      </p:sp>
      <p:sp>
        <p:nvSpPr>
          <p:cNvPr id="15" name="Shape 11"/>
          <p:cNvSpPr/>
          <p:nvPr/>
        </p:nvSpPr>
        <p:spPr>
          <a:xfrm>
            <a:off x="4716780" y="1714500"/>
            <a:ext cx="868680" cy="86868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16" name="Image 2" descr="/home/claude/mca_deck/icons/wf_tfid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0808" y="1938528"/>
            <a:ext cx="420624" cy="4206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716780" y="1421892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4294632" y="2720340"/>
            <a:ext cx="171297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Feature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7499604" y="2020824"/>
            <a:ext cx="880872" cy="256032"/>
          </a:xfrm>
          <a:prstGeom prst="rightArrow">
            <a:avLst/>
          </a:prstGeom>
          <a:solidFill>
            <a:srgbClr val="C7D8E3"/>
          </a:solidFill>
          <a:ln/>
        </p:spPr>
      </p:sp>
      <p:sp>
        <p:nvSpPr>
          <p:cNvPr id="20" name="Shape 15"/>
          <p:cNvSpPr/>
          <p:nvPr/>
        </p:nvSpPr>
        <p:spPr>
          <a:xfrm>
            <a:off x="6576060" y="1714500"/>
            <a:ext cx="868680" cy="86868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21" name="Image 3" descr="/home/claude/mca_deck/icons/wf_m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0088" y="1938528"/>
            <a:ext cx="420624" cy="4206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576060" y="1421892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6153912" y="2720340"/>
            <a:ext cx="171297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9358884" y="2020824"/>
            <a:ext cx="880872" cy="256032"/>
          </a:xfrm>
          <a:prstGeom prst="rightArrow">
            <a:avLst/>
          </a:prstGeom>
          <a:solidFill>
            <a:srgbClr val="C7D8E3"/>
          </a:solidFill>
          <a:ln/>
        </p:spPr>
      </p:sp>
      <p:sp>
        <p:nvSpPr>
          <p:cNvPr id="25" name="Shape 19"/>
          <p:cNvSpPr/>
          <p:nvPr/>
        </p:nvSpPr>
        <p:spPr>
          <a:xfrm>
            <a:off x="8435340" y="1714500"/>
            <a:ext cx="868680" cy="86868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26" name="Image 4" descr="/home/claude/mca_deck/icons/wf_ensemb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9368" y="1938528"/>
            <a:ext cx="420624" cy="42062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435340" y="1421892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8013192" y="2720340"/>
            <a:ext cx="171297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Voting Ensemble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10294620" y="1714500"/>
            <a:ext cx="868680" cy="86868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30" name="Image 5" descr="/home/claude/mca_deck/icons/wf_outpu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8648" y="1938528"/>
            <a:ext cx="420624" cy="42062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0294620" y="1421892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Text 24"/>
          <p:cNvSpPr/>
          <p:nvPr/>
        </p:nvSpPr>
        <p:spPr>
          <a:xfrm>
            <a:off x="9872472" y="2720340"/>
            <a:ext cx="171297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Medical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Specialty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548640" y="3520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Algorithms Evaluated</a:t>
            </a:r>
            <a:endParaRPr lang="en-US" sz="1400" dirty="0"/>
          </a:p>
        </p:txBody>
      </p:sp>
      <p:sp>
        <p:nvSpPr>
          <p:cNvPr id="34" name="Shape 26"/>
          <p:cNvSpPr/>
          <p:nvPr/>
        </p:nvSpPr>
        <p:spPr>
          <a:xfrm>
            <a:off x="548640" y="3931920"/>
            <a:ext cx="2596896" cy="777240"/>
          </a:xfrm>
          <a:prstGeom prst="roundRect">
            <a:avLst>
              <a:gd name="adj" fmla="val 9412"/>
            </a:avLst>
          </a:prstGeom>
          <a:solidFill>
            <a:srgbClr val="EAF3F9"/>
          </a:solidFill>
          <a:ln w="12700">
            <a:solidFill>
              <a:srgbClr val="BFDCEA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658368" y="393192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200" dirty="0"/>
          </a:p>
        </p:txBody>
      </p:sp>
      <p:sp>
        <p:nvSpPr>
          <p:cNvPr id="36" name="Shape 28"/>
          <p:cNvSpPr/>
          <p:nvPr/>
        </p:nvSpPr>
        <p:spPr>
          <a:xfrm>
            <a:off x="3401568" y="3931920"/>
            <a:ext cx="2596896" cy="777240"/>
          </a:xfrm>
          <a:prstGeom prst="roundRect">
            <a:avLst>
              <a:gd name="adj" fmla="val 9412"/>
            </a:avLst>
          </a:prstGeom>
          <a:solidFill>
            <a:srgbClr val="EAF3F9"/>
          </a:solidFill>
          <a:ln w="12700">
            <a:solidFill>
              <a:srgbClr val="BFDCEA"/>
            </a:solidFill>
            <a:prstDash val="solid"/>
          </a:ln>
        </p:spPr>
      </p:sp>
      <p:sp>
        <p:nvSpPr>
          <p:cNvPr id="37" name="Text 29"/>
          <p:cNvSpPr/>
          <p:nvPr/>
        </p:nvSpPr>
        <p:spPr>
          <a:xfrm>
            <a:off x="3511296" y="393192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 Machine (SVM)</a:t>
            </a:r>
            <a:endParaRPr lang="en-US" sz="1200" dirty="0"/>
          </a:p>
        </p:txBody>
      </p:sp>
      <p:sp>
        <p:nvSpPr>
          <p:cNvPr id="38" name="Shape 30"/>
          <p:cNvSpPr/>
          <p:nvPr/>
        </p:nvSpPr>
        <p:spPr>
          <a:xfrm>
            <a:off x="6254496" y="3931920"/>
            <a:ext cx="2596896" cy="777240"/>
          </a:xfrm>
          <a:prstGeom prst="roundRect">
            <a:avLst>
              <a:gd name="adj" fmla="val 9412"/>
            </a:avLst>
          </a:prstGeom>
          <a:solidFill>
            <a:srgbClr val="EAF3F9"/>
          </a:solidFill>
          <a:ln w="12700">
            <a:solidFill>
              <a:srgbClr val="BFDCEA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6364224" y="393192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40" name="Shape 32"/>
          <p:cNvSpPr/>
          <p:nvPr/>
        </p:nvSpPr>
        <p:spPr>
          <a:xfrm>
            <a:off x="9107424" y="3931920"/>
            <a:ext cx="2596896" cy="777240"/>
          </a:xfrm>
          <a:prstGeom prst="roundRect">
            <a:avLst>
              <a:gd name="adj" fmla="val 9412"/>
            </a:avLst>
          </a:prstGeom>
          <a:solidFill>
            <a:srgbClr val="EAF3F9"/>
          </a:solidFill>
          <a:ln w="12700">
            <a:solidFill>
              <a:srgbClr val="BFDCEA"/>
            </a:solidFill>
            <a:prstDash val="solid"/>
          </a:ln>
        </p:spPr>
      </p:sp>
      <p:sp>
        <p:nvSpPr>
          <p:cNvPr id="41" name="Text 33"/>
          <p:cNvSpPr/>
          <p:nvPr/>
        </p:nvSpPr>
        <p:spPr>
          <a:xfrm>
            <a:off x="9217152" y="393192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Multinomial Naïve Bayes</a:t>
            </a:r>
            <a:endParaRPr lang="en-US" sz="1200" dirty="0"/>
          </a:p>
        </p:txBody>
      </p:sp>
      <p:sp>
        <p:nvSpPr>
          <p:cNvPr id="42" name="Shape 34"/>
          <p:cNvSpPr/>
          <p:nvPr/>
        </p:nvSpPr>
        <p:spPr>
          <a:xfrm>
            <a:off x="548640" y="5029200"/>
            <a:ext cx="11155680" cy="1234440"/>
          </a:xfrm>
          <a:prstGeom prst="roundRect">
            <a:avLst>
              <a:gd name="adj" fmla="val 5926"/>
            </a:avLst>
          </a:prstGeom>
          <a:solidFill>
            <a:srgbClr val="21295C"/>
          </a:solidFill>
          <a:ln/>
        </p:spPr>
      </p:sp>
      <p:sp>
        <p:nvSpPr>
          <p:cNvPr id="43" name="Text 35"/>
          <p:cNvSpPr/>
          <p:nvPr/>
        </p:nvSpPr>
        <p:spPr>
          <a:xfrm>
            <a:off x="868680" y="5175504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Voting Ensemble: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F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predictions from all four models for higher accuracy and robustness.</a:t>
            </a:r>
            <a:endParaRPr lang="en-US" sz="1300" dirty="0"/>
          </a:p>
        </p:txBody>
      </p:sp>
      <p:sp>
        <p:nvSpPr>
          <p:cNvPr id="44" name="Shape 36"/>
          <p:cNvSpPr/>
          <p:nvPr/>
        </p:nvSpPr>
        <p:spPr>
          <a:xfrm>
            <a:off x="7635240" y="5230368"/>
            <a:ext cx="0" cy="82296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45" name="Text 37"/>
          <p:cNvSpPr/>
          <p:nvPr/>
        </p:nvSpPr>
        <p:spPr>
          <a:xfrm>
            <a:off x="7863840" y="5175504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Deployment: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F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model will be deployed as a web application using Flask.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Project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1155680" cy="868680"/>
          </a:xfrm>
          <a:prstGeom prst="roundRect">
            <a:avLst>
              <a:gd name="adj" fmla="val 8421"/>
            </a:avLst>
          </a:prstGeom>
          <a:solidFill>
            <a:srgbClr val="065A82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170432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claude/mca_deck/icons/object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07592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078992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CE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 intelligent NLP-based application capable of automatically predicting the medical specialty from medical transcription reports.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2103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58368" y="2468880"/>
            <a:ext cx="1883664" cy="1069848"/>
          </a:xfrm>
          <a:prstGeom prst="roundRect">
            <a:avLst>
              <a:gd name="adj" fmla="val 6838"/>
            </a:avLst>
          </a:prstGeom>
          <a:solidFill>
            <a:srgbClr val="EAF3F9"/>
          </a:solidFill>
          <a:ln w="9525">
            <a:solidFill>
              <a:srgbClr val="D3E5E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307592" y="2596896"/>
            <a:ext cx="585216" cy="5852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7D8E3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pic>
        <p:nvPicPr>
          <p:cNvPr id="10" name="Image 1" descr="/home/claude/mca_deck/icons/pyth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464" y="2715768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" y="32461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2761488" y="2468880"/>
            <a:ext cx="1883664" cy="1069848"/>
          </a:xfrm>
          <a:prstGeom prst="roundRect">
            <a:avLst>
              <a:gd name="adj" fmla="val 6838"/>
            </a:avLst>
          </a:prstGeom>
          <a:solidFill>
            <a:srgbClr val="EAF3F9"/>
          </a:solidFill>
          <a:ln w="9525">
            <a:solidFill>
              <a:srgbClr val="D3E5EF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410712" y="2596896"/>
            <a:ext cx="585216" cy="5852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7D8E3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pic>
        <p:nvPicPr>
          <p:cNvPr id="14" name="Image 2" descr="/home/claude/mca_deck/icons/flas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9584" y="2715768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651760" y="32461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864608" y="2468880"/>
            <a:ext cx="1883664" cy="1069848"/>
          </a:xfrm>
          <a:prstGeom prst="roundRect">
            <a:avLst>
              <a:gd name="adj" fmla="val 6838"/>
            </a:avLst>
          </a:prstGeom>
          <a:solidFill>
            <a:srgbClr val="EAF3F9"/>
          </a:solidFill>
          <a:ln w="9525">
            <a:solidFill>
              <a:srgbClr val="D3E5EF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513832" y="2596896"/>
            <a:ext cx="585216" cy="5852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7D8E3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pic>
        <p:nvPicPr>
          <p:cNvPr id="18" name="Image 3" descr="/home/claude/mca_deck/icons/sklear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2704" y="2715768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754880" y="32461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967728" y="2468880"/>
            <a:ext cx="1883664" cy="1069848"/>
          </a:xfrm>
          <a:prstGeom prst="roundRect">
            <a:avLst>
              <a:gd name="adj" fmla="val 6838"/>
            </a:avLst>
          </a:prstGeom>
          <a:solidFill>
            <a:srgbClr val="EAF3F9"/>
          </a:solidFill>
          <a:ln w="9525">
            <a:solidFill>
              <a:srgbClr val="D3E5EF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616952" y="2596896"/>
            <a:ext cx="585216" cy="5852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7D8E3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pic>
        <p:nvPicPr>
          <p:cNvPr id="22" name="Image 4" descr="/home/claude/mca_deck/icons/nlt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5824" y="2715768"/>
            <a:ext cx="347472" cy="34747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858000" y="32461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9070848" y="2468880"/>
            <a:ext cx="1883664" cy="1069848"/>
          </a:xfrm>
          <a:prstGeom prst="roundRect">
            <a:avLst>
              <a:gd name="adj" fmla="val 6838"/>
            </a:avLst>
          </a:prstGeom>
          <a:solidFill>
            <a:srgbClr val="EAF3F9"/>
          </a:solidFill>
          <a:ln w="9525">
            <a:solidFill>
              <a:srgbClr val="D3E5EF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9720072" y="2596896"/>
            <a:ext cx="585216" cy="5852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7D8E3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pic>
        <p:nvPicPr>
          <p:cNvPr id="26" name="Image 5" descr="/home/claude/mca_deck/icons/panda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38944" y="2715768"/>
            <a:ext cx="347472" cy="34747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961120" y="32461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658368" y="3703320"/>
            <a:ext cx="1883664" cy="1069848"/>
          </a:xfrm>
          <a:prstGeom prst="roundRect">
            <a:avLst>
              <a:gd name="adj" fmla="val 6838"/>
            </a:avLst>
          </a:prstGeom>
          <a:solidFill>
            <a:srgbClr val="EAF3F9"/>
          </a:solidFill>
          <a:ln w="9525">
            <a:solidFill>
              <a:srgbClr val="D3E5EF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1307592" y="3831336"/>
            <a:ext cx="585216" cy="5852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7D8E3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pic>
        <p:nvPicPr>
          <p:cNvPr id="30" name="Image 6" descr="/home/claude/mca_deck/icons/nump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26464" y="3950208"/>
            <a:ext cx="347472" cy="347472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548640" y="44805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100" dirty="0"/>
          </a:p>
        </p:txBody>
      </p:sp>
      <p:sp>
        <p:nvSpPr>
          <p:cNvPr id="32" name="Shape 23"/>
          <p:cNvSpPr/>
          <p:nvPr/>
        </p:nvSpPr>
        <p:spPr>
          <a:xfrm>
            <a:off x="2761488" y="3703320"/>
            <a:ext cx="1883664" cy="1069848"/>
          </a:xfrm>
          <a:prstGeom prst="roundRect">
            <a:avLst>
              <a:gd name="adj" fmla="val 6838"/>
            </a:avLst>
          </a:prstGeom>
          <a:solidFill>
            <a:srgbClr val="EAF3F9"/>
          </a:solidFill>
          <a:ln w="9525">
            <a:solidFill>
              <a:srgbClr val="D3E5EF"/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3410712" y="3831336"/>
            <a:ext cx="585216" cy="5852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7D8E3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pic>
        <p:nvPicPr>
          <p:cNvPr id="34" name="Image 7" descr="/home/claude/mca_deck/icons/joblib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29584" y="3950208"/>
            <a:ext cx="347472" cy="347472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2651760" y="44805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Joblib</a:t>
            </a:r>
            <a:endParaRPr lang="en-US" sz="1100" dirty="0"/>
          </a:p>
        </p:txBody>
      </p:sp>
      <p:sp>
        <p:nvSpPr>
          <p:cNvPr id="36" name="Shape 26"/>
          <p:cNvSpPr/>
          <p:nvPr/>
        </p:nvSpPr>
        <p:spPr>
          <a:xfrm>
            <a:off x="4864608" y="3703320"/>
            <a:ext cx="1883664" cy="1069848"/>
          </a:xfrm>
          <a:prstGeom prst="roundRect">
            <a:avLst>
              <a:gd name="adj" fmla="val 6838"/>
            </a:avLst>
          </a:prstGeom>
          <a:solidFill>
            <a:srgbClr val="EAF3F9"/>
          </a:solidFill>
          <a:ln w="9525">
            <a:solidFill>
              <a:srgbClr val="D3E5EF"/>
            </a:solidFill>
            <a:prstDash val="solid"/>
          </a:ln>
        </p:spPr>
      </p:sp>
      <p:sp>
        <p:nvSpPr>
          <p:cNvPr id="37" name="Shape 27"/>
          <p:cNvSpPr/>
          <p:nvPr/>
        </p:nvSpPr>
        <p:spPr>
          <a:xfrm>
            <a:off x="5513832" y="3831336"/>
            <a:ext cx="585216" cy="5852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7D8E3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pic>
        <p:nvPicPr>
          <p:cNvPr id="38" name="Image 8" descr="/home/claude/mca_deck/icons/html5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32704" y="3950208"/>
            <a:ext cx="347472" cy="347472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4754880" y="44805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100" dirty="0"/>
          </a:p>
        </p:txBody>
      </p:sp>
      <p:sp>
        <p:nvSpPr>
          <p:cNvPr id="40" name="Shape 29"/>
          <p:cNvSpPr/>
          <p:nvPr/>
        </p:nvSpPr>
        <p:spPr>
          <a:xfrm>
            <a:off x="6967728" y="3703320"/>
            <a:ext cx="1883664" cy="1069848"/>
          </a:xfrm>
          <a:prstGeom prst="roundRect">
            <a:avLst>
              <a:gd name="adj" fmla="val 6838"/>
            </a:avLst>
          </a:prstGeom>
          <a:solidFill>
            <a:srgbClr val="EAF3F9"/>
          </a:solidFill>
          <a:ln w="9525">
            <a:solidFill>
              <a:srgbClr val="D3E5EF"/>
            </a:solidFill>
            <a:prstDash val="solid"/>
          </a:ln>
        </p:spPr>
      </p:sp>
      <p:sp>
        <p:nvSpPr>
          <p:cNvPr id="41" name="Shape 30"/>
          <p:cNvSpPr/>
          <p:nvPr/>
        </p:nvSpPr>
        <p:spPr>
          <a:xfrm>
            <a:off x="7616952" y="3831336"/>
            <a:ext cx="585216" cy="5852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7D8E3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pic>
        <p:nvPicPr>
          <p:cNvPr id="42" name="Image 9" descr="/home/claude/mca_deck/icons/css3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35824" y="3950208"/>
            <a:ext cx="347472" cy="347472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6858000" y="44805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100" dirty="0"/>
          </a:p>
        </p:txBody>
      </p:sp>
      <p:sp>
        <p:nvSpPr>
          <p:cNvPr id="44" name="Shape 32"/>
          <p:cNvSpPr/>
          <p:nvPr/>
        </p:nvSpPr>
        <p:spPr>
          <a:xfrm>
            <a:off x="9070848" y="3703320"/>
            <a:ext cx="1883664" cy="1069848"/>
          </a:xfrm>
          <a:prstGeom prst="roundRect">
            <a:avLst>
              <a:gd name="adj" fmla="val 6838"/>
            </a:avLst>
          </a:prstGeom>
          <a:solidFill>
            <a:srgbClr val="EAF3F9"/>
          </a:solidFill>
          <a:ln w="9525">
            <a:solidFill>
              <a:srgbClr val="D3E5EF"/>
            </a:solidFill>
            <a:prstDash val="solid"/>
          </a:ln>
        </p:spPr>
      </p:sp>
      <p:sp>
        <p:nvSpPr>
          <p:cNvPr id="45" name="Shape 33"/>
          <p:cNvSpPr/>
          <p:nvPr/>
        </p:nvSpPr>
        <p:spPr>
          <a:xfrm>
            <a:off x="9720072" y="3831336"/>
            <a:ext cx="585216" cy="5852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7D8E3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pic>
        <p:nvPicPr>
          <p:cNvPr id="46" name="Image 10" descr="/home/claude/mca_deck/icons/bootstrap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38944" y="3950208"/>
            <a:ext cx="347472" cy="347472"/>
          </a:xfrm>
          <a:prstGeom prst="rect">
            <a:avLst/>
          </a:prstGeom>
        </p:spPr>
      </p:pic>
      <p:sp>
        <p:nvSpPr>
          <p:cNvPr id="47" name="Text 34"/>
          <p:cNvSpPr/>
          <p:nvPr/>
        </p:nvSpPr>
        <p:spPr>
          <a:xfrm>
            <a:off x="8961120" y="44805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</a:t>
            </a:r>
            <a:endParaRPr lang="en-US" sz="1100" dirty="0"/>
          </a:p>
        </p:txBody>
      </p:sp>
      <p:sp>
        <p:nvSpPr>
          <p:cNvPr id="48" name="Text 35"/>
          <p:cNvSpPr/>
          <p:nvPr/>
        </p:nvSpPr>
        <p:spPr>
          <a:xfrm>
            <a:off x="548640" y="5074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Benefits</a:t>
            </a:r>
            <a:endParaRPr lang="en-US" sz="1400" dirty="0"/>
          </a:p>
        </p:txBody>
      </p:sp>
      <p:sp>
        <p:nvSpPr>
          <p:cNvPr id="49" name="Shape 36"/>
          <p:cNvSpPr/>
          <p:nvPr/>
        </p:nvSpPr>
        <p:spPr>
          <a:xfrm>
            <a:off x="548640" y="5458968"/>
            <a:ext cx="267919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3E5EF"/>
            </a:solidFill>
            <a:prstDash val="solid"/>
          </a:ln>
        </p:spPr>
      </p:sp>
      <p:sp>
        <p:nvSpPr>
          <p:cNvPr id="50" name="Shape 37"/>
          <p:cNvSpPr/>
          <p:nvPr/>
        </p:nvSpPr>
        <p:spPr>
          <a:xfrm>
            <a:off x="676656" y="5692140"/>
            <a:ext cx="402336" cy="402336"/>
          </a:xfrm>
          <a:prstGeom prst="ellipse">
            <a:avLst/>
          </a:prstGeom>
          <a:solidFill>
            <a:srgbClr val="EAF3F9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51" name="Image 11" descr="/home/claude/mca_deck/icons/benefit1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8096" y="5783580"/>
            <a:ext cx="219456" cy="219456"/>
          </a:xfrm>
          <a:prstGeom prst="rect">
            <a:avLst/>
          </a:prstGeom>
        </p:spPr>
      </p:pic>
      <p:sp>
        <p:nvSpPr>
          <p:cNvPr id="52" name="Text 38"/>
          <p:cNvSpPr/>
          <p:nvPr/>
        </p:nvSpPr>
        <p:spPr>
          <a:xfrm>
            <a:off x="1170432" y="5458968"/>
            <a:ext cx="1965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report classification</a:t>
            </a:r>
            <a:endParaRPr lang="en-US" sz="1050" dirty="0"/>
          </a:p>
        </p:txBody>
      </p:sp>
      <p:sp>
        <p:nvSpPr>
          <p:cNvPr id="53" name="Shape 39"/>
          <p:cNvSpPr/>
          <p:nvPr/>
        </p:nvSpPr>
        <p:spPr>
          <a:xfrm>
            <a:off x="3355848" y="5458968"/>
            <a:ext cx="267919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3E5EF"/>
            </a:solidFill>
            <a:prstDash val="solid"/>
          </a:ln>
        </p:spPr>
      </p:sp>
      <p:sp>
        <p:nvSpPr>
          <p:cNvPr id="54" name="Shape 40"/>
          <p:cNvSpPr/>
          <p:nvPr/>
        </p:nvSpPr>
        <p:spPr>
          <a:xfrm>
            <a:off x="3483864" y="5692140"/>
            <a:ext cx="402336" cy="402336"/>
          </a:xfrm>
          <a:prstGeom prst="ellipse">
            <a:avLst/>
          </a:prstGeom>
          <a:solidFill>
            <a:srgbClr val="EAF3F9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55" name="Image 12" descr="/home/claude/mca_deck/icons/benefit2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75304" y="5783580"/>
            <a:ext cx="219456" cy="219456"/>
          </a:xfrm>
          <a:prstGeom prst="rect">
            <a:avLst/>
          </a:prstGeom>
        </p:spPr>
      </p:pic>
      <p:sp>
        <p:nvSpPr>
          <p:cNvPr id="56" name="Text 41"/>
          <p:cNvSpPr/>
          <p:nvPr/>
        </p:nvSpPr>
        <p:spPr>
          <a:xfrm>
            <a:off x="3977640" y="5458968"/>
            <a:ext cx="1965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document organization</a:t>
            </a:r>
            <a:endParaRPr lang="en-US" sz="1050" dirty="0"/>
          </a:p>
        </p:txBody>
      </p:sp>
      <p:sp>
        <p:nvSpPr>
          <p:cNvPr id="57" name="Shape 42"/>
          <p:cNvSpPr/>
          <p:nvPr/>
        </p:nvSpPr>
        <p:spPr>
          <a:xfrm>
            <a:off x="6163056" y="5458968"/>
            <a:ext cx="267919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3E5EF"/>
            </a:solidFill>
            <a:prstDash val="solid"/>
          </a:ln>
        </p:spPr>
      </p:sp>
      <p:sp>
        <p:nvSpPr>
          <p:cNvPr id="58" name="Shape 43"/>
          <p:cNvSpPr/>
          <p:nvPr/>
        </p:nvSpPr>
        <p:spPr>
          <a:xfrm>
            <a:off x="6291072" y="5692140"/>
            <a:ext cx="402336" cy="402336"/>
          </a:xfrm>
          <a:prstGeom prst="ellipse">
            <a:avLst/>
          </a:prstGeom>
          <a:solidFill>
            <a:srgbClr val="EAF3F9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59" name="Image 13" descr="/home/claude/mca_deck/icons/benefit3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82512" y="5783580"/>
            <a:ext cx="219456" cy="219456"/>
          </a:xfrm>
          <a:prstGeom prst="rect">
            <a:avLst/>
          </a:prstGeom>
        </p:spPr>
      </p:pic>
      <p:sp>
        <p:nvSpPr>
          <p:cNvPr id="60" name="Text 44"/>
          <p:cNvSpPr/>
          <p:nvPr/>
        </p:nvSpPr>
        <p:spPr>
          <a:xfrm>
            <a:off x="6784848" y="5458968"/>
            <a:ext cx="1965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manual effort</a:t>
            </a:r>
            <a:endParaRPr lang="en-US" sz="1050" dirty="0"/>
          </a:p>
        </p:txBody>
      </p:sp>
      <p:sp>
        <p:nvSpPr>
          <p:cNvPr id="61" name="Shape 45"/>
          <p:cNvSpPr/>
          <p:nvPr/>
        </p:nvSpPr>
        <p:spPr>
          <a:xfrm>
            <a:off x="8970264" y="5458968"/>
            <a:ext cx="267919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3E5EF"/>
            </a:solidFill>
            <a:prstDash val="solid"/>
          </a:ln>
        </p:spPr>
      </p:sp>
      <p:sp>
        <p:nvSpPr>
          <p:cNvPr id="62" name="Shape 46"/>
          <p:cNvSpPr/>
          <p:nvPr/>
        </p:nvSpPr>
        <p:spPr>
          <a:xfrm>
            <a:off x="9098280" y="5692140"/>
            <a:ext cx="402336" cy="402336"/>
          </a:xfrm>
          <a:prstGeom prst="ellipse">
            <a:avLst/>
          </a:prstGeom>
          <a:solidFill>
            <a:srgbClr val="EAF3F9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63" name="Image 14" descr="/home/claude/mca_deck/icons/benefit4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89720" y="5783580"/>
            <a:ext cx="219456" cy="219456"/>
          </a:xfrm>
          <a:prstGeom prst="rect">
            <a:avLst/>
          </a:prstGeom>
        </p:spPr>
      </p:pic>
      <p:sp>
        <p:nvSpPr>
          <p:cNvPr id="64" name="Text 47"/>
          <p:cNvSpPr/>
          <p:nvPr/>
        </p:nvSpPr>
        <p:spPr>
          <a:xfrm>
            <a:off x="9592056" y="5458968"/>
            <a:ext cx="1965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healthcare document management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Transcriptions (MTSamples) — sourced from Kaggle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657600" cy="4343400"/>
          </a:xfrm>
          <a:prstGeom prst="roundRect">
            <a:avLst>
              <a:gd name="adj" fmla="val 2500"/>
            </a:avLst>
          </a:prstGeom>
          <a:solidFill>
            <a:srgbClr val="21295C"/>
          </a:solidFill>
          <a:ln/>
        </p:spPr>
      </p:sp>
      <p:sp>
        <p:nvSpPr>
          <p:cNvPr id="5" name="Shape 3"/>
          <p:cNvSpPr/>
          <p:nvPr/>
        </p:nvSpPr>
        <p:spPr>
          <a:xfrm>
            <a:off x="1828800" y="2011680"/>
            <a:ext cx="1097280" cy="10972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mca_deck/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4832" y="2267712"/>
            <a:ext cx="585216" cy="5852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3375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4,999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48640" y="3931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 Records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097280" y="4480560"/>
            <a:ext cx="2560320" cy="0"/>
          </a:xfrm>
          <a:prstGeom prst="line">
            <a:avLst/>
          </a:prstGeom>
          <a:noFill/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46634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~40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548640" y="5120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Specialties Covered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508760"/>
          <a:ext cx="7040880" cy="4343400"/>
        </p:xfrm>
        <a:graphic>
          <a:graphicData uri="http://schemas.openxmlformats.org/drawingml/2006/table">
            <a:tbl>
              <a:tblPr/>
              <a:tblGrid>
                <a:gridCol w="2377440"/>
                <a:gridCol w="4663440"/>
              </a:tblGrid>
              <a:tr h="5429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 Name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Medical Transcriptions (MTSamples)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Kaggle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9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4,999 medical transcription reports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Medical Specialties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Approximately 40 distinct categories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9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CSV dataset, 6 columns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Medical Transcription (report text)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9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Medical Specialty (target label)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9"/>
          <p:cNvSpPr/>
          <p:nvPr/>
        </p:nvSpPr>
        <p:spPr>
          <a:xfrm>
            <a:off x="4572000" y="5961888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uses real-world, textual medical transcription reports as the primary data source for model training and evaluation.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2026-07-19T06:32:02Z</dcterms:created>
  <dcterms:modified xsi:type="dcterms:W3CDTF">2026-07-19T06:32:02Z</dcterms:modified>
</cp:coreProperties>
</file>