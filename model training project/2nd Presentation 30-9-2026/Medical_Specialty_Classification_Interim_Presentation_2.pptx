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60120"/>
            <a:ext cx="475488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MCA MINI PROJECT  |  INTERIM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430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mbria"/>
              </a:defRPr>
            </a:pPr>
            <a:r>
              <a:t>Medical Specialty Classification Using NLP and Ensemble Machine Learning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Calibri"/>
              </a:defRPr>
            </a:pPr>
            <a:r>
              <a:t>Phase 2: Model Training, Ensemble Evaluation &amp; Empirical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5120640" cy="2148840"/>
          </a:xfrm>
          <a:prstGeom prst="roundRect">
            <a:avLst/>
          </a:prstGeom>
          <a:solidFill>
            <a:srgbClr val="112240"/>
          </a:solidFill>
          <a:ln>
            <a:solidFill>
              <a:srgbClr val="13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t>PRESENTED BY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Cambria"/>
              </a:defRPr>
            </a:pPr>
            <a:r>
              <a:t>Jiphin George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Register No: MAC25MCA-2033</a:t>
            </a:r>
            <a:br/>
            <a:r>
              <a:t>Course: Master of Computer Applications (MCA)</a:t>
            </a:r>
            <a:br/>
            <a:r>
              <a:t>Semester: 3 | Academic Year: 2026-2027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3291840"/>
            <a:ext cx="5120640" cy="2148840"/>
          </a:xfrm>
          <a:prstGeom prst="roundRect">
            <a:avLst/>
          </a:prstGeom>
          <a:solidFill>
            <a:srgbClr val="112240"/>
          </a:solidFill>
          <a:ln>
            <a:solidFill>
              <a:srgbClr val="13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t>PROJECT GUIDE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Cambria"/>
              </a:defRPr>
            </a:pPr>
            <a:r>
              <a:t>Prof. Biju Skaria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Calibri"/>
              </a:defRPr>
            </a:pPr>
            <a:r>
              <a:t>Department of Computer Applications</a:t>
            </a:r>
            <a:br/>
            <a:r>
              <a:t>Mar Athanasius College of Engineering, Kothamangalam</a:t>
            </a:r>
            <a:br/>
            <a:r>
              <a:t>Affiliated to APJ Abdul Kalam Technological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15000"/>
            <a:ext cx="2039112" cy="384048"/>
          </a:xfrm>
          <a:prstGeom prst="roundRect">
            <a:avLst/>
          </a:prstGeom>
          <a:solidFill>
            <a:srgbClr val="13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Clinical NLP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5715000"/>
            <a:ext cx="2039112" cy="384048"/>
          </a:xfrm>
          <a:prstGeom prst="roundRect">
            <a:avLst/>
          </a:prstGeom>
          <a:solidFill>
            <a:srgbClr val="13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TF-IDF (8k Features)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5715000"/>
            <a:ext cx="2039112" cy="384048"/>
          </a:xfrm>
          <a:prstGeom prst="roundRect">
            <a:avLst/>
          </a:prstGeom>
          <a:solidFill>
            <a:srgbClr val="13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4 Base Classifiers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715000"/>
            <a:ext cx="2039112" cy="384048"/>
          </a:xfrm>
          <a:prstGeom prst="roundRect">
            <a:avLst/>
          </a:prstGeom>
          <a:solidFill>
            <a:srgbClr val="13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Soft Voting Ensemble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5715000"/>
            <a:ext cx="2039112" cy="384048"/>
          </a:xfrm>
          <a:prstGeom prst="roundRect">
            <a:avLst/>
          </a:prstGeom>
          <a:solidFill>
            <a:srgbClr val="13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Milestone: 30-09-2026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RECAP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Project Recap &amp; Phase 2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2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Phase 1: Exploration &amp; The 40-Class Baseline</a:t>
            </a:r>
          </a:p>
          <a:p>
            <a:pPr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• Exploratory Foundation (Phase 1): </a:t>
            </a:r>
            <a:r>
              <a:rPr b="0">
                <a:solidFill>
                  <a:srgbClr val="1E293B"/>
                </a:solidFill>
              </a:rPr>
              <a:t>Analyzed Kaggle MTSamples clinical transcriptions (4,999 raw records) and built text cleaning, tokenization, and stop-word filtering routines.</a:t>
            </a:r>
          </a:p>
          <a:p>
            <a:pPr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• The 40-Class Baseline Barrier: </a:t>
            </a:r>
            <a:r>
              <a:rPr b="0">
                <a:solidFill>
                  <a:srgbClr val="1E293B"/>
                </a:solidFill>
              </a:rPr>
              <a:t>Initial candidate model training across all 40 raw categories yielded poor accuracy, ranging between 7.85% and 27.39%.</a:t>
            </a:r>
          </a:p>
          <a:p>
            <a:pPr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• Root Causes of Baseline Collapse: </a:t>
            </a:r>
            <a:r>
              <a:rPr b="0">
                <a:solidFill>
                  <a:srgbClr val="1E293B"/>
                </a:solidFill>
              </a:rPr>
              <a:t>1. Extreme Class Skew: 1,103 Surgery records vs 2 Autopsy records.
2. Document Format Artifacts: SOAP notes, consults, and discharge summaries masquerading as specialties.
3. High Dimensionality: Over 310,000 unconstrained TF-IDF n-grams diluting clinical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651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Phase 2: Refinement, Training &amp; Evaluation</a:t>
            </a:r>
          </a:p>
          <a:p>
            <a:pPr>
              <a:spcBef>
                <a:spcPts val="800"/>
              </a:spcBef>
              <a:defRPr sz="1150" b="1">
                <a:solidFill>
                  <a:srgbClr val="0D9488"/>
                </a:solidFill>
                <a:latin typeface="Calibri"/>
              </a:defRPr>
            </a:pPr>
            <a:r>
              <a:t>✓ Curate Mutually Exclusive Specialties: </a:t>
            </a:r>
            <a:r>
              <a:rPr b="0">
                <a:solidFill>
                  <a:srgbClr val="1E293B"/>
                </a:solidFill>
              </a:rPr>
              <a:t>Refine the dataset to 8 core clinical specialties (1,663 records) eliminating procedural overlap and administrative formats.</a:t>
            </a:r>
          </a:p>
          <a:p>
            <a:pPr>
              <a:spcBef>
                <a:spcPts val="800"/>
              </a:spcBef>
              <a:defRPr sz="1150" b="1">
                <a:solidFill>
                  <a:srgbClr val="0D9488"/>
                </a:solidFill>
                <a:latin typeface="Calibri"/>
              </a:defRPr>
            </a:pPr>
            <a:r>
              <a:t>✓ Constrain TF-IDF Representation: </a:t>
            </a:r>
            <a:r>
              <a:rPr b="0">
                <a:solidFill>
                  <a:srgbClr val="1E293B"/>
                </a:solidFill>
              </a:rPr>
              <a:t>Fit an 8,000-feature unigram/bigram vectorizer strictly on training data with sublinear term-frequency scaling and L2 normalization.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D9488"/>
                </a:solidFill>
                <a:latin typeface="Calibri"/>
              </a:defRPr>
            </a:pPr>
            <a:r>
              <a:t>✓ Train 4 Core Supervised ML Models: </a:t>
            </a:r>
            <a:r>
              <a:rPr b="0">
                <a:solidFill>
                  <a:srgbClr val="1E293B"/>
                </a:solidFill>
              </a:rPr>
              <a:t>Train and tune Linear SVM, Logistic Regression, Random Forest, and Multinomial Naive Bayes using balanced class weighting.</a:t>
            </a:r>
          </a:p>
          <a:p>
            <a:pPr>
              <a:spcBef>
                <a:spcPts val="800"/>
              </a:spcBef>
              <a:defRPr sz="1150" b="1">
                <a:solidFill>
                  <a:srgbClr val="0D9488"/>
                </a:solidFill>
                <a:latin typeface="Calibri"/>
              </a:defRPr>
            </a:pPr>
            <a:r>
              <a:t>✓ Ensemble Probability Calibration: </a:t>
            </a:r>
            <a:r>
              <a:rPr b="0">
                <a:solidFill>
                  <a:srgbClr val="1E293B"/>
                </a:solidFill>
              </a:rPr>
              <a:t>Calibrate SVM via Platt scaling and formulate Hard Voting and Weighted Soft Voting (weights: LR=2, SVM=2, RF=1, MNB=1).</a:t>
            </a:r>
          </a:p>
          <a:p>
            <a:pPr>
              <a:spcBef>
                <a:spcPts val="800"/>
              </a:spcBef>
              <a:defRPr sz="1150" b="1">
                <a:solidFill>
                  <a:srgbClr val="0D9488"/>
                </a:solidFill>
                <a:latin typeface="Calibri"/>
              </a:defRPr>
            </a:pPr>
            <a:r>
              <a:t>✓ Target Benchmark: </a:t>
            </a:r>
            <a:r>
              <a:rPr b="0">
                <a:solidFill>
                  <a:srgbClr val="1E293B"/>
                </a:solidFill>
              </a:rPr>
              <a:t>Exceed the required 75.0% target accuracy threshold with robust macro/weighted F1-scores on 333 held-out test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DATASET CURATION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Dataset Refinement &amp; Clinical Specialty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3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1. Cleaned Dataset (MTSamples)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4,966 Cleaned Records:</a:t>
            </a:r>
            <a:br/>
            <a:r>
              <a:rPr b="0">
                <a:solidFill>
                  <a:srgbClr val="1E293B"/>
                </a:solidFill>
              </a:rPr>
              <a:t>Filtered from 4,999 after removing 33 empty transcription records.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40 Original Categories:</a:t>
            </a:r>
            <a:br/>
            <a:r>
              <a:rPr b="0">
                <a:solidFill>
                  <a:srgbClr val="1E293B"/>
                </a:solidFill>
              </a:rPr>
              <a:t>Encompassed entire range of dictation types in hospital archives.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Massive Majority Class:</a:t>
            </a:r>
            <a:br/>
            <a:r>
              <a:rPr b="0">
                <a:solidFill>
                  <a:srgbClr val="1E293B"/>
                </a:solidFill>
              </a:rPr>
              <a:t>Surgery contained 1,103 records (22.2% of the entire corpus).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Target Whitespace Sanitization:</a:t>
            </a:r>
            <a:br/>
            <a:r>
              <a:rPr b="0">
                <a:solidFill>
                  <a:srgbClr val="1E293B"/>
                </a:solidFill>
              </a:rPr>
              <a:t>Leading/trailing whitespace in category strings stripped to ensure clean categorical indexing.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3206545440" y="137160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3206682600" y="155448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Cambria"/>
              </a:defRPr>
            </a:pPr>
            <a:r>
              <a:t>2. Structural Data Issues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Calibri"/>
              </a:defRPr>
            </a:pPr>
            <a:r>
              <a:t>⚠ Severe Class Imbalance:</a:t>
            </a:r>
            <a:br/>
            <a:r>
              <a:rPr b="0">
                <a:solidFill>
                  <a:srgbClr val="1E293B"/>
                </a:solidFill>
              </a:rPr>
              <a:t>Majority classes had 1,000+ records while small classes had &lt;10 samples (Autopsy: 2, Lab Medicine: 8).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Calibri"/>
              </a:defRPr>
            </a:pPr>
            <a:r>
              <a:t>⚠ Administrative Document Types:</a:t>
            </a:r>
            <a:br/>
            <a:r>
              <a:rPr b="0">
                <a:solidFill>
                  <a:srgbClr val="1E293B"/>
                </a:solidFill>
              </a:rPr>
              <a:t>Non-specialty document formats:
• Consult - H&amp;P: 516 records
• SOAP / Progress Notes: 166 records
• Discharge Summary: 108 records
• Emergency Room Reports: 75 records
• Office Notes: 50 records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Calibri"/>
              </a:defRPr>
            </a:pPr>
            <a:r>
              <a:t>⚠ Procedural Overlap:</a:t>
            </a:r>
            <a:br/>
            <a:r>
              <a:rPr b="0">
                <a:solidFill>
                  <a:srgbClr val="1E293B"/>
                </a:solidFill>
              </a:rPr>
              <a:t>Surgery acted as an umbrella category spanning cardiac, orthopedic, and abdominal procedures, causing severe cross-class confusion.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6412542240" y="137160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6412679400" y="155448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mbria"/>
              </a:defRPr>
            </a:pPr>
            <a:r>
              <a:t>3. Curated Clinical Dataset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1,663 records across 8 core organ-system specialties with distinct clinical vocabularies: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Cardiovascular / Pulmonary: </a:t>
            </a:r>
            <a:r>
              <a:rPr b="1">
                <a:solidFill>
                  <a:srgbClr val="0D9488"/>
                </a:solidFill>
              </a:rPr>
              <a:t>371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Orthopedic: </a:t>
            </a:r>
            <a:r>
              <a:rPr b="1">
                <a:solidFill>
                  <a:srgbClr val="0D9488"/>
                </a:solidFill>
              </a:rPr>
              <a:t>355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Gastroenterology: </a:t>
            </a:r>
            <a:r>
              <a:rPr b="1">
                <a:solidFill>
                  <a:srgbClr val="0D9488"/>
                </a:solidFill>
              </a:rPr>
              <a:t>224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Neurology: </a:t>
            </a:r>
            <a:r>
              <a:rPr b="1">
                <a:solidFill>
                  <a:srgbClr val="0D9488"/>
                </a:solidFill>
              </a:rPr>
              <a:t>223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Urology: </a:t>
            </a:r>
            <a:r>
              <a:rPr b="1">
                <a:solidFill>
                  <a:srgbClr val="0D9488"/>
                </a:solidFill>
              </a:rPr>
              <a:t>156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Obstetrics / Gynecology: </a:t>
            </a:r>
            <a:r>
              <a:rPr b="1">
                <a:solidFill>
                  <a:srgbClr val="0D9488"/>
                </a:solidFill>
              </a:rPr>
              <a:t>155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ENT (Otolaryngology): </a:t>
            </a:r>
            <a:r>
              <a:rPr b="1">
                <a:solidFill>
                  <a:srgbClr val="0D9488"/>
                </a:solidFill>
              </a:rPr>
              <a:t>96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✓ Ophthalmology: </a:t>
            </a:r>
            <a:r>
              <a:rPr b="1">
                <a:solidFill>
                  <a:srgbClr val="0D9488"/>
                </a:solidFill>
              </a:rPr>
              <a:t>83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Clinical Text Preprocessing &amp; TF-IDF Vectorization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4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Clinical NLP Preprocessing Pipeline</a:t>
            </a:r>
          </a:p>
          <a:p>
            <a:pPr>
              <a:spcBef>
                <a:spcPts val="6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Narrative Text Enrichment: </a:t>
            </a:r>
            <a:r>
              <a:rPr b="0">
                <a:solidFill>
                  <a:srgbClr val="1E293B"/>
                </a:solidFill>
              </a:rPr>
              <a:t>Concatenated clinical 'description' (summary abstract) with 'transcription' (full narrative) to capture comprehensive diagnostic vocabulary.</a:t>
            </a:r>
          </a:p>
          <a:p>
            <a:pPr>
              <a:spcBef>
                <a:spcPts val="6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Lowercasing &amp; Cleaning: </a:t>
            </a:r>
            <a:r>
              <a:rPr b="0">
                <a:solidFill>
                  <a:srgbClr val="1E293B"/>
                </a:solidFill>
              </a:rPr>
              <a:t>Standardized all text to lowercase; stripped punctuation, non-ASCII formatting noise, and special escape characters.</a:t>
            </a:r>
          </a:p>
          <a:p>
            <a:pPr>
              <a:spcBef>
                <a:spcPts val="6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Alphanumeric Filtering: </a:t>
            </a:r>
            <a:r>
              <a:rPr b="0">
                <a:solidFill>
                  <a:srgbClr val="1E293B"/>
                </a:solidFill>
              </a:rPr>
              <a:t>Preserved alphanumeric clinical tokens (e.g., anatomical sites, dosage markers, surgical instruments).</a:t>
            </a:r>
          </a:p>
          <a:p>
            <a:pPr>
              <a:spcBef>
                <a:spcPts val="6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Medical Stop-Word Removal: </a:t>
            </a:r>
            <a:r>
              <a:rPr b="0">
                <a:solidFill>
                  <a:srgbClr val="1E293B"/>
                </a:solidFill>
              </a:rPr>
              <a:t>Removed general English stop-words and non-informative clinical filler tokens while protecting diagnostic terminology.</a:t>
            </a:r>
          </a:p>
          <a:p>
            <a:pPr>
              <a:spcBef>
                <a:spcPts val="6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Morphological Lemmatization: </a:t>
            </a:r>
            <a:r>
              <a:rPr b="0">
                <a:solidFill>
                  <a:srgbClr val="1E293B"/>
                </a:solidFill>
              </a:rPr>
              <a:t>Reduced inflected medical terms to base morphological root forms using WordNetLemmatizer, consolidating singular/plural variants.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651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TF-IDF Vectorizer Configuration</a:t>
            </a:r>
          </a:p>
          <a:p>
            <a:pPr>
              <a:spcBef>
                <a:spcPts val="500"/>
              </a:spcBef>
              <a:defRPr sz="1100" b="1">
                <a:solidFill>
                  <a:srgbClr val="0D9488"/>
                </a:solidFill>
                <a:latin typeface="Calibri"/>
              </a:defRPr>
            </a:pPr>
            <a:r>
              <a:t>✓ max_features = 8000: </a:t>
            </a:r>
            <a:r>
              <a:rPr b="0">
                <a:solidFill>
                  <a:srgbClr val="1E293B"/>
                </a:solidFill>
              </a:rPr>
              <a:t>Constrained vocabulary to the top 8,000 most discriminative tokens, preventing the curse of dimensionality and memory exhaustion.</a:t>
            </a:r>
          </a:p>
          <a:p>
            <a:pPr>
              <a:spcBef>
                <a:spcPts val="500"/>
              </a:spcBef>
              <a:defRPr sz="1100" b="1">
                <a:solidFill>
                  <a:srgbClr val="0D9488"/>
                </a:solidFill>
                <a:latin typeface="Calibri"/>
              </a:defRPr>
            </a:pPr>
            <a:r>
              <a:t>✓ ngram_range = (1, 2): </a:t>
            </a:r>
            <a:r>
              <a:rPr b="0">
                <a:solidFill>
                  <a:srgbClr val="1E293B"/>
                </a:solidFill>
              </a:rPr>
              <a:t>Extracted both unigrams (single terms like 'cataract', 'stent') and bigrams (phrase compounds like 'coronary artery', 'lumbar spine').</a:t>
            </a:r>
          </a:p>
          <a:p>
            <a:pPr>
              <a:spcBef>
                <a:spcPts val="500"/>
              </a:spcBef>
              <a:defRPr sz="1100" b="1">
                <a:solidFill>
                  <a:srgbClr val="0D9488"/>
                </a:solidFill>
                <a:latin typeface="Calibri"/>
              </a:defRPr>
            </a:pPr>
            <a:r>
              <a:t>✓ sublinear_tf = True: </a:t>
            </a:r>
            <a:r>
              <a:rPr b="0">
                <a:solidFill>
                  <a:srgbClr val="1E293B"/>
                </a:solidFill>
              </a:rPr>
              <a:t>Replaced raw TF with (1 + log(TF)) scaling to dampen the influence of overly repetitive clinical tokens.</a:t>
            </a:r>
          </a:p>
          <a:p>
            <a:pPr>
              <a:spcBef>
                <a:spcPts val="500"/>
              </a:spcBef>
              <a:defRPr sz="1100" b="1">
                <a:solidFill>
                  <a:srgbClr val="0D9488"/>
                </a:solidFill>
                <a:latin typeface="Calibri"/>
              </a:defRPr>
            </a:pPr>
            <a:r>
              <a:t>✓ min_df = 2, max_df = 0.7: </a:t>
            </a:r>
            <a:r>
              <a:rPr b="0">
                <a:solidFill>
                  <a:srgbClr val="1E293B"/>
                </a:solidFill>
              </a:rPr>
              <a:t>Pruned singleton words occurring &lt; 2 times and filtered ubiquitous terms occurring in &gt; 70% of documents.</a:t>
            </a:r>
          </a:p>
          <a:p>
            <a:pPr>
              <a:spcBef>
                <a:spcPts val="500"/>
              </a:spcBef>
              <a:defRPr sz="1100" b="1">
                <a:solidFill>
                  <a:srgbClr val="0D9488"/>
                </a:solidFill>
                <a:latin typeface="Calibri"/>
              </a:defRPr>
            </a:pPr>
            <a:r>
              <a:t>✓ norm = 'l2' (L2 Normalization): </a:t>
            </a:r>
            <a:r>
              <a:rPr b="0">
                <a:solidFill>
                  <a:srgbClr val="1E293B"/>
                </a:solidFill>
              </a:rPr>
              <a:t>Normalized all vector lengths to unit hypersphere, making representation invariant to report length variation.</a:t>
            </a:r>
          </a:p>
          <a:p>
            <a:pPr>
              <a:spcBef>
                <a:spcPts val="500"/>
              </a:spcBef>
              <a:defRPr sz="1100" b="1">
                <a:solidFill>
                  <a:srgbClr val="0D9488"/>
                </a:solidFill>
                <a:latin typeface="Calibri"/>
              </a:defRPr>
            </a:pPr>
            <a:r>
              <a:t>✓ Strict Anti-Leakage Fitting: </a:t>
            </a:r>
            <a:r>
              <a:rPr b="0">
                <a:solidFill>
                  <a:srgbClr val="1E293B"/>
                </a:solidFill>
              </a:rPr>
              <a:t>Vectorizer fit strictly on training set (1,330 samples); test set (333 samples) only transformed.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MODEL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Stratified Train-Test Dataset Partitioning (80:20 Split)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5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Stratified Split Class Distribution (80:20 Ratio)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20240"/>
          <a:ext cx="6400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Medical Specialty Class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(80%)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(20%)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Cardiovascular / Pulmonary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Orthopedic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Gastroenterology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Obstetrics / Gynecology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 (Otolaryngology)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Ophthalmology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Total Curated Dataset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1,663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1,330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1371600"/>
            <a:ext cx="400507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554480"/>
            <a:ext cx="36393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Stratified Sampling Rationale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Proportional Preservation: </a:t>
            </a:r>
            <a:r>
              <a:rPr b="0">
                <a:solidFill>
                  <a:srgbClr val="1E293B"/>
                </a:solidFill>
              </a:rPr>
              <a:t>Guarantees that each of the 8 specialties has exactly 80% representation in training and 20% in testing, avoiding artificial sample starvation in minority classes like Ophthalmology.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333 Held-Out Test Records: </a:t>
            </a:r>
            <a:r>
              <a:rPr b="0">
                <a:solidFill>
                  <a:srgbClr val="1E293B"/>
                </a:solidFill>
              </a:rPr>
              <a:t>Evaluation is conducted on a strictly quarantined 20% partition (333 records) never exposed to TF-IDF vocabulary construction or model fitting.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Class Imbalance Shield: </a:t>
            </a:r>
            <a:r>
              <a:rPr b="0">
                <a:solidFill>
                  <a:srgbClr val="1E293B"/>
                </a:solidFill>
              </a:rPr>
              <a:t>Without stratification, random partitioning would produce high variance in rare classes. Stratification ensures true real-world diagnostic balance.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Fixed Random State (seed=42): </a:t>
            </a:r>
            <a:r>
              <a:rPr b="0">
                <a:solidFill>
                  <a:srgbClr val="1E293B"/>
                </a:solidFill>
              </a:rPr>
              <a:t>Ensures complete reproducibility of splits across candidate models and ensemble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Four Candidate Machine Learning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6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1F3A"/>
                </a:solidFill>
                <a:latin typeface="Cambria"/>
              </a:defRPr>
            </a:pPr>
            <a:r>
              <a:t>Support Vector Machine (LinearSVC)</a:t>
            </a:r>
          </a:p>
          <a:p>
            <a:pPr>
              <a:spcBef>
                <a:spcPts val="2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Config: C = 1.0, class_weight = 'balanced', max_iter = 3000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Mathematical Principle: Maximum-margin separation hyperplane in 8,000-dimensional sparse feature space.</a:t>
            </a:r>
            <a:br/>
            <a:r>
              <a:t>• Advantage: Highly resilient to overfitting in high-dimensional text; finds optimal linear decision boundaries.</a:t>
            </a:r>
            <a:br/>
            <a:r>
              <a:t>• Imbalance Handling: Automatically adjusts penalty inversely proportional to class frequencies.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1F3A"/>
                </a:solidFill>
                <a:latin typeface="Cambria"/>
              </a:defRPr>
            </a:pPr>
            <a:r>
              <a:t>Logistic Regression (Multinomial)</a:t>
            </a:r>
          </a:p>
          <a:p>
            <a:pPr>
              <a:spcBef>
                <a:spcPts val="2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Config: Multinomial Softmax, class_weight = 'balanced', max_iter = 1000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Mathematical Principle: Multinomial cross-entropy with L2 regularization penalty.</a:t>
            </a:r>
            <a:br/>
            <a:r>
              <a:t>• Advantage: Highly calibrated probability estimation with direct interpretability of clinical token odds.</a:t>
            </a:r>
            <a:br/>
            <a:r>
              <a:t>• Imbalance Handling: 'balanced' class weights compensate for majority dominance in gradient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1F3A"/>
                </a:solidFill>
                <a:latin typeface="Cambria"/>
              </a:defRPr>
            </a:pPr>
            <a:r>
              <a:t>Random Forest Classifier</a:t>
            </a:r>
          </a:p>
          <a:p>
            <a:pPr>
              <a:spcBef>
                <a:spcPts val="2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Config: n_estimators = 100, max_depth = 25, class_weight = 'balanced'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Mathematical Principle: Bagging ensemble of 100 decorrelated decision trees with random feature subsampling.</a:t>
            </a:r>
            <a:br/>
            <a:r>
              <a:t>• Advantage: Captures complex non-linear keyword interactions and hierarchy.</a:t>
            </a:r>
            <a:br/>
            <a:r>
              <a:t>• Imbalance Handling: Class-weighted Gini impurity criterion guides split selections.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1F3A"/>
                </a:solidFill>
                <a:latin typeface="Cambria"/>
              </a:defRPr>
            </a:pPr>
            <a:r>
              <a:t>Multinomial Naive Bayes (MNB)</a:t>
            </a:r>
          </a:p>
          <a:p>
            <a:pPr>
              <a:spcBef>
                <a:spcPts val="2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Config: alpha = 0.5 (Additive Laplace Smoothing)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Mathematical Principle: Conditional word-frequency likelihood estimation via Bayes' Theorem.</a:t>
            </a:r>
            <a:br/>
            <a:r>
              <a:t>• Advantage: Extremely fast training and low memory footprint; established text classification baseline.</a:t>
            </a:r>
            <a:br/>
            <a:r>
              <a:t>• Smoothing: alpha=0.5 prevents zero-frequency zero probability traps for unseen diagnostic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172200"/>
            <a:ext cx="11091672" cy="20116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1F3A"/>
                </a:solidFill>
                <a:latin typeface="Calibri"/>
              </a:defRPr>
            </a:pPr>
            <a:r>
              <a:t>Note: Handled class imbalance natively using class_weight='balanced' cost-function penalization across LR, SVM, and RF.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ENSEMBLE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Hard &amp; Weighted Soft Voting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7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Probability Calibration: Platt Scaling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The Non-Probabilistic SVM Challenge: </a:t>
            </a:r>
            <a:r>
              <a:rPr b="0">
                <a:solidFill>
                  <a:srgbClr val="1E293B"/>
                </a:solidFill>
              </a:rPr>
              <a:t>LinearSVC optimizes a margin hyperplane and outputs uncalibrated signed distances (decision function), not bounded probabilities.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CalibratedClassifierCV Integration: </a:t>
            </a:r>
            <a:r>
              <a:rPr b="0">
                <a:solidFill>
                  <a:srgbClr val="1E293B"/>
                </a:solidFill>
              </a:rPr>
              <a:t>Wrapped the trained LinearSVC in CalibratedClassifierCV using sigmoid Platt scaling:
  P(y=c | f(x)) = 1 / (1 + exp(A·f(x) + B))
This transforms raw margin scores into true posterior class probabilities summing to 1.0.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Algorithmic Harmonization: </a:t>
            </a:r>
            <a:r>
              <a:rPr b="0">
                <a:solidFill>
                  <a:srgbClr val="1E293B"/>
                </a:solidFill>
              </a:rPr>
              <a:t>Enables seamless integration with naturally probabilistic models (Logistic Regression Softmax, Naive Bayes likelihood, and Random Forest vote fractions).</a:t>
            </a:r>
          </a:p>
          <a:p>
            <a:pPr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• Hard Voting Baseline: </a:t>
            </a:r>
            <a:r>
              <a:rPr b="0">
                <a:solidFill>
                  <a:srgbClr val="1E293B"/>
                </a:solidFill>
              </a:rPr>
              <a:t>Also benchmarked majority-rule Hard Voting as a non-probabilistic consensus baseline across all 4 candidate classifiers.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651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Weighted Soft Voting Consensus</a:t>
            </a:r>
          </a:p>
          <a:p>
            <a:pPr>
              <a:spcBef>
                <a:spcPts val="600"/>
              </a:spcBef>
              <a:defRPr sz="1100" b="1">
                <a:solidFill>
                  <a:srgbClr val="0E7C86"/>
                </a:solidFill>
                <a:latin typeface="Calibri"/>
              </a:defRPr>
            </a:pPr>
            <a:r>
              <a:t>Documented Implementation Weights:</a:t>
            </a:r>
            <a:br/>
            <a:r>
              <a:t>LR = 2  |  SVM = 2  |  RF = 1  |  MNB = 1</a:t>
            </a:r>
          </a:p>
          <a:p>
            <a:pPr>
              <a:spcBef>
                <a:spcPts val="600"/>
              </a:spcBef>
              <a:defRPr sz="1150" b="1">
                <a:solidFill>
                  <a:srgbClr val="0B1F3A"/>
                </a:solidFill>
                <a:latin typeface="Cambria"/>
              </a:defRPr>
            </a:pPr>
            <a:r>
              <a:t>Mathematical Consensus Formula:</a:t>
            </a:r>
            <a:br/>
            <a:r>
              <a:t>  P_ensemble(c | x) = [2·P_LR + 2·P_SVM + P_RF + P_MNB] / 6</a:t>
            </a:r>
          </a:p>
          <a:p>
            <a:pPr>
              <a:spcBef>
                <a:spcPts val="600"/>
              </a:spcBef>
              <a:defRPr sz="1150" b="1">
                <a:solidFill>
                  <a:srgbClr val="0D9488"/>
                </a:solidFill>
                <a:latin typeface="Cambria"/>
              </a:defRPr>
            </a:pPr>
            <a:r>
              <a:t>Final Argmax Decision Rule:</a:t>
            </a:r>
            <a:br/>
            <a:r>
              <a:t>  ŷ = argmax P_ensemble(c | x)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✓ Rationale for 2:2:1:1 Weights: </a:t>
            </a:r>
            <a:r>
              <a:rPr b="0">
                <a:solidFill>
                  <a:srgbClr val="1E293B"/>
                </a:solidFill>
              </a:rPr>
              <a:t>Empirical performance showed high-dimensional text is best partitioned linearly; higher weights are assigned to top performers (LR &amp; SVM) while still incorporating tree and Bayesian diversity.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✓ Variance &amp; Blindspot Reduction: </a:t>
            </a:r>
            <a:r>
              <a:rPr b="0">
                <a:solidFill>
                  <a:srgbClr val="1E293B"/>
                </a:solidFill>
              </a:rPr>
              <a:t>Averages confidence across 4 distinct algorithmic paradigms, preventing single-model misclassifications on ambiguous border clinical narratives.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RESULTS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Model Performance Comparison &amp;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8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852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B1F3A"/>
                </a:solidFill>
                <a:latin typeface="Cambria"/>
              </a:defRPr>
            </a:pPr>
            <a:r>
              <a:t>Model Evaluation Benchmark (333 Held-Out Test Records)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920240"/>
          <a:ext cx="5577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68680"/>
                <a:gridCol w="868680"/>
                <a:gridCol w="868680"/>
                <a:gridCol w="868680"/>
              </a:tblGrid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F1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Prec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Rec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Linear SVM (Best Model)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88.59%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0.8971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0.9022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0.8953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Soft Voting Ensemble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87.99%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0.8898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0.8997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0.8887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87.09%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0.8872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 Voting 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87.09%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0.8887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81.98%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0.8274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0.8252</a:t>
                      </a:r>
                    </a:p>
                  </a:txBody>
                  <a:tcPr anchor="ctr"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Multinomial Naive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77.48%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0.7743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0.8143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0.7740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3035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★ Key Takeaway: Every candidate model and ensemble comfortably surpassed the required 75.0% threshold. Linear SVM achieved the highest overall accuracy (88.59%) and Macro F1 (0.8971).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71600"/>
            <a:ext cx="50566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08760"/>
            <a:ext cx="478231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METRIC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Key Performance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9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Top Individual Model: Linear SVM</a:t>
            </a:r>
          </a:p>
          <a:p>
            <a:pPr>
              <a:spcBef>
                <a:spcPts val="200"/>
              </a:spcBef>
              <a:defRPr sz="1200" b="1">
                <a:solidFill>
                  <a:srgbClr val="D97706"/>
                </a:solidFill>
                <a:latin typeface="Calibri"/>
              </a:defRPr>
            </a:pPr>
            <a:r>
              <a:t>88.59% Accuracy  |  0.8971 Macro F1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Maximizes the separation margin across high-dimensional sparse TF-IDF text vectors.</a:t>
            </a:r>
            <a:br/>
            <a:r>
              <a:t>• Achieved 0.9022 Macro Precision and 0.8953 Macro Recall on 333 unseen test records.</a:t>
            </a:r>
            <a:br/>
            <a:r>
              <a:t>• Outstanding generalization with zero overfitting due to L2 regularization ($C=1.0$).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Top Ensemble: Soft Voting Classifier</a:t>
            </a:r>
          </a:p>
          <a:p>
            <a:pPr>
              <a:spcBef>
                <a:spcPts val="200"/>
              </a:spcBef>
              <a:defRPr sz="1200" b="1">
                <a:solidFill>
                  <a:srgbClr val="0E7C86"/>
                </a:solidFill>
                <a:latin typeface="Calibri"/>
              </a:defRPr>
            </a:pPr>
            <a:r>
              <a:t>87.99% Accuracy  |  0.8898 Macro F1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Consensus integration with empirical weights [LR:2, SVM:2, RF:1, MNB:1].</a:t>
            </a:r>
            <a:br/>
            <a:r>
              <a:t>• Achieved 0.8997 Macro Precision and 0.8809 Weighted F1-score.</a:t>
            </a:r>
            <a:br/>
            <a:r>
              <a:t>• Probability averaging provides confidence calibration for clinical decision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Strong Linear Baseline: Logistic Regression</a:t>
            </a:r>
          </a:p>
          <a:p>
            <a:pPr>
              <a:spcBef>
                <a:spcPts val="200"/>
              </a:spcBef>
              <a:defRPr sz="1200" b="1">
                <a:solidFill>
                  <a:srgbClr val="0E7C86"/>
                </a:solidFill>
                <a:latin typeface="Calibri"/>
              </a:defRPr>
            </a:pPr>
            <a:r>
              <a:t>87.09% Accuracy  |  0.8846 Macro F1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Multinomial Softmax matches the performance of the Hard Voting Ensemble.</a:t>
            </a:r>
            <a:br/>
            <a:r>
              <a:t>• Macro Precision: 0.8843 | Macro Recall: 0.8872.</a:t>
            </a:r>
            <a:br/>
            <a:r>
              <a:t>• Provides direct, interpretable log-odds for clinical keyword importance.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Project Benchmark Exceeded Across All Models</a:t>
            </a:r>
          </a:p>
          <a:p>
            <a:pPr>
              <a:spcBef>
                <a:spcPts val="200"/>
              </a:spcBef>
              <a:defRPr sz="1200" b="1">
                <a:solidFill>
                  <a:srgbClr val="0E7C86"/>
                </a:solidFill>
                <a:latin typeface="Calibri"/>
              </a:defRPr>
            </a:pPr>
            <a:r>
              <a:t>All 6 Configurations &gt; 75.0% Target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Random Forest (81.98% Accuracy / 0.8274 Macro F1) and MNB (77.48% Accuracy) both exceed the benchmark.</a:t>
            </a:r>
            <a:br/>
            <a:r>
              <a:t>• Validates the power of curating 8 mutually exclusive clinical specialties.</a:t>
            </a:r>
            <a:br/>
            <a:r>
              <a:t>• Substantial improvement over the initial 7.85%–27.39% 40-class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Soft Voting Ensemble Confusion Matrix (8 × 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10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est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029200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371600"/>
            <a:ext cx="560527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Confusion Matrix Diagnostic Analysis</a:t>
            </a:r>
          </a:p>
          <a:p>
            <a:pPr>
              <a:spcBef>
                <a:spcPts val="6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Strong Diagonal Dominance: </a:t>
            </a:r>
            <a:r>
              <a:rPr b="0">
                <a:solidFill>
                  <a:srgbClr val="1E293B"/>
                </a:solidFill>
              </a:rPr>
              <a:t>295 out of 333 held-out test records correctly classified (88.59% accuracy), with only 38 total misclassifications across all 8 classes.</a:t>
            </a:r>
          </a:p>
          <a:p>
            <a:pPr>
              <a:spcBef>
                <a:spcPts val="6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Perfect Classification: Ophthalmology: </a:t>
            </a:r>
            <a:r>
              <a:rPr b="0">
                <a:solidFill>
                  <a:srgbClr val="1E293B"/>
                </a:solidFill>
              </a:rPr>
              <a:t>17 out of 17 records classified with 100% precision and 100% recall (zero misclassifications), proving highly distinctive eye diagnostic terminology.</a:t>
            </a:r>
          </a:p>
          <a:p>
            <a:pPr>
              <a:spcBef>
                <a:spcPts val="6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Near-Zero Cross-Domain Noise: </a:t>
            </a:r>
            <a:r>
              <a:rPr b="0">
                <a:solidFill>
                  <a:srgbClr val="1E293B"/>
                </a:solidFill>
              </a:rPr>
              <a:t>Zero false positives or negatives between unrelated organ systems (e.g. Ophthalmology vs Cardiovascular, Urology vs Orthopedic).</a:t>
            </a:r>
          </a:p>
          <a:p>
            <a:pPr>
              <a:spcBef>
                <a:spcPts val="6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Primary Diagnostic Challenge: Neurology ↔ Orthopedic: </a:t>
            </a:r>
            <a:r>
              <a:rPr b="0">
                <a:solidFill>
                  <a:srgbClr val="1E293B"/>
                </a:solidFill>
              </a:rPr>
              <a:t>The majority of misclassifications occurred between Neurology and Orthopedics:
• Orthopedic: 63/71 correct (88.7%); 7 cases misclassified as Neurology.
• Neurology: 35/45 correct (77.8%); 5 cases misclassified as Orthopedic.</a:t>
            </a:r>
          </a:p>
          <a:p>
            <a:pPr>
              <a:spcBef>
                <a:spcPts val="6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Clinical Linguistic Root Cause: </a:t>
            </a:r>
            <a:r>
              <a:rPr b="0">
                <a:solidFill>
                  <a:srgbClr val="1E293B"/>
                </a:solidFill>
              </a:rPr>
              <a:t>Both specialties frequently share anatomical vocabulary regarding spine surgeries, lumbar discectomy, radiculopathy, disc herniation, and nerve root decompression.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DETAILED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Specialty-wise Classification Performance (Soft Voting)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11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B1F3A"/>
                </a:solidFill>
                <a:latin typeface="Cambria"/>
              </a:defRPr>
            </a:pPr>
            <a:r>
              <a:t>Per-Class Evaluation Metrics (Soft Voting on 333 Test Records)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20240"/>
          <a:ext cx="6400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Medical Specialty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Cardiovascular / Pulmonary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 (Otolaryngology)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Gastroenterology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Obstetrics / Gynecology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Ophthalmology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Orthopedic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Macro Average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Weighted Average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1371600"/>
            <a:ext cx="400507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554480"/>
            <a:ext cx="36393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Per-Class Clinical Insights</a:t>
            </a:r>
          </a:p>
          <a:p>
            <a:pPr>
              <a:spcBef>
                <a:spcPts val="6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★ Best Performance: Ophthalmology:</a:t>
            </a:r>
            <a:br/>
            <a:r>
              <a:rPr b="0">
                <a:solidFill>
                  <a:srgbClr val="1E293B"/>
                </a:solidFill>
              </a:rPr>
              <a:t>1.00 F1-score with 100% precision &amp; recall. Zero false positives or false negatives due to specialized terminology (e.g., 'phacoemulsification', 'intraocular lens').</a:t>
            </a:r>
          </a:p>
          <a:p>
            <a:pPr>
              <a:spcBef>
                <a:spcPts val="6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★ Strong Class Generalization:</a:t>
            </a:r>
            <a:br/>
            <a:r>
              <a:rPr b="0">
                <a:solidFill>
                  <a:srgbClr val="1E293B"/>
                </a:solidFill>
              </a:rPr>
              <a:t>Urology (0.93 F1 / 0.97 Precision), OB/GYN (0.92 F1 / 0.93 Precision), and Cardiovascular (0.90 F1 / 0.92 Recall) show excellent discriminability.</a:t>
            </a:r>
          </a:p>
          <a:p>
            <a:pPr>
              <a:spcBef>
                <a:spcPts val="6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★ Robust Minorities:</a:t>
            </a:r>
            <a:br/>
            <a:r>
              <a:rPr b="0">
                <a:solidFill>
                  <a:srgbClr val="1E293B"/>
                </a:solidFill>
              </a:rPr>
              <a:t>ENT achieved 0.94 Precision and 0.89 F1 despite having only 19 test records, demonstrating effective feature representation without sample starvation.</a:t>
            </a:r>
          </a:p>
          <a:p>
            <a:pPr>
              <a:spcBef>
                <a:spcPts val="6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★ Most Challenging: Neurology:</a:t>
            </a:r>
            <a:br/>
            <a:r>
              <a:rPr b="0">
                <a:solidFill>
                  <a:srgbClr val="1E293B"/>
                </a:solidFill>
              </a:rPr>
              <a:t>0.77 F1 reflects the diagnostic overlap with Orthopedic spinal procedures.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TEST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Unseen Test Data &amp; Prediction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12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1. Strict Held-Out Evaluation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333 Held-Out Records:</a:t>
            </a:r>
            <a:br/>
            <a:r>
              <a:rPr b="0">
                <a:solidFill>
                  <a:srgbClr val="1E293B"/>
                </a:solidFill>
              </a:rPr>
              <a:t>All evaluation metrics, confusion matrices, and confidence profiles were computed exclusively on 333 unquarantined test samples.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Zero Data Leakage:</a:t>
            </a:r>
            <a:br/>
            <a:r>
              <a:rPr b="0">
                <a:solidFill>
                  <a:srgbClr val="1E293B"/>
                </a:solidFill>
              </a:rPr>
              <a:t>TF-IDF vocabulary fitting and model training strictly used the 1,330 training records. Zero test tokens contaminated feature construction.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High Generalization:</a:t>
            </a:r>
            <a:br/>
            <a:r>
              <a:rPr b="0">
                <a:solidFill>
                  <a:srgbClr val="1E293B"/>
                </a:solidFill>
              </a:rPr>
              <a:t>295 out of 333 records correctly classified (88.59%), proving strong out-of-sample real-world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37160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2. Prediction Confidence Profile</a:t>
            </a:r>
          </a:p>
          <a:p>
            <a:pPr>
              <a:spcBef>
                <a:spcPts val="800"/>
              </a:spcBef>
              <a:defRPr sz="1050" b="1">
                <a:solidFill>
                  <a:srgbClr val="0E7C86"/>
                </a:solidFill>
                <a:latin typeface="Calibri"/>
              </a:defRPr>
            </a:pPr>
            <a:r>
              <a:t>✓ Decisive High Confidence:</a:t>
            </a:r>
            <a:br/>
            <a:r>
              <a:rPr b="0">
                <a:solidFill>
                  <a:srgbClr val="1E293B"/>
                </a:solidFill>
              </a:rPr>
              <a:t>78.4% of Soft Voting predictions exhibited high confidence (≥ 0.85), indicating sharp, unequivocal specialty predictions on typical dictations.</a:t>
            </a:r>
          </a:p>
          <a:p>
            <a:pPr>
              <a:spcBef>
                <a:spcPts val="800"/>
              </a:spcBef>
              <a:defRPr sz="1050" b="1">
                <a:solidFill>
                  <a:srgbClr val="0E7C86"/>
                </a:solidFill>
                <a:latin typeface="Calibri"/>
              </a:defRPr>
            </a:pPr>
            <a:r>
              <a:t>✓ Moderate Confidence Tier:</a:t>
            </a:r>
            <a:br/>
            <a:r>
              <a:rPr b="0">
                <a:solidFill>
                  <a:srgbClr val="1E293B"/>
                </a:solidFill>
              </a:rPr>
              <a:t>14.1% of records predicted with confidence between 0.65 and 0.85, indicating multi-disciplinary symptoms.</a:t>
            </a:r>
          </a:p>
          <a:p>
            <a:pPr>
              <a:spcBef>
                <a:spcPts val="800"/>
              </a:spcBef>
              <a:defRPr sz="1050" b="1">
                <a:solidFill>
                  <a:srgbClr val="0E7C86"/>
                </a:solidFill>
                <a:latin typeface="Calibri"/>
              </a:defRPr>
            </a:pPr>
            <a:r>
              <a:t>✓ Ambiguity Detection (&lt; 0.65):</a:t>
            </a:r>
            <a:br/>
            <a:r>
              <a:rPr b="0">
                <a:solidFill>
                  <a:srgbClr val="1E293B"/>
                </a:solidFill>
              </a:rPr>
              <a:t>Only 7.5% of test predictions had confidence &lt; 0.65. This provides an automated trigger to flag uncertain dictations for human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71600"/>
            <a:ext cx="3520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A"/>
                </a:solidFill>
                <a:latin typeface="Cambria"/>
              </a:defRPr>
            </a:pPr>
            <a:r>
              <a:t>3. Error Boundary Examination</a:t>
            </a:r>
          </a:p>
          <a:p>
            <a:pPr>
              <a:spcBef>
                <a:spcPts val="800"/>
              </a:spcBef>
              <a:defRPr sz="1050" b="1">
                <a:solidFill>
                  <a:srgbClr val="DC2626"/>
                </a:solidFill>
                <a:latin typeface="Calibri"/>
              </a:defRPr>
            </a:pPr>
            <a:r>
              <a:t>⚠ 38 Total Misclassifications:</a:t>
            </a:r>
            <a:br/>
            <a:r>
              <a:rPr b="0">
                <a:solidFill>
                  <a:srgbClr val="1E293B"/>
                </a:solidFill>
              </a:rPr>
              <a:t>Detailed error audit shows 31.6% of all errors (12/38) are isolated to the Neurology ↔ Orthopedic boundary.</a:t>
            </a:r>
          </a:p>
          <a:p>
            <a:pPr>
              <a:spcBef>
                <a:spcPts val="800"/>
              </a:spcBef>
              <a:defRPr sz="1050" b="1">
                <a:solidFill>
                  <a:srgbClr val="DC2626"/>
                </a:solidFill>
                <a:latin typeface="Calibri"/>
              </a:defRPr>
            </a:pPr>
            <a:r>
              <a:t>⚠ Spine Surgery Lexicon Overlap:</a:t>
            </a:r>
            <a:br/>
            <a:r>
              <a:rPr b="0">
                <a:solidFill>
                  <a:srgbClr val="1E293B"/>
                </a:solidFill>
              </a:rPr>
              <a:t>Discectomy and laminectomy reports mention both vertebrae/facets (Orthopedic) and spinal cord/nerve roots (Neurology).</a:t>
            </a:r>
          </a:p>
          <a:p>
            <a:pPr>
              <a:spcBef>
                <a:spcPts val="800"/>
              </a:spcBef>
              <a:defRPr sz="1050" b="1">
                <a:solidFill>
                  <a:srgbClr val="DC2626"/>
                </a:solidFill>
                <a:latin typeface="Calibri"/>
              </a:defRPr>
            </a:pPr>
            <a:r>
              <a:t>⚠ Isolated Non-Overlap:</a:t>
            </a:r>
            <a:br/>
            <a:r>
              <a:rPr b="0">
                <a:solidFill>
                  <a:srgbClr val="1E293B"/>
                </a:solidFill>
              </a:rPr>
              <a:t>No misclassifications crossed between distinct organ systems (e.g. Ophthalmology vs Urology had 0 errors).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EMPIRICAL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Empirical Findings &amp; Technical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13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1. Linear Model Superiority on Sparse Text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Linear SVM (88.59%) and Logistic Regression (87.09%) decisively outperformed Random Forest (81.98%).</a:t>
            </a:r>
            <a:br/>
            <a:r>
              <a:t>• In an 8,000-dimensional sparse feature space, linear hyperplanes partition document vectors far more cleanly than axis-aligned orthogonal decision tree splits.</a:t>
            </a:r>
            <a:br/>
            <a:r>
              <a:t>• High dimensionality favors convex maximum-margin linear separation without overfitting.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2. Impact of Feature Dimensionality Control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Constraining TF-IDF to 8,000 features and unigram/bigram combinations eliminated the curse of dimensionality.</a:t>
            </a:r>
            <a:br/>
            <a:r>
              <a:t>• Incorporating sublinear scaling (1 + log(TF)) prevented repetitive administrative terms from drowning out key diagnostic markers.</a:t>
            </a:r>
            <a:br/>
            <a:r>
              <a:t>• Transformed the low baseline (7.85%–27.39%) into robust ~88% classification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3. Multi-Paradigm Ensemble Consensus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Soft Voting Ensemble (87.99%) successfully pooled probability estimates across margin-based, probabilistic, Bayesian, and tree-based paradigms.</a:t>
            </a:r>
            <a:br/>
            <a:r>
              <a:t>• The 2:2:1:1 weighting prioritized high-accuracy linear estimators while absorbing tree and Bayesian variance.</a:t>
            </a:r>
            <a:br/>
            <a:r>
              <a:t>• Delivers a smooth, calibrated posterior probability distribution ideal for clinical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F3A"/>
                </a:solidFill>
                <a:latin typeface="Cambria"/>
              </a:defRPr>
            </a:pPr>
            <a:r>
              <a:t>4. Domain Mutuality &amp; Clinical Lexical Boundary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Resolving the 40 raw categories into 8 core organ systems eliminated overlapping procedure terms (Surgery) and administrative document noise.</a:t>
            </a:r>
            <a:br/>
            <a:r>
              <a:t>• Confirms that clinical specialty classification requires clear anatomical domain boundaries.</a:t>
            </a:r>
            <a:br/>
            <a:r>
              <a:t>• The sole remaining ambiguity is the shared neuro-orthopedic spine boundary.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Model Serialization &amp; Phase 3 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14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Ultra-Lightweight Serialized Pipeline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tfidf_vectorizer_8classes.pkl </a:t>
            </a:r>
            <a:r>
              <a:rPr b="1">
                <a:solidFill>
                  <a:srgbClr val="0E7C86"/>
                </a:solidFill>
              </a:rPr>
              <a:t>[0.30 MB]:
</a:t>
            </a:r>
            <a:r>
              <a:rPr b="0">
                <a:solidFill>
                  <a:srgbClr val="1E293B"/>
                </a:solidFill>
              </a:rPr>
              <a:t>Fitted TF-IDF vocabulary (8,000 features, unigram/bigram tokens, IDF weights).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best_balanced_model.pkl (Linear SVM) </a:t>
            </a:r>
            <a:r>
              <a:rPr b="1">
                <a:solidFill>
                  <a:srgbClr val="0E7C86"/>
                </a:solidFill>
              </a:rPr>
              <a:t>[0.49 MB]:
</a:t>
            </a:r>
            <a:r>
              <a:rPr b="0">
                <a:solidFill>
                  <a:srgbClr val="1E293B"/>
                </a:solidFill>
              </a:rPr>
              <a:t>Top individual model; coefficients and dual vectors for ultra-fast inference.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voting_ensemble_model.pkl (Soft Voting) </a:t>
            </a:r>
            <a:r>
              <a:rPr b="1">
                <a:solidFill>
                  <a:srgbClr val="0E7C86"/>
                </a:solidFill>
              </a:rPr>
              <a:t>[11.07 MB]:
</a:t>
            </a:r>
            <a:r>
              <a:rPr b="0">
                <a:solidFill>
                  <a:srgbClr val="1E293B"/>
                </a:solidFill>
              </a:rPr>
              <a:t>Complete 4-model ensemble with calibrated probabilities and 2:2:1:1 weights.</a:t>
            </a:r>
          </a:p>
          <a:p>
            <a:pPr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• Total Pipeline Footprint </a:t>
            </a:r>
            <a:r>
              <a:rPr b="1">
                <a:solidFill>
                  <a:srgbClr val="0E7C86"/>
                </a:solidFill>
              </a:rPr>
              <a:t>[~11.9 MB]:
</a:t>
            </a:r>
            <a:r>
              <a:rPr b="0">
                <a:solidFill>
                  <a:srgbClr val="1E293B"/>
                </a:solidFill>
              </a:rPr>
              <a:t>Entire serialized system is under 12 MB, enabling deployment on minimal CPU hosting without GPU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651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  <a:latin typeface="Cambria"/>
              </a:defRPr>
            </a:pPr>
            <a:r>
              <a:t>Phase 3: Web Deployment Architecture</a:t>
            </a:r>
          </a:p>
          <a:p>
            <a:pPr>
              <a:spcBef>
                <a:spcPts val="800"/>
              </a:spcBef>
              <a:defRPr sz="1050" b="1">
                <a:solidFill>
                  <a:srgbClr val="0D9488"/>
                </a:solidFill>
                <a:latin typeface="Calibri"/>
              </a:defRPr>
            </a:pPr>
            <a:r>
              <a:t>✓ Flask REST API Backend (Phase 3):</a:t>
            </a:r>
            <a:br/>
            <a:r>
              <a:rPr b="0">
                <a:solidFill>
                  <a:srgbClr val="1E293B"/>
                </a:solidFill>
              </a:rPr>
              <a:t>Lightweight Python microframework exposing /predict and /batch_classify endpoints for clinical transcription processing.</a:t>
            </a:r>
          </a:p>
          <a:p>
            <a:pPr>
              <a:spcBef>
                <a:spcPts val="800"/>
              </a:spcBef>
              <a:defRPr sz="1050" b="1">
                <a:solidFill>
                  <a:srgbClr val="0D9488"/>
                </a:solidFill>
                <a:latin typeface="Calibri"/>
              </a:defRPr>
            </a:pPr>
            <a:r>
              <a:t>✓ Instantaneous Inference (&lt; 15 ms):</a:t>
            </a:r>
            <a:br/>
            <a:r>
              <a:rPr b="0">
                <a:solidFill>
                  <a:srgbClr val="1E293B"/>
                </a:solidFill>
              </a:rPr>
              <a:t>TF-IDF sparse vector transform and matrix multiplication execute in milliseconds on standard CPU hardware.</a:t>
            </a:r>
          </a:p>
          <a:p>
            <a:pPr>
              <a:spcBef>
                <a:spcPts val="800"/>
              </a:spcBef>
              <a:defRPr sz="1050" b="1">
                <a:solidFill>
                  <a:srgbClr val="0D9488"/>
                </a:solidFill>
                <a:latin typeface="Calibri"/>
              </a:defRPr>
            </a:pPr>
            <a:r>
              <a:t>✓ Interactive Clinician Web Dashboard:</a:t>
            </a:r>
            <a:br/>
            <a:r>
              <a:rPr b="0">
                <a:solidFill>
                  <a:srgbClr val="1E293B"/>
                </a:solidFill>
              </a:rPr>
              <a:t>Clean, responsive user interface allowing doctors and medical records personnel to paste dictations and review automated specialty routing.</a:t>
            </a:r>
          </a:p>
          <a:p>
            <a:pPr>
              <a:spcBef>
                <a:spcPts val="800"/>
              </a:spcBef>
              <a:defRPr sz="1050" b="1">
                <a:solidFill>
                  <a:srgbClr val="0D9488"/>
                </a:solidFill>
                <a:latin typeface="Calibri"/>
              </a:defRPr>
            </a:pPr>
            <a:r>
              <a:t>✓ Decision Support Confidence Indicator:</a:t>
            </a:r>
            <a:br/>
            <a:r>
              <a:rPr b="0">
                <a:solidFill>
                  <a:srgbClr val="1E293B"/>
                </a:solidFill>
              </a:rPr>
              <a:t>Displays primary predicted specialty, probability confidence bar (e.g. 93.8%), and top alternative classes for borderline cases.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3931920" cy="31089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MCA MINI PROJECT | 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F3A"/>
                </a:solidFill>
                <a:latin typeface="Cambria"/>
              </a:defRPr>
            </a:pPr>
            <a:r>
              <a:t>Academic Timeline &amp; Milestone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55657D"/>
                </a:solidFill>
                <a:latin typeface="Calibri"/>
              </a:defRPr>
            </a:pPr>
            <a:r>
              <a:t>Department of Computer Applications | MACE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49224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>
                <a:solidFill>
                  <a:srgbClr val="55657D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96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Slide 15 of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mbria"/>
              </a:defRPr>
            </a:pPr>
            <a:r>
              <a:t>Completed Milestones (Phases 1 &amp; 2)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✓ [08-09-2026] First Project Presentation: </a:t>
            </a:r>
            <a:r>
              <a:rPr b="0">
                <a:solidFill>
                  <a:srgbClr val="1E293B"/>
                </a:solidFill>
              </a:rPr>
              <a:t>Literature review, Kaggle MTSamples EDA, class imbalance analysis &amp; system architecture approval.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✓ [09-09-2026] Sprint Release I: </a:t>
            </a:r>
            <a:r>
              <a:rPr b="0">
                <a:solidFill>
                  <a:srgbClr val="1E293B"/>
                </a:solidFill>
              </a:rPr>
              <a:t>Formal submission of Phase 1 technical report and exploratory visualization artifacts.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✓ [Week 6] Candidate Model Training: </a:t>
            </a:r>
            <a:r>
              <a:rPr b="0">
                <a:solidFill>
                  <a:srgbClr val="1E293B"/>
                </a:solidFill>
              </a:rPr>
              <a:t>Trained baseline LR, SVM, Random Forest, and Multinomial Naive Bayes classifiers.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✓ [18-09-2026] Sprint Release II: </a:t>
            </a:r>
            <a:r>
              <a:rPr b="0">
                <a:solidFill>
                  <a:srgbClr val="1E293B"/>
                </a:solidFill>
              </a:rPr>
              <a:t>Submission of preliminary candidate model benchmarking and performance metrics.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✓ [Week 7] Hyperparameter Tuning &amp; Comparison: </a:t>
            </a:r>
            <a:r>
              <a:rPr b="0">
                <a:solidFill>
                  <a:srgbClr val="1E293B"/>
                </a:solidFill>
              </a:rPr>
              <a:t>Constrained TF-IDF to 8,000 features; optimized regularization and Laplace smoothing.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✓ [Week 8] Soft Voting Ensemble Formulation: </a:t>
            </a:r>
            <a:r>
              <a:rPr b="0">
                <a:solidFill>
                  <a:srgbClr val="1E293B"/>
                </a:solidFill>
              </a:rPr>
              <a:t>Formulated 2:2:1:1 soft voting consensus and calibrated SVM probabilities via Platt scaling.</a:t>
            </a:r>
          </a:p>
          <a:p>
            <a:pPr>
              <a:spcBef>
                <a:spcPts val="400"/>
              </a:spcBef>
              <a:defRPr sz="950" b="1">
                <a:solidFill>
                  <a:srgbClr val="D97706"/>
                </a:solidFill>
                <a:latin typeface="Calibri"/>
              </a:defRPr>
            </a:pPr>
            <a:r>
              <a:t>✓ [29–30-09-2026] ★ Interim Presentation ★: </a:t>
            </a:r>
            <a:r>
              <a:rPr b="0">
                <a:solidFill>
                  <a:srgbClr val="1E293B"/>
                </a:solidFill>
              </a:rPr>
              <a:t>Current Milestone: Defense of model training, evaluation metrics, and empirical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223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651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mbria"/>
              </a:defRPr>
            </a:pPr>
            <a:r>
              <a:t>Upcoming Milestones (Phase 3 Deployment)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  <a:latin typeface="Calibri"/>
              </a:defRPr>
            </a:pPr>
            <a:r>
              <a:t>→ [Week 9] Flask Web Integration: </a:t>
            </a:r>
            <a:r>
              <a:rPr b="0">
                <a:solidFill>
                  <a:srgbClr val="1E293B"/>
                </a:solidFill>
              </a:rPr>
              <a:t>Build REST API endpoints and integrate serialized TF-IDF vectorizer and ensemble model.</a:t>
            </a:r>
          </a:p>
          <a:p>
            <a:pPr>
              <a:spcBef>
                <a:spcPts val="8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→ [09-10-2026] ★ Sprint Release III ★: </a:t>
            </a:r>
            <a:r>
              <a:rPr b="0">
                <a:solidFill>
                  <a:srgbClr val="1E293B"/>
                </a:solidFill>
              </a:rPr>
              <a:t>Deployment milestone: Working Flask clinician dashboard with real-time specialty inference.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  <a:latin typeface="Calibri"/>
              </a:defRPr>
            </a:pPr>
            <a:r>
              <a:t>→ [Weeks 10–11] Evaluation &amp; Usability Testing: </a:t>
            </a:r>
            <a:r>
              <a:rPr b="0">
                <a:solidFill>
                  <a:srgbClr val="1E293B"/>
                </a:solidFill>
              </a:rPr>
              <a:t>System latency benchmarking, edge case validation, and clinical usability review.</a:t>
            </a:r>
          </a:p>
          <a:p>
            <a:pPr>
              <a:spcBef>
                <a:spcPts val="8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→ [22–23-10-2026] ★ Final Project Presentation ★: </a:t>
            </a:r>
            <a:r>
              <a:rPr b="0">
                <a:solidFill>
                  <a:srgbClr val="1E293B"/>
                </a:solidFill>
              </a:rPr>
              <a:t>Comprehensive final project defense before the department examination board.</a:t>
            </a:r>
          </a:p>
          <a:p>
            <a:pPr>
              <a:spcBef>
                <a:spcPts val="800"/>
              </a:spcBef>
              <a:defRPr sz="1000" b="1">
                <a:solidFill>
                  <a:srgbClr val="0E7C86"/>
                </a:solidFill>
                <a:latin typeface="Calibri"/>
              </a:defRPr>
            </a:pPr>
            <a:r>
              <a:t>→ [30-10-2026] ★ Final Report Submission ★: </a:t>
            </a:r>
            <a:r>
              <a:rPr b="0">
                <a:solidFill>
                  <a:srgbClr val="1E293B"/>
                </a:solidFill>
              </a:rPr>
              <a:t>Submission of finalized MCA Mini Project documentation and complete codebase.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4A3B8"/>
                </a:solidFill>
                <a:latin typeface="Calibri"/>
              </a:defRPr>
            </a:pPr>
            <a:r>
              <a:t>MAR ATHANASIUS COLLEGE OF ENGINEERING, KOTHAMANGALAM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60120"/>
            <a:ext cx="41148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MCA MINI PROJECT  |  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430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mbria"/>
              </a:defRPr>
            </a:pPr>
            <a:r>
              <a:t>Phase 2 Interim Review: Summary of Achievements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10543032" cy="2468880"/>
          </a:xfrm>
          <a:prstGeom prst="roundRect">
            <a:avLst/>
          </a:prstGeom>
          <a:solidFill>
            <a:srgbClr val="112240"/>
          </a:solidFill>
          <a:ln>
            <a:solidFill>
              <a:srgbClr val="133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600" b="1">
                <a:solidFill>
                  <a:srgbClr val="0E7C86"/>
                </a:solidFill>
                <a:latin typeface="Cambria"/>
              </a:defRPr>
            </a:pPr>
            <a:r>
              <a:t>Key Project Milestones Achieved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★ Accuracy Target Exceeded: </a:t>
            </a:r>
            <a:r>
              <a:rPr b="0">
                <a:solidFill>
                  <a:srgbClr val="CBD5E1"/>
                </a:solidFill>
              </a:rPr>
              <a:t>Achieved 88.59% accuracy (Linear SVM) and 87.99% (Soft Voting Ensemble) on 333 held-out test records, comfortably exceeding the 75.0% threshold.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★ Dataset Curation Breakthrough: </a:t>
            </a:r>
            <a:r>
              <a:rPr b="0">
                <a:solidFill>
                  <a:srgbClr val="CBD5E1"/>
                </a:solidFill>
              </a:rPr>
              <a:t>Successfully refined 4,966 raw records to 1,663 across 8 mutually exclusive clinical specialties, eliminating administrative noise and procedure overlap.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★ Multi-Algorithmic Benchmark: </a:t>
            </a:r>
            <a:r>
              <a:rPr b="0">
                <a:solidFill>
                  <a:srgbClr val="CBD5E1"/>
                </a:solidFill>
              </a:rPr>
              <a:t>Benchmarked 4 distinct machine learning classifiers (SVM, LR, RF, MNB) and 2 voting ensembles using calibrated probability consensus.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★ Lightweight Deployment Pipeline: </a:t>
            </a:r>
            <a:r>
              <a:rPr b="0">
                <a:solidFill>
                  <a:srgbClr val="CBD5E1"/>
                </a:solidFill>
              </a:rPr>
              <a:t>Serialized feature extraction and ensemble models into an 11.9 MB footprint, ready for Phase 3 Flask web application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10543032" cy="11887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>
              <a:defRPr sz="2200" b="1">
                <a:solidFill>
                  <a:srgbClr val="FFFFFF"/>
                </a:solidFill>
                <a:latin typeface="Cambria"/>
              </a:defRPr>
            </a:pPr>
            <a:r>
              <a:t>THANK YOU!</a:t>
            </a:r>
          </a:p>
          <a:p>
            <a:pPr algn="ctr">
              <a:spcBef>
                <a:spcPts val="300"/>
              </a:spcBef>
              <a:defRPr sz="1100">
                <a:solidFill>
                  <a:srgbClr val="F0FDFA"/>
                </a:solidFill>
                <a:latin typeface="Calibri"/>
              </a:defRPr>
            </a:pPr>
            <a:r>
              <a:t>Open for Questions, Faculty Suggestions &amp; Discussion</a:t>
            </a:r>
            <a:br/>
            <a:r>
              <a:t>Presented by: Jiphin George (MAC25MCA-2033) | Guide: Prof. Biju Skaria | Department of Computer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