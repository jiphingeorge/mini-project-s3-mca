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30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4A3B8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60120"/>
            <a:ext cx="4937760" cy="384048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MCA MINI PROJECT  |  INTERIM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54303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mbria"/>
              </a:defRPr>
            </a:pPr>
            <a:r>
              <a:t>Medical Specialty Classification Using NLP and Ensemble Machine Learning</a:t>
            </a:r>
          </a:p>
          <a:p>
            <a:pPr>
              <a:spcBef>
                <a:spcPts val="800"/>
              </a:spcBef>
              <a:defRPr sz="1700">
                <a:solidFill>
                  <a:srgbClr val="38BDF8"/>
                </a:solidFill>
                <a:latin typeface="Calibri"/>
              </a:defRPr>
            </a:pPr>
            <a:r>
              <a:t>Phase 2: Model Training, Class Imbalance Mitigation &amp; Ensemble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291840"/>
            <a:ext cx="5120640" cy="2148840"/>
          </a:xfrm>
          <a:prstGeom prst="roundRect">
            <a:avLst/>
          </a:prstGeom>
          <a:solidFill>
            <a:srgbClr val="112240"/>
          </a:solidFill>
          <a:ln>
            <a:solidFill>
              <a:srgbClr val="1332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28600"/>
          <a:lstStyle/>
          <a:p>
            <a:pPr algn="ctr">
              <a:defRPr sz="1100" b="1">
                <a:solidFill>
                  <a:srgbClr val="0E7C86"/>
                </a:solidFill>
                <a:latin typeface="Calibri"/>
              </a:defRPr>
            </a:pPr>
            <a:r>
              <a:t>PRESENTED BY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Cambria"/>
              </a:defRPr>
            </a:pPr>
            <a:r>
              <a:t>Jiphin George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  <a:latin typeface="Calibri"/>
              </a:defRPr>
            </a:pPr>
            <a:r>
              <a:t>Register No: MAC25MCA-2033</a:t>
            </a:r>
            <a:br/>
            <a:r>
              <a:t>Course: Master of Computer Applications (MCA)</a:t>
            </a:r>
            <a:br/>
            <a:r>
              <a:t>Department of Computer Applications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3291840"/>
            <a:ext cx="5120640" cy="2148840"/>
          </a:xfrm>
          <a:prstGeom prst="roundRect">
            <a:avLst/>
          </a:prstGeom>
          <a:solidFill>
            <a:srgbClr val="112240"/>
          </a:solidFill>
          <a:ln>
            <a:solidFill>
              <a:srgbClr val="1332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228600"/>
          <a:lstStyle/>
          <a:p>
            <a:pPr algn="ctr">
              <a:defRPr sz="1100" b="1">
                <a:solidFill>
                  <a:srgbClr val="0E7C86"/>
                </a:solidFill>
                <a:latin typeface="Calibri"/>
              </a:defRPr>
            </a:pPr>
            <a:r>
              <a:t>PROJECT GUIDE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  <a:latin typeface="Cambria"/>
              </a:defRPr>
            </a:pPr>
            <a:r>
              <a:t>Prof. Biju Skaria</a:t>
            </a:r>
          </a:p>
          <a:p>
            <a:pPr>
              <a:spcBef>
                <a:spcPts val="600"/>
              </a:spcBef>
              <a:defRPr sz="1200">
                <a:solidFill>
                  <a:srgbClr val="CBD5E1"/>
                </a:solidFill>
                <a:latin typeface="Calibri"/>
              </a:defRPr>
            </a:pPr>
            <a:r>
              <a:t>Department of Computer Applications</a:t>
            </a:r>
            <a:br/>
            <a:r>
              <a:t>Mar Athanasius College of Engineering, Kothamangalam</a:t>
            </a:r>
            <a:br/>
            <a:r>
              <a:t>Date of Presentation: 30-09-2026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715000"/>
            <a:ext cx="2039112" cy="384048"/>
          </a:xfrm>
          <a:prstGeom prst="roundRect">
            <a:avLst/>
          </a:prstGeom>
          <a:solidFill>
            <a:srgbClr val="133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Clinical NLP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5715000"/>
            <a:ext cx="2039112" cy="384048"/>
          </a:xfrm>
          <a:prstGeom prst="roundRect">
            <a:avLst/>
          </a:prstGeom>
          <a:solidFill>
            <a:srgbClr val="133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Imbalance Mitigation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5715000"/>
            <a:ext cx="2039112" cy="384048"/>
          </a:xfrm>
          <a:prstGeom prst="roundRect">
            <a:avLst/>
          </a:prstGeom>
          <a:solidFill>
            <a:srgbClr val="133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LR, SVM, RF, MNB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9480" y="5715000"/>
            <a:ext cx="2039112" cy="384048"/>
          </a:xfrm>
          <a:prstGeom prst="roundRect">
            <a:avLst/>
          </a:prstGeom>
          <a:solidFill>
            <a:srgbClr val="133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Voting Ensembles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20" y="5715000"/>
            <a:ext cx="2039112" cy="384048"/>
          </a:xfrm>
          <a:prstGeom prst="roundRect">
            <a:avLst/>
          </a:prstGeom>
          <a:solidFill>
            <a:srgbClr val="1332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38BDF8"/>
                </a:solidFill>
                <a:latin typeface="Calibri"/>
              </a:defRPr>
            </a:pPr>
            <a:r>
              <a:t>Date: 30-09-2026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PROJECT RECAP &amp;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Project Recap &amp; Phase 1 Bridge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2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11091672" cy="594360"/>
          </a:xfrm>
          <a:prstGeom prst="roundRect">
            <a:avLst/>
          </a:prstGeom>
          <a:solidFill>
            <a:srgbClr val="EEF2F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B1F3A"/>
                </a:solidFill>
                <a:latin typeface="Calibri"/>
              </a:defRPr>
            </a:pPr>
            <a:r>
              <a:t>Phase 1: EDA &amp; Problem Identification  →  Phase 2: Preprocessing → Baselines → Refinement → ML Training → Ensemble Evaluation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53949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402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1F3A"/>
                </a:solidFill>
                <a:latin typeface="Cambria"/>
              </a:defRPr>
            </a:pPr>
            <a:r>
              <a:t>Phase 1: Exploratory Data Analysis (Completed)</a:t>
            </a:r>
          </a:p>
          <a:p>
            <a:pPr>
              <a:spcBef>
                <a:spcPts val="6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Focus of Phase 1: </a:t>
            </a:r>
            <a:r>
              <a:rPr b="0">
                <a:solidFill>
                  <a:srgbClr val="1E293B"/>
                </a:solidFill>
              </a:rPr>
              <a:t>Phase 1 focused strictly on Exploratory Data Analysis of the Kaggle MTSamples clinical dataset.</a:t>
            </a:r>
          </a:p>
          <a:p>
            <a:pPr>
              <a:spcBef>
                <a:spcPts val="6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Dataset Collection &amp; Inspection: </a:t>
            </a:r>
            <a:r>
              <a:rPr b="0">
                <a:solidFill>
                  <a:srgbClr val="1E293B"/>
                </a:solidFill>
              </a:rPr>
              <a:t>Audited 4,999 raw records across 6 attributes; identified and pruned 33 null transcription records (leaving 4,966 cleaned rows).</a:t>
            </a:r>
          </a:p>
          <a:p>
            <a:pPr>
              <a:spcBef>
                <a:spcPts val="6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Feature &amp; Column Profiling: </a:t>
            </a:r>
            <a:r>
              <a:rPr b="0">
                <a:solidFill>
                  <a:srgbClr val="1E293B"/>
                </a:solidFill>
              </a:rPr>
              <a:t>Analyzed distributions of clinical text length, vocabulary density, and missing keyword attributes.</a:t>
            </a:r>
          </a:p>
          <a:p>
            <a:pPr>
              <a:spcBef>
                <a:spcPts val="6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Class Frequency Audit: </a:t>
            </a:r>
            <a:r>
              <a:rPr b="0">
                <a:solidFill>
                  <a:srgbClr val="1E293B"/>
                </a:solidFill>
              </a:rPr>
              <a:t>Uncovered severe class imbalance across the raw 40 categorical labels (Surgery with 1,103 samples vs micro-classes with ≤ 10 samples).</a:t>
            </a:r>
          </a:p>
          <a:p>
            <a:pPr>
              <a:spcBef>
                <a:spcPts val="6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Scope Boundary: </a:t>
            </a:r>
            <a:r>
              <a:rPr b="0">
                <a:solidFill>
                  <a:srgbClr val="1E293B"/>
                </a:solidFill>
              </a:rPr>
              <a:t>NO model training, NO baseline evaluation, and NO ensemble experiments were conducted in Phase 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103120"/>
            <a:ext cx="5422392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40280"/>
            <a:ext cx="496519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  <a:latin typeface="Cambria"/>
              </a:defRPr>
            </a:pPr>
            <a:r>
              <a:t>Phase 2: Full Machine Learning Pipeline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Phase 2 Transition: </a:t>
            </a:r>
            <a:r>
              <a:rPr b="0">
                <a:solidFill>
                  <a:srgbClr val="1E293B"/>
                </a:solidFill>
              </a:rPr>
              <a:t>Phase 2 began by converting EDA findings into a complete, executable machine-learning classification pipeline.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All ML Started in Phase 2: </a:t>
            </a:r>
            <a:r>
              <a:rPr b="0">
                <a:solidFill>
                  <a:srgbClr val="1E293B"/>
                </a:solidFill>
              </a:rPr>
              <a:t>All text preprocessing, 40-class baselines, failure diagnosis, dataset refinement, model training, and ensembles were executed in Phase 2.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Initial Baseline Experimentation: </a:t>
            </a:r>
            <a:r>
              <a:rPr b="0">
                <a:solidFill>
                  <a:srgbClr val="1E293B"/>
                </a:solidFill>
              </a:rPr>
              <a:t>Tested raw 40-class classifiers; identified extreme collapse (7.85%–27.39% accuracy).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Systematic Refinement: </a:t>
            </a:r>
            <a:r>
              <a:rPr b="0">
                <a:solidFill>
                  <a:srgbClr val="1E293B"/>
                </a:solidFill>
              </a:rPr>
              <a:t>Addressed high dimensionality (310k features) and label ambiguity, progressing from 40 classes → 20 classes → 8 clinical specialties.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Final Optimization &amp; Evaluation: </a:t>
            </a:r>
            <a:r>
              <a:rPr b="0">
                <a:solidFill>
                  <a:srgbClr val="1E293B"/>
                </a:solidFill>
              </a:rPr>
              <a:t>Balanced feature matrices, trained LR, Linear SVM, RF, and MNB, and built Voting Ensembles targeting ≥ 75% accuracy.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PHASE 2 BASELINE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Phase 2: Initial 40-Class Baseline Experiment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3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5778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B1F3A"/>
                </a:solidFill>
                <a:latin typeface="Cambria"/>
              </a:defRPr>
            </a:pPr>
            <a:r>
              <a:t>Initial 40-Class Model Accuracy (Phase 2 Experiment)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20240"/>
          <a:ext cx="51206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645920"/>
              </a:tblGrid>
              <a:tr h="44413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Candidate Baseline Model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Accuracy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7.85%</a:t>
                      </a:r>
                    </a:p>
                  </a:txBody>
                  <a:tcPr anchor="ctr"/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Linear SVM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10.67%</a:t>
                      </a:r>
                    </a:p>
                  </a:txBody>
                  <a:tcPr anchor="ctr"/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Balanced Linear SVM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10.07%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Logistic 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22.96%</a:t>
                      </a:r>
                    </a:p>
                  </a:txBody>
                  <a:tcPr anchor="ctr"/>
                </a:tc>
              </a:tr>
              <a:tr h="44413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Weighted Multinomial Naive Bayes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27.09%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Balanced Logistic Regression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27.39%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516636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C2626"/>
                </a:solidFill>
                <a:latin typeface="Calibri"/>
              </a:defRPr>
            </a:pPr>
            <a:r>
              <a:t>⚠ Empirical Finding: The raw 40-class formulation was completely unsuitable for clinical deployment, with every model failing to exceed 27.4% accuracy.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33095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554480"/>
            <a:ext cx="487375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1F3A"/>
                </a:solidFill>
                <a:latin typeface="Cambria"/>
              </a:defRPr>
            </a:pPr>
            <a:r>
              <a:t>Baseline Failure Observations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Unconstrained Feature Explosion:</a:t>
            </a:r>
            <a:br/>
            <a:r>
              <a:rPr b="0">
                <a:solidFill>
                  <a:srgbClr val="1E293B"/>
                </a:solidFill>
              </a:rPr>
              <a:t>TF-IDF generated 310,298 unigram and bigram features for only 3,971 training samples, causing severe sparsity and overfitting.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Trivial Majority Prediction:</a:t>
            </a:r>
            <a:br/>
            <a:r>
              <a:rPr b="0">
                <a:solidFill>
                  <a:srgbClr val="1E293B"/>
                </a:solidFill>
              </a:rPr>
              <a:t>Unweighted Logistic Regression predicted 'Surgery' almost exclusively, securing 22.96% accuracy simply because Surgery represented 22.2% of the dataset.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Tree-Based Model Collapse:</a:t>
            </a:r>
            <a:br/>
            <a:r>
              <a:rPr b="0">
                <a:solidFill>
                  <a:srgbClr val="1E293B"/>
                </a:solidFill>
              </a:rPr>
              <a:t>Random Forest collapsed to 7.85% accuracy as random feature subsets in a 310k-dimension space almost never contained discriminative terms.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Non-Specialty Document Contamination:</a:t>
            </a:r>
            <a:br/>
            <a:r>
              <a:rPr b="0">
                <a:solidFill>
                  <a:srgbClr val="1E293B"/>
                </a:solidFill>
              </a:rPr>
              <a:t>Classes like 'SOAP Notes' and 'Discharge Summary' contained vocabulary identical to true clinical specialties, making mathematical separation impossible.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PROBLEM DIAGNOSIS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Baseline Problem Diagnosis: Three Core Obstacles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4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35204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3154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DC2626"/>
                </a:solidFill>
                <a:latin typeface="Cambria"/>
              </a:defRPr>
            </a:pPr>
            <a:r>
              <a:t>1. Severe Class Imbalance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40 raw categories with extreme distribution skew.</a:t>
            </a:r>
            <a:br/>
            <a:r>
              <a:t>• Surgery alone comprised 1,103 samples (22.2%).</a:t>
            </a:r>
            <a:br/>
            <a:r>
              <a:t>• Minority classes had as few as 2–10 samples:</a:t>
            </a:r>
            <a:br/>
            <a:r>
              <a:t>  - Autopsy: 2 samples</a:t>
            </a:r>
            <a:br/>
            <a:r>
              <a:t>  - Executive Evaluation: 2 samples</a:t>
            </a:r>
            <a:br/>
            <a:r>
              <a:t>  - Lab Medicine: 8 samples</a:t>
            </a:r>
            <a:br/>
            <a:r>
              <a:t>• Imbalance ratio exceeded 184:1, starving minority classes of gradient and decision updates during training.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3206545440" y="1371600"/>
            <a:ext cx="35204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3206728320" y="1554480"/>
            <a:ext cx="3154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D97706"/>
                </a:solidFill>
                <a:latin typeface="Cambria"/>
              </a:defRPr>
            </a:pPr>
            <a:r>
              <a:t>2. High-Dimensional TF-IDF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Unconstrained vocabulary generated 310,298 features.</a:t>
            </a:r>
            <a:br/>
            <a:r>
              <a:t>• Only 3,971 training records in the 80% split.</a:t>
            </a:r>
            <a:br/>
            <a:r>
              <a:t>• Massive feature-to-sample ratio (&gt; 78:1) created severe data sparsity.</a:t>
            </a:r>
            <a:br/>
            <a:r>
              <a:t>• Non-informative filler words and rare typographical tokens diluted diagnostic signal, crippling distance- and tree-based estimators.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6412542240" y="1371600"/>
            <a:ext cx="35204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6412725120" y="1554480"/>
            <a:ext cx="3154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E7C86"/>
                </a:solidFill>
                <a:latin typeface="Cambria"/>
              </a:defRPr>
            </a:pPr>
            <a:r>
              <a:t>3. Clinical Label Ambiguity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Inherent conflict between clinical specialties and document formats:</a:t>
            </a:r>
            <a:br/>
            <a:r>
              <a:t>  - Consult - History and Phy.: 516 records</a:t>
            </a:r>
            <a:br/>
            <a:r>
              <a:t>  - SOAP / Progress Notes: 166 records</a:t>
            </a:r>
            <a:br/>
            <a:r>
              <a:t>  - Discharge Summary: 108 records</a:t>
            </a:r>
            <a:br/>
            <a:r>
              <a:t>  - Emergency Room Reports: 75 records</a:t>
            </a:r>
            <a:br/>
            <a:r>
              <a:t>  - Office Notes: 50 records</a:t>
            </a:r>
            <a:br/>
            <a:r>
              <a:t>• These describe document structures, not medical organ specialties, introducing overlapping vocabularies across domains.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DATASET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Phase 2 Dataset Refinement: Iterative Optimization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5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35204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3154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  <a:latin typeface="Cambria"/>
              </a:defRPr>
            </a:pPr>
            <a:r>
              <a:t>Iteration 1: 40 Raw Classes (Baseline)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Scope: All 4,966 cleaned records across 40 raw categories.</a:t>
            </a:r>
            <a:br/>
            <a:r>
              <a:t>• Outcome: Severe model collapse (7.85% to 27.39% accuracy).</a:t>
            </a:r>
            <a:br/>
            <a:r>
              <a:t>• Diagnosis: Severe 184:1 imbalance, 310k unconstrained features, and procedural/document label overlap made accurate learning impossible.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3206545440" y="1371600"/>
            <a:ext cx="35204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3206728320" y="1554480"/>
            <a:ext cx="3154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Cambria"/>
              </a:defRPr>
            </a:pPr>
            <a:r>
              <a:t>Iteration 2: 20-Class Threshold Filtering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Scope: Pruned micro-classes with fewer than 50 samples.</a:t>
            </a:r>
            <a:br/>
            <a:r>
              <a:t>• Retained 20 moderate-to-large categories (~3,800 records).</a:t>
            </a:r>
            <a:br/>
            <a:r>
              <a:t>• Outcome: Accuracy improved marginally into the 40%–50% range.</a:t>
            </a:r>
            <a:br/>
            <a:r>
              <a:t>• Remaining Issue: Heavy semantic overlap persisted between 'Surgery' and individual operative specialties, along with document-type noise ('Consults', 'SOAP Notes').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6412542240" y="1371600"/>
            <a:ext cx="35204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6412725120" y="1554480"/>
            <a:ext cx="3154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  <a:latin typeface="Cambria"/>
              </a:defRPr>
            </a:pPr>
            <a:r>
              <a:t>Iteration 3: 8 Focused Clinical Specialties</a:t>
            </a:r>
          </a:p>
          <a:p>
            <a:pPr>
              <a:spcBef>
                <a:spcPts val="800"/>
              </a:spcBef>
              <a:defRPr sz="1000">
                <a:solidFill>
                  <a:srgbClr val="1E293B"/>
                </a:solidFill>
                <a:latin typeface="Calibri"/>
              </a:defRPr>
            </a:pPr>
            <a:r>
              <a:t>• Scope: Curated 8 core mutually exclusive organ-system specialties (1,663 records).</a:t>
            </a:r>
            <a:br/>
            <a:r>
              <a:t>• Removed umbrella procedural labels ('Surgery') and administrative document formats.</a:t>
            </a:r>
            <a:br/>
            <a:r>
              <a:t>• Outcome: Dramatic performance jump to 77.48%–88.59% accuracy across all models.</a:t>
            </a:r>
            <a:br/>
            <a:r>
              <a:t>• Clinical Significance: Clear anatomical boundaries provide pristine diagnostic separation.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CURATED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Final 8-Specialty Clinical Dataset (1,663 Records)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6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2179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B1F3A"/>
                </a:solidFill>
                <a:latin typeface="Cambria"/>
              </a:defRPr>
            </a:pPr>
            <a:r>
              <a:t>Curated Mutually Exclusive Clinical Specialties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20240"/>
          <a:ext cx="57607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1280160"/>
              </a:tblGrid>
              <a:tr h="4023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Medical Specialty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Record Count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Proportion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Cardiovascular / Pulmonary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22.31%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Orthopedic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21.35%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Gastroenterology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13.47%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Neurology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13.41%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9.38%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Obstetrics / Gynecology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9.32%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ENT - Otolaryngology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5.77%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Ophthalmology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4.99%</a:t>
                      </a:r>
                    </a:p>
                  </a:txBody>
                  <a:tcPr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Total Curated Dataset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1,663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949440" y="1371600"/>
            <a:ext cx="469087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1554480"/>
            <a:ext cx="432511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1F3A"/>
                </a:solidFill>
                <a:latin typeface="Cambria"/>
              </a:defRPr>
            </a:pPr>
            <a:r>
              <a:t>Clinical Rationale for Selection</a:t>
            </a:r>
          </a:p>
          <a:p>
            <a:pPr>
              <a:spcBef>
                <a:spcPts val="8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Organ-System Distinctiveness: </a:t>
            </a:r>
            <a:r>
              <a:rPr b="0">
                <a:solidFill>
                  <a:srgbClr val="1E293B"/>
                </a:solidFill>
              </a:rPr>
              <a:t>Each selected department corresponds to a distinct anatomical system with distinct vocabulary (e.g., cardiac vessels, musculoskeletal joints, digestive tract).</a:t>
            </a:r>
          </a:p>
          <a:p>
            <a:pPr>
              <a:spcBef>
                <a:spcPts val="8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Elimination of Category Ambiguity: </a:t>
            </a:r>
            <a:r>
              <a:rPr b="0">
                <a:solidFill>
                  <a:srgbClr val="1E293B"/>
                </a:solidFill>
              </a:rPr>
              <a:t>Excluded procedural umbrellas like 'Surgery' which contaminated cardiac, orthopedic, and gastrointestinal procedures simultaneously.</a:t>
            </a:r>
          </a:p>
          <a:p>
            <a:pPr>
              <a:spcBef>
                <a:spcPts val="8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Pruning Administrative Formats: </a:t>
            </a:r>
            <a:r>
              <a:rPr b="0">
                <a:solidFill>
                  <a:srgbClr val="1E293B"/>
                </a:solidFill>
              </a:rPr>
              <a:t>Excluded SOAP notes, consultations, and discharge summaries that represent hospital document templates rather than clinical domains.</a:t>
            </a:r>
          </a:p>
          <a:p>
            <a:pPr>
              <a:spcBef>
                <a:spcPts val="8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Balanced Multi-Class Cohort: </a:t>
            </a:r>
            <a:r>
              <a:rPr b="0">
                <a:solidFill>
                  <a:srgbClr val="1E293B"/>
                </a:solidFill>
              </a:rPr>
              <a:t>Maintains sufficient representation across all 8 classes (83 to 371 samples) while preserving clinical realism.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Text Preprocessing &amp; TF-IDF Feature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7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Cambria"/>
              </a:defRPr>
            </a:pPr>
            <a:r>
              <a:t>Clinical Narrative Preprocessing</a:t>
            </a:r>
          </a:p>
          <a:p>
            <a:pPr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Enriched Feature Construction: </a:t>
            </a:r>
            <a:r>
              <a:rPr b="0">
                <a:solidFill>
                  <a:srgbClr val="1E293B"/>
                </a:solidFill>
              </a:rPr>
              <a:t>Synthesized a unified 'clinical_text' field by concatenating the clinical 'description' (abstract summary) and 'transcription' (full dictation).</a:t>
            </a:r>
          </a:p>
          <a:p>
            <a:pPr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Normalization &amp; Noise Removal: </a:t>
            </a:r>
            <a:r>
              <a:rPr b="0">
                <a:solidFill>
                  <a:srgbClr val="1E293B"/>
                </a:solidFill>
              </a:rPr>
              <a:t>Converted all narratives to lowercase; stripped punctuation, formatting escapes, and non-ASCII character noise.</a:t>
            </a:r>
          </a:p>
          <a:p>
            <a:pPr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Alphanumeric Token Filtering: </a:t>
            </a:r>
            <a:r>
              <a:rPr b="0">
                <a:solidFill>
                  <a:srgbClr val="1E293B"/>
                </a:solidFill>
              </a:rPr>
              <a:t>Retained clinical terms, drug dosages, and surgical abbreviations while eliminating solitary numerical fragments.</a:t>
            </a:r>
          </a:p>
          <a:p>
            <a:pPr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Stop-Word Filtration: </a:t>
            </a:r>
            <a:r>
              <a:rPr b="0">
                <a:solidFill>
                  <a:srgbClr val="1E293B"/>
                </a:solidFill>
              </a:rPr>
              <a:t>Removed general English stop-words and non-informative clinical filler terms while preserving essential diagnostic terminology.</a:t>
            </a:r>
          </a:p>
          <a:p>
            <a:pPr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Morphological Lemmatization: </a:t>
            </a:r>
            <a:r>
              <a:rPr b="0">
                <a:solidFill>
                  <a:srgbClr val="1E293B"/>
                </a:solidFill>
              </a:rPr>
              <a:t>Standardized anatomical and surgical variants to base lemmas using NLTK WordNetLemmatizer.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2239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49651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Cambria"/>
              </a:defRPr>
            </a:pPr>
            <a:r>
              <a:t>TF-IDF Vectorizer Architecture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max_features = 8,000: </a:t>
            </a:r>
            <a:r>
              <a:rPr b="0">
                <a:solidFill>
                  <a:srgbClr val="1E293B"/>
                </a:solidFill>
              </a:rPr>
              <a:t>Constrained high dimensionality from 310k+ to top 8,000 discriminative features to eliminate overfitting.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ngram_range = (1, 2): </a:t>
            </a:r>
            <a:r>
              <a:rPr b="0">
                <a:solidFill>
                  <a:srgbClr val="1E293B"/>
                </a:solidFill>
              </a:rPr>
              <a:t>Captured unigrams ('stent', 'cataract') and bigrams ('coronary artery', 'lumbar spine').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sublinear_tf = True: </a:t>
            </a:r>
            <a:r>
              <a:rPr b="0">
                <a:solidFill>
                  <a:srgbClr val="1E293B"/>
                </a:solidFill>
              </a:rPr>
              <a:t>Replaced raw TF with (1 + log(TF)) scaling to dampen overly repetitive terms.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min_df = 2, max_df = 0.7: </a:t>
            </a:r>
            <a:r>
              <a:rPr b="0">
                <a:solidFill>
                  <a:srgbClr val="1E293B"/>
                </a:solidFill>
              </a:rPr>
              <a:t>Pruned singleton words and filtered ubiquitous tokens occurring in &gt; 70% of documents.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norm = 'l2' (L2 Normalization): </a:t>
            </a:r>
            <a:r>
              <a:rPr b="0">
                <a:solidFill>
                  <a:srgbClr val="1E293B"/>
                </a:solidFill>
              </a:rPr>
              <a:t>Normalized document vector lengths, making representation invariant to report length.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Strict Anti-Leakage Partitioning: </a:t>
            </a:r>
            <a:r>
              <a:rPr b="0">
                <a:solidFill>
                  <a:srgbClr val="1E293B"/>
                </a:solidFill>
              </a:rPr>
              <a:t>Fitted ONLY on training data (1,330 samples); test data (333 samples) strictly transformed.</a:t>
            </a:r>
          </a:p>
          <a:p>
            <a:pPr>
              <a:spcBef>
                <a:spcPts val="800"/>
              </a:spcBef>
              <a:defRPr sz="1100" b="1">
                <a:solidFill>
                  <a:srgbClr val="0E7C86"/>
                </a:solidFill>
                <a:latin typeface="Calibri"/>
              </a:defRPr>
            </a:pPr>
            <a:r>
              <a:t>Resulting Feature Matrices:</a:t>
            </a:r>
            <a:br/>
            <a:r>
              <a:t>• Training Matrix: 1,330 × 8,000  |  Testing Matrix: 333 × 8,000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IMBALANCE MITIGATION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Class Imbalance Mitigation Techniques in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8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50292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1. Algorithmic Cost Weighting (class_weight='balanced')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Applied natively across: Logistic Regression, Linear SVM, and Random Forest.</a:t>
            </a:r>
            <a:br/>
            <a:r>
              <a:t>• Mechanism: Automatically adjusts loss-function penalties inversely proportional to class frequencies:</a:t>
            </a:r>
            <a:br/>
            <a:r>
              <a:t>  w_j = N / (K · n_j)</a:t>
            </a:r>
            <a:br/>
            <a:r>
              <a:t>• Impact: Penalizes majority-class false predictions more heavily, preventing models from sacrificing minority classes like Ophthalmology (83) and ENT (96).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949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50292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7C86"/>
                </a:solidFill>
                <a:latin typeface="Cambria"/>
              </a:defRPr>
            </a:pPr>
            <a:r>
              <a:t>2. Synthetic Minority Over-sampling (SMOTE)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Applied strictly to the training fold (never on test data to preserve evaluation integrity).</a:t>
            </a:r>
            <a:br/>
            <a:r>
              <a:t>• Configuration: k_neighbors = 3 (tailored for sparse medical text representations).</a:t>
            </a:r>
            <a:br/>
            <a:r>
              <a:t>• Mechanism: Generates synthetic feature vectors along line segments connecting k-nearest minority neighbors, enriching minority decision regions.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3949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977640"/>
            <a:ext cx="50292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Cambria"/>
              </a:defRPr>
            </a:pPr>
            <a:r>
              <a:t>3. Random Over-Sampling (ROS)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Evaluated to boost minority-class representation during iterative experimentation.</a:t>
            </a:r>
            <a:br/>
            <a:r>
              <a:t>• Duplicates minority instances to balance gradient propagation across rare specialty categories.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840480"/>
            <a:ext cx="53949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977640"/>
            <a:ext cx="50292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  <a:latin typeface="Cambria"/>
              </a:defRPr>
            </a:pPr>
            <a:r>
              <a:t>Core Engineering Objective</a:t>
            </a:r>
          </a:p>
          <a:p>
            <a:pPr>
              <a:spcBef>
                <a:spcPts val="400"/>
              </a:spcBef>
              <a:defRPr sz="950">
                <a:solidFill>
                  <a:srgbClr val="1E293B"/>
                </a:solidFill>
                <a:latin typeface="Calibri"/>
              </a:defRPr>
            </a:pPr>
            <a:r>
              <a:t>• Objective: Prevent the models from being dominated by majority classes while preserving an uncorrupted, unseen test set of 333 held-out records.</a:t>
            </a:r>
            <a:br/>
            <a:r>
              <a:t>• Preserves exact stratified class proportions in the 20% test partition for unbiased clinical validation.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MODEL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Model Training: Four Core Supervised ML Algorithms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9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50292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1. Linear Support Vector Machine (LinearSVC)</a:t>
            </a:r>
          </a:p>
          <a:p>
            <a:pPr>
              <a:spcBef>
                <a:spcPts val="200"/>
              </a:spcBef>
              <a:defRPr sz="950" b="1">
                <a:solidFill>
                  <a:srgbClr val="0E7C86"/>
                </a:solidFill>
                <a:latin typeface="Calibri"/>
              </a:defRPr>
            </a:pPr>
            <a:r>
              <a:t>Config: C = 1.0, class_weight = 'balanced', max_iter = 3000</a:t>
            </a:r>
          </a:p>
          <a:p>
            <a:pPr>
              <a:spcBef>
                <a:spcPts val="300"/>
              </a:spcBef>
              <a:defRPr sz="900">
                <a:solidFill>
                  <a:srgbClr val="1E293B"/>
                </a:solidFill>
                <a:latin typeface="Calibri"/>
              </a:defRPr>
            </a:pPr>
            <a:r>
              <a:t>• Why Tested: SVMs excel on high-dimensional sparse text vectors by finding the maximum-margin hyperplane.</a:t>
            </a:r>
            <a:br/>
            <a:r>
              <a:t>• Training Behavior: Linear kernel separates 8,000 TF-IDF features with minimal computational overhead.</a:t>
            </a:r>
            <a:br/>
            <a:r>
              <a:t>• Regularization: L2 penalty ($C=1.0$) prevents overfitting on minority classes.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949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50292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2. Logistic Regression (Multinomial)</a:t>
            </a:r>
          </a:p>
          <a:p>
            <a:pPr>
              <a:spcBef>
                <a:spcPts val="200"/>
              </a:spcBef>
              <a:defRPr sz="950" b="1">
                <a:solidFill>
                  <a:srgbClr val="0E7C86"/>
                </a:solidFill>
                <a:latin typeface="Calibri"/>
              </a:defRPr>
            </a:pPr>
            <a:r>
              <a:t>Config: Multinomial Softmax, class_weight = 'balanced', max_iter = 1000</a:t>
            </a:r>
          </a:p>
          <a:p>
            <a:pPr>
              <a:spcBef>
                <a:spcPts val="300"/>
              </a:spcBef>
              <a:defRPr sz="900">
                <a:solidFill>
                  <a:srgbClr val="1E293B"/>
                </a:solidFill>
                <a:latin typeface="Calibri"/>
              </a:defRPr>
            </a:pPr>
            <a:r>
              <a:t>• Why Tested: Provides a well-calibrated probabilistic baseline with direct clinical interpretability.</a:t>
            </a:r>
            <a:br/>
            <a:r>
              <a:t>• Training Behavior: Optimizes multinomial cross-entropy with L2 regularization penalty.</a:t>
            </a:r>
            <a:br/>
            <a:r>
              <a:t>• Output: Produces natural class probability distributions for ensemble voting.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3949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977640"/>
            <a:ext cx="50292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3. Random Forest Classifier</a:t>
            </a:r>
          </a:p>
          <a:p>
            <a:pPr>
              <a:spcBef>
                <a:spcPts val="200"/>
              </a:spcBef>
              <a:defRPr sz="950" b="1">
                <a:solidFill>
                  <a:srgbClr val="0E7C86"/>
                </a:solidFill>
                <a:latin typeface="Calibri"/>
              </a:defRPr>
            </a:pPr>
            <a:r>
              <a:t>Config: n_estimators = 100, max_depth = 25, class_weight = 'balanced'</a:t>
            </a:r>
          </a:p>
          <a:p>
            <a:pPr>
              <a:spcBef>
                <a:spcPts val="300"/>
              </a:spcBef>
              <a:defRPr sz="900">
                <a:solidFill>
                  <a:srgbClr val="1E293B"/>
                </a:solidFill>
                <a:latin typeface="Calibri"/>
              </a:defRPr>
            </a:pPr>
            <a:r>
              <a:t>• Why Tested: Evaluates whether bagging non-linear decision trees captures keyword interactions.</a:t>
            </a:r>
            <a:br/>
            <a:r>
              <a:t>• Training Behavior: Ensembles 100 decorrelated trees with random feature subsampling.</a:t>
            </a:r>
            <a:br/>
            <a:r>
              <a:t>• Constraints: max_depth=25 prevents individual trees from memorizing sparse training text.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840480"/>
            <a:ext cx="53949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977640"/>
            <a:ext cx="50292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4. Multinomial Naive Bayes (MNB)</a:t>
            </a:r>
          </a:p>
          <a:p>
            <a:pPr>
              <a:spcBef>
                <a:spcPts val="200"/>
              </a:spcBef>
              <a:defRPr sz="950" b="1">
                <a:solidFill>
                  <a:srgbClr val="0E7C86"/>
                </a:solidFill>
                <a:latin typeface="Calibri"/>
              </a:defRPr>
            </a:pPr>
            <a:r>
              <a:t>Config: alpha = 0.5 (Additive Laplace Smoothing)</a:t>
            </a:r>
          </a:p>
          <a:p>
            <a:pPr>
              <a:spcBef>
                <a:spcPts val="300"/>
              </a:spcBef>
              <a:defRPr sz="900">
                <a:solidFill>
                  <a:srgbClr val="1E293B"/>
                </a:solidFill>
                <a:latin typeface="Calibri"/>
              </a:defRPr>
            </a:pPr>
            <a:r>
              <a:t>• Why Tested: Standard generative text benchmark based on conditional word frequencies.</a:t>
            </a:r>
            <a:br/>
            <a:r>
              <a:t>• Training Behavior: Extremely rapid closed-form training with zero iterative gradient steps.</a:t>
            </a:r>
            <a:br/>
            <a:r>
              <a:t>• Smoothing: alpha=0.5 prevents zero-probability traps for rare clinical vocabulary.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ENSEMBLE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Hard &amp; Soft Voting Ensemble Architectures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10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Cambria"/>
              </a:defRPr>
            </a:pPr>
            <a:r>
              <a:t>Hard Voting Ensemble (Majority Rule)</a:t>
            </a:r>
          </a:p>
          <a:p>
            <a:pPr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Consensus Mechanism: </a:t>
            </a:r>
            <a:r>
              <a:rPr b="0">
                <a:solidFill>
                  <a:srgbClr val="1E293B"/>
                </a:solidFill>
              </a:rPr>
              <a:t>Aggregates discrete class predictions across the 4 base classifiers (LR, SVM, RF, MNB) and assigns the final label via majority vote: ŷ = mode(ŷ_1, ŷ_2, ŷ_3, ŷ_4).</a:t>
            </a:r>
          </a:p>
          <a:p>
            <a:pPr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Non-Probabilistic Decision: </a:t>
            </a:r>
            <a:r>
              <a:rPr b="0">
                <a:solidFill>
                  <a:srgbClr val="1E293B"/>
                </a:solidFill>
              </a:rPr>
              <a:t>Operates directly on predicted class labels without requiring probability outputs.</a:t>
            </a:r>
          </a:p>
          <a:p>
            <a:pPr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Empirical Performance: </a:t>
            </a:r>
            <a:r>
              <a:rPr b="0">
                <a:solidFill>
                  <a:srgbClr val="1E293B"/>
                </a:solidFill>
              </a:rPr>
              <a:t>Achieved 87.09% accuracy and 0.8846 Macro F1 on the 333 test samples, matching Logistic Regression.</a:t>
            </a:r>
          </a:p>
          <a:p>
            <a:pPr>
              <a:spcBef>
                <a:spcPts val="800"/>
              </a:spcBef>
              <a:defRPr sz="1050" b="1">
                <a:solidFill>
                  <a:srgbClr val="0B1F3A"/>
                </a:solidFill>
                <a:latin typeface="Calibri"/>
              </a:defRPr>
            </a:pPr>
            <a:r>
              <a:t>• Limitation: </a:t>
            </a:r>
            <a:r>
              <a:rPr b="0">
                <a:solidFill>
                  <a:srgbClr val="1E293B"/>
                </a:solidFill>
              </a:rPr>
              <a:t>Treats high-confidence and borderline predictions with equal weight, discarding nuanced confidence margins.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2239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49651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1F3A"/>
                </a:solidFill>
                <a:latin typeface="Cambria"/>
              </a:defRPr>
            </a:pPr>
            <a:r>
              <a:t>Soft Voting Ensemble (Weighted Probability)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Linear SVM Probability Calibration: </a:t>
            </a:r>
            <a:r>
              <a:rPr b="0">
                <a:solidFill>
                  <a:srgbClr val="1E293B"/>
                </a:solidFill>
              </a:rPr>
              <a:t>LinearSVC natively outputs raw hyperplane distances. Used CalibratedClassifierCV with Platt scaling to produce valid posterior probabilities P(c | x).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Weighted Consensus Formula: </a:t>
            </a:r>
            <a:r>
              <a:rPr b="0">
                <a:solidFill>
                  <a:srgbClr val="1E293B"/>
                </a:solidFill>
              </a:rPr>
              <a:t>Combined class probabilities with empirical weights [LR:2, SVM:2, RF:1, MNB:1]:
  P_ensemble = (2·P_LR + 2·P_SVM + P_RF + P_MNB) / 6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Decision Rule: </a:t>
            </a:r>
            <a:r>
              <a:rPr b="0">
                <a:solidFill>
                  <a:srgbClr val="1E293B"/>
                </a:solidFill>
              </a:rPr>
              <a:t>Final specialty assigned by argmax: ŷ = argmax P_ensemble(c | x).</a:t>
            </a:r>
          </a:p>
          <a:p>
            <a:pPr>
              <a:spcBef>
                <a:spcPts val="600"/>
              </a:spcBef>
              <a:defRPr sz="1050" b="1">
                <a:solidFill>
                  <a:srgbClr val="0D9488"/>
                </a:solidFill>
                <a:latin typeface="Calibri"/>
              </a:defRPr>
            </a:pPr>
            <a:r>
              <a:t>✓ Why Investigated: </a:t>
            </a:r>
            <a:r>
              <a:rPr b="0">
                <a:solidFill>
                  <a:srgbClr val="1E293B"/>
                </a:solidFill>
              </a:rPr>
              <a:t>Soft voting captures model certainty, smoothing out individual estimator noise and stabilizing predictions across diverse model families (87.99% accuracy / 0.8898 Macro F1).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EVALUATION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Model Performance Comparison (Final 8-Specialty Results)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11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2179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Final Evaluation Benchmark (333 Held-Out Test Records)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20240"/>
          <a:ext cx="57607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731520"/>
                <a:gridCol w="731520"/>
                <a:gridCol w="731520"/>
                <a:gridCol w="731520"/>
                <a:gridCol w="731520"/>
              </a:tblGrid>
              <a:tr h="47026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Architecture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Prec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Rec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 F1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Weighted F1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Linear SVM (Best Model)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0.8859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0.9051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0.8902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0.8971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0.8862</a:t>
                      </a:r>
                    </a:p>
                  </a:txBody>
                  <a:tcPr anchor="ctr">
                    <a:solidFill>
                      <a:srgbClr val="FEF3C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Soft Voting Ensemble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0.8799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0.9041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0.8795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0.8898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0.8818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Logistic 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0.8846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0.8730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Hard Voting Ensemble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0.8846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0.8730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0.8198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0.8340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0.8257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0.8274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0.8209</a:t>
                      </a:r>
                    </a:p>
                  </a:txBody>
                  <a:tcPr anchor="ctr"/>
                </a:tc>
              </a:tr>
              <a:tr h="47026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Multinomial Naive Bayes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0.7748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0.8602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0.7331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0.7743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0.7824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5303520"/>
            <a:ext cx="576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D9488"/>
                </a:solidFill>
                <a:latin typeface="Calibri"/>
              </a:defRPr>
            </a:pPr>
            <a:r>
              <a:t>★ Best Individual: Linear SVM — 88.59% Accuracy | 0.8971 Macro F1</a:t>
            </a:r>
            <a:br/>
            <a:r>
              <a:t>★ Best Ensemble: Soft Voting — 87.99% Accuracy | 0.8898 Macro F1</a:t>
            </a:r>
            <a:br/>
            <a:r>
              <a:t>✓ All 6 configurations comfortably beat the required 75.0% project target threshold.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371600"/>
            <a:ext cx="469087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del_perform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508760"/>
            <a:ext cx="4416552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Confusion Matrix &amp; Classification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12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est_model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5029200" cy="45262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035040" y="1371600"/>
            <a:ext cx="560527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55448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1F3A"/>
                </a:solidFill>
                <a:latin typeface="Cambria"/>
              </a:defRPr>
            </a:pPr>
            <a:r>
              <a:t>Diagnostic Classification Patterns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Heavy Diagonal Concentration: </a:t>
            </a:r>
            <a:r>
              <a:rPr b="0">
                <a:solidFill>
                  <a:srgbClr val="1E293B"/>
                </a:solidFill>
              </a:rPr>
              <a:t>295 out of 333 test instances correctly classified (88.59%), confirming sharp decision boundaries across most clinical specialties.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Easiest Specialty to Distinguish: Ophthalmology: </a:t>
            </a:r>
            <a:r>
              <a:rPr b="0">
                <a:solidFill>
                  <a:srgbClr val="1E293B"/>
                </a:solidFill>
              </a:rPr>
              <a:t>17 out of 17 correct (100% precision &amp; recall, 0 misclassifications) due to unique eye-specific clinical terminology (e.g. 'phacoemulsification', 'corneal').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High Diagnostic Separation: </a:t>
            </a:r>
            <a:r>
              <a:rPr b="0">
                <a:solidFill>
                  <a:srgbClr val="1E293B"/>
                </a:solidFill>
              </a:rPr>
              <a:t>Zero cross-domain confusion between unrelated organ systems (e.g. Ophthalmology vs Cardiovascular, Urology vs Orthopedic).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Hardest Boundary: Neurology ↔ Orthopedic: </a:t>
            </a:r>
            <a:r>
              <a:rPr b="0">
                <a:solidFill>
                  <a:srgbClr val="1E293B"/>
                </a:solidFill>
              </a:rPr>
              <a:t>Accounts for 12 of the 38 total misclassifications:
• 7 Orthopedic cases misclassified as Neurology
• 5 Neurology cases misclassified as Orthopedic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• Linguistic Root Cause of Error: </a:t>
            </a:r>
            <a:r>
              <a:rPr b="0">
                <a:solidFill>
                  <a:srgbClr val="1E293B"/>
                </a:solidFill>
              </a:rPr>
              <a:t>Shared operative terminology in spinal procedures (e.g., lumbar discectomy, radiculopathy, disc herniation, and nerve root decompression) where nerve and bone tissue co-occur.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DETAILED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Specialty-wise Classification Performance (Final Report)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13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858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B1F3A"/>
                </a:solidFill>
                <a:latin typeface="Cambria"/>
              </a:defRPr>
            </a:pPr>
            <a:r>
              <a:t>Per-Class Classification Report (Best Model: Linear SVM)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20240"/>
          <a:ext cx="6400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914400"/>
                <a:gridCol w="914400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Medical Specialty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Support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Cardiovascular / Pulmonary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74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ENT - Otolaryngology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Gastroenterology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45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Neurology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45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Obstetrics / Gynecology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Ophthalmology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Orthopedic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71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 anchor="ctr"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333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Macro Average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0.91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333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Weighted Average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 b="1">
                          <a:solidFill>
                            <a:srgbClr val="0B1F3A"/>
                          </a:solidFill>
                          <a:latin typeface="Calibri"/>
                        </a:defRPr>
                      </a:pPr>
                      <a:r>
                        <a:t>333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635240" y="1371600"/>
            <a:ext cx="400507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554480"/>
            <a:ext cx="363931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1F3A"/>
                </a:solidFill>
                <a:latin typeface="Cambria"/>
              </a:defRPr>
            </a:pPr>
            <a:r>
              <a:t>Specialty-wise Observations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★ Ophthalmology: Flawless Generalization:</a:t>
            </a:r>
            <a:br/>
            <a:r>
              <a:rPr b="0">
                <a:solidFill>
                  <a:srgbClr val="1E293B"/>
                </a:solidFill>
              </a:rPr>
              <a:t>1.00 F1-score across all 17 test cases with 100% precision and recall.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★ High Precision Specialties:</a:t>
            </a:r>
            <a:br/>
            <a:r>
              <a:rPr b="0">
                <a:solidFill>
                  <a:srgbClr val="1E293B"/>
                </a:solidFill>
              </a:rPr>
              <a:t>Urology (0.97 Precision), ENT (0.94 Precision), and OB/GYN (0.93 Precision) demonstrate exceptional specificity.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★ Robust Majority Classes:</a:t>
            </a:r>
            <a:br/>
            <a:r>
              <a:rPr b="0">
                <a:solidFill>
                  <a:srgbClr val="1E293B"/>
                </a:solidFill>
              </a:rPr>
              <a:t>Cardiovascular / Pulmonary (0.90 F1) and Orthopedic (0.89 F1) maintain high recall despite being the largest classes.</a:t>
            </a:r>
          </a:p>
          <a:p>
            <a:pPr>
              <a:spcBef>
                <a:spcPts val="6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★ Challenging Class:</a:t>
            </a:r>
            <a:br/>
            <a:r>
              <a:rPr b="0">
                <a:solidFill>
                  <a:srgbClr val="1E293B"/>
                </a:solidFill>
              </a:rPr>
              <a:t>Neurology (0.77 F1) reflects the semantic overlap with Orthopedic spinal cases.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EMPIRICAL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Key Empirical Findings from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14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44752"/>
            <a:ext cx="51206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1F3A"/>
                </a:solidFill>
                <a:latin typeface="Cambria"/>
              </a:defRPr>
            </a:pPr>
            <a:r>
              <a:t>1. Raw 40-Class Formulation Failed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• Initial 40-class training produced 7.85% to 27.39% accuracy, demonstrating that the raw dataset was unsuitable without domain refinement.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949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44752"/>
            <a:ext cx="51206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1F3A"/>
                </a:solidFill>
                <a:latin typeface="Cambria"/>
              </a:defRPr>
            </a:pPr>
            <a:r>
              <a:t>2. Severe Class Imbalance Distorted Learning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• Extreme 184:1 skew starved minority classes; unweighted models predicted majority 'Surgery' trivially. Class weighting and SMOTE restored balanced gradients.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6040"/>
            <a:ext cx="53949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79192"/>
            <a:ext cx="51206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1F3A"/>
                </a:solidFill>
                <a:latin typeface="Cambria"/>
              </a:defRPr>
            </a:pPr>
            <a:r>
              <a:t>3. 310,000-Feature TF-IDF Created Sparsity Trap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• Unconstrained TF-IDF severely overfitted (78:1 feature-to-sample ratio). Restricting to 8,000 features with sublinear scaling stabilized feature space.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06040"/>
            <a:ext cx="53949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679192"/>
            <a:ext cx="51206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1F3A"/>
                </a:solidFill>
                <a:latin typeface="Cambria"/>
              </a:defRPr>
            </a:pPr>
            <a:r>
              <a:t>4. Pruning Document Formats Cleared Noise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• Removing administrative formats (SOAP notes, consults, discharge summaries) eliminated non-specialty linguistic overlap.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40480"/>
            <a:ext cx="53949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13632"/>
            <a:ext cx="51206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1F3A"/>
                </a:solidFill>
                <a:latin typeface="Cambria"/>
              </a:defRPr>
            </a:pPr>
            <a:r>
              <a:t>5. Final 8-Specialty Dataset Achieved 77%–89%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• Focusing on 8 mutually exclusive clinical departments dramatically elevated performance across all 4 machine-learning algorithms.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840480"/>
            <a:ext cx="53949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913632"/>
            <a:ext cx="51206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1F3A"/>
                </a:solidFill>
                <a:latin typeface="Cambria"/>
              </a:defRPr>
            </a:pPr>
            <a:r>
              <a:t>6. Linear SVM Delivered Top Individual Accuracy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• Linear SVM achieved 88.59% accuracy and 0.8971 Macro F1, outperforming Random Forest by &gt; 6.6% due to optimal high-dimensional text separation.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53949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48072"/>
            <a:ext cx="51206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1F3A"/>
                </a:solidFill>
                <a:latin typeface="Cambria"/>
              </a:defRPr>
            </a:pPr>
            <a:r>
              <a:t>7. Soft Voting Produced Robust Ensemble Generalization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• Weighted probability consensus (2:2:1:1) achieved 87.99% accuracy and 0.8898 Macro F1, providing smooth confidence calibration.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5074920"/>
            <a:ext cx="53949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5148072"/>
            <a:ext cx="51206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1F3A"/>
                </a:solidFill>
                <a:latin typeface="Cambria"/>
              </a:defRPr>
            </a:pPr>
            <a:r>
              <a:t>8. Controlled TF-IDF Drastically Reduced Dimensionality</a:t>
            </a:r>
          </a:p>
          <a:p>
            <a:pPr>
              <a:spcBef>
                <a:spcPts val="200"/>
              </a:spcBef>
              <a:defRPr sz="850">
                <a:solidFill>
                  <a:srgbClr val="1E293B"/>
                </a:solidFill>
                <a:latin typeface="Calibri"/>
              </a:defRPr>
            </a:pPr>
            <a:r>
              <a:t>• 8,000 features with sublinear TF scaling provided compact, highly discriminative vectors yielding sub-15ms CPU inference.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4114800" cy="310896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MCA MINI PROJECT | PROJECT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167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B1F3A"/>
                </a:solidFill>
                <a:latin typeface="Cambria"/>
              </a:defRPr>
            </a:pPr>
            <a:r>
              <a:t>Current Project Status &amp; Phase 3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13716"/>
          </a:xfrm>
          <a:prstGeom prst="rect">
            <a:avLst/>
          </a:prstGeom>
          <a:solidFill>
            <a:srgbClr val="DC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55657D"/>
                </a:solidFill>
                <a:latin typeface="Calibri"/>
              </a:defRPr>
            </a:pPr>
            <a:r>
              <a:t>Department of Computer Applications | MACE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49224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50">
                <a:solidFill>
                  <a:srgbClr val="55657D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9631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Slide 15 of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  <a:latin typeface="Cambria"/>
              </a:defRPr>
            </a:pPr>
            <a:r>
              <a:t>Completed in Phase 2</a:t>
            </a:r>
          </a:p>
          <a:p>
            <a:pPr>
              <a:spcBef>
                <a:spcPts val="300"/>
              </a:spcBef>
              <a:defRPr sz="900" b="1">
                <a:solidFill>
                  <a:srgbClr val="0B1F3A"/>
                </a:solidFill>
                <a:latin typeface="Calibri"/>
              </a:defRPr>
            </a:pPr>
            <a:r>
              <a:t>✓ EDA Findings Incorporated: </a:t>
            </a:r>
            <a:r>
              <a:rPr b="0">
                <a:solidFill>
                  <a:srgbClr val="1E293B"/>
                </a:solidFill>
              </a:rPr>
              <a:t>Transferred Phase 1 data characteristics into ML pipeline design.</a:t>
            </a:r>
          </a:p>
          <a:p>
            <a:pPr>
              <a:spcBef>
                <a:spcPts val="300"/>
              </a:spcBef>
              <a:defRPr sz="900" b="1">
                <a:solidFill>
                  <a:srgbClr val="0B1F3A"/>
                </a:solidFill>
                <a:latin typeface="Calibri"/>
              </a:defRPr>
            </a:pPr>
            <a:r>
              <a:t>✓ 40-Class Baseline Benchmark: </a:t>
            </a:r>
            <a:r>
              <a:rPr b="0">
                <a:solidFill>
                  <a:srgbClr val="1E293B"/>
                </a:solidFill>
              </a:rPr>
              <a:t>Trained and evaluated initial models; documented collapse.</a:t>
            </a:r>
          </a:p>
          <a:p>
            <a:pPr>
              <a:spcBef>
                <a:spcPts val="300"/>
              </a:spcBef>
              <a:defRPr sz="900" b="1">
                <a:solidFill>
                  <a:srgbClr val="0B1F3A"/>
                </a:solidFill>
                <a:latin typeface="Calibri"/>
              </a:defRPr>
            </a:pPr>
            <a:r>
              <a:t>✓ Class Imbalance Analysis: </a:t>
            </a:r>
            <a:r>
              <a:rPr b="0">
                <a:solidFill>
                  <a:srgbClr val="1E293B"/>
                </a:solidFill>
              </a:rPr>
              <a:t>Identified 184:1 skew and 310k feature explosion.</a:t>
            </a:r>
          </a:p>
          <a:p>
            <a:pPr>
              <a:spcBef>
                <a:spcPts val="300"/>
              </a:spcBef>
              <a:defRPr sz="900" b="1">
                <a:solidFill>
                  <a:srgbClr val="0B1F3A"/>
                </a:solidFill>
                <a:latin typeface="Calibri"/>
              </a:defRPr>
            </a:pPr>
            <a:r>
              <a:t>✓ 20-Class Filtering Experiment: </a:t>
            </a:r>
            <a:r>
              <a:rPr b="0">
                <a:solidFill>
                  <a:srgbClr val="1E293B"/>
                </a:solidFill>
              </a:rPr>
              <a:t>Pruned &lt;50 sample classes; analyzed persistent semantic overlap.</a:t>
            </a:r>
          </a:p>
          <a:p>
            <a:pPr>
              <a:spcBef>
                <a:spcPts val="300"/>
              </a:spcBef>
              <a:defRPr sz="900" b="1">
                <a:solidFill>
                  <a:srgbClr val="0B1F3A"/>
                </a:solidFill>
                <a:latin typeface="Calibri"/>
              </a:defRPr>
            </a:pPr>
            <a:r>
              <a:t>✓ Final 8-Specialty Dataset: </a:t>
            </a:r>
            <a:r>
              <a:rPr b="0">
                <a:solidFill>
                  <a:srgbClr val="1E293B"/>
                </a:solidFill>
              </a:rPr>
              <a:t>Curated 1,663 records across 8 mutually exclusive clinical departments.</a:t>
            </a:r>
          </a:p>
          <a:p>
            <a:pPr>
              <a:spcBef>
                <a:spcPts val="300"/>
              </a:spcBef>
              <a:defRPr sz="900" b="1">
                <a:solidFill>
                  <a:srgbClr val="0B1F3A"/>
                </a:solidFill>
                <a:latin typeface="Calibri"/>
              </a:defRPr>
            </a:pPr>
            <a:r>
              <a:t>✓ TF-IDF Feature Engineering: </a:t>
            </a:r>
            <a:r>
              <a:rPr b="0">
                <a:solidFill>
                  <a:srgbClr val="1E293B"/>
                </a:solidFill>
              </a:rPr>
              <a:t>Engineered 8,000-dim unigram/bigram representation with sublinear scaling.</a:t>
            </a:r>
          </a:p>
          <a:p>
            <a:pPr>
              <a:spcBef>
                <a:spcPts val="300"/>
              </a:spcBef>
              <a:defRPr sz="900" b="1">
                <a:solidFill>
                  <a:srgbClr val="0B1F3A"/>
                </a:solidFill>
                <a:latin typeface="Calibri"/>
              </a:defRPr>
            </a:pPr>
            <a:r>
              <a:t>✓ Imbalance Mitigation Applied: </a:t>
            </a:r>
            <a:r>
              <a:rPr b="0">
                <a:solidFill>
                  <a:srgbClr val="1E293B"/>
                </a:solidFill>
              </a:rPr>
              <a:t>Applied class_weight='balanced', SMOTE, and ROS to training folds.</a:t>
            </a:r>
          </a:p>
          <a:p>
            <a:pPr>
              <a:spcBef>
                <a:spcPts val="300"/>
              </a:spcBef>
              <a:defRPr sz="900" b="1">
                <a:solidFill>
                  <a:srgbClr val="0B1F3A"/>
                </a:solidFill>
                <a:latin typeface="Calibri"/>
              </a:defRPr>
            </a:pPr>
            <a:r>
              <a:t>✓ Model &amp; Ensemble Training: </a:t>
            </a:r>
            <a:r>
              <a:rPr b="0">
                <a:solidFill>
                  <a:srgbClr val="1E293B"/>
                </a:solidFill>
              </a:rPr>
              <a:t>Trained LR, SVM, RF, MNB, Hard Voting, and Soft Voting ensembles.</a:t>
            </a:r>
          </a:p>
          <a:p>
            <a:pPr>
              <a:spcBef>
                <a:spcPts val="300"/>
              </a:spcBef>
              <a:defRPr sz="900" b="1">
                <a:solidFill>
                  <a:srgbClr val="0B1F3A"/>
                </a:solidFill>
                <a:latin typeface="Calibri"/>
              </a:defRPr>
            </a:pPr>
            <a:r>
              <a:t>✓ Comprehensive Evaluation: </a:t>
            </a:r>
            <a:r>
              <a:rPr b="0">
                <a:solidFill>
                  <a:srgbClr val="1E293B"/>
                </a:solidFill>
              </a:rPr>
              <a:t>Produced comparative metrics, confusion matrix, and classification reports.</a:t>
            </a:r>
          </a:p>
          <a:p>
            <a:pPr>
              <a:spcBef>
                <a:spcPts val="300"/>
              </a:spcBef>
              <a:defRPr sz="900" b="1">
                <a:solidFill>
                  <a:srgbClr val="0B1F3A"/>
                </a:solidFill>
                <a:latin typeface="Calibri"/>
              </a:defRPr>
            </a:pPr>
            <a:r>
              <a:t>✓ Model Serialization: </a:t>
            </a:r>
            <a:r>
              <a:rPr b="0">
                <a:solidFill>
                  <a:srgbClr val="1E293B"/>
                </a:solidFill>
              </a:rPr>
              <a:t>Saved vectorizer (0.30 MB), SVM (0.49 MB), and Ensemble (11.07 MB).</a:t>
            </a:r>
          </a:p>
          <a:p>
            <a:pPr>
              <a:spcBef>
                <a:spcPts val="300"/>
              </a:spcBef>
              <a:defRPr sz="900" b="1">
                <a:solidFill>
                  <a:srgbClr val="0B1F3A"/>
                </a:solidFill>
                <a:latin typeface="Calibri"/>
              </a:defRPr>
            </a:pPr>
            <a:r>
              <a:t>✓ Repository Hygiene: </a:t>
            </a:r>
            <a:r>
              <a:rPr b="0">
                <a:solidFill>
                  <a:srgbClr val="1E293B"/>
                </a:solidFill>
              </a:rPr>
              <a:t>Resolved GitHub file-size limits via .gitignore configuration.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42239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496519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Cambria"/>
              </a:defRPr>
            </a:pPr>
            <a:r>
              <a:t>Planned for Phase 3 (Deployment &amp; Testing)</a:t>
            </a:r>
          </a:p>
          <a:p>
            <a:pPr>
              <a:spcBef>
                <a:spcPts val="600"/>
              </a:spcBef>
              <a:defRPr sz="1000" b="1">
                <a:solidFill>
                  <a:srgbClr val="2563EB"/>
                </a:solidFill>
                <a:latin typeface="Calibri"/>
              </a:defRPr>
            </a:pPr>
            <a:r>
              <a:t>→ Finalize Deployment Pipeline:</a:t>
            </a:r>
            <a:br/>
            <a:r>
              <a:rPr b="0">
                <a:solidFill>
                  <a:srgbClr val="1E293B"/>
                </a:solidFill>
              </a:rPr>
              <a:t>Construct automated ingestion, preprocessing, and vector transformation pipeline for live clinical text.</a:t>
            </a:r>
          </a:p>
          <a:p>
            <a:pPr>
              <a:spcBef>
                <a:spcPts val="600"/>
              </a:spcBef>
              <a:defRPr sz="1000" b="1">
                <a:solidFill>
                  <a:srgbClr val="2563EB"/>
                </a:solidFill>
                <a:latin typeface="Calibri"/>
              </a:defRPr>
            </a:pPr>
            <a:r>
              <a:t>→ Flask REST API Integration:</a:t>
            </a:r>
            <a:br/>
            <a:r>
              <a:rPr b="0">
                <a:solidFill>
                  <a:srgbClr val="1E293B"/>
                </a:solidFill>
              </a:rPr>
              <a:t>Build lightweight Python Flask web endpoints (/predict, /health) to serve model predictions.</a:t>
            </a:r>
          </a:p>
          <a:p>
            <a:pPr>
              <a:spcBef>
                <a:spcPts val="600"/>
              </a:spcBef>
              <a:defRPr sz="1000" b="1">
                <a:solidFill>
                  <a:srgbClr val="2563EB"/>
                </a:solidFill>
                <a:latin typeface="Calibri"/>
              </a:defRPr>
            </a:pPr>
            <a:r>
              <a:t>→ Clinician Text Input Interface:</a:t>
            </a:r>
            <a:br/>
            <a:r>
              <a:rPr b="0">
                <a:solidFill>
                  <a:srgbClr val="1E293B"/>
                </a:solidFill>
              </a:rPr>
              <a:t>Develop an intuitive web interface for clinicians to paste operative dictations and inspect results.</a:t>
            </a:r>
          </a:p>
          <a:p>
            <a:pPr>
              <a:spcBef>
                <a:spcPts val="600"/>
              </a:spcBef>
              <a:defRPr sz="1000" b="1">
                <a:solidFill>
                  <a:srgbClr val="2563EB"/>
                </a:solidFill>
                <a:latin typeface="Calibri"/>
              </a:defRPr>
            </a:pPr>
            <a:r>
              <a:t>→ Serialized Model Testing in App:</a:t>
            </a:r>
            <a:br/>
            <a:r>
              <a:rPr b="0">
                <a:solidFill>
                  <a:srgbClr val="1E293B"/>
                </a:solidFill>
              </a:rPr>
              <a:t>Verify real-time latency (&lt; 15 ms) and validate predictions directly through the web application.</a:t>
            </a:r>
          </a:p>
          <a:p>
            <a:pPr>
              <a:spcBef>
                <a:spcPts val="600"/>
              </a:spcBef>
              <a:defRPr sz="1000" b="1">
                <a:solidFill>
                  <a:srgbClr val="2563EB"/>
                </a:solidFill>
                <a:latin typeface="Calibri"/>
              </a:defRPr>
            </a:pPr>
            <a:r>
              <a:t>→ Final System Usability Review:</a:t>
            </a:r>
            <a:br/>
            <a:r>
              <a:rPr b="0">
                <a:solidFill>
                  <a:srgbClr val="1E293B"/>
                </a:solidFill>
              </a:rPr>
              <a:t>Benchmark end-to-end reliability, edge cases, and confidence threshold warnings (&lt; 0.65).</a:t>
            </a:r>
          </a:p>
          <a:p>
            <a:pPr>
              <a:spcBef>
                <a:spcPts val="600"/>
              </a:spcBef>
              <a:defRPr sz="1000" b="1">
                <a:solidFill>
                  <a:srgbClr val="2563EB"/>
                </a:solidFill>
                <a:latin typeface="Calibri"/>
              </a:defRPr>
            </a:pPr>
            <a:r>
              <a:t>→ Final Defense &amp; Documentation:</a:t>
            </a:r>
            <a:br/>
            <a:r>
              <a:rPr b="0">
                <a:solidFill>
                  <a:srgbClr val="1E293B"/>
                </a:solidFill>
              </a:rPr>
              <a:t>Complete MCA project report, user manual, and project defense documentation.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30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4A3B8"/>
                </a:solidFill>
                <a:latin typeface="Calibri"/>
              </a:defRPr>
            </a:pPr>
            <a:r>
              <a:t>MAR ATHANASIUS COLLEGE OF ENGINEERING, KOTHAMANGALAM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960120"/>
            <a:ext cx="4389120" cy="384048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MCA MINI PROJECT  |  CONCLUSION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54303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mbria"/>
              </a:defRPr>
            </a:pPr>
            <a:r>
              <a:t>Conclusion: Phase 2 Progression &amp; Outcome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10543032" cy="2514600"/>
          </a:xfrm>
          <a:prstGeom prst="roundRect">
            <a:avLst/>
          </a:prstGeom>
          <a:solidFill>
            <a:srgbClr val="112240"/>
          </a:solidFill>
          <a:ln>
            <a:solidFill>
              <a:srgbClr val="1332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defRPr sz="1500" b="1">
                <a:solidFill>
                  <a:srgbClr val="0E7C86"/>
                </a:solidFill>
                <a:latin typeface="Cambria"/>
              </a:defRPr>
            </a:pPr>
            <a:r>
              <a:t>Authoritative Summary Statement</a:t>
            </a:r>
          </a:p>
          <a:p>
            <a:pPr>
              <a:spcBef>
                <a:spcPts val="800"/>
              </a:spcBef>
              <a:defRPr sz="1200">
                <a:solidFill>
                  <a:srgbClr val="38BDF8"/>
                </a:solidFill>
                <a:latin typeface="Calibri"/>
              </a:defRPr>
            </a:pPr>
            <a:r>
              <a:t>"Phase 1 established the dataset characteristics and class imbalance through EDA. Phase 2 converted these findings into a complete machine-learning pipeline, beginning with a 40-class baseline and progressing through dataset refinement, imbalance mitigation, model training and ensemble evaluation. The final 8-specialty formulation achieved up to 88.59% accuracy with Linear SVM."</a:t>
            </a:r>
          </a:p>
          <a:p>
            <a:pPr>
              <a:spcBef>
                <a:spcPts val="1200"/>
              </a:spcBef>
              <a:defRPr sz="1050" b="1">
                <a:solidFill>
                  <a:srgbClr val="CBD5E1"/>
                </a:solidFill>
                <a:latin typeface="Calibri"/>
              </a:defRPr>
            </a:pPr>
            <a:r>
              <a:t>Key Takeaways: 8 Mutually Exclusive Specialties  •  8,000 TF-IDF Features  •  Class Imbalance Mitigation  •  88.59% SVM Accuracy  •  87.99% Soft Voting  •  Exceeded 75% Target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029200"/>
            <a:ext cx="10543032" cy="12801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>
              <a:defRPr sz="2200" b="1">
                <a:solidFill>
                  <a:srgbClr val="FFFFFF"/>
                </a:solidFill>
                <a:latin typeface="Cambria"/>
              </a:defRPr>
            </a:pPr>
            <a:r>
              <a:t>THANK YOU!</a:t>
            </a:r>
          </a:p>
          <a:p>
            <a:pPr algn="ctr">
              <a:spcBef>
                <a:spcPts val="300"/>
              </a:spcBef>
              <a:defRPr sz="1100">
                <a:solidFill>
                  <a:srgbClr val="F0FDFA"/>
                </a:solidFill>
                <a:latin typeface="Calibri"/>
              </a:defRPr>
            </a:pPr>
            <a:r>
              <a:t>Open for Questions, Faculty Suggestions &amp; Discussion</a:t>
            </a:r>
            <a:br/>
            <a:r>
              <a:t>Presented by: Jiphin George (MAC25MCA-2033) | Guide: Prof. Biju Skaria | Department of Computer Applications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