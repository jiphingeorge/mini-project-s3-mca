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preprocessing runs as eight sequential steps. First, records with missing transcriptions — 33 of them — are removed, and duplicate reports are verified absent. Then the text is lowercased, punctuation and special characters or digits are stripped, and the narrative is tokenized into individual words. Generic English stop-words are removed while preserving clinical vocabulary, and finally each token is lemmatized to its base form using the WordNet Lemmatizer — for example, 'suffers' becomes 'suffer'. This cleaned, normalized token stream is what feeds into TF-IDF vectorization next. Note that scaling and categorical encoding are not applicable here since we're working with raw text, not numeric tabular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TF-IDF stands for Term Frequency – Inverse Document Frequency. Term frequency measures how often a word occurs in one document, scaled logarithmically; inverse document frequency measures how rare that word is across the whole corpus. Multiplying them gives a weight that is high for words that are frequent in one report but rare across the corpus — exactly the kind of specialty-distinguishing medical term we want to emphasize. The flow is: clean text goes through preprocessing, then the TF-IDF vectorizer, producing a sparse, L2-normalized numeric feature matrix. It's important to stress that TF-IDF itself does not classify anything — it only produces the numeric input that my four classifiers will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6" name="TextBox 5"/>
          <p:cNvSpPr txBox="1"/>
          <p:nvPr/>
        </p:nvSpPr>
        <p:spPr>
          <a:xfrm>
            <a:off x="822960" y="3017520"/>
            <a:ext cx="10515600" cy="411480"/>
          </a:xfrm>
          <a:prstGeom prst="rect">
            <a:avLst/>
          </a:prstGeom>
          <a:noFill/>
        </p:spPr>
        <p:txBody>
          <a:bodyPr wrap="none">
            <a:spAutoFit/>
          </a:bodyPr>
          <a:lstStyle/>
          <a:p>
            <a:pPr>
              <a:defRPr sz="1600" b="0">
                <a:solidFill>
                  <a:srgbClr val="38BDF8"/>
                </a:solidFill>
                <a:latin typeface="Calibri"/>
              </a:defRPr>
            </a:pPr>
            <a:r>
              <a:t>Clinical NLP &amp; Supervised Multi-Class Learning on MTSamples Medical Corpus</a:t>
            </a:r>
          </a:p>
        </p:txBody>
      </p:sp>
      <p:sp>
        <p:nvSpPr>
          <p:cNvPr id="7" name="Rounded Rectangle 6"/>
          <p:cNvSpPr/>
          <p:nvPr/>
        </p:nvSpPr>
        <p:spPr>
          <a:xfrm>
            <a:off x="822960" y="3703320"/>
            <a:ext cx="5029200" cy="20116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400"/>
              </a:spcAft>
              <a:defRPr sz="1100" b="1">
                <a:solidFill>
                  <a:srgbClr val="38BDF8"/>
                </a:solidFill>
                <a:latin typeface="Calibri"/>
              </a:defRPr>
            </a:pPr>
            <a:r>
              <a:t>PRESENTED BY</a:t>
            </a:r>
          </a:p>
          <a:p>
            <a:pPr>
              <a:spcAft>
                <a:spcPts val="400"/>
              </a:spcAft>
              <a:defRPr sz="2200" b="1">
                <a:solidFill>
                  <a:srgbClr val="FFFFFF"/>
                </a:solidFill>
                <a:latin typeface="Cambria"/>
              </a:defRPr>
            </a:pPr>
            <a:r>
              <a:t>Jiphin George</a:t>
            </a:r>
          </a:p>
          <a:p>
            <a:pPr>
              <a:spcAft>
                <a:spcPts val="2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703320"/>
            <a:ext cx="5166360" cy="20116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400"/>
              </a:spcAft>
              <a:defRPr sz="1100" b="1">
                <a:solidFill>
                  <a:srgbClr val="4ADE80"/>
                </a:solidFill>
                <a:latin typeface="Calibri"/>
              </a:defRPr>
            </a:pPr>
            <a:r>
              <a:t>PROJECT GUIDE</a:t>
            </a:r>
          </a:p>
          <a:p>
            <a:pPr>
              <a:spcAft>
                <a:spcPts val="400"/>
              </a:spcAft>
              <a:defRPr sz="2200" b="1">
                <a:solidFill>
                  <a:srgbClr val="FFFFFF"/>
                </a:solidFill>
                <a:latin typeface="Cambria"/>
              </a:defRPr>
            </a:pPr>
            <a:r>
              <a:t>Prof. Biju Skaria</a:t>
            </a:r>
          </a:p>
          <a:p>
            <a:pPr>
              <a:spcAft>
                <a:spcPts val="2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943600"/>
            <a:ext cx="2011680" cy="36576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943600"/>
            <a:ext cx="2011680" cy="36576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943600"/>
            <a:ext cx="2011680" cy="36576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943600"/>
            <a:ext cx="2011680" cy="36576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943600"/>
            <a:ext cx="2011680" cy="36576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2 of 20</a:t>
            </a:r>
            <a:endParaRPr lang="en-US" sz="900" dirty="0"/>
          </a:p>
        </p:txBody>
      </p:sp>
      <p:sp>
        <p:nvSpPr>
          <p:cNvPr id="8" name="Shape 6"/>
          <p:cNvSpPr/>
          <p:nvPr/>
        </p:nvSpPr>
        <p:spPr>
          <a:xfrm>
            <a:off x="457200" y="1554480"/>
            <a:ext cx="5394960"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9" name="Shape 7"/>
          <p:cNvSpPr/>
          <p:nvPr/>
        </p:nvSpPr>
        <p:spPr>
          <a:xfrm>
            <a:off x="768096" y="1837944"/>
            <a:ext cx="566928" cy="566928"/>
          </a:xfrm>
          <a:prstGeom prst="ellipse">
            <a:avLst/>
          </a:prstGeom>
          <a:solidFill>
            <a:srgbClr val="6C4AB6"/>
          </a:solidFill>
          <a:ln/>
        </p:spPr>
      </p:sp>
      <p:sp>
        <p:nvSpPr>
          <p:cNvPr id="10" name="Text 8"/>
          <p:cNvSpPr txBox="1"/>
          <p:nvPr/>
        </p:nvSpPr>
        <p:spPr>
          <a:xfrm>
            <a:off x="76809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1" name="Text 9"/>
          <p:cNvSpPr txBox="1"/>
          <p:nvPr/>
        </p:nvSpPr>
        <p:spPr>
          <a:xfrm>
            <a:off x="1417320" y="1828800"/>
            <a:ext cx="420624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Problem</a:t>
            </a:r>
            <a:endParaRPr lang="en-US" sz="1600" dirty="0"/>
          </a:p>
        </p:txBody>
      </p:sp>
      <p:sp>
        <p:nvSpPr>
          <p:cNvPr id="12" name="Text 10"/>
          <p:cNvSpPr txBox="1"/>
          <p:nvPr/>
        </p:nvSpPr>
        <p:spPr>
          <a:xfrm>
            <a:off x="777240" y="2331720"/>
            <a:ext cx="480060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Clinical transcription data is unstructured and can belong to any of several medical specialties, making manual categorization by medical coders slow, inconsistent, and prone to human error as patient volumes grow.</a:t>
            </a:r>
            <a:endParaRPr lang="en-US" sz="1250" dirty="0"/>
          </a:p>
        </p:txBody>
      </p:sp>
      <p:sp>
        <p:nvSpPr>
          <p:cNvPr id="13" name="Shape 11"/>
          <p:cNvSpPr/>
          <p:nvPr/>
        </p:nvSpPr>
        <p:spPr>
          <a:xfrm>
            <a:off x="6035040" y="1554480"/>
            <a:ext cx="5696712"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4" name="Shape 12"/>
          <p:cNvSpPr/>
          <p:nvPr/>
        </p:nvSpPr>
        <p:spPr>
          <a:xfrm>
            <a:off x="6345936" y="1837944"/>
            <a:ext cx="566928" cy="566928"/>
          </a:xfrm>
          <a:prstGeom prst="ellipse">
            <a:avLst/>
          </a:prstGeom>
          <a:solidFill>
            <a:srgbClr val="0E7C86"/>
          </a:solidFill>
          <a:ln/>
        </p:spPr>
      </p:sp>
      <p:sp>
        <p:nvSpPr>
          <p:cNvPr id="15" name="Text 13"/>
          <p:cNvSpPr txBox="1"/>
          <p:nvPr/>
        </p:nvSpPr>
        <p:spPr>
          <a:xfrm>
            <a:off x="634593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6995160" y="1828800"/>
            <a:ext cx="45720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Objective</a:t>
            </a:r>
            <a:endParaRPr lang="en-US" sz="1600" dirty="0"/>
          </a:p>
        </p:txBody>
      </p:sp>
      <p:sp>
        <p:nvSpPr>
          <p:cNvPr id="17" name="Text 15"/>
          <p:cNvSpPr txBox="1"/>
          <p:nvPr/>
        </p:nvSpPr>
        <p:spPr>
          <a:xfrm>
            <a:off x="6355080" y="2331720"/>
            <a:ext cx="512064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Develop an automated NLP and Ensemble Machine Learning system that predicts the correct medical specialty from a clinical transcription, reducing administrative overhead and speeding up document routing.</a:t>
            </a:r>
            <a:endParaRPr lang="en-US" sz="1250" dirty="0"/>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20" name="Shape 18"/>
          <p:cNvSpPr/>
          <p:nvPr/>
        </p:nvSpPr>
        <p:spPr>
          <a:xfrm>
            <a:off x="1577340" y="4430268"/>
            <a:ext cx="502920" cy="502920"/>
          </a:xfrm>
          <a:prstGeom prst="ellipse">
            <a:avLst/>
          </a:prstGeom>
          <a:solidFill>
            <a:srgbClr val="6C4AB6"/>
          </a:solidFill>
          <a:ln/>
        </p:spPr>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25" name="Shape 23"/>
          <p:cNvSpPr/>
          <p:nvPr/>
        </p:nvSpPr>
        <p:spPr>
          <a:xfrm>
            <a:off x="4457700" y="4430268"/>
            <a:ext cx="502920" cy="502920"/>
          </a:xfrm>
          <a:prstGeom prst="ellipse">
            <a:avLst/>
          </a:prstGeom>
          <a:solidFill>
            <a:srgbClr val="0E7C86"/>
          </a:solidFill>
          <a:ln/>
        </p:spPr>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30" name="Shape 28"/>
          <p:cNvSpPr/>
          <p:nvPr/>
        </p:nvSpPr>
        <p:spPr>
          <a:xfrm>
            <a:off x="7338060" y="4430268"/>
            <a:ext cx="502920" cy="502920"/>
          </a:xfrm>
          <a:prstGeom prst="ellipse">
            <a:avLst/>
          </a:prstGeom>
          <a:solidFill>
            <a:srgbClr val="13294B"/>
          </a:solidFill>
          <a:ln/>
        </p:spPr>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35" name="Shape 33"/>
          <p:cNvSpPr/>
          <p:nvPr/>
        </p:nvSpPr>
        <p:spPr>
          <a:xfrm>
            <a:off x="10218420" y="4430268"/>
            <a:ext cx="502920" cy="502920"/>
          </a:xfrm>
          <a:prstGeom prst="ellipse">
            <a:avLst/>
          </a:prstGeom>
          <a:solidFill>
            <a:srgbClr val="6C4AB6"/>
          </a:solidFill>
          <a:ln/>
        </p:spPr>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Combine SVM, RF, LR, MNB via Voting; deploy on a Flask web app.</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SUPPORTING LITERATURE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Literature Review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3 of 20</a:t>
            </a:r>
            <a:endParaRPr lang="en-US" sz="900" dirty="0"/>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9" name="Shape 7"/>
          <p:cNvSpPr/>
          <p:nvPr/>
        </p:nvSpPr>
        <p:spPr>
          <a:xfrm>
            <a:off x="685800" y="1764792"/>
            <a:ext cx="3218688" cy="292608"/>
          </a:xfrm>
          <a:prstGeom prst="roundRect">
            <a:avLst>
              <a:gd name="adj" fmla="val 50000"/>
            </a:avLst>
          </a:prstGeom>
          <a:solidFill>
            <a:srgbClr val="0E7C86"/>
          </a:solidFill>
          <a:ln/>
        </p:spPr>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9" name="Shape 17"/>
          <p:cNvSpPr/>
          <p:nvPr/>
        </p:nvSpPr>
        <p:spPr>
          <a:xfrm>
            <a:off x="4480560" y="1764792"/>
            <a:ext cx="3218688" cy="292608"/>
          </a:xfrm>
          <a:prstGeom prst="roundRect">
            <a:avLst>
              <a:gd name="adj" fmla="val 50000"/>
            </a:avLst>
          </a:prstGeom>
          <a:solidFill>
            <a:srgbClr val="6C4AB6"/>
          </a:solidFill>
          <a:ln/>
        </p:spPr>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29" name="Shape 27"/>
          <p:cNvSpPr/>
          <p:nvPr/>
        </p:nvSpPr>
        <p:spPr>
          <a:xfrm>
            <a:off x="8275320" y="1764792"/>
            <a:ext cx="3218688" cy="292608"/>
          </a:xfrm>
          <a:prstGeom prst="roundRect">
            <a:avLst>
              <a:gd name="adj" fmla="val 50000"/>
            </a:avLst>
          </a:prstGeom>
          <a:solidFill>
            <a:srgbClr val="13294B"/>
          </a:solidFill>
          <a:ln/>
        </p:spPr>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4 of 20</a:t>
            </a:r>
            <a:endParaRPr lang="en-US" sz="900" dirty="0"/>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pPr>
            <a:r>
              <a:rPr lang="en-US" sz="1100" dirty="0">
                <a:solidFill>
                  <a:srgbClr val="16213E"/>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35" name="Shape 33"/>
          <p:cNvSpPr/>
          <p:nvPr/>
        </p:nvSpPr>
        <p:spPr>
          <a:xfrm>
            <a:off x="6675120" y="3493008"/>
            <a:ext cx="457200" cy="457200"/>
          </a:xfrm>
          <a:prstGeom prst="ellipse">
            <a:avLst/>
          </a:prstGeom>
          <a:solidFill>
            <a:srgbClr val="0E7C86"/>
          </a:solidFill>
          <a:ln/>
        </p:spPr>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40" name="Shape 38"/>
          <p:cNvSpPr/>
          <p:nvPr/>
        </p:nvSpPr>
        <p:spPr>
          <a:xfrm>
            <a:off x="6675120" y="4663440"/>
            <a:ext cx="457200" cy="457200"/>
          </a:xfrm>
          <a:prstGeom prst="ellipse">
            <a:avLst/>
          </a:prstGeom>
          <a:solidFill>
            <a:srgbClr val="6C4AB6"/>
          </a:solidFill>
          <a:ln/>
        </p:spPr>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pPr>
            <a:r>
              <a:rPr lang="en-US" sz="1000" i="1" dirty="0">
                <a:solidFill>
                  <a:srgbClr val="5B6472"/>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5 of 20</a:t>
            </a:r>
            <a:endParaRPr lang="en-US" sz="900" dirty="0"/>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6 of 20</a:t>
            </a:r>
            <a:endParaRPr lang="en-US" sz="900" dirty="0"/>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pPr>
            <a:r>
              <a:rPr lang="en-US" sz="1000" i="1" dirty="0">
                <a:solidFill>
                  <a:srgbClr val="5B6472"/>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7 of 20</a:t>
            </a:r>
            <a:endParaRPr lang="en-US" sz="900" dirty="0"/>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pPr>
            <a:r>
              <a:rPr lang="en-US" sz="1070" dirty="0">
                <a:solidFill>
                  <a:srgbClr val="16213E"/>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8 of 20</a:t>
            </a:r>
            <a:endParaRPr lang="en-US" sz="900" dirty="0"/>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9 of 20</a:t>
            </a:r>
            <a:endParaRPr lang="en-US" sz="900" dirty="0"/>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9" name="Shape 7"/>
          <p:cNvSpPr/>
          <p:nvPr/>
        </p:nvSpPr>
        <p:spPr>
          <a:xfrm>
            <a:off x="640080" y="1755648"/>
            <a:ext cx="548640" cy="548640"/>
          </a:xfrm>
          <a:prstGeom prst="ellipse">
            <a:avLst/>
          </a:prstGeom>
          <a:solidFill>
            <a:srgbClr val="6C4AB6"/>
          </a:solidFill>
          <a:ln/>
        </p:spPr>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4" name="Shape 12"/>
          <p:cNvSpPr/>
          <p:nvPr/>
        </p:nvSpPr>
        <p:spPr>
          <a:xfrm>
            <a:off x="4416552" y="1755648"/>
            <a:ext cx="548640" cy="548640"/>
          </a:xfrm>
          <a:prstGeom prst="ellipse">
            <a:avLst/>
          </a:prstGeom>
          <a:solidFill>
            <a:srgbClr val="0E7C86"/>
          </a:solidFill>
          <a:ln/>
        </p:spPr>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9" name="Shape 17"/>
          <p:cNvSpPr/>
          <p:nvPr/>
        </p:nvSpPr>
        <p:spPr>
          <a:xfrm>
            <a:off x="8193024" y="1755648"/>
            <a:ext cx="548640" cy="548640"/>
          </a:xfrm>
          <a:prstGeom prst="ellipse">
            <a:avLst/>
          </a:prstGeom>
          <a:solidFill>
            <a:srgbClr val="13294B"/>
          </a:solidFill>
          <a:ln/>
        </p:spPr>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24" name="Shape 22"/>
          <p:cNvSpPr/>
          <p:nvPr/>
        </p:nvSpPr>
        <p:spPr>
          <a:xfrm>
            <a:off x="640080" y="4041648"/>
            <a:ext cx="548640" cy="548640"/>
          </a:xfrm>
          <a:prstGeom prst="ellipse">
            <a:avLst/>
          </a:prstGeom>
          <a:solidFill>
            <a:srgbClr val="6C4AB6"/>
          </a:solidFill>
          <a:ln/>
        </p:spPr>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29" name="Shape 27"/>
          <p:cNvSpPr/>
          <p:nvPr/>
        </p:nvSpPr>
        <p:spPr>
          <a:xfrm>
            <a:off x="4416552" y="4041648"/>
            <a:ext cx="548640" cy="548640"/>
          </a:xfrm>
          <a:prstGeom prst="ellipse">
            <a:avLst/>
          </a:prstGeom>
          <a:solidFill>
            <a:srgbClr val="0E7C86"/>
          </a:solidFill>
          <a:ln/>
        </p:spPr>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34" name="Shape 32"/>
          <p:cNvSpPr/>
          <p:nvPr/>
        </p:nvSpPr>
        <p:spPr>
          <a:xfrm>
            <a:off x="8193024" y="4041648"/>
            <a:ext cx="548640" cy="548640"/>
          </a:xfrm>
          <a:prstGeom prst="ellipse">
            <a:avLst/>
          </a:prstGeom>
          <a:solidFill>
            <a:srgbClr val="13294B"/>
          </a:solidFill>
          <a:ln/>
        </p:spPr>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PREPROCESSING</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Text Data Cleaning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10 of 20</a:t>
            </a:r>
            <a:endParaRPr lang="en-US" sz="900" dirty="0"/>
          </a:p>
        </p:txBody>
      </p:sp>
      <p:sp>
        <p:nvSpPr>
          <p:cNvPr id="8" name="Text 6"/>
          <p:cNvSpPr txBox="1"/>
          <p:nvPr/>
        </p:nvSpPr>
        <p:spPr>
          <a:xfrm>
            <a:off x="457200" y="1417320"/>
            <a:ext cx="11247120"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Eight sequential operations transform raw, noisy clinical dictations into clean input suitable for TF-IDF vectorization.</a:t>
            </a:r>
            <a:endParaRPr lang="en-US" sz="1250" dirty="0"/>
          </a:p>
        </p:txBody>
      </p:sp>
      <p:sp>
        <p:nvSpPr>
          <p:cNvPr id="9" name="Shape 7"/>
          <p:cNvSpPr/>
          <p:nvPr/>
        </p:nvSpPr>
        <p:spPr>
          <a:xfrm>
            <a:off x="457200" y="196596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0" name="Shape 8"/>
          <p:cNvSpPr/>
          <p:nvPr/>
        </p:nvSpPr>
        <p:spPr>
          <a:xfrm>
            <a:off x="621792" y="2130552"/>
            <a:ext cx="457200" cy="457200"/>
          </a:xfrm>
          <a:prstGeom prst="ellipse">
            <a:avLst/>
          </a:prstGeom>
          <a:solidFill>
            <a:srgbClr val="0E7C86"/>
          </a:solidFill>
          <a:ln/>
        </p:spPr>
      </p:sp>
      <p:sp>
        <p:nvSpPr>
          <p:cNvPr id="11" name="Text 9"/>
          <p:cNvSpPr txBox="1"/>
          <p:nvPr/>
        </p:nvSpPr>
        <p:spPr>
          <a:xfrm>
            <a:off x="621792"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2" name="Text 10"/>
          <p:cNvSpPr txBox="1"/>
          <p:nvPr/>
        </p:nvSpPr>
        <p:spPr>
          <a:xfrm>
            <a:off x="640080" y="267919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Remove Missing Values</a:t>
            </a:r>
            <a:endParaRPr lang="en-US" sz="1200" dirty="0"/>
          </a:p>
        </p:txBody>
      </p:sp>
      <p:sp>
        <p:nvSpPr>
          <p:cNvPr id="13" name="Text 11"/>
          <p:cNvSpPr txBox="1"/>
          <p:nvPr/>
        </p:nvSpPr>
        <p:spPr>
          <a:xfrm>
            <a:off x="640080" y="317296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Drop 33 records with empty transcription</a:t>
            </a:r>
            <a:endParaRPr lang="en-US" sz="950" dirty="0"/>
          </a:p>
        </p:txBody>
      </p:sp>
      <p:sp>
        <p:nvSpPr>
          <p:cNvPr id="14" name="Shape 12"/>
          <p:cNvSpPr/>
          <p:nvPr/>
        </p:nvSpPr>
        <p:spPr>
          <a:xfrm>
            <a:off x="3145536" y="2820924"/>
            <a:ext cx="91440" cy="164592"/>
          </a:xfrm>
          <a:prstGeom prst="rightArrow">
            <a:avLst/>
          </a:prstGeom>
          <a:solidFill>
            <a:srgbClr val="E3E8F0"/>
          </a:solidFill>
          <a:ln/>
        </p:spPr>
      </p:sp>
      <p:sp>
        <p:nvSpPr>
          <p:cNvPr id="15" name="Shape 13"/>
          <p:cNvSpPr/>
          <p:nvPr/>
        </p:nvSpPr>
        <p:spPr>
          <a:xfrm>
            <a:off x="3246120" y="196596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6" name="Shape 14"/>
          <p:cNvSpPr/>
          <p:nvPr/>
        </p:nvSpPr>
        <p:spPr>
          <a:xfrm>
            <a:off x="3410712" y="2130552"/>
            <a:ext cx="457200" cy="457200"/>
          </a:xfrm>
          <a:prstGeom prst="ellipse">
            <a:avLst/>
          </a:prstGeom>
          <a:solidFill>
            <a:srgbClr val="0E7C86"/>
          </a:solidFill>
          <a:ln/>
        </p:spPr>
      </p:sp>
      <p:sp>
        <p:nvSpPr>
          <p:cNvPr id="17" name="Text 15"/>
          <p:cNvSpPr txBox="1"/>
          <p:nvPr/>
        </p:nvSpPr>
        <p:spPr>
          <a:xfrm>
            <a:off x="3410712"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8" name="Text 16"/>
          <p:cNvSpPr txBox="1"/>
          <p:nvPr/>
        </p:nvSpPr>
        <p:spPr>
          <a:xfrm>
            <a:off x="3429000" y="267919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Remove Duplicates</a:t>
            </a:r>
            <a:endParaRPr lang="en-US" sz="1200" dirty="0"/>
          </a:p>
        </p:txBody>
      </p:sp>
      <p:sp>
        <p:nvSpPr>
          <p:cNvPr id="19" name="Text 17"/>
          <p:cNvSpPr txBox="1"/>
          <p:nvPr/>
        </p:nvSpPr>
        <p:spPr>
          <a:xfrm>
            <a:off x="3429000" y="317296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Verify no duplicate clinical reports exist</a:t>
            </a:r>
            <a:endParaRPr lang="en-US" sz="950" dirty="0"/>
          </a:p>
        </p:txBody>
      </p:sp>
      <p:sp>
        <p:nvSpPr>
          <p:cNvPr id="20" name="Shape 18"/>
          <p:cNvSpPr/>
          <p:nvPr/>
        </p:nvSpPr>
        <p:spPr>
          <a:xfrm>
            <a:off x="5934456" y="2820924"/>
            <a:ext cx="91440" cy="164592"/>
          </a:xfrm>
          <a:prstGeom prst="rightArrow">
            <a:avLst/>
          </a:prstGeom>
          <a:solidFill>
            <a:srgbClr val="E3E8F0"/>
          </a:solidFill>
          <a:ln/>
        </p:spPr>
      </p:sp>
      <p:sp>
        <p:nvSpPr>
          <p:cNvPr id="21" name="Shape 19"/>
          <p:cNvSpPr/>
          <p:nvPr/>
        </p:nvSpPr>
        <p:spPr>
          <a:xfrm>
            <a:off x="6035040" y="196596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22" name="Shape 20"/>
          <p:cNvSpPr/>
          <p:nvPr/>
        </p:nvSpPr>
        <p:spPr>
          <a:xfrm>
            <a:off x="6199632" y="2130552"/>
            <a:ext cx="457200" cy="457200"/>
          </a:xfrm>
          <a:prstGeom prst="ellipse">
            <a:avLst/>
          </a:prstGeom>
          <a:solidFill>
            <a:srgbClr val="0E7C86"/>
          </a:solidFill>
          <a:ln/>
        </p:spPr>
      </p:sp>
      <p:sp>
        <p:nvSpPr>
          <p:cNvPr id="23" name="Text 21"/>
          <p:cNvSpPr txBox="1"/>
          <p:nvPr/>
        </p:nvSpPr>
        <p:spPr>
          <a:xfrm>
            <a:off x="6199632"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4" name="Text 22"/>
          <p:cNvSpPr txBox="1"/>
          <p:nvPr/>
        </p:nvSpPr>
        <p:spPr>
          <a:xfrm>
            <a:off x="6217920" y="267919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Lowercasing</a:t>
            </a:r>
            <a:endParaRPr lang="en-US" sz="1200" dirty="0"/>
          </a:p>
        </p:txBody>
      </p:sp>
      <p:sp>
        <p:nvSpPr>
          <p:cNvPr id="25" name="Text 23"/>
          <p:cNvSpPr txBox="1"/>
          <p:nvPr/>
        </p:nvSpPr>
        <p:spPr>
          <a:xfrm>
            <a:off x="6217920" y="317296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Standardize character casing</a:t>
            </a:r>
            <a:endParaRPr lang="en-US" sz="950" dirty="0"/>
          </a:p>
        </p:txBody>
      </p:sp>
      <p:sp>
        <p:nvSpPr>
          <p:cNvPr id="26" name="Shape 24"/>
          <p:cNvSpPr/>
          <p:nvPr/>
        </p:nvSpPr>
        <p:spPr>
          <a:xfrm>
            <a:off x="8723376" y="2820924"/>
            <a:ext cx="91440" cy="164592"/>
          </a:xfrm>
          <a:prstGeom prst="rightArrow">
            <a:avLst/>
          </a:prstGeom>
          <a:solidFill>
            <a:srgbClr val="E3E8F0"/>
          </a:solidFill>
          <a:ln/>
        </p:spPr>
      </p:sp>
      <p:sp>
        <p:nvSpPr>
          <p:cNvPr id="27" name="Shape 25"/>
          <p:cNvSpPr/>
          <p:nvPr/>
        </p:nvSpPr>
        <p:spPr>
          <a:xfrm>
            <a:off x="8823960" y="196596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28" name="Shape 26"/>
          <p:cNvSpPr/>
          <p:nvPr/>
        </p:nvSpPr>
        <p:spPr>
          <a:xfrm>
            <a:off x="8988552" y="2130552"/>
            <a:ext cx="457200" cy="457200"/>
          </a:xfrm>
          <a:prstGeom prst="ellipse">
            <a:avLst/>
          </a:prstGeom>
          <a:solidFill>
            <a:srgbClr val="0E7C86"/>
          </a:solidFill>
          <a:ln/>
        </p:spPr>
      </p:sp>
      <p:sp>
        <p:nvSpPr>
          <p:cNvPr id="29" name="Text 27"/>
          <p:cNvSpPr txBox="1"/>
          <p:nvPr/>
        </p:nvSpPr>
        <p:spPr>
          <a:xfrm>
            <a:off x="8988552"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0" name="Text 28"/>
          <p:cNvSpPr txBox="1"/>
          <p:nvPr/>
        </p:nvSpPr>
        <p:spPr>
          <a:xfrm>
            <a:off x="9006840" y="267919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Remove Punctuation</a:t>
            </a:r>
            <a:endParaRPr lang="en-US" sz="1200" dirty="0"/>
          </a:p>
        </p:txBody>
      </p:sp>
      <p:sp>
        <p:nvSpPr>
          <p:cNvPr id="31" name="Text 29"/>
          <p:cNvSpPr txBox="1"/>
          <p:nvPr/>
        </p:nvSpPr>
        <p:spPr>
          <a:xfrm>
            <a:off x="9006840" y="317296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Strip commas, periods, symbols</a:t>
            </a:r>
            <a:endParaRPr lang="en-US" sz="950" dirty="0"/>
          </a:p>
        </p:txBody>
      </p:sp>
      <p:sp>
        <p:nvSpPr>
          <p:cNvPr id="32" name="Shape 30"/>
          <p:cNvSpPr/>
          <p:nvPr/>
        </p:nvSpPr>
        <p:spPr>
          <a:xfrm>
            <a:off x="457200" y="416052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33" name="Shape 31"/>
          <p:cNvSpPr/>
          <p:nvPr/>
        </p:nvSpPr>
        <p:spPr>
          <a:xfrm>
            <a:off x="621792" y="4325112"/>
            <a:ext cx="457200" cy="457200"/>
          </a:xfrm>
          <a:prstGeom prst="ellipse">
            <a:avLst/>
          </a:prstGeom>
          <a:solidFill>
            <a:srgbClr val="0E7C86"/>
          </a:solidFill>
          <a:ln/>
        </p:spPr>
      </p:sp>
      <p:sp>
        <p:nvSpPr>
          <p:cNvPr id="34" name="Text 32"/>
          <p:cNvSpPr txBox="1"/>
          <p:nvPr/>
        </p:nvSpPr>
        <p:spPr>
          <a:xfrm>
            <a:off x="621792" y="4325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5" name="Text 33"/>
          <p:cNvSpPr txBox="1"/>
          <p:nvPr/>
        </p:nvSpPr>
        <p:spPr>
          <a:xfrm>
            <a:off x="640080" y="487375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Remove Special Characters</a:t>
            </a:r>
            <a:endParaRPr lang="en-US" sz="1200" dirty="0"/>
          </a:p>
        </p:txBody>
      </p:sp>
      <p:sp>
        <p:nvSpPr>
          <p:cNvPr id="36" name="Text 34"/>
          <p:cNvSpPr txBox="1"/>
          <p:nvPr/>
        </p:nvSpPr>
        <p:spPr>
          <a:xfrm>
            <a:off x="640080" y="536752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Remove digits &amp; non-alphanumeric symbols</a:t>
            </a:r>
            <a:endParaRPr lang="en-US" sz="950" dirty="0"/>
          </a:p>
        </p:txBody>
      </p:sp>
      <p:sp>
        <p:nvSpPr>
          <p:cNvPr id="37" name="Shape 35"/>
          <p:cNvSpPr/>
          <p:nvPr/>
        </p:nvSpPr>
        <p:spPr>
          <a:xfrm>
            <a:off x="3145536" y="5015484"/>
            <a:ext cx="91440" cy="164592"/>
          </a:xfrm>
          <a:prstGeom prst="rightArrow">
            <a:avLst/>
          </a:prstGeom>
          <a:solidFill>
            <a:srgbClr val="E3E8F0"/>
          </a:solidFill>
          <a:ln/>
        </p:spPr>
      </p:sp>
      <p:sp>
        <p:nvSpPr>
          <p:cNvPr id="38" name="Shape 36"/>
          <p:cNvSpPr/>
          <p:nvPr/>
        </p:nvSpPr>
        <p:spPr>
          <a:xfrm>
            <a:off x="3246120" y="416052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39" name="Shape 37"/>
          <p:cNvSpPr/>
          <p:nvPr/>
        </p:nvSpPr>
        <p:spPr>
          <a:xfrm>
            <a:off x="3410712" y="4325112"/>
            <a:ext cx="457200" cy="457200"/>
          </a:xfrm>
          <a:prstGeom prst="ellipse">
            <a:avLst/>
          </a:prstGeom>
          <a:solidFill>
            <a:srgbClr val="0E7C86"/>
          </a:solidFill>
          <a:ln/>
        </p:spPr>
      </p:sp>
      <p:sp>
        <p:nvSpPr>
          <p:cNvPr id="40" name="Text 38"/>
          <p:cNvSpPr txBox="1"/>
          <p:nvPr/>
        </p:nvSpPr>
        <p:spPr>
          <a:xfrm>
            <a:off x="3410712" y="4325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41" name="Text 39"/>
          <p:cNvSpPr txBox="1"/>
          <p:nvPr/>
        </p:nvSpPr>
        <p:spPr>
          <a:xfrm>
            <a:off x="3429000" y="487375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Tokenization</a:t>
            </a:r>
            <a:endParaRPr lang="en-US" sz="1200" dirty="0"/>
          </a:p>
        </p:txBody>
      </p:sp>
      <p:sp>
        <p:nvSpPr>
          <p:cNvPr id="42" name="Text 40"/>
          <p:cNvSpPr txBox="1"/>
          <p:nvPr/>
        </p:nvSpPr>
        <p:spPr>
          <a:xfrm>
            <a:off x="3429000" y="536752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Segment narratives into word tokens</a:t>
            </a:r>
            <a:endParaRPr lang="en-US" sz="950" dirty="0"/>
          </a:p>
        </p:txBody>
      </p:sp>
      <p:sp>
        <p:nvSpPr>
          <p:cNvPr id="43" name="Shape 41"/>
          <p:cNvSpPr/>
          <p:nvPr/>
        </p:nvSpPr>
        <p:spPr>
          <a:xfrm>
            <a:off x="5934456" y="5015484"/>
            <a:ext cx="91440" cy="164592"/>
          </a:xfrm>
          <a:prstGeom prst="rightArrow">
            <a:avLst/>
          </a:prstGeom>
          <a:solidFill>
            <a:srgbClr val="E3E8F0"/>
          </a:solidFill>
          <a:ln/>
        </p:spPr>
      </p:sp>
      <p:sp>
        <p:nvSpPr>
          <p:cNvPr id="44" name="Shape 42"/>
          <p:cNvSpPr/>
          <p:nvPr/>
        </p:nvSpPr>
        <p:spPr>
          <a:xfrm>
            <a:off x="6035040" y="416052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45" name="Shape 43"/>
          <p:cNvSpPr/>
          <p:nvPr/>
        </p:nvSpPr>
        <p:spPr>
          <a:xfrm>
            <a:off x="6199632" y="4325112"/>
            <a:ext cx="457200" cy="457200"/>
          </a:xfrm>
          <a:prstGeom prst="ellipse">
            <a:avLst/>
          </a:prstGeom>
          <a:solidFill>
            <a:srgbClr val="0E7C86"/>
          </a:solidFill>
          <a:ln/>
        </p:spPr>
      </p:sp>
      <p:sp>
        <p:nvSpPr>
          <p:cNvPr id="46" name="Text 44"/>
          <p:cNvSpPr txBox="1"/>
          <p:nvPr/>
        </p:nvSpPr>
        <p:spPr>
          <a:xfrm>
            <a:off x="6199632" y="4325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47" name="Text 45"/>
          <p:cNvSpPr txBox="1"/>
          <p:nvPr/>
        </p:nvSpPr>
        <p:spPr>
          <a:xfrm>
            <a:off x="6217920" y="487375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Stop-Word Removal</a:t>
            </a:r>
            <a:endParaRPr lang="en-US" sz="1200" dirty="0"/>
          </a:p>
        </p:txBody>
      </p:sp>
      <p:sp>
        <p:nvSpPr>
          <p:cNvPr id="48" name="Text 46"/>
          <p:cNvSpPr txBox="1"/>
          <p:nvPr/>
        </p:nvSpPr>
        <p:spPr>
          <a:xfrm>
            <a:off x="6217920" y="536752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Filter generic words, preserve clinical terms</a:t>
            </a:r>
            <a:endParaRPr lang="en-US" sz="950" dirty="0"/>
          </a:p>
        </p:txBody>
      </p:sp>
      <p:sp>
        <p:nvSpPr>
          <p:cNvPr id="49" name="Shape 47"/>
          <p:cNvSpPr/>
          <p:nvPr/>
        </p:nvSpPr>
        <p:spPr>
          <a:xfrm>
            <a:off x="8723376" y="5015484"/>
            <a:ext cx="91440" cy="164592"/>
          </a:xfrm>
          <a:prstGeom prst="rightArrow">
            <a:avLst/>
          </a:prstGeom>
          <a:solidFill>
            <a:srgbClr val="E3E8F0"/>
          </a:solidFill>
          <a:ln/>
        </p:spPr>
      </p:sp>
      <p:sp>
        <p:nvSpPr>
          <p:cNvPr id="50" name="Shape 48"/>
          <p:cNvSpPr/>
          <p:nvPr/>
        </p:nvSpPr>
        <p:spPr>
          <a:xfrm>
            <a:off x="8823960" y="416052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51" name="Shape 49"/>
          <p:cNvSpPr/>
          <p:nvPr/>
        </p:nvSpPr>
        <p:spPr>
          <a:xfrm>
            <a:off x="8988552" y="4325112"/>
            <a:ext cx="457200" cy="457200"/>
          </a:xfrm>
          <a:prstGeom prst="ellipse">
            <a:avLst/>
          </a:prstGeom>
          <a:solidFill>
            <a:srgbClr val="0E7C86"/>
          </a:solidFill>
          <a:ln/>
        </p:spPr>
      </p:sp>
      <p:sp>
        <p:nvSpPr>
          <p:cNvPr id="52" name="Text 50"/>
          <p:cNvSpPr txBox="1"/>
          <p:nvPr/>
        </p:nvSpPr>
        <p:spPr>
          <a:xfrm>
            <a:off x="8988552" y="4325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8</a:t>
            </a:r>
            <a:endParaRPr lang="en-US" sz="1600" dirty="0"/>
          </a:p>
        </p:txBody>
      </p:sp>
      <p:sp>
        <p:nvSpPr>
          <p:cNvPr id="53" name="Text 51"/>
          <p:cNvSpPr txBox="1"/>
          <p:nvPr/>
        </p:nvSpPr>
        <p:spPr>
          <a:xfrm>
            <a:off x="9006840" y="487375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Lemmatization</a:t>
            </a:r>
            <a:endParaRPr lang="en-US" sz="1200" dirty="0"/>
          </a:p>
        </p:txBody>
      </p:sp>
      <p:sp>
        <p:nvSpPr>
          <p:cNvPr id="54" name="Text 52"/>
          <p:cNvSpPr txBox="1"/>
          <p:nvPr/>
        </p:nvSpPr>
        <p:spPr>
          <a:xfrm>
            <a:off x="9006840" y="536752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Map tokens to base form (WordNet Lemmatizer)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PREPROCESSING</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Feature Extraction Using TF-IDF</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11 of 20</a:t>
            </a:r>
            <a:endParaRPr lang="en-US" sz="900" dirty="0"/>
          </a:p>
        </p:txBody>
      </p:sp>
      <p:sp>
        <p:nvSpPr>
          <p:cNvPr id="8" name="Text 6"/>
          <p:cNvSpPr txBox="1"/>
          <p:nvPr/>
        </p:nvSpPr>
        <p:spPr>
          <a:xfrm>
            <a:off x="457200" y="1417320"/>
            <a:ext cx="11247120" cy="502920"/>
          </a:xfrm>
          <a:prstGeom prst="rect">
            <a:avLst/>
          </a:prstGeom>
          <a:noFill/>
          <a:ln/>
        </p:spPr>
        <p:txBody>
          <a:bodyPr wrap="square" lIns="0" tIns="0" rIns="0" bIns="0" rtlCol="0" anchor="ctr"/>
          <a:lstStyle/>
          <a:p>
            <a:pPr indent="0" marL="0">
              <a:lnSpc>
                <a:spcPct val="115000"/>
              </a:lnSpc>
              <a:buNone/>
            </a:pPr>
            <a:r>
              <a:rPr lang="en-US" sz="1250" dirty="0">
                <a:solidFill>
                  <a:srgbClr val="16213E"/>
                </a:solidFill>
                <a:latin typeface="Calibri" pitchFamily="34" charset="0"/>
                <a:ea typeface="Calibri" pitchFamily="34" charset="-122"/>
                <a:cs typeface="Calibri" pitchFamily="34" charset="-120"/>
              </a:rPr>
              <a:t>TF-IDF (Term Frequency – Inverse Document Frequency) converts preprocessed clinical text into high-dimensional numeric feature vectors that machine learning classifiers can use.</a:t>
            </a:r>
            <a:endParaRPr lang="en-US" sz="1250" dirty="0"/>
          </a:p>
        </p:txBody>
      </p:sp>
      <p:sp>
        <p:nvSpPr>
          <p:cNvPr id="9" name="Shape 7"/>
          <p:cNvSpPr/>
          <p:nvPr/>
        </p:nvSpPr>
        <p:spPr>
          <a:xfrm>
            <a:off x="457200" y="2103120"/>
            <a:ext cx="3675888" cy="1234440"/>
          </a:xfrm>
          <a:prstGeom prst="roundRect">
            <a:avLst>
              <a:gd name="adj" fmla="val 6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0" name="Shape 8"/>
          <p:cNvSpPr/>
          <p:nvPr/>
        </p:nvSpPr>
        <p:spPr>
          <a:xfrm>
            <a:off x="457200" y="2103120"/>
            <a:ext cx="82296" cy="1234440"/>
          </a:xfrm>
          <a:prstGeom prst="rect">
            <a:avLst/>
          </a:prstGeom>
          <a:solidFill>
            <a:srgbClr val="0E7C86"/>
          </a:solidFill>
          <a:ln/>
        </p:spPr>
      </p:sp>
      <p:sp>
        <p:nvSpPr>
          <p:cNvPr id="11" name="Text 9"/>
          <p:cNvSpPr txBox="1"/>
          <p:nvPr/>
        </p:nvSpPr>
        <p:spPr>
          <a:xfrm>
            <a:off x="713232" y="2231136"/>
            <a:ext cx="3218688" cy="32004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Term Frequency</a:t>
            </a:r>
            <a:endParaRPr lang="en-US" sz="1200" dirty="0"/>
          </a:p>
        </p:txBody>
      </p:sp>
      <p:sp>
        <p:nvSpPr>
          <p:cNvPr id="12" name="Text 10"/>
          <p:cNvSpPr txBox="1"/>
          <p:nvPr/>
        </p:nvSpPr>
        <p:spPr>
          <a:xfrm>
            <a:off x="713232" y="2606040"/>
            <a:ext cx="3218688" cy="594360"/>
          </a:xfrm>
          <a:prstGeom prst="rect">
            <a:avLst/>
          </a:prstGeom>
          <a:noFill/>
          <a:ln/>
        </p:spPr>
        <p:txBody>
          <a:bodyPr wrap="square" lIns="0" tIns="0" rIns="0" bIns="0" rtlCol="0" anchor="t"/>
          <a:lstStyle/>
          <a:p>
            <a:pPr indent="0" marL="0">
              <a:buNone/>
            </a:pPr>
            <a:r>
              <a:rPr lang="en-US" sz="1050" dirty="0">
                <a:solidFill>
                  <a:srgbClr val="16213E"/>
                </a:solidFill>
                <a:latin typeface="Consolas" pitchFamily="34" charset="0"/>
                <a:ea typeface="Consolas" pitchFamily="34" charset="-122"/>
                <a:cs typeface="Consolas" pitchFamily="34" charset="-120"/>
              </a:rPr>
              <a:t>TF(t,d) = 1 + log( fₜ,d )</a:t>
            </a:r>
            <a:endParaRPr lang="en-US" sz="1050" dirty="0"/>
          </a:p>
        </p:txBody>
      </p:sp>
      <p:sp>
        <p:nvSpPr>
          <p:cNvPr id="13" name="Shape 11"/>
          <p:cNvSpPr/>
          <p:nvPr/>
        </p:nvSpPr>
        <p:spPr>
          <a:xfrm>
            <a:off x="4251960" y="2103120"/>
            <a:ext cx="3675888" cy="1234440"/>
          </a:xfrm>
          <a:prstGeom prst="roundRect">
            <a:avLst>
              <a:gd name="adj" fmla="val 6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4" name="Shape 12"/>
          <p:cNvSpPr/>
          <p:nvPr/>
        </p:nvSpPr>
        <p:spPr>
          <a:xfrm>
            <a:off x="4251960" y="2103120"/>
            <a:ext cx="82296" cy="1234440"/>
          </a:xfrm>
          <a:prstGeom prst="rect">
            <a:avLst/>
          </a:prstGeom>
          <a:solidFill>
            <a:srgbClr val="6C4AB6"/>
          </a:solidFill>
          <a:ln/>
        </p:spPr>
      </p:sp>
      <p:sp>
        <p:nvSpPr>
          <p:cNvPr id="15" name="Text 13"/>
          <p:cNvSpPr txBox="1"/>
          <p:nvPr/>
        </p:nvSpPr>
        <p:spPr>
          <a:xfrm>
            <a:off x="4507992" y="2231136"/>
            <a:ext cx="3218688" cy="32004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Inverse Document Frequency</a:t>
            </a:r>
            <a:endParaRPr lang="en-US" sz="1200" dirty="0"/>
          </a:p>
        </p:txBody>
      </p:sp>
      <p:sp>
        <p:nvSpPr>
          <p:cNvPr id="16" name="Text 14"/>
          <p:cNvSpPr txBox="1"/>
          <p:nvPr/>
        </p:nvSpPr>
        <p:spPr>
          <a:xfrm>
            <a:off x="4507992" y="2606040"/>
            <a:ext cx="3218688" cy="594360"/>
          </a:xfrm>
          <a:prstGeom prst="rect">
            <a:avLst/>
          </a:prstGeom>
          <a:noFill/>
          <a:ln/>
        </p:spPr>
        <p:txBody>
          <a:bodyPr wrap="square" lIns="0" tIns="0" rIns="0" bIns="0" rtlCol="0" anchor="t"/>
          <a:lstStyle/>
          <a:p>
            <a:pPr indent="0" marL="0">
              <a:buNone/>
            </a:pPr>
            <a:r>
              <a:rPr lang="en-US" sz="1050" dirty="0">
                <a:solidFill>
                  <a:srgbClr val="16213E"/>
                </a:solidFill>
                <a:latin typeface="Consolas" pitchFamily="34" charset="0"/>
                <a:ea typeface="Consolas" pitchFamily="34" charset="-122"/>
                <a:cs typeface="Consolas" pitchFamily="34" charset="-120"/>
              </a:rPr>
              <a:t>IDF(t,D) = log( (1+|D|) / (1+df(t)) ) + 1</a:t>
            </a:r>
            <a:endParaRPr lang="en-US" sz="1050" dirty="0"/>
          </a:p>
        </p:txBody>
      </p:sp>
      <p:sp>
        <p:nvSpPr>
          <p:cNvPr id="17" name="Shape 15"/>
          <p:cNvSpPr/>
          <p:nvPr/>
        </p:nvSpPr>
        <p:spPr>
          <a:xfrm>
            <a:off x="8046720" y="2103120"/>
            <a:ext cx="3675888" cy="1234440"/>
          </a:xfrm>
          <a:prstGeom prst="roundRect">
            <a:avLst>
              <a:gd name="adj" fmla="val 6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8" name="Shape 16"/>
          <p:cNvSpPr/>
          <p:nvPr/>
        </p:nvSpPr>
        <p:spPr>
          <a:xfrm>
            <a:off x="8046720" y="2103120"/>
            <a:ext cx="82296" cy="1234440"/>
          </a:xfrm>
          <a:prstGeom prst="rect">
            <a:avLst/>
          </a:prstGeom>
          <a:solidFill>
            <a:srgbClr val="13294B"/>
          </a:solidFill>
          <a:ln/>
        </p:spPr>
      </p:sp>
      <p:sp>
        <p:nvSpPr>
          <p:cNvPr id="19" name="Text 17"/>
          <p:cNvSpPr txBox="1"/>
          <p:nvPr/>
        </p:nvSpPr>
        <p:spPr>
          <a:xfrm>
            <a:off x="8302752" y="2231136"/>
            <a:ext cx="3218688" cy="32004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TF-IDF Weight</a:t>
            </a:r>
            <a:endParaRPr lang="en-US" sz="1200" dirty="0"/>
          </a:p>
        </p:txBody>
      </p:sp>
      <p:sp>
        <p:nvSpPr>
          <p:cNvPr id="20" name="Text 18"/>
          <p:cNvSpPr txBox="1"/>
          <p:nvPr/>
        </p:nvSpPr>
        <p:spPr>
          <a:xfrm>
            <a:off x="8302752" y="2606040"/>
            <a:ext cx="3218688" cy="594360"/>
          </a:xfrm>
          <a:prstGeom prst="rect">
            <a:avLst/>
          </a:prstGeom>
          <a:noFill/>
          <a:ln/>
        </p:spPr>
        <p:txBody>
          <a:bodyPr wrap="square" lIns="0" tIns="0" rIns="0" bIns="0" rtlCol="0" anchor="t"/>
          <a:lstStyle/>
          <a:p>
            <a:pPr indent="0" marL="0">
              <a:buNone/>
            </a:pPr>
            <a:r>
              <a:rPr lang="en-US" sz="1050" dirty="0">
                <a:solidFill>
                  <a:srgbClr val="16213E"/>
                </a:solidFill>
                <a:latin typeface="Consolas" pitchFamily="34" charset="0"/>
                <a:ea typeface="Consolas" pitchFamily="34" charset="-122"/>
                <a:cs typeface="Consolas" pitchFamily="34" charset="-120"/>
              </a:rPr>
              <a:t>TF-IDF(t,d,D) = TF(t,d) × IDF(t,D)</a:t>
            </a:r>
            <a:endParaRPr lang="en-US" sz="1050" dirty="0"/>
          </a:p>
        </p:txBody>
      </p:sp>
      <p:sp>
        <p:nvSpPr>
          <p:cNvPr id="21" name="Text 19"/>
          <p:cNvSpPr txBox="1"/>
          <p:nvPr/>
        </p:nvSpPr>
        <p:spPr>
          <a:xfrm>
            <a:off x="457200" y="3611880"/>
            <a:ext cx="457200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Vectorization Flow</a:t>
            </a:r>
            <a:endParaRPr lang="en-US" sz="1350" dirty="0"/>
          </a:p>
        </p:txBody>
      </p:sp>
      <p:sp>
        <p:nvSpPr>
          <p:cNvPr id="22" name="Shape 20"/>
          <p:cNvSpPr/>
          <p:nvPr/>
        </p:nvSpPr>
        <p:spPr>
          <a:xfrm>
            <a:off x="457200" y="3977640"/>
            <a:ext cx="2331720" cy="914400"/>
          </a:xfrm>
          <a:prstGeom prst="roundRect">
            <a:avLst>
              <a:gd name="adj" fmla="val 50000"/>
            </a:avLst>
          </a:prstGeom>
          <a:solidFill>
            <a:srgbClr val="FFFFFF"/>
          </a:solidFill>
          <a:ln w="12700">
            <a:solidFill>
              <a:srgbClr val="0E7C86"/>
            </a:solidFill>
            <a:prstDash val="solid"/>
          </a:ln>
          <a:effectLst>
            <a:outerShdw sx="100000" sy="100000" kx="0" ky="0" algn="bl" rotWithShape="0" blurRad="101600" dist="25400" dir="5400000">
              <a:srgbClr val="1B2A4A">
                <a:alpha val="16000"/>
              </a:srgbClr>
            </a:outerShdw>
          </a:effectLst>
        </p:spPr>
      </p:sp>
      <p:sp>
        <p:nvSpPr>
          <p:cNvPr id="23" name="Text 21"/>
          <p:cNvSpPr txBox="1"/>
          <p:nvPr/>
        </p:nvSpPr>
        <p:spPr>
          <a:xfrm>
            <a:off x="457200" y="3977640"/>
            <a:ext cx="2331720"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Clinical</a:t>
            </a:r>
            <a:endParaRPr lang="en-US" sz="1150" dirty="0"/>
          </a:p>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Text</a:t>
            </a:r>
            <a:endParaRPr lang="en-US" sz="1150" dirty="0"/>
          </a:p>
        </p:txBody>
      </p:sp>
      <p:sp>
        <p:nvSpPr>
          <p:cNvPr id="24" name="Shape 22"/>
          <p:cNvSpPr/>
          <p:nvPr/>
        </p:nvSpPr>
        <p:spPr>
          <a:xfrm>
            <a:off x="2843784" y="4325112"/>
            <a:ext cx="384048" cy="219456"/>
          </a:xfrm>
          <a:prstGeom prst="rightArrow">
            <a:avLst/>
          </a:prstGeom>
          <a:solidFill>
            <a:srgbClr val="6C4AB6"/>
          </a:solidFill>
          <a:ln/>
        </p:spPr>
      </p:sp>
      <p:sp>
        <p:nvSpPr>
          <p:cNvPr id="25" name="Shape 23"/>
          <p:cNvSpPr/>
          <p:nvPr/>
        </p:nvSpPr>
        <p:spPr>
          <a:xfrm>
            <a:off x="3291840" y="3977640"/>
            <a:ext cx="2331720" cy="914400"/>
          </a:xfrm>
          <a:prstGeom prst="roundRect">
            <a:avLst>
              <a:gd name="adj" fmla="val 50000"/>
            </a:avLst>
          </a:prstGeom>
          <a:solidFill>
            <a:srgbClr val="FFFFFF"/>
          </a:solidFill>
          <a:ln w="12700">
            <a:solidFill>
              <a:srgbClr val="0E7C86"/>
            </a:solidFill>
            <a:prstDash val="solid"/>
          </a:ln>
          <a:effectLst>
            <a:outerShdw sx="100000" sy="100000" kx="0" ky="0" algn="bl" rotWithShape="0" blurRad="101600" dist="25400" dir="5400000">
              <a:srgbClr val="1B2A4A">
                <a:alpha val="16000"/>
              </a:srgbClr>
            </a:outerShdw>
          </a:effectLst>
        </p:spPr>
      </p:sp>
      <p:sp>
        <p:nvSpPr>
          <p:cNvPr id="26" name="Text 24"/>
          <p:cNvSpPr txBox="1"/>
          <p:nvPr/>
        </p:nvSpPr>
        <p:spPr>
          <a:xfrm>
            <a:off x="3291840" y="3977640"/>
            <a:ext cx="2331720"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Text</a:t>
            </a:r>
            <a:endParaRPr lang="en-US" sz="1150" dirty="0"/>
          </a:p>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Preprocessing</a:t>
            </a:r>
            <a:endParaRPr lang="en-US" sz="1150" dirty="0"/>
          </a:p>
        </p:txBody>
      </p:sp>
      <p:sp>
        <p:nvSpPr>
          <p:cNvPr id="27" name="Shape 25"/>
          <p:cNvSpPr/>
          <p:nvPr/>
        </p:nvSpPr>
        <p:spPr>
          <a:xfrm>
            <a:off x="5678424" y="4325112"/>
            <a:ext cx="384048" cy="219456"/>
          </a:xfrm>
          <a:prstGeom prst="rightArrow">
            <a:avLst/>
          </a:prstGeom>
          <a:solidFill>
            <a:srgbClr val="6C4AB6"/>
          </a:solidFill>
          <a:ln/>
        </p:spPr>
      </p:sp>
      <p:sp>
        <p:nvSpPr>
          <p:cNvPr id="28" name="Shape 26"/>
          <p:cNvSpPr/>
          <p:nvPr/>
        </p:nvSpPr>
        <p:spPr>
          <a:xfrm>
            <a:off x="6126480" y="3977640"/>
            <a:ext cx="2331720" cy="914400"/>
          </a:xfrm>
          <a:prstGeom prst="roundRect">
            <a:avLst>
              <a:gd name="adj" fmla="val 50000"/>
            </a:avLst>
          </a:prstGeom>
          <a:solidFill>
            <a:srgbClr val="FFFFFF"/>
          </a:solidFill>
          <a:ln w="12700">
            <a:solidFill>
              <a:srgbClr val="0E7C86"/>
            </a:solidFill>
            <a:prstDash val="solid"/>
          </a:ln>
          <a:effectLst>
            <a:outerShdw sx="100000" sy="100000" kx="0" ky="0" algn="bl" rotWithShape="0" blurRad="101600" dist="25400" dir="5400000">
              <a:srgbClr val="1B2A4A">
                <a:alpha val="16000"/>
              </a:srgbClr>
            </a:outerShdw>
          </a:effectLst>
        </p:spPr>
      </p:sp>
      <p:sp>
        <p:nvSpPr>
          <p:cNvPr id="29" name="Text 27"/>
          <p:cNvSpPr txBox="1"/>
          <p:nvPr/>
        </p:nvSpPr>
        <p:spPr>
          <a:xfrm>
            <a:off x="6126480" y="3977640"/>
            <a:ext cx="2331720"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TF-IDF</a:t>
            </a:r>
            <a:endParaRPr lang="en-US" sz="1150" dirty="0"/>
          </a:p>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Vectorizer</a:t>
            </a:r>
            <a:endParaRPr lang="en-US" sz="1150" dirty="0"/>
          </a:p>
        </p:txBody>
      </p:sp>
      <p:sp>
        <p:nvSpPr>
          <p:cNvPr id="30" name="Shape 28"/>
          <p:cNvSpPr/>
          <p:nvPr/>
        </p:nvSpPr>
        <p:spPr>
          <a:xfrm>
            <a:off x="8513064" y="4325112"/>
            <a:ext cx="384048" cy="219456"/>
          </a:xfrm>
          <a:prstGeom prst="rightArrow">
            <a:avLst/>
          </a:prstGeom>
          <a:solidFill>
            <a:srgbClr val="6C4AB6"/>
          </a:solidFill>
          <a:ln/>
        </p:spPr>
      </p:sp>
      <p:sp>
        <p:nvSpPr>
          <p:cNvPr id="31" name="Shape 29"/>
          <p:cNvSpPr/>
          <p:nvPr/>
        </p:nvSpPr>
        <p:spPr>
          <a:xfrm>
            <a:off x="8961120" y="3977640"/>
            <a:ext cx="2331720" cy="914400"/>
          </a:xfrm>
          <a:prstGeom prst="roundRect">
            <a:avLst>
              <a:gd name="adj" fmla="val 50000"/>
            </a:avLst>
          </a:prstGeom>
          <a:solidFill>
            <a:srgbClr val="0E7C86"/>
          </a:solidFill>
          <a:ln w="12700">
            <a:solidFill>
              <a:srgbClr val="0E7C86"/>
            </a:solidFill>
            <a:prstDash val="solid"/>
          </a:ln>
          <a:effectLst>
            <a:outerShdw sx="100000" sy="100000" kx="0" ky="0" algn="bl" rotWithShape="0" blurRad="101600" dist="25400" dir="5400000">
              <a:srgbClr val="1B2A4A">
                <a:alpha val="16000"/>
              </a:srgbClr>
            </a:outerShdw>
          </a:effectLst>
        </p:spPr>
      </p:sp>
      <p:sp>
        <p:nvSpPr>
          <p:cNvPr id="32" name="Text 30"/>
          <p:cNvSpPr txBox="1"/>
          <p:nvPr/>
        </p:nvSpPr>
        <p:spPr>
          <a:xfrm>
            <a:off x="8961120" y="3977640"/>
            <a:ext cx="2331720"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Sparse Feature</a:t>
            </a:r>
            <a:endParaRPr lang="en-US" sz="1150" dirty="0"/>
          </a:p>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Matrix (L2-norm)</a:t>
            </a:r>
            <a:endParaRPr lang="en-US" sz="1150" dirty="0"/>
          </a:p>
        </p:txBody>
      </p:sp>
      <p:sp>
        <p:nvSpPr>
          <p:cNvPr id="33" name="Shape 31"/>
          <p:cNvSpPr/>
          <p:nvPr/>
        </p:nvSpPr>
        <p:spPr>
          <a:xfrm>
            <a:off x="457200" y="5166360"/>
            <a:ext cx="11274552" cy="1097280"/>
          </a:xfrm>
          <a:prstGeom prst="roundRect">
            <a:avLst>
              <a:gd name="adj" fmla="val 7500"/>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34" name="Text 32"/>
          <p:cNvSpPr txBox="1"/>
          <p:nvPr/>
        </p:nvSpPr>
        <p:spPr>
          <a:xfrm>
            <a:off x="685800" y="5285232"/>
            <a:ext cx="10835640" cy="896112"/>
          </a:xfrm>
          <a:prstGeom prst="rect">
            <a:avLst/>
          </a:prstGeom>
          <a:noFill/>
          <a:ln/>
        </p:spPr>
        <p:txBody>
          <a:bodyPr wrap="square" lIns="0" tIns="0" rIns="0" bIns="0" rtlCol="0" anchor="t"/>
          <a:lstStyle/>
          <a:p>
            <a:pPr indent="0" marL="0">
              <a:lnSpc>
                <a:spcPct val="115000"/>
              </a:lnSpc>
              <a:buNone/>
            </a:pPr>
            <a:r>
              <a:rPr lang="en-US" sz="1070" dirty="0">
                <a:solidFill>
                  <a:srgbClr val="6B4A00"/>
                </a:solidFill>
                <a:latin typeface="Calibri" pitchFamily="34" charset="0"/>
                <a:ea typeface="Calibri" pitchFamily="34" charset="-122"/>
                <a:cs typeface="Calibri" pitchFamily="34" charset="-120"/>
              </a:rPr>
              <a:t>⚠  TF-IDF is a feature extraction / vectorization technique — it is NOT a classification algorithm. It transforms text into numeric vectors; SVM, Random Forest, Logistic Regression and Multinomial Naive Bayes are the classifiers that use these vectors to predict a specialty. The vectorizer also extracts unigrams and bigrams (e.g. “coronary artery”) and applies sublinear TF scaling with Euclidean L2 normalization.</a:t>
            </a:r>
            <a:endParaRPr lang="en-US" sz="107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12 of 20</a:t>
            </a:r>
            <a:endParaRPr lang="en-US" sz="900" dirty="0"/>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pPr>
            <a:r>
              <a:rPr lang="en-US" sz="1050" dirty="0">
                <a:solidFill>
                  <a:srgbClr val="16213E"/>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13 of 20</a:t>
            </a:r>
            <a:endParaRPr lang="en-US" sz="900" dirty="0"/>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1490472" y="1682496"/>
            <a:ext cx="658368" cy="658368"/>
          </a:xfrm>
          <a:prstGeom prst="ellipse">
            <a:avLst/>
          </a:prstGeom>
          <a:solidFill>
            <a:srgbClr val="0E7C86"/>
          </a:solidFill>
          <a:ln/>
        </p:spPr>
        <p:txBody>
          <a:body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334256" y="1682496"/>
            <a:ext cx="658368" cy="658368"/>
          </a:xfrm>
          <a:prstGeom prst="ellipse">
            <a:avLst/>
          </a:prstGeom>
          <a:solidFill>
            <a:srgbClr val="6C4AB6"/>
          </a:solidFill>
          <a:ln/>
        </p:spPr>
        <p:txBody>
          <a:body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7178040" y="1682496"/>
            <a:ext cx="658368" cy="658368"/>
          </a:xfrm>
          <a:prstGeom prst="ellipse">
            <a:avLst/>
          </a:prstGeom>
          <a:solidFill>
            <a:srgbClr val="13294B"/>
          </a:solidFill>
          <a:ln/>
        </p:spPr>
        <p:txBody>
          <a:body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10021824" y="1682496"/>
            <a:ext cx="658368" cy="658368"/>
          </a:xfrm>
          <a:prstGeom prst="ellipse">
            <a:avLst/>
          </a:prstGeom>
          <a:solidFill>
            <a:srgbClr val="0E7C86"/>
          </a:solidFill>
          <a:ln/>
        </p:spPr>
        <p:txBody>
          <a:body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Shape 26"/>
          <p:cNvSpPr/>
          <p:nvPr/>
        </p:nvSpPr>
        <p:spPr>
          <a:xfrm>
            <a:off x="457200" y="4069080"/>
            <a:ext cx="2377440" cy="960120"/>
          </a:xfrm>
          <a:prstGeom prst="roundRect">
            <a:avLst>
              <a:gd name="adj" fmla="val 8571"/>
            </a:avLst>
          </a:prstGeom>
          <a:solidFill>
            <a:srgbClr val="13294B"/>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Text 27"/>
          <p:cNvSpPr txBox="1"/>
          <p:nvPr/>
        </p:nvSpPr>
        <p:spPr>
          <a:xfrm>
            <a:off x="594360" y="4178808"/>
            <a:ext cx="2103120" cy="256032"/>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FEATURE EXTRACTION</a:t>
            </a:r>
            <a:endParaRPr lang="en-US" sz="900" dirty="0"/>
          </a:p>
        </p:txBody>
      </p:sp>
      <p:sp>
        <p:nvSpPr>
          <p:cNvPr id="30" name="Text 28"/>
          <p:cNvSpPr txBox="1"/>
          <p:nvPr/>
        </p:nvSpPr>
        <p:spPr>
          <a:xfrm>
            <a:off x="594360" y="4434840"/>
            <a:ext cx="2103120" cy="54864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TF-IDF</a:t>
            </a:r>
            <a:endParaRPr lang="en-US" sz="1200" dirty="0"/>
          </a:p>
        </p:txBody>
      </p:sp>
      <p:sp>
        <p:nvSpPr>
          <p:cNvPr id="31" name="Shape 29"/>
          <p:cNvSpPr/>
          <p:nvPr/>
        </p:nvSpPr>
        <p:spPr>
          <a:xfrm>
            <a:off x="2894076" y="4069080"/>
            <a:ext cx="6035040" cy="960120"/>
          </a:xfrm>
          <a:prstGeom prst="roundRect">
            <a:avLst>
              <a:gd name="adj" fmla="val 8571"/>
            </a:avLst>
          </a:prstGeom>
          <a:solidFill>
            <a:srgbClr val="0E7C86"/>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2" name="Text 30"/>
          <p:cNvSpPr txBox="1"/>
          <p:nvPr/>
        </p:nvSpPr>
        <p:spPr>
          <a:xfrm>
            <a:off x="3031236" y="4178808"/>
            <a:ext cx="5760720" cy="256032"/>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CLASSIFICATION</a:t>
            </a:r>
            <a:endParaRPr lang="en-US" sz="900" dirty="0"/>
          </a:p>
        </p:txBody>
      </p:sp>
      <p:sp>
        <p:nvSpPr>
          <p:cNvPr id="33" name="Text 31"/>
          <p:cNvSpPr txBox="1"/>
          <p:nvPr/>
        </p:nvSpPr>
        <p:spPr>
          <a:xfrm>
            <a:off x="3031236" y="4434840"/>
            <a:ext cx="5760720" cy="54864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SVM + Random Forest + Logistic Regression + Multinomial NB</a:t>
            </a:r>
            <a:endParaRPr lang="en-US" sz="1200" dirty="0"/>
          </a:p>
        </p:txBody>
      </p:sp>
      <p:sp>
        <p:nvSpPr>
          <p:cNvPr id="34" name="Shape 32"/>
          <p:cNvSpPr/>
          <p:nvPr/>
        </p:nvSpPr>
        <p:spPr>
          <a:xfrm>
            <a:off x="8988552" y="4069080"/>
            <a:ext cx="2862072" cy="960120"/>
          </a:xfrm>
          <a:prstGeom prst="roundRect">
            <a:avLst>
              <a:gd name="adj" fmla="val 8571"/>
            </a:avLst>
          </a:prstGeom>
          <a:solidFill>
            <a:srgbClr val="6C4AB6"/>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Text 33"/>
          <p:cNvSpPr txBox="1"/>
          <p:nvPr/>
        </p:nvSpPr>
        <p:spPr>
          <a:xfrm>
            <a:off x="9125712" y="4178808"/>
            <a:ext cx="2587752" cy="256032"/>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ENSEMBLE</a:t>
            </a:r>
            <a:endParaRPr lang="en-US" sz="900" dirty="0"/>
          </a:p>
        </p:txBody>
      </p:sp>
      <p:sp>
        <p:nvSpPr>
          <p:cNvPr id="36" name="Text 34"/>
          <p:cNvSpPr txBox="1"/>
          <p:nvPr/>
        </p:nvSpPr>
        <p:spPr>
          <a:xfrm>
            <a:off x="9125712" y="4434840"/>
            <a:ext cx="2587752" cy="54864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Voting Classifier (Soft Voting)</a:t>
            </a:r>
            <a:endParaRPr lang="en-US" sz="1200" dirty="0"/>
          </a:p>
        </p:txBody>
      </p:sp>
      <p:sp>
        <p:nvSpPr>
          <p:cNvPr id="37" name="Shape 35"/>
          <p:cNvSpPr/>
          <p:nvPr/>
        </p:nvSpPr>
        <p:spPr>
          <a:xfrm>
            <a:off x="457200" y="5257800"/>
            <a:ext cx="11274552" cy="914400"/>
          </a:xfrm>
          <a:prstGeom prst="roundRect">
            <a:avLst>
              <a:gd name="adj" fmla="val 9000"/>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8" name="Text 36"/>
          <p:cNvSpPr txBox="1"/>
          <p:nvPr/>
        </p:nvSpPr>
        <p:spPr>
          <a:xfrm>
            <a:off x="685800" y="5257800"/>
            <a:ext cx="10835640" cy="914400"/>
          </a:xfrm>
          <a:prstGeom prst="rect">
            <a:avLst/>
          </a:prstGeom>
          <a:noFill/>
          <a:ln/>
        </p:spPr>
        <p:txBody>
          <a:bodyPr wrap="square" lIns="0" tIns="0" rIns="0" bIns="0" rtlCol="0" anchor="ctr"/>
          <a:lstStyle/>
          <a:p>
            <a:pPr>
              <a:defRPr sz="1150">
                <a:solidFill>
                  <a:srgbClr val="16213E"/>
                </a:solidFill>
                <a:latin typeface="Calibri"/>
              </a:defRPr>
            </a:pPr>
            <a:r>
              <a:t>SVM is used as one of the base machine learning classifiers for medical specialty classification. It learns optimal decision boundaries between different medical specialty categories using the TF-IDF feature representation within the soft-voting ensemble.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14 of 20</a:t>
            </a:r>
          </a:p>
        </p:txBody>
      </p:sp>
      <p:sp>
        <p:nvSpPr>
          <p:cNvPr id="7" name="Rounded Rectangle 6"/>
          <p:cNvSpPr/>
          <p:nvPr/>
        </p:nvSpPr>
        <p:spPr>
          <a:xfrm>
            <a:off x="457200" y="1371600"/>
            <a:ext cx="5440680" cy="49834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SVM (SUPPORT VECTOR MACHINE) ACTIVITY FLOW</a:t>
            </a:r>
          </a:p>
        </p:txBody>
      </p:sp>
      <p:sp>
        <p:nvSpPr>
          <p:cNvPr id="9" name="Rounded Rectangle 8"/>
          <p:cNvSpPr/>
          <p:nvPr/>
        </p:nvSpPr>
        <p:spPr>
          <a:xfrm>
            <a:off x="594360" y="214884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1. High-Dimensional Input</a:t>
            </a:r>
          </a:p>
          <a:p>
            <a:pPr>
              <a:defRPr sz="850" b="0">
                <a:solidFill>
                  <a:srgbClr val="334155"/>
                </a:solidFill>
                <a:latin typeface="Calibri"/>
              </a:defRPr>
            </a:pPr>
            <a:r>
              <a:t>Sparse TF-IDF feature vector x ∈ R^V representing clinical narrative vocabulary.</a:t>
            </a:r>
          </a:p>
        </p:txBody>
      </p:sp>
      <p:sp>
        <p:nvSpPr>
          <p:cNvPr id="10" name="Rounded Rectangle 9"/>
          <p:cNvSpPr/>
          <p:nvPr/>
        </p:nvSpPr>
        <p:spPr>
          <a:xfrm>
            <a:off x="594360" y="2852928"/>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2. Linear Decision Mapping</a:t>
            </a:r>
          </a:p>
          <a:p>
            <a:pPr>
              <a:defRPr sz="850" b="0">
                <a:solidFill>
                  <a:srgbClr val="334155"/>
                </a:solidFill>
                <a:latin typeface="Calibri"/>
              </a:defRPr>
            </a:pPr>
            <a:r>
              <a:t>Constructs decision hyperplane w·x + b = 0 in sparse high-dimensional term space.</a:t>
            </a:r>
          </a:p>
        </p:txBody>
      </p:sp>
      <p:sp>
        <p:nvSpPr>
          <p:cNvPr id="11" name="Rounded Rectangle 10"/>
          <p:cNvSpPr/>
          <p:nvPr/>
        </p:nvSpPr>
        <p:spPr>
          <a:xfrm>
            <a:off x="594360" y="3557016"/>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3. Maximum Margin Optimization</a:t>
            </a:r>
          </a:p>
          <a:p>
            <a:pPr>
              <a:defRPr sz="850" b="0">
                <a:solidFill>
                  <a:srgbClr val="334155"/>
                </a:solidFill>
                <a:latin typeface="Calibri"/>
              </a:defRPr>
            </a:pPr>
            <a:r>
              <a:t>Solves quadratic program: min 1/2 ||w||² subject to y_i(w·x_i + b) ≥ 1 - ξ_i.</a:t>
            </a:r>
          </a:p>
        </p:txBody>
      </p:sp>
      <p:sp>
        <p:nvSpPr>
          <p:cNvPr id="12" name="Rounded Rectangle 11"/>
          <p:cNvSpPr/>
          <p:nvPr/>
        </p:nvSpPr>
        <p:spPr>
          <a:xfrm>
            <a:off x="594360" y="4261104"/>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4. Support Vector Identification</a:t>
            </a:r>
          </a:p>
          <a:p>
            <a:pPr>
              <a:defRPr sz="850" b="0">
                <a:solidFill>
                  <a:srgbClr val="334155"/>
                </a:solidFill>
                <a:latin typeface="Calibri"/>
              </a:defRPr>
            </a:pPr>
            <a:r>
              <a:t>Identifies critical borderline transcripts that define category separation margins.</a:t>
            </a:r>
          </a:p>
        </p:txBody>
      </p:sp>
      <p:sp>
        <p:nvSpPr>
          <p:cNvPr id="13" name="Rounded Rectangle 12"/>
          <p:cNvSpPr/>
          <p:nvPr/>
        </p:nvSpPr>
        <p:spPr>
          <a:xfrm>
            <a:off x="594360" y="4965192"/>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5. Platt Probability Scaling</a:t>
            </a:r>
          </a:p>
          <a:p>
            <a:pPr>
              <a:defRPr sz="850" b="0">
                <a:solidFill>
                  <a:srgbClr val="334155"/>
                </a:solidFill>
                <a:latin typeface="Calibri"/>
              </a:defRPr>
            </a:pPr>
            <a:r>
              <a:t>Calibrates decision distances via sigmoid fitting: P(c|x) = 1 / (1 + exp(A·f(x) + B)).</a:t>
            </a:r>
          </a:p>
        </p:txBody>
      </p:sp>
      <p:sp>
        <p:nvSpPr>
          <p:cNvPr id="14" name="Rounded Rectangle 13"/>
          <p:cNvSpPr/>
          <p:nvPr/>
        </p:nvSpPr>
        <p:spPr>
          <a:xfrm>
            <a:off x="594360" y="566928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6. Class Probability Output</a:t>
            </a:r>
          </a:p>
          <a:p>
            <a:pPr>
              <a:defRPr sz="850" b="0">
                <a:solidFill>
                  <a:srgbClr val="334155"/>
                </a:solidFill>
                <a:latin typeface="Calibri"/>
              </a:defRPr>
            </a:pPr>
            <a:r>
              <a:t>Outputs calibrated probability distribution across all 40 medical specialty categories.</a:t>
            </a:r>
          </a:p>
        </p:txBody>
      </p:sp>
      <p:sp>
        <p:nvSpPr>
          <p:cNvPr id="15" name="Rounded Rectangle 14"/>
          <p:cNvSpPr/>
          <p:nvPr/>
        </p:nvSpPr>
        <p:spPr>
          <a:xfrm>
            <a:off x="6217920" y="1371600"/>
            <a:ext cx="5486400" cy="49834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MULTINOMIAL NAIVE BAYES ACTIVITY FLOW</a:t>
            </a:r>
          </a:p>
        </p:txBody>
      </p:sp>
      <p:sp>
        <p:nvSpPr>
          <p:cNvPr id="17" name="Rounded Rectangle 16"/>
          <p:cNvSpPr/>
          <p:nvPr/>
        </p:nvSpPr>
        <p:spPr>
          <a:xfrm>
            <a:off x="6355080" y="214884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1. Term Frequency Vector Input</a:t>
            </a:r>
          </a:p>
          <a:p>
            <a:pPr>
              <a:defRPr sz="850" b="0">
                <a:solidFill>
                  <a:srgbClr val="334155"/>
                </a:solidFill>
                <a:latin typeface="Calibri"/>
              </a:defRPr>
            </a:pPr>
            <a:r>
              <a:t>Vector of clinical token counts and TF-IDF weights for each vocabulary term t_k.</a:t>
            </a:r>
          </a:p>
        </p:txBody>
      </p:sp>
      <p:sp>
        <p:nvSpPr>
          <p:cNvPr id="18" name="Rounded Rectangle 17"/>
          <p:cNvSpPr/>
          <p:nvPr/>
        </p:nvSpPr>
        <p:spPr>
          <a:xfrm>
            <a:off x="6355080" y="2852928"/>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2. Prior Class Probability P(c)</a:t>
            </a:r>
          </a:p>
          <a:p>
            <a:pPr>
              <a:defRPr sz="850" b="0">
                <a:solidFill>
                  <a:srgbClr val="334155"/>
                </a:solidFill>
                <a:latin typeface="Calibri"/>
              </a:defRPr>
            </a:pPr>
            <a:r>
              <a:t>Estimates empirical prior for each specialty: P(c) = N_c / N_total from training data.</a:t>
            </a:r>
          </a:p>
        </p:txBody>
      </p:sp>
      <p:sp>
        <p:nvSpPr>
          <p:cNvPr id="19" name="Rounded Rectangle 18"/>
          <p:cNvSpPr/>
          <p:nvPr/>
        </p:nvSpPr>
        <p:spPr>
          <a:xfrm>
            <a:off x="6355080" y="3557016"/>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3. Feature Likelihood with Smoothing</a:t>
            </a:r>
          </a:p>
          <a:p>
            <a:pPr>
              <a:defRPr sz="850" b="0">
                <a:solidFill>
                  <a:srgbClr val="334155"/>
                </a:solidFill>
                <a:latin typeface="Calibri"/>
              </a:defRPr>
            </a:pPr>
            <a:r>
              <a:t>Calculates P(t|c) = (count(t,c) + α) / (Σ count(w,c) + α·|V|) using Laplace smoothing (α=1).</a:t>
            </a:r>
          </a:p>
        </p:txBody>
      </p:sp>
      <p:sp>
        <p:nvSpPr>
          <p:cNvPr id="20" name="Rounded Rectangle 19"/>
          <p:cNvSpPr/>
          <p:nvPr/>
        </p:nvSpPr>
        <p:spPr>
          <a:xfrm>
            <a:off x="6355080" y="4261104"/>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4. Log Posterior Accumulation</a:t>
            </a:r>
          </a:p>
          <a:p>
            <a:pPr>
              <a:defRPr sz="850" b="0">
                <a:solidFill>
                  <a:srgbClr val="334155"/>
                </a:solidFill>
                <a:latin typeface="Calibri"/>
              </a:defRPr>
            </a:pPr>
            <a:r>
              <a:t>Computes log P(c|d) = log P(c) + Σ f_t · log P(t|c) to prevent floating-point underflow.</a:t>
            </a:r>
          </a:p>
        </p:txBody>
      </p:sp>
      <p:sp>
        <p:nvSpPr>
          <p:cNvPr id="21" name="Rounded Rectangle 20"/>
          <p:cNvSpPr/>
          <p:nvPr/>
        </p:nvSpPr>
        <p:spPr>
          <a:xfrm>
            <a:off x="6355080" y="4965192"/>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5. Softmax Normalization</a:t>
            </a:r>
          </a:p>
          <a:p>
            <a:pPr>
              <a:defRPr sz="850" b="0">
                <a:solidFill>
                  <a:srgbClr val="334155"/>
                </a:solidFill>
                <a:latin typeface="Calibri"/>
              </a:defRPr>
            </a:pPr>
            <a:r>
              <a:t>Converts log-likelihoods into normalized probability distribution: P(c|d) = exp(s_c)/Σ exp(s_k).</a:t>
            </a:r>
          </a:p>
        </p:txBody>
      </p:sp>
      <p:sp>
        <p:nvSpPr>
          <p:cNvPr id="22" name="Rounded Rectangle 21"/>
          <p:cNvSpPr/>
          <p:nvPr/>
        </p:nvSpPr>
        <p:spPr>
          <a:xfrm>
            <a:off x="6355080" y="566928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6. Class Probability Output</a:t>
            </a:r>
          </a:p>
          <a:p>
            <a:pPr>
              <a:defRPr sz="850" b="0">
                <a:solidFill>
                  <a:srgbClr val="334155"/>
                </a:solidFill>
                <a:latin typeface="Calibri"/>
              </a:defRPr>
            </a:pPr>
            <a:r>
              <a:t>Generates probabilistic score distribution over 40 categories for ensemble soft voting.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15 of 20</a:t>
            </a:r>
          </a:p>
        </p:txBody>
      </p:sp>
      <p:sp>
        <p:nvSpPr>
          <p:cNvPr id="7" name="Rounded Rectangle 6"/>
          <p:cNvSpPr/>
          <p:nvPr/>
        </p:nvSpPr>
        <p:spPr>
          <a:xfrm>
            <a:off x="457200" y="1371600"/>
            <a:ext cx="5440680" cy="49834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RANDOM FOREST (RF) ACTIVITY FLOW</a:t>
            </a:r>
          </a:p>
        </p:txBody>
      </p:sp>
      <p:sp>
        <p:nvSpPr>
          <p:cNvPr id="9" name="Rounded Rectangle 8"/>
          <p:cNvSpPr/>
          <p:nvPr/>
        </p:nvSpPr>
        <p:spPr>
          <a:xfrm>
            <a:off x="594360" y="214884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1. Dataset &amp; Feature Matrix Input</a:t>
            </a:r>
          </a:p>
          <a:p>
            <a:pPr>
              <a:defRPr sz="850" b="0">
                <a:solidFill>
                  <a:srgbClr val="334155"/>
                </a:solidFill>
                <a:latin typeface="Calibri"/>
              </a:defRPr>
            </a:pPr>
            <a:r>
              <a:t>Receives training matrix X (TF-IDF features) and multi-class labels Y (40 classes).</a:t>
            </a:r>
          </a:p>
        </p:txBody>
      </p:sp>
      <p:sp>
        <p:nvSpPr>
          <p:cNvPr id="10" name="Rounded Rectangle 9"/>
          <p:cNvSpPr/>
          <p:nvPr/>
        </p:nvSpPr>
        <p:spPr>
          <a:xfrm>
            <a:off x="594360" y="2852928"/>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2. Bootstrap Sampling (Bagging)</a:t>
            </a:r>
          </a:p>
          <a:p>
            <a:pPr>
              <a:defRPr sz="850" b="0">
                <a:solidFill>
                  <a:srgbClr val="334155"/>
                </a:solidFill>
                <a:latin typeface="Calibri"/>
              </a:defRPr>
            </a:pPr>
            <a:r>
              <a:t>Generates B bootstrap sample sets by sampling rows with replacement to induce diversity.</a:t>
            </a:r>
          </a:p>
        </p:txBody>
      </p:sp>
      <p:sp>
        <p:nvSpPr>
          <p:cNvPr id="11" name="Rounded Rectangle 10"/>
          <p:cNvSpPr/>
          <p:nvPr/>
        </p:nvSpPr>
        <p:spPr>
          <a:xfrm>
            <a:off x="594360" y="3557016"/>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3. Random Feature Subspace Split</a:t>
            </a:r>
          </a:p>
          <a:p>
            <a:pPr>
              <a:defRPr sz="850" b="0">
                <a:solidFill>
                  <a:srgbClr val="334155"/>
                </a:solidFill>
                <a:latin typeface="Calibri"/>
              </a:defRPr>
            </a:pPr>
            <a:r>
              <a:t>At each decision node, randomly selects m = √|V| features and finds optimal split.</a:t>
            </a:r>
          </a:p>
        </p:txBody>
      </p:sp>
      <p:sp>
        <p:nvSpPr>
          <p:cNvPr id="12" name="Rounded Rectangle 11"/>
          <p:cNvSpPr/>
          <p:nvPr/>
        </p:nvSpPr>
        <p:spPr>
          <a:xfrm>
            <a:off x="594360" y="4261104"/>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4. Decision Tree Induction</a:t>
            </a:r>
          </a:p>
          <a:p>
            <a:pPr>
              <a:defRPr sz="850" b="0">
                <a:solidFill>
                  <a:srgbClr val="334155"/>
                </a:solidFill>
                <a:latin typeface="Calibri"/>
              </a:defRPr>
            </a:pPr>
            <a:r>
              <a:t>Recursively splits nodes using Gini Impurity: Gini = 1 - Σ p_i² until stopping criterion.</a:t>
            </a:r>
          </a:p>
        </p:txBody>
      </p:sp>
      <p:sp>
        <p:nvSpPr>
          <p:cNvPr id="13" name="Rounded Rectangle 12"/>
          <p:cNvSpPr/>
          <p:nvPr/>
        </p:nvSpPr>
        <p:spPr>
          <a:xfrm>
            <a:off x="594360" y="4965192"/>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5. Forest Ensemble Assembly</a:t>
            </a:r>
          </a:p>
          <a:p>
            <a:pPr>
              <a:defRPr sz="850" b="0">
                <a:solidFill>
                  <a:srgbClr val="334155"/>
                </a:solidFill>
                <a:latin typeface="Calibri"/>
              </a:defRPr>
            </a:pPr>
            <a:r>
              <a:t>Combines B independently trained decision trees into an uncorrelated forest ensemble.</a:t>
            </a:r>
          </a:p>
        </p:txBody>
      </p:sp>
      <p:sp>
        <p:nvSpPr>
          <p:cNvPr id="14" name="Rounded Rectangle 13"/>
          <p:cNvSpPr/>
          <p:nvPr/>
        </p:nvSpPr>
        <p:spPr>
          <a:xfrm>
            <a:off x="594360" y="566928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6. Ensemble Averaged Probability</a:t>
            </a:r>
          </a:p>
          <a:p>
            <a:pPr>
              <a:defRPr sz="850" b="0">
                <a:solidFill>
                  <a:srgbClr val="334155"/>
                </a:solidFill>
                <a:latin typeface="Calibri"/>
              </a:defRPr>
            </a:pPr>
            <a:r>
              <a:t>Calculates consensus class probabilities: P_RF(c) = (1/B) Σ P_tree_b(c) across all B trees.</a:t>
            </a:r>
          </a:p>
        </p:txBody>
      </p:sp>
      <p:sp>
        <p:nvSpPr>
          <p:cNvPr id="15" name="Rounded Rectangle 14"/>
          <p:cNvSpPr/>
          <p:nvPr/>
        </p:nvSpPr>
        <p:spPr>
          <a:xfrm>
            <a:off x="6217920" y="1371600"/>
            <a:ext cx="5486400" cy="49834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LOGISTIC REGRESSION (LR) ACTIVITY FLOW</a:t>
            </a:r>
          </a:p>
        </p:txBody>
      </p:sp>
      <p:sp>
        <p:nvSpPr>
          <p:cNvPr id="17" name="Rounded Rectangle 16"/>
          <p:cNvSpPr/>
          <p:nvPr/>
        </p:nvSpPr>
        <p:spPr>
          <a:xfrm>
            <a:off x="6355080" y="214884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1. Standardized Vector Input</a:t>
            </a:r>
          </a:p>
          <a:p>
            <a:pPr>
              <a:defRPr sz="850" b="0">
                <a:solidFill>
                  <a:srgbClr val="334155"/>
                </a:solidFill>
                <a:latin typeface="Calibri"/>
              </a:defRPr>
            </a:pPr>
            <a:r>
              <a:t>Sparse TF-IDF vector x with L2 Euclidean normalization representing clinical narrative.</a:t>
            </a:r>
          </a:p>
        </p:txBody>
      </p:sp>
      <p:sp>
        <p:nvSpPr>
          <p:cNvPr id="18" name="Rounded Rectangle 17"/>
          <p:cNvSpPr/>
          <p:nvPr/>
        </p:nvSpPr>
        <p:spPr>
          <a:xfrm>
            <a:off x="6355080" y="2852928"/>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2. Linear Logit Computation</a:t>
            </a:r>
          </a:p>
          <a:p>
            <a:pPr>
              <a:defRPr sz="850" b="0">
                <a:solidFill>
                  <a:srgbClr val="334155"/>
                </a:solidFill>
                <a:latin typeface="Calibri"/>
              </a:defRPr>
            </a:pPr>
            <a:r>
              <a:t>Computes linear combination z_c = w_c · x + b_c for each medical specialty class c ∈ {1..40}.</a:t>
            </a:r>
          </a:p>
        </p:txBody>
      </p:sp>
      <p:sp>
        <p:nvSpPr>
          <p:cNvPr id="19" name="Rounded Rectangle 18"/>
          <p:cNvSpPr/>
          <p:nvPr/>
        </p:nvSpPr>
        <p:spPr>
          <a:xfrm>
            <a:off x="6355080" y="3557016"/>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3. L2 Ridge Regularization</a:t>
            </a:r>
          </a:p>
          <a:p>
            <a:pPr>
              <a:defRPr sz="850" b="0">
                <a:solidFill>
                  <a:srgbClr val="334155"/>
                </a:solidFill>
                <a:latin typeface="Calibri"/>
              </a:defRPr>
            </a:pPr>
            <a:r>
              <a:t>Applies L2 penalty λ/2 ||w||² in objective function to shrink weights &amp; prevent overfitting.</a:t>
            </a:r>
          </a:p>
        </p:txBody>
      </p:sp>
      <p:sp>
        <p:nvSpPr>
          <p:cNvPr id="20" name="Rounded Rectangle 19"/>
          <p:cNvSpPr/>
          <p:nvPr/>
        </p:nvSpPr>
        <p:spPr>
          <a:xfrm>
            <a:off x="6355080" y="4261104"/>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4. Softmax Probability Mapping</a:t>
            </a:r>
          </a:p>
          <a:p>
            <a:pPr>
              <a:defRPr sz="850" b="0">
                <a:solidFill>
                  <a:srgbClr val="334155"/>
                </a:solidFill>
                <a:latin typeface="Calibri"/>
              </a:defRPr>
            </a:pPr>
            <a:r>
              <a:t>Transforms logits to calibrated probabilities via Softmax: P(y=c|x) = exp(z_c) / Σ exp(z_k).</a:t>
            </a:r>
          </a:p>
        </p:txBody>
      </p:sp>
      <p:sp>
        <p:nvSpPr>
          <p:cNvPr id="21" name="Rounded Rectangle 20"/>
          <p:cNvSpPr/>
          <p:nvPr/>
        </p:nvSpPr>
        <p:spPr>
          <a:xfrm>
            <a:off x="6355080" y="4965192"/>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5. Cross-Entropy Loss Optimization</a:t>
            </a:r>
          </a:p>
          <a:p>
            <a:pPr>
              <a:defRPr sz="850" b="0">
                <a:solidFill>
                  <a:srgbClr val="334155"/>
                </a:solidFill>
                <a:latin typeface="Calibri"/>
              </a:defRPr>
            </a:pPr>
            <a:r>
              <a:t>Optimizes parameter weights using L-BFGS quasi-Newton gradient ascent solver.</a:t>
            </a:r>
          </a:p>
        </p:txBody>
      </p:sp>
      <p:sp>
        <p:nvSpPr>
          <p:cNvPr id="22" name="Rounded Rectangle 21"/>
          <p:cNvSpPr/>
          <p:nvPr/>
        </p:nvSpPr>
        <p:spPr>
          <a:xfrm>
            <a:off x="6355080" y="566928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6. Multi-Class Probability Output</a:t>
            </a:r>
          </a:p>
          <a:p>
            <a:pPr>
              <a:defRPr sz="850" b="0">
                <a:solidFill>
                  <a:srgbClr val="334155"/>
                </a:solidFill>
                <a:latin typeface="Calibri"/>
              </a:defRPr>
            </a:pPr>
            <a:r>
              <a:t>Generates calibrated posterior probability distribution vector across all 40 categories.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16 of 20</a:t>
            </a:r>
          </a:p>
        </p:txBody>
      </p:sp>
      <p:sp>
        <p:nvSpPr>
          <p:cNvPr id="7" name="Rounded Rectangle 6"/>
          <p:cNvSpPr/>
          <p:nvPr/>
        </p:nvSpPr>
        <p:spPr>
          <a:xfrm>
            <a:off x="457200" y="1371600"/>
            <a:ext cx="11247120" cy="731520"/>
          </a:xfrm>
          <a:prstGeom prst="roundRect">
            <a:avLst/>
          </a:prstGeom>
          <a:solidFill>
            <a:srgbClr val="EEF6F6"/>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E7C86"/>
                </a:solidFill>
                <a:latin typeface="Calibri"/>
              </a:defRPr>
            </a:pPr>
            <a:r>
              <a:t>STAGE 1: INPUT NARRATIVE &amp; VECTORIZATION INFERENCE</a:t>
            </a:r>
          </a:p>
          <a:p>
            <a:pPr>
              <a:defRPr sz="1000">
                <a:solidFill>
                  <a:srgbClr val="0F172A"/>
                </a:solidFill>
                <a:latin typeface="Calibri"/>
              </a:defRPr>
            </a:pPr>
            <a:r>
              <a:t>Unseen Clinical Transcription Text  →  8-Step Preprocessing Pipeline  →  TF-IDF Transformation (V vocabulary features)  →  Normalized Sparse Vector x</a:t>
            </a:r>
          </a:p>
        </p:txBody>
      </p:sp>
      <p:sp>
        <p:nvSpPr>
          <p:cNvPr id="8" name="Rounded Rectangle 7"/>
          <p:cNvSpPr/>
          <p:nvPr/>
        </p:nvSpPr>
        <p:spPr>
          <a:xfrm>
            <a:off x="457200" y="2240280"/>
            <a:ext cx="2651760" cy="1508760"/>
          </a:xfrm>
          <a:prstGeom prst="roundRect">
            <a:avLst/>
          </a:prstGeom>
          <a:solidFill>
            <a:srgbClr val="F0FDFA"/>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0E7C86"/>
                </a:solidFill>
                <a:latin typeface="Calibri"/>
              </a:defRPr>
            </a:pPr>
            <a:r>
              <a:t>MODEL 1: SVM Classifier</a:t>
            </a:r>
          </a:p>
          <a:p>
            <a:pPr>
              <a:defRPr sz="950">
                <a:solidFill>
                  <a:srgbClr val="334155"/>
                </a:solidFill>
                <a:latin typeface="Calibri"/>
              </a:defRPr>
            </a:pPr>
            <a:r>
              <a:t>Support Vector Machine</a:t>
            </a:r>
          </a:p>
          <a:p>
            <a:pPr>
              <a:spcAft>
                <a:spcPts val="400"/>
              </a:spcAft>
              <a:defRPr sz="900">
                <a:solidFill>
                  <a:srgbClr val="94A3B8"/>
                </a:solidFill>
                <a:latin typeface="Calibri"/>
              </a:defRPr>
            </a:pPr>
            <a:r>
              <a:t>Platt Calibrated Scaling</a:t>
            </a:r>
          </a:p>
          <a:p>
            <a:pPr>
              <a:defRPr sz="950" b="1">
                <a:solidFill>
                  <a:srgbClr val="0E7C86"/>
                </a:solidFill>
                <a:latin typeface="Calibri"/>
              </a:defRPr>
            </a:pPr>
            <a:r>
              <a:t>Output: P_SVM(c|x) ∈ R^40</a:t>
            </a:r>
          </a:p>
        </p:txBody>
      </p:sp>
      <p:sp>
        <p:nvSpPr>
          <p:cNvPr id="9" name="Rounded Rectangle 8"/>
          <p:cNvSpPr/>
          <p:nvPr/>
        </p:nvSpPr>
        <p:spPr>
          <a:xfrm>
            <a:off x="3319272" y="2240280"/>
            <a:ext cx="2651760" cy="150876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16A34A"/>
                </a:solidFill>
                <a:latin typeface="Calibri"/>
              </a:defRPr>
            </a:pPr>
            <a:r>
              <a:t>MODEL 2: Random Forest</a:t>
            </a:r>
          </a:p>
          <a:p>
            <a:pPr>
              <a:defRPr sz="950">
                <a:solidFill>
                  <a:srgbClr val="334155"/>
                </a:solidFill>
                <a:latin typeface="Calibri"/>
              </a:defRPr>
            </a:pPr>
            <a:r>
              <a:t>Ensemble Decision Trees</a:t>
            </a:r>
          </a:p>
          <a:p>
            <a:pPr>
              <a:spcAft>
                <a:spcPts val="400"/>
              </a:spcAft>
              <a:defRPr sz="900">
                <a:solidFill>
                  <a:srgbClr val="94A3B8"/>
                </a:solidFill>
                <a:latin typeface="Calibri"/>
              </a:defRPr>
            </a:pPr>
            <a:r>
              <a:t>Tree Mean Voting</a:t>
            </a:r>
          </a:p>
          <a:p>
            <a:pPr>
              <a:defRPr sz="950" b="1">
                <a:solidFill>
                  <a:srgbClr val="16A34A"/>
                </a:solidFill>
                <a:latin typeface="Calibri"/>
              </a:defRPr>
            </a:pPr>
            <a:r>
              <a:t>Output: P_RF(c|x) ∈ R^40</a:t>
            </a:r>
          </a:p>
        </p:txBody>
      </p:sp>
      <p:sp>
        <p:nvSpPr>
          <p:cNvPr id="10" name="Rounded Rectangle 9"/>
          <p:cNvSpPr/>
          <p:nvPr/>
        </p:nvSpPr>
        <p:spPr>
          <a:xfrm>
            <a:off x="6181344" y="2240280"/>
            <a:ext cx="2651760" cy="1508760"/>
          </a:xfrm>
          <a:prstGeom prst="roundRect">
            <a:avLst/>
          </a:prstGeom>
          <a:solidFill>
            <a:srgbClr val="FAF5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9333EA"/>
                </a:solidFill>
                <a:latin typeface="Calibri"/>
              </a:defRPr>
            </a:pPr>
            <a:r>
              <a:t>MODEL 3: Logistic Regression</a:t>
            </a:r>
          </a:p>
          <a:p>
            <a:pPr>
              <a:defRPr sz="950">
                <a:solidFill>
                  <a:srgbClr val="334155"/>
                </a:solidFill>
                <a:latin typeface="Calibri"/>
              </a:defRPr>
            </a:pPr>
            <a:r>
              <a:t>Multinomial Softmax</a:t>
            </a:r>
          </a:p>
          <a:p>
            <a:pPr>
              <a:spcAft>
                <a:spcPts val="400"/>
              </a:spcAft>
              <a:defRPr sz="900">
                <a:solidFill>
                  <a:srgbClr val="94A3B8"/>
                </a:solidFill>
                <a:latin typeface="Calibri"/>
              </a:defRPr>
            </a:pPr>
            <a:r>
              <a:t>L2 Regularized Logits</a:t>
            </a:r>
          </a:p>
          <a:p>
            <a:pPr>
              <a:defRPr sz="950" b="1">
                <a:solidFill>
                  <a:srgbClr val="9333EA"/>
                </a:solidFill>
                <a:latin typeface="Calibri"/>
              </a:defRPr>
            </a:pPr>
            <a:r>
              <a:t>Output: P_LR(c|x) ∈ R^40</a:t>
            </a:r>
          </a:p>
        </p:txBody>
      </p:sp>
      <p:sp>
        <p:nvSpPr>
          <p:cNvPr id="11" name="Rounded Rectangle 10"/>
          <p:cNvSpPr/>
          <p:nvPr/>
        </p:nvSpPr>
        <p:spPr>
          <a:xfrm>
            <a:off x="9043416" y="2240280"/>
            <a:ext cx="2651760" cy="150876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2563EB"/>
                </a:solidFill>
                <a:latin typeface="Calibri"/>
              </a:defRPr>
            </a:pPr>
            <a:r>
              <a:t>MODEL 4: Multinomial NB</a:t>
            </a:r>
          </a:p>
          <a:p>
            <a:pPr>
              <a:defRPr sz="950">
                <a:solidFill>
                  <a:srgbClr val="334155"/>
                </a:solidFill>
                <a:latin typeface="Calibri"/>
              </a:defRPr>
            </a:pPr>
            <a:r>
              <a:t>Naïve Bayes Estimator</a:t>
            </a:r>
          </a:p>
          <a:p>
            <a:pPr>
              <a:spcAft>
                <a:spcPts val="400"/>
              </a:spcAft>
              <a:defRPr sz="900">
                <a:solidFill>
                  <a:srgbClr val="94A3B8"/>
                </a:solidFill>
                <a:latin typeface="Calibri"/>
              </a:defRPr>
            </a:pPr>
            <a:r>
              <a:t>Laplace Smoothed Prior</a:t>
            </a:r>
          </a:p>
          <a:p>
            <a:pPr>
              <a:defRPr sz="950" b="1">
                <a:solidFill>
                  <a:srgbClr val="2563EB"/>
                </a:solidFill>
                <a:latin typeface="Calibri"/>
              </a:defRPr>
            </a:pPr>
            <a:r>
              <a:t>Output: P_MNB(c|x) ∈ R^40</a:t>
            </a:r>
          </a:p>
        </p:txBody>
      </p:sp>
      <p:sp>
        <p:nvSpPr>
          <p:cNvPr id="12" name="Rounded Rectangle 11"/>
          <p:cNvSpPr/>
          <p:nvPr/>
        </p:nvSpPr>
        <p:spPr>
          <a:xfrm>
            <a:off x="457200" y="3931920"/>
            <a:ext cx="11247120" cy="13716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spcAft>
                <a:spcPts val="300"/>
              </a:spcAft>
              <a:defRPr sz="1100" b="1">
                <a:solidFill>
                  <a:srgbClr val="D97706"/>
                </a:solidFill>
                <a:latin typeface="Calibri"/>
              </a:defRPr>
            </a:pPr>
            <a:r>
              <a:t>STAGE 2: SOFT VOTING CONSENSUS &amp; PROBABILITY AGGREGATION</a:t>
            </a:r>
          </a:p>
          <a:p>
            <a:pPr>
              <a:spcAft>
                <a:spcPts val="300"/>
              </a:spcAft>
              <a:defRPr sz="1100" b="1">
                <a:solidFill>
                  <a:srgbClr val="0F172A"/>
                </a:solidFill>
                <a:latin typeface="Cambria"/>
              </a:defRPr>
            </a:pPr>
            <a:r>
              <a:t>Formula: P_Ensemble(c | x) = 1/4 · [ P_SVM(c | x) + P_RF(c | x) + P_LR(c | x) + P_MNB(c | x) ]   for all 40 categories c ∈ {1..40}</a:t>
            </a:r>
          </a:p>
          <a:p>
            <a:pPr>
              <a:spcAft>
                <a:spcPts val="300"/>
              </a:spcAft>
              <a:defRPr sz="1100" b="1">
                <a:solidFill>
                  <a:srgbClr val="0E7C86"/>
                </a:solidFill>
                <a:latin typeface="Cambria"/>
              </a:defRPr>
            </a:pPr>
            <a:r>
              <a:t>Decision Rule: Predicted Medical Specialty c* = argmax_c P_Ensemble(c | x)   with Confidence Score = max_c P_Ensemble(c | x) · 100%</a:t>
            </a:r>
          </a:p>
          <a:p>
            <a:pPr>
              <a:defRPr sz="950">
                <a:solidFill>
                  <a:srgbClr val="334155"/>
                </a:solidFill>
                <a:latin typeface="Calibri"/>
              </a:defRPr>
            </a:pPr>
            <a:r>
              <a:t>Why Soft Voting? Averages confident probability outputs rather than simple discrete votes; mitigates individual estimator errors and smooths noise.</a:t>
            </a:r>
          </a:p>
        </p:txBody>
      </p:sp>
      <p:sp>
        <p:nvSpPr>
          <p:cNvPr id="13" name="Rounded Rectangle 12"/>
          <p:cNvSpPr/>
          <p:nvPr/>
        </p:nvSpPr>
        <p:spPr>
          <a:xfrm>
            <a:off x="457200" y="5440680"/>
            <a:ext cx="11247120" cy="86868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defRPr sz="1100" b="1">
                <a:solidFill>
                  <a:srgbClr val="38BDF8"/>
                </a:solidFill>
                <a:latin typeface="Calibri"/>
              </a:defRPr>
            </a:pPr>
            <a:r>
              <a:t>FINAL SYSTEM PREDICTION OUTPUT (STAGE 3)</a:t>
            </a:r>
          </a:p>
          <a:p>
            <a:pPr>
              <a:defRPr sz="1000">
                <a:solidFill>
                  <a:srgbClr val="FFFFFF"/>
                </a:solidFill>
                <a:latin typeface="Calibri"/>
              </a:defRPr>
            </a:pPr>
            <a:r>
              <a:t>• Primary Prediction: Assigned Medical Specialty Class (e.g., 'Cardiovascular / Pulmonary')</a:t>
            </a:r>
            <a:br/>
            <a:r>
              <a:t>• Confidence Estimate: Aggregated ensemble probability score (%) verifying clinical prediction certainty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17 of 20</a:t>
            </a:r>
            <a:endParaRPr lang="en-US" sz="900" dirty="0"/>
          </a:p>
        </p:txBody>
      </p:sp>
      <p:sp>
        <p:nvSpPr>
          <p:cNvPr id="8" name="Shape 6"/>
          <p:cNvSpPr/>
          <p:nvPr/>
        </p:nvSpPr>
        <p:spPr>
          <a:xfrm>
            <a:off x="457200" y="1481328"/>
            <a:ext cx="11274552" cy="4937760"/>
          </a:xfrm>
          <a:prstGeom prst="roundRect">
            <a:avLst>
              <a:gd name="adj" fmla="val 1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sp>
      <p:pic>
        <p:nvPicPr>
          <p:cNvPr id="9" name="Image 0" descr="/home/claude/imgs/img-012.png">    </p:cNvPr>
          <p:cNvPicPr>
            <a:picLocks noChangeAspect="1"/>
          </p:cNvPicPr>
          <p:nvPr/>
        </p:nvPicPr>
        <p:blipFill>
          <a:blip r:embed="rId1"/>
          <a:stretch>
            <a:fillRect/>
          </a:stretch>
        </p:blipFill>
        <p:spPr>
          <a:xfrm>
            <a:off x="3511753" y="1627632"/>
            <a:ext cx="5168189" cy="4114800"/>
          </a:xfrm>
          <a:prstGeom prst="rect">
            <a:avLst/>
          </a:prstGeom>
        </p:spPr>
      </p:pic>
      <p:sp>
        <p:nvSpPr>
          <p:cNvPr id="10" name="Text 7"/>
          <p:cNvSpPr txBox="1"/>
          <p:nvPr/>
        </p:nvSpPr>
        <p:spPr>
          <a:xfrm>
            <a:off x="777240" y="5797296"/>
            <a:ext cx="10607040" cy="457200"/>
          </a:xfrm>
          <a:prstGeom prst="rect">
            <a:avLst/>
          </a:prstGeom>
          <a:noFill/>
          <a:ln/>
        </p:spPr>
        <p:txBody>
          <a:bodyPr wrap="square" lIns="0" tIns="0" rIns="0" bIns="0" rtlCol="0" anchor="t"/>
          <a:lstStyle/>
          <a:p>
            <a:pPr algn="ctr" indent="0" marL="0">
              <a:lnSpc>
                <a:spcPct val="110000"/>
              </a:lnSpc>
              <a:buNone/>
            </a:pPr>
            <a:r>
              <a:rPr lang="en-US" sz="950" i="1" dirty="0">
                <a:solidFill>
                  <a:srgbClr val="5B6472"/>
                </a:solidFill>
                <a:latin typeface="Calibri" pitchFamily="34" charset="0"/>
                <a:ea typeface="Calibri" pitchFamily="34" charset="-122"/>
                <a:cs typeface="Calibri" pitchFamily="34" charset="-120"/>
              </a:rPr>
              <a:t>Three-stage pipeline: Data Preparation &amp; Partitioning → Model Building &amp; Ensemble → Deployment. TF-IDF is fit strictly on training data; the Flask deployment stage reuses the saved preprocessing + TF-IDF + ensemble pipeline.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18 of 20</a:t>
            </a:r>
            <a:endParaRPr lang="en-US" sz="900" dirty="0"/>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t>CURRENT PROGRESS (PHASE 1 / SPRINT RELEASE I)</a:t>
            </a:r>
          </a:p>
          <a:p>
            <a:pPr>
              <a:spcAft>
                <a:spcPts val="300"/>
              </a:spcAft>
            </a:pPr>
            <a:r>
              <a:rPr sz="1000" b="1">
                <a:solidFill>
                  <a:srgbClr val="0B1F3A"/>
                </a:solidFill>
                <a:latin typeface="Calibri"/>
              </a:rPr>
              <a:t>✓ Literature Review &amp; Paper Benchmarking: </a:t>
            </a:r>
            <a:r>
              <a:rPr sz="950" b="0">
                <a:solidFill>
                  <a:srgbClr val="334155"/>
                </a:solidFill>
                <a:latin typeface="Calibri"/>
              </a:rPr>
              <a:t>Surveyed clinical NLP literature (Omar et al., Zhang et al., Blanchard et al.), establishing preprocessing standards.</a:t>
            </a:r>
          </a:p>
          <a:p>
            <a:pPr>
              <a:spcAft>
                <a:spcPts val="300"/>
              </a:spcAft>
            </a:pPr>
            <a:r>
              <a:rPr sz="1000" b="1">
                <a:solidFill>
                  <a:srgbClr val="0B1F3A"/>
                </a:solidFill>
                <a:latin typeface="Calibri"/>
              </a:rPr>
              <a:t>✓ Dataset Acquisition &amp; Cleaning Audit: </a:t>
            </a:r>
            <a:r>
              <a:rPr sz="950" b="0">
                <a:solidFill>
                  <a:srgbClr val="334155"/>
                </a:solidFill>
                <a:latin typeface="Calibri"/>
              </a:rPr>
              <a:t>Acquired Kaggle MTSamples (4,999 cases); identified and removed 33 empty transcription records.</a:t>
            </a:r>
          </a:p>
          <a:p>
            <a:pPr>
              <a:spcAft>
                <a:spcPts val="300"/>
              </a:spcAft>
            </a:pPr>
            <a:r>
              <a:rPr sz="1000" b="1">
                <a:solidFill>
                  <a:srgbClr val="0B1F3A"/>
                </a:solidFill>
                <a:latin typeface="Calibri"/>
              </a:rPr>
              <a:t>✓ Exploratory Data Analysis &amp; Visualization: </a:t>
            </a:r>
            <a:r>
              <a:rPr sz="950" b="0">
                <a:solidFill>
                  <a:srgbClr val="334155"/>
                </a:solidFill>
                <a:latin typeface="Calibri"/>
              </a:rPr>
              <a:t>Executed 6 statistical distributions covering missing values, token lengths, and specialty frequencies.</a:t>
            </a:r>
          </a:p>
          <a:p>
            <a:pPr>
              <a:spcAft>
                <a:spcPts val="300"/>
              </a:spcAft>
            </a:pPr>
            <a:r>
              <a:rPr sz="1000" b="1">
                <a:solidFill>
                  <a:srgbClr val="0B1F3A"/>
                </a:solidFill>
                <a:latin typeface="Calibri"/>
              </a:rPr>
              <a:t>✓ Class Imbalance Characterization: </a:t>
            </a:r>
            <a:r>
              <a:rPr sz="950" b="0">
                <a:solidFill>
                  <a:srgbClr val="334155"/>
                </a:solidFill>
                <a:latin typeface="Calibri"/>
              </a:rPr>
              <a:t>Audited extreme long-tail class skew across 40 medical specialties; formulated stratified sampling strategy.</a:t>
            </a:r>
          </a:p>
          <a:p>
            <a:pPr>
              <a:spcAft>
                <a:spcPts val="300"/>
              </a:spcAft>
            </a:pPr>
            <a:r>
              <a:rPr sz="1000" b="1">
                <a:solidFill>
                  <a:srgbClr val="0B1F3A"/>
                </a:solidFill>
                <a:latin typeface="Calibri"/>
              </a:rPr>
              <a:t>✓ NLP Cleaning Pipeline Design: </a:t>
            </a:r>
            <a:r>
              <a:rPr sz="950" b="0">
                <a:solidFill>
                  <a:srgbClr val="334155"/>
                </a:solidFill>
                <a:latin typeface="Calibri"/>
              </a:rPr>
              <a:t>Finalized sequence: Cleaning, Lowercasing, Alphanumeric Filtering, Stop-word Removal, and Lemmatization.</a:t>
            </a:r>
          </a:p>
          <a:p>
            <a:pPr>
              <a:spcAft>
                <a:spcPts val="300"/>
              </a:spcAft>
            </a:pPr>
            <a:r>
              <a:rPr sz="1000" b="1">
                <a:solidFill>
                  <a:srgbClr val="0B1F3A"/>
                </a:solidFill>
                <a:latin typeface="Calibri"/>
              </a:rPr>
              <a:t>✓ TF-IDF Architecture Formulation: </a:t>
            </a:r>
            <a:r>
              <a:rPr sz="950" b="0">
                <a:solidFill>
                  <a:srgbClr val="334155"/>
                </a:solidFill>
                <a:latin typeface="Calibri"/>
              </a:rPr>
              <a:t>Configured unigram/bigram tokenization with sublinear TF scaling and Euclidean L2 normalization.</a:t>
            </a:r>
          </a:p>
          <a:p>
            <a:pPr>
              <a:spcAft>
                <a:spcPts val="300"/>
              </a:spcAft>
            </a:pPr>
            <a:r>
              <a:rPr sz="1000" b="1">
                <a:solidFill>
                  <a:srgbClr val="0B1F3A"/>
                </a:solidFill>
                <a:latin typeface="Calibri"/>
              </a:rPr>
              <a:t>✓ Model &amp; Ensemble Formulation: </a:t>
            </a:r>
            <a:r>
              <a:rPr sz="950" b="0">
                <a:solidFill>
                  <a:srgbClr val="334155"/>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t>PLANNED NEXT STEPS (PHASE 2 / SPRINT RELEASE II &amp; III)</a:t>
            </a:r>
          </a:p>
          <a:p>
            <a:pPr>
              <a:spcAft>
                <a:spcPts val="300"/>
              </a:spcAft>
            </a:pPr>
            <a:r>
              <a:rPr sz="1000" b="1">
                <a:solidFill>
                  <a:srgbClr val="0B1F3A"/>
                </a:solidFill>
                <a:latin typeface="Calibri"/>
              </a:rPr>
              <a:t>→ Full Text Preprocessing Implementation: </a:t>
            </a:r>
            <a:r>
              <a:rPr sz="950" b="0">
                <a:solidFill>
                  <a:srgbClr val="334155"/>
                </a:solidFill>
                <a:latin typeface="Calibri"/>
              </a:rPr>
              <a:t>Execute the 8-step cleaning module across 4,966 records to produce normalized narrative corpus.</a:t>
            </a:r>
          </a:p>
          <a:p>
            <a:pPr>
              <a:spcAft>
                <a:spcPts val="300"/>
              </a:spcAft>
            </a:pPr>
            <a:r>
              <a:rPr sz="1000" b="1">
                <a:solidFill>
                  <a:srgbClr val="0B1F3A"/>
                </a:solidFill>
                <a:latin typeface="Calibri"/>
              </a:rPr>
              <a:t>→ TF-IDF Feature Matrix Generation: </a:t>
            </a:r>
            <a:r>
              <a:rPr sz="950" b="0">
                <a:solidFill>
                  <a:srgbClr val="334155"/>
                </a:solidFill>
                <a:latin typeface="Calibri"/>
              </a:rPr>
              <a:t>Fit vectorizer strictly on training partition (80:20 split) to eliminate data leakage; transform test set.</a:t>
            </a:r>
          </a:p>
          <a:p>
            <a:pPr>
              <a:spcAft>
                <a:spcPts val="300"/>
              </a:spcAft>
            </a:pPr>
            <a:r>
              <a:rPr sz="1000" b="1">
                <a:solidFill>
                  <a:srgbClr val="0B1F3A"/>
                </a:solidFill>
                <a:latin typeface="Calibri"/>
              </a:rPr>
              <a:t>→ Candidate Model Training &amp; Optimization: </a:t>
            </a:r>
            <a:r>
              <a:rPr sz="950" b="0">
                <a:solidFill>
                  <a:srgbClr val="334155"/>
                </a:solidFill>
                <a:latin typeface="Calibri"/>
              </a:rPr>
              <a:t>Train SVM, Random Forest, Logistic Regression, and Multinomial Naive Bayes classifiers.</a:t>
            </a:r>
          </a:p>
          <a:p>
            <a:pPr>
              <a:spcAft>
                <a:spcPts val="300"/>
              </a:spcAft>
            </a:pPr>
            <a:r>
              <a:rPr sz="1000" b="1">
                <a:solidFill>
                  <a:srgbClr val="0B1F3A"/>
                </a:solidFill>
                <a:latin typeface="Calibri"/>
              </a:rPr>
              <a:t>→ Soft Voting Ensemble Development: </a:t>
            </a:r>
            <a:r>
              <a:rPr sz="950" b="0">
                <a:solidFill>
                  <a:srgbClr val="334155"/>
                </a:solidFill>
                <a:latin typeface="Calibri"/>
              </a:rPr>
              <a:t>Implement weighted/soft probability aggregation combining decision outputs across all base estimators.</a:t>
            </a:r>
          </a:p>
          <a:p>
            <a:pPr>
              <a:spcAft>
                <a:spcPts val="300"/>
              </a:spcAft>
            </a:pPr>
            <a:r>
              <a:rPr sz="1000" b="1">
                <a:solidFill>
                  <a:srgbClr val="0B1F3A"/>
                </a:solidFill>
                <a:latin typeface="Calibri"/>
              </a:rPr>
              <a:t>→ Multi-Class Performance Evaluation: </a:t>
            </a:r>
            <a:r>
              <a:rPr sz="950" b="0">
                <a:solidFill>
                  <a:srgbClr val="334155"/>
                </a:solidFill>
                <a:latin typeface="Calibri"/>
              </a:rPr>
              <a:t>Benchmark multi-class Macro/Weighted Precision, Recall, F1-score, and cross-class Confusion Matrices.</a:t>
            </a:r>
          </a:p>
          <a:p>
            <a:pPr>
              <a:spcAft>
                <a:spcPts val="300"/>
              </a:spcAft>
            </a:pPr>
            <a:r>
              <a:rPr sz="1000" b="1">
                <a:solidFill>
                  <a:srgbClr val="0B1F3A"/>
                </a:solidFill>
                <a:latin typeface="Calibri"/>
              </a:rPr>
              <a:t>→ Pipeline Serialization &amp; Web Deployment: </a:t>
            </a:r>
            <a:r>
              <a:rPr sz="950" b="0">
                <a:solidFill>
                  <a:srgbClr val="334155"/>
                </a:solidFill>
                <a:latin typeface="Calibri"/>
              </a:rPr>
              <a:t>Serialize end-to-end pipeline with Joblib; construct interactive clinician dashboard using Flask.</a:t>
            </a:r>
          </a:p>
          <a:p>
            <a:pPr>
              <a:spcAft>
                <a:spcPts val="300"/>
              </a:spcAft>
            </a:pPr>
            <a:r>
              <a:rPr sz="1000" b="1">
                <a:solidFill>
                  <a:srgbClr val="0B1F3A"/>
                </a:solidFill>
                <a:latin typeface="Calibri"/>
              </a:rPr>
              <a:t>→ Validation &amp; Clinical Usability Testing: </a:t>
            </a:r>
            <a:r>
              <a:rPr sz="950" b="0">
                <a:solidFill>
                  <a:srgbClr val="334155"/>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PROGRESS &amp; ROADMAP</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lgn="r" indent="0" marL="0">
              <a:buNone/>
            </a:pPr>
            <a:r>
              <a:rPr lang="en-US" sz="900" dirty="0">
                <a:solidFill>
                  <a:srgbClr val="5B6472"/>
                </a:solidFill>
                <a:latin typeface="Calibri" pitchFamily="34" charset="0"/>
                <a:ea typeface="Calibri" pitchFamily="34" charset="-122"/>
                <a:cs typeface="Calibri" pitchFamily="34" charset="-120"/>
              </a:rPr>
              <a:t>Slide 19 of 20</a:t>
            </a:r>
            <a:endParaRPr lang="en-US" sz="900" dirty="0"/>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t>PHASE 1: FOUNDATION &amp; SPRINT RELEASE I</a:t>
            </a:r>
          </a:p>
          <a:p>
            <a:pPr>
              <a:spcAft>
                <a:spcPts val="300"/>
              </a:spcAft>
            </a:pPr>
            <a:r>
              <a:rPr sz="950" b="1">
                <a:solidFill>
                  <a:srgbClr val="16A34A"/>
                </a:solidFill>
                <a:latin typeface="Calibri"/>
              </a:rPr>
              <a:t>✓  [17.07.2026]  Project Proposal &amp; Synopsis Approval by Guide
</a:t>
            </a:r>
            <a:r>
              <a:rPr sz="850" b="0">
                <a:solidFill>
                  <a:srgbClr val="334155"/>
                </a:solidFill>
                <a:latin typeface="Calibri"/>
              </a:rPr>
              <a:t>    Formal approval of project scope, objectives, and feasibility by faculty guide.</a:t>
            </a:r>
          </a:p>
          <a:p>
            <a:pPr>
              <a:spcAft>
                <a:spcPts val="300"/>
              </a:spcAft>
            </a:pPr>
            <a:r>
              <a:rPr sz="950" b="1">
                <a:solidFill>
                  <a:srgbClr val="16A34A"/>
                </a:solidFill>
                <a:latin typeface="Calibri"/>
              </a:rPr>
              <a:t>✓  [20.07.2026 – 21.07.2026]  Project Proposal Presentation
</a:t>
            </a:r>
            <a:r>
              <a:rPr sz="850" b="0">
                <a:solidFill>
                  <a:srgbClr val="334155"/>
                </a:solidFill>
                <a:latin typeface="Calibri"/>
              </a:rPr>
              <a:t>    Presented proposal before Department Project Approval Committee.</a:t>
            </a:r>
          </a:p>
          <a:p>
            <a:pPr>
              <a:spcAft>
                <a:spcPts val="300"/>
              </a:spcAft>
            </a:pPr>
            <a:r>
              <a:rPr sz="950" b="1">
                <a:solidFill>
                  <a:srgbClr val="16A34A"/>
                </a:solidFill>
                <a:latin typeface="Calibri"/>
              </a:rPr>
              <a:t>✓  [Weeks 1–2]  Dataset Collection &amp; Exploratory Data Analysis
</a:t>
            </a:r>
            <a:r>
              <a:rPr sz="850" b="0">
                <a:solidFill>
                  <a:srgbClr val="334155"/>
                </a:solidFill>
                <a:latin typeface="Calibri"/>
              </a:rPr>
              <a:t>    Acquired Kaggle MTSamples (4,999 records); audited nulls and generated 6 EDA plots.</a:t>
            </a:r>
          </a:p>
          <a:p>
            <a:pPr>
              <a:spcAft>
                <a:spcPts val="300"/>
              </a:spcAft>
            </a:pPr>
            <a:r>
              <a:rPr sz="950" b="1">
                <a:solidFill>
                  <a:srgbClr val="16A34A"/>
                </a:solidFill>
                <a:latin typeface="Calibri"/>
              </a:rPr>
              <a:t>✓  [Weeks 3–4]  Clinical Text Preprocessing Pipeline
</a:t>
            </a:r>
            <a:r>
              <a:rPr sz="850" b="0">
                <a:solidFill>
                  <a:srgbClr val="334155"/>
                </a:solidFill>
                <a:latin typeface="Calibri"/>
              </a:rPr>
              <a:t>    Designed 5-step sequence: Cleaning, Lowercasing, Tokenization, Stop-words, Lemmatization.</a:t>
            </a:r>
          </a:p>
          <a:p>
            <a:pPr>
              <a:spcAft>
                <a:spcPts val="300"/>
              </a:spcAft>
            </a:pPr>
            <a:r>
              <a:rPr sz="950" b="1">
                <a:solidFill>
                  <a:srgbClr val="16A34A"/>
                </a:solidFill>
                <a:latin typeface="Calibri"/>
              </a:rPr>
              <a:t>✓  [Week 5]  TF-IDF Vectorization Architecture
</a:t>
            </a:r>
            <a:r>
              <a:rPr sz="850" b="0">
                <a:solidFill>
                  <a:srgbClr val="334155"/>
                </a:solidFill>
                <a:latin typeface="Calibri"/>
              </a:rPr>
              <a:t>    Formulated unigram/bigram tokenization with sublinear scaling and sparse matrix layout.</a:t>
            </a:r>
          </a:p>
          <a:p>
            <a:pPr>
              <a:spcAft>
                <a:spcPts val="300"/>
              </a:spcAft>
            </a:pPr>
            <a:r>
              <a:rPr sz="950" b="1">
                <a:solidFill>
                  <a:srgbClr val="D97706"/>
                </a:solidFill>
                <a:latin typeface="Calibri"/>
              </a:rPr>
              <a:t>★  [08.09.2026]  First Project Presentation ★
</a:t>
            </a:r>
            <a:r>
              <a:rPr sz="850" b="0">
                <a:solidFill>
                  <a:srgbClr val="334155"/>
                </a:solidFill>
                <a:latin typeface="Calibri"/>
              </a:rPr>
              <a:t>    Current Milestone — Phase 1 Faculty Review &amp; Initial Progress Defense.</a:t>
            </a:r>
          </a:p>
          <a:p>
            <a:pPr>
              <a:spcAft>
                <a:spcPts val="300"/>
              </a:spcAft>
            </a:pPr>
            <a:r>
              <a:rPr sz="950" b="1">
                <a:solidFill>
                  <a:srgbClr val="D97706"/>
                </a:solidFill>
                <a:latin typeface="Calibri"/>
              </a:rPr>
              <a:t>★  [09.09.2026]  Sprint Release I ★
</a:t>
            </a:r>
            <a:r>
              <a:rPr sz="850" b="0">
                <a:solidFill>
                  <a:srgbClr val="334155"/>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t>PHASES 2 &amp; 3: MODEL BUILDING, ENSEMBLE &amp; DEPLOYMENT</a:t>
            </a:r>
          </a:p>
          <a:p>
            <a:pPr>
              <a:spcAft>
                <a:spcPts val="200"/>
              </a:spcAft>
            </a:pPr>
            <a:r>
              <a:rPr sz="919" b="1">
                <a:solidFill>
                  <a:srgbClr val="2563EB"/>
                </a:solidFill>
                <a:latin typeface="Calibri"/>
              </a:rPr>
              <a:t>→  [Week 6]  Candidate Model Training &amp; Baseline Evaluation
</a:t>
            </a:r>
            <a:r>
              <a:rPr sz="819" b="0">
                <a:solidFill>
                  <a:srgbClr val="334155"/>
                </a:solidFill>
                <a:latin typeface="Calibri"/>
              </a:rPr>
              <a:t>    Train SVM, Random Forest, Logistic Regression, and Multinomial Naive Bayes.</a:t>
            </a:r>
          </a:p>
          <a:p>
            <a:pPr>
              <a:spcAft>
                <a:spcPts val="200"/>
              </a:spcAft>
            </a:pPr>
            <a:r>
              <a:rPr sz="919" b="1">
                <a:solidFill>
                  <a:srgbClr val="D97706"/>
                </a:solidFill>
                <a:latin typeface="Calibri"/>
              </a:rPr>
              <a:t>★  [18.09.2026]  Sprint Release II ★
</a:t>
            </a:r>
            <a:r>
              <a:rPr sz="819" b="0">
                <a:solidFill>
                  <a:srgbClr val="334155"/>
                </a:solidFill>
                <a:latin typeface="Calibri"/>
              </a:rPr>
              <a:t>    Milestone release: Trained baseline classifiers and preliminary metrics.</a:t>
            </a:r>
          </a:p>
          <a:p>
            <a:pPr>
              <a:spcAft>
                <a:spcPts val="200"/>
              </a:spcAft>
            </a:pPr>
            <a:r>
              <a:rPr sz="919" b="1">
                <a:solidFill>
                  <a:srgbClr val="2563EB"/>
                </a:solidFill>
                <a:latin typeface="Calibri"/>
              </a:rPr>
              <a:t>→  [Week 7]  Hyperparameter Tuning &amp; Model Comparison
</a:t>
            </a:r>
            <a:r>
              <a:rPr sz="819" b="0">
                <a:solidFill>
                  <a:srgbClr val="334155"/>
                </a:solidFill>
                <a:latin typeface="Calibri"/>
              </a:rPr>
              <a:t>    Systematic tuning and comparative performance profiling across candidate estimators.</a:t>
            </a:r>
          </a:p>
          <a:p>
            <a:pPr>
              <a:spcAft>
                <a:spcPts val="200"/>
              </a:spcAft>
            </a:pPr>
            <a:r>
              <a:rPr sz="919" b="1">
                <a:solidFill>
                  <a:srgbClr val="2563EB"/>
                </a:solidFill>
                <a:latin typeface="Calibri"/>
              </a:rPr>
              <a:t>→  [Week 8]  Soft Voting Ensemble Implementation
</a:t>
            </a:r>
            <a:r>
              <a:rPr sz="819" b="0">
                <a:solidFill>
                  <a:srgbClr val="334155"/>
                </a:solidFill>
                <a:latin typeface="Calibri"/>
              </a:rPr>
              <a:t>    Construct soft voting ensemble; aggregate consensus probability distributions.</a:t>
            </a:r>
          </a:p>
          <a:p>
            <a:pPr>
              <a:spcAft>
                <a:spcPts val="200"/>
              </a:spcAft>
            </a:pPr>
            <a:r>
              <a:rPr sz="919" b="1">
                <a:solidFill>
                  <a:srgbClr val="D97706"/>
                </a:solidFill>
                <a:latin typeface="Calibri"/>
              </a:rPr>
              <a:t>★  [29.09.2026 – 30.09.2026]  Interim Project Presentation ★
</a:t>
            </a:r>
            <a:r>
              <a:rPr sz="819" b="0">
                <a:solidFill>
                  <a:srgbClr val="334155"/>
                </a:solidFill>
                <a:latin typeface="Calibri"/>
              </a:rPr>
              <a:t>    Progress review and working model demonstration before faculty committee.</a:t>
            </a:r>
          </a:p>
          <a:p>
            <a:pPr>
              <a:spcAft>
                <a:spcPts val="200"/>
              </a:spcAft>
            </a:pPr>
            <a:r>
              <a:rPr sz="919" b="1">
                <a:solidFill>
                  <a:srgbClr val="2563EB"/>
                </a:solidFill>
                <a:latin typeface="Calibri"/>
              </a:rPr>
              <a:t>→  [Week 9]  Flask Web Integration &amp; Serialization
</a:t>
            </a:r>
            <a:r>
              <a:rPr sz="819" b="0">
                <a:solidFill>
                  <a:srgbClr val="334155"/>
                </a:solidFill>
                <a:latin typeface="Calibri"/>
              </a:rPr>
              <a:t>    Serialize pipeline with Joblib; build interactive clinician UI for live inference.</a:t>
            </a:r>
          </a:p>
          <a:p>
            <a:pPr>
              <a:spcAft>
                <a:spcPts val="200"/>
              </a:spcAft>
            </a:pPr>
            <a:r>
              <a:rPr sz="919" b="1">
                <a:solidFill>
                  <a:srgbClr val="D97706"/>
                </a:solidFill>
                <a:latin typeface="Calibri"/>
              </a:rPr>
              <a:t>★  [09.10.2026]  Sprint Release III ★
</a:t>
            </a:r>
            <a:r>
              <a:rPr sz="819" b="0">
                <a:solidFill>
                  <a:srgbClr val="334155"/>
                </a:solidFill>
                <a:latin typeface="Calibri"/>
              </a:rPr>
              <a:t>    Integrated system release: Flask web application and serialized ensemble.</a:t>
            </a:r>
          </a:p>
          <a:p>
            <a:pPr>
              <a:spcAft>
                <a:spcPts val="200"/>
              </a:spcAft>
            </a:pPr>
            <a:r>
              <a:rPr sz="919" b="1">
                <a:solidFill>
                  <a:srgbClr val="2563EB"/>
                </a:solidFill>
                <a:latin typeface="Calibri"/>
              </a:rPr>
              <a:t>→  [Weeks 10–11]  Evaluation &amp; System Testing
</a:t>
            </a:r>
            <a:r>
              <a:rPr sz="819" b="0">
                <a:solidFill>
                  <a:srgbClr val="334155"/>
                </a:solidFill>
                <a:latin typeface="Calibri"/>
              </a:rPr>
              <a:t>    Multi-class metrics (Macro F1, Recall), confusion matrix analysis, and validation.</a:t>
            </a:r>
          </a:p>
          <a:p>
            <a:pPr>
              <a:spcAft>
                <a:spcPts val="200"/>
              </a:spcAft>
            </a:pPr>
            <a:r>
              <a:rPr sz="919" b="1">
                <a:solidFill>
                  <a:srgbClr val="D97706"/>
                </a:solidFill>
                <a:latin typeface="Calibri"/>
              </a:rPr>
              <a:t>★  [22.10.2026 – 23.10.2026]  Final Project Presentation ★
</a:t>
            </a:r>
            <a:r>
              <a:rPr sz="819" b="0">
                <a:solidFill>
                  <a:srgbClr val="334155"/>
                </a:solidFill>
                <a:latin typeface="Calibri"/>
              </a:rPr>
              <a:t>    Comprehensive final project defense before the examination board.</a:t>
            </a:r>
          </a:p>
          <a:p>
            <a:pPr>
              <a:spcAft>
                <a:spcPts val="200"/>
              </a:spcAft>
            </a:pPr>
            <a:r>
              <a:rPr sz="919" b="1">
                <a:solidFill>
                  <a:srgbClr val="D97706"/>
                </a:solidFill>
                <a:latin typeface="Calibri"/>
              </a:rPr>
              <a:t>★  [30.10.2026]  Final Report Submission ★
</a:t>
            </a:r>
            <a:r>
              <a:rPr sz="819" b="0">
                <a:solidFill>
                  <a:srgbClr val="334155"/>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PROJECT TIMELINE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4206240" cy="292608"/>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CONCLUSION</a:t>
            </a:r>
          </a:p>
        </p:txBody>
      </p:sp>
      <p:sp>
        <p:nvSpPr>
          <p:cNvPr id="4" name="TextBox 3"/>
          <p:cNvSpPr txBox="1"/>
          <p:nvPr/>
        </p:nvSpPr>
        <p:spPr>
          <a:xfrm>
            <a:off x="457200" y="658368"/>
            <a:ext cx="11247120" cy="621792"/>
          </a:xfrm>
          <a:prstGeom prst="rect">
            <a:avLst/>
          </a:prstGeom>
          <a:noFill/>
        </p:spPr>
        <p:txBody>
          <a:bodyPr wrap="none">
            <a:spAutoFit/>
          </a:bodyPr>
          <a:lstStyle/>
          <a:p>
            <a:pPr>
              <a:defRPr sz="2800" b="1">
                <a:solidFill>
                  <a:srgbClr val="FFFFFF"/>
                </a:solidFill>
                <a:latin typeface="Cambria"/>
              </a:defRPr>
            </a:pPr>
            <a:r>
              <a:t>Conclusion &amp; Implementation Roadmap</a:t>
            </a:r>
          </a:p>
        </p:txBody>
      </p:sp>
      <p:sp>
        <p:nvSpPr>
          <p:cNvPr id="5" name="TextBox 4"/>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6" name="TextBox 5"/>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7" name="TextBox 6"/>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20 of 20</a:t>
            </a:r>
          </a:p>
        </p:txBody>
      </p:sp>
      <p:sp>
        <p:nvSpPr>
          <p:cNvPr id="8" name="Rounded Rectangle 7"/>
          <p:cNvSpPr/>
          <p:nvPr/>
        </p:nvSpPr>
        <p:spPr>
          <a:xfrm>
            <a:off x="457200" y="1371600"/>
            <a:ext cx="5440680" cy="3383280"/>
          </a:xfrm>
          <a:prstGeom prst="roundRect">
            <a:avLst/>
          </a:prstGeom>
          <a:solidFill>
            <a:srgbClr val="112240"/>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01168" rIns="182880" tIns="164592"/>
          <a:lstStyle/>
          <a:p>
            <a:pPr algn="ctr">
              <a:spcAft>
                <a:spcPts val="600"/>
              </a:spcAft>
              <a:defRPr sz="1200" b="1">
                <a:solidFill>
                  <a:srgbClr val="38BDF8"/>
                </a:solidFill>
                <a:latin typeface="Calibri"/>
              </a:defRPr>
            </a:pPr>
            <a:r>
              <a:t>KEY PHASE 1 ACHIEVEMENTS (SPRINT RELEASE I)</a:t>
            </a:r>
          </a:p>
          <a:p>
            <a:pPr>
              <a:spcAft>
                <a:spcPts val="300"/>
              </a:spcAft>
            </a:pPr>
            <a:r>
              <a:rPr sz="1000" b="1">
                <a:solidFill>
                  <a:srgbClr val="4ADE80"/>
                </a:solidFill>
                <a:latin typeface="Calibri"/>
              </a:rPr>
              <a:t>✓ Problem Addressed: </a:t>
            </a:r>
            <a:r>
              <a:rPr sz="919" b="0">
                <a:solidFill>
                  <a:srgbClr val="F1F5F9"/>
                </a:solidFill>
                <a:latin typeface="Calibri"/>
              </a:rPr>
              <a:t>Formulated automated routing for unstructured clinical narratives across 40 distinct medical specialties.</a:t>
            </a:r>
          </a:p>
          <a:p>
            <a:pPr>
              <a:spcAft>
                <a:spcPts val="300"/>
              </a:spcAft>
            </a:pPr>
            <a:r>
              <a:rPr sz="1000" b="1">
                <a:solidFill>
                  <a:srgbClr val="4ADE80"/>
                </a:solidFill>
                <a:latin typeface="Calibri"/>
              </a:rPr>
              <a:t>✓ Data Audit Complete: </a:t>
            </a:r>
            <a:r>
              <a:rPr sz="919" b="0">
                <a:solidFill>
                  <a:srgbClr val="F1F5F9"/>
                </a:solidFill>
                <a:latin typeface="Calibri"/>
              </a:rPr>
              <a:t>Cleaned 4,999 MTSamples records; audited nulls and isolated 4,966 validated clinical transcripts.</a:t>
            </a:r>
          </a:p>
          <a:p>
            <a:pPr>
              <a:spcAft>
                <a:spcPts val="300"/>
              </a:spcAft>
            </a:pPr>
            <a:r>
              <a:rPr sz="1000" b="1">
                <a:solidFill>
                  <a:srgbClr val="4ADE80"/>
                </a:solidFill>
                <a:latin typeface="Calibri"/>
              </a:rPr>
              <a:t>✓ In-Depth EDA Executed: </a:t>
            </a:r>
            <a:r>
              <a:rPr sz="919" b="0">
                <a:solidFill>
                  <a:srgbClr val="F1F5F9"/>
                </a:solidFill>
                <a:latin typeface="Calibri"/>
              </a:rPr>
              <a:t>Characterized severe long-tail class skew, document token density, and vocabulary distribution patterns.</a:t>
            </a:r>
          </a:p>
          <a:p>
            <a:pPr>
              <a:spcAft>
                <a:spcPts val="300"/>
              </a:spcAft>
            </a:pPr>
            <a:r>
              <a:rPr sz="1000" b="1">
                <a:solidFill>
                  <a:srgbClr val="4ADE80"/>
                </a:solidFill>
                <a:latin typeface="Calibri"/>
              </a:rPr>
              <a:t>✓ Leakage-Free Pipeline: </a:t>
            </a:r>
            <a:r>
              <a:rPr sz="919" b="0">
                <a:solidFill>
                  <a:srgbClr val="F1F5F9"/>
                </a:solidFill>
                <a:latin typeface="Calibri"/>
              </a:rPr>
              <a:t>Designed modular 8-step NLP cleaner with strict train-only TF-IDF vectorization to avoid data leakage.</a:t>
            </a:r>
          </a:p>
          <a:p>
            <a:pPr>
              <a:spcAft>
                <a:spcPts val="300"/>
              </a:spcAft>
            </a:pPr>
            <a:r>
              <a:rPr sz="1000" b="1">
                <a:solidFill>
                  <a:srgbClr val="4ADE80"/>
                </a:solidFill>
                <a:latin typeface="Calibri"/>
              </a:rPr>
              <a:t>✓ Architecture Established: </a:t>
            </a:r>
            <a:r>
              <a:rPr sz="919" b="0">
                <a:solidFill>
                  <a:srgbClr val="F1F5F9"/>
                </a:solidFill>
                <a:latin typeface="Calibri"/>
              </a:rPr>
              <a:t>Selected 4 diverse classifiers (SVM, RF, LR, MNB) unified under a Soft-Voting probability consensus model.</a:t>
            </a:r>
          </a:p>
        </p:txBody>
      </p:sp>
      <p:sp>
        <p:nvSpPr>
          <p:cNvPr id="9" name="Rounded Rectangle 8"/>
          <p:cNvSpPr/>
          <p:nvPr/>
        </p:nvSpPr>
        <p:spPr>
          <a:xfrm>
            <a:off x="6217920" y="1371600"/>
            <a:ext cx="5486400" cy="3383280"/>
          </a:xfrm>
          <a:prstGeom prst="roundRect">
            <a:avLst/>
          </a:prstGeom>
          <a:solidFill>
            <a:srgbClr val="112240"/>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201168" rIns="182880" tIns="164592"/>
          <a:lstStyle/>
          <a:p>
            <a:pPr algn="ctr">
              <a:spcAft>
                <a:spcPts val="600"/>
              </a:spcAft>
              <a:defRPr sz="1200" b="1">
                <a:solidFill>
                  <a:srgbClr val="C084FC"/>
                </a:solidFill>
                <a:latin typeface="Calibri"/>
              </a:defRPr>
            </a:pPr>
            <a:r>
              <a:t>PLANNED NEXT STEPS (PHASES 2 &amp; 3)</a:t>
            </a:r>
          </a:p>
          <a:p>
            <a:pPr>
              <a:spcAft>
                <a:spcPts val="300"/>
              </a:spcAft>
            </a:pPr>
            <a:r>
              <a:rPr sz="1000" b="1">
                <a:solidFill>
                  <a:srgbClr val="60A5FA"/>
                </a:solidFill>
                <a:latin typeface="Calibri"/>
              </a:rPr>
              <a:t>→ Execute Cleaning Pipeline: </a:t>
            </a:r>
            <a:r>
              <a:rPr sz="919" b="0">
                <a:solidFill>
                  <a:srgbClr val="F1F5F9"/>
                </a:solidFill>
                <a:latin typeface="Calibri"/>
              </a:rPr>
              <a:t>Apply modular character normalization, stop-word pruning, and lemmatization across 4,966 records.</a:t>
            </a:r>
          </a:p>
          <a:p>
            <a:pPr>
              <a:spcAft>
                <a:spcPts val="300"/>
              </a:spcAft>
            </a:pPr>
            <a:r>
              <a:rPr sz="1000" b="1">
                <a:solidFill>
                  <a:srgbClr val="60A5FA"/>
                </a:solidFill>
                <a:latin typeface="Calibri"/>
              </a:rPr>
              <a:t>→ Feature Matrix Extraction: </a:t>
            </a:r>
            <a:r>
              <a:rPr sz="919" b="0">
                <a:solidFill>
                  <a:srgbClr val="F1F5F9"/>
                </a:solidFill>
                <a:latin typeface="Calibri"/>
              </a:rPr>
              <a:t>Fit TF-IDF vectorizer strictly on training split (80:20) with sublinear term-frequency scaling.</a:t>
            </a:r>
          </a:p>
          <a:p>
            <a:pPr>
              <a:spcAft>
                <a:spcPts val="300"/>
              </a:spcAft>
            </a:pPr>
            <a:r>
              <a:rPr sz="1000" b="1">
                <a:solidFill>
                  <a:srgbClr val="60A5FA"/>
                </a:solidFill>
                <a:latin typeface="Calibri"/>
              </a:rPr>
              <a:t>→ Train &amp; Tune Estimators: </a:t>
            </a:r>
            <a:r>
              <a:rPr sz="919" b="0">
                <a:solidFill>
                  <a:srgbClr val="F1F5F9"/>
                </a:solidFill>
                <a:latin typeface="Calibri"/>
              </a:rPr>
              <a:t>Train SVM, Random Forest, Logistic Regression, and MNB classifiers; execute hyperparameter grid tuning.</a:t>
            </a:r>
          </a:p>
          <a:p>
            <a:pPr>
              <a:spcAft>
                <a:spcPts val="300"/>
              </a:spcAft>
            </a:pPr>
            <a:r>
              <a:rPr sz="1000" b="1">
                <a:solidFill>
                  <a:srgbClr val="60A5FA"/>
                </a:solidFill>
                <a:latin typeface="Calibri"/>
              </a:rPr>
              <a:t>→ Build Soft Voting Ensemble: </a:t>
            </a:r>
            <a:r>
              <a:rPr sz="919" b="0">
                <a:solidFill>
                  <a:srgbClr val="F1F5F9"/>
                </a:solidFill>
                <a:latin typeface="Calibri"/>
              </a:rPr>
              <a:t>Implement soft consensus probability aggregation combining calibrated predictive distributions.</a:t>
            </a:r>
          </a:p>
          <a:p>
            <a:pPr>
              <a:spcAft>
                <a:spcPts val="300"/>
              </a:spcAft>
            </a:pPr>
            <a:r>
              <a:rPr sz="1000" b="1">
                <a:solidFill>
                  <a:srgbClr val="60A5FA"/>
                </a:solidFill>
                <a:latin typeface="Calibri"/>
              </a:rPr>
              <a:t>→ Multi-Class Evaluation: </a:t>
            </a:r>
            <a:r>
              <a:rPr sz="919" b="0">
                <a:solidFill>
                  <a:srgbClr val="F1F5F9"/>
                </a:solidFill>
                <a:latin typeface="Calibri"/>
              </a:rPr>
              <a:t>Benchmark Macro/Weighted F1, Recall, Precision, and cross-category Confusion Matrices.</a:t>
            </a:r>
          </a:p>
          <a:p>
            <a:pPr>
              <a:spcAft>
                <a:spcPts val="300"/>
              </a:spcAft>
            </a:pPr>
            <a:r>
              <a:rPr sz="1000" b="1">
                <a:solidFill>
                  <a:srgbClr val="60A5FA"/>
                </a:solidFill>
                <a:latin typeface="Calibri"/>
              </a:rPr>
              <a:t>→ Deployment &amp; Serialization: </a:t>
            </a:r>
            <a:r>
              <a:rPr sz="919" b="0">
                <a:solidFill>
                  <a:srgbClr val="F1F5F9"/>
                </a:solidFill>
                <a:latin typeface="Calibri"/>
              </a:rPr>
              <a:t>Serialize pipeline with Joblib; construct interactive clinician dashboard using Flask.</a:t>
            </a:r>
          </a:p>
        </p:txBody>
      </p:sp>
      <p:sp>
        <p:nvSpPr>
          <p:cNvPr id="10" name="Rounded Rectangle 9"/>
          <p:cNvSpPr/>
          <p:nvPr/>
        </p:nvSpPr>
        <p:spPr>
          <a:xfrm>
            <a:off x="457200" y="4892040"/>
            <a:ext cx="11247120" cy="1463040"/>
          </a:xfrm>
          <a:prstGeom prst="roundRect">
            <a:avLst/>
          </a:prstGeom>
          <a:solidFill>
            <a:srgbClr val="0E2A54"/>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2800" b="1">
                <a:solidFill>
                  <a:srgbClr val="FFFFFF"/>
                </a:solidFill>
                <a:latin typeface="Cambria"/>
              </a:defRPr>
            </a:pPr>
            <a:r>
              <a:t>THANK YOU!</a:t>
            </a:r>
          </a:p>
          <a:p>
            <a:pPr algn="ctr">
              <a:spcAft>
                <a:spcPts val="400"/>
              </a:spcAft>
              <a:defRPr sz="1500" b="1">
                <a:solidFill>
                  <a:srgbClr val="38BDF8"/>
                </a:solidFill>
                <a:latin typeface="Calibri"/>
              </a:defRPr>
            </a:pPr>
            <a:r>
              <a:t>Questions, Suggestions &amp; Discussions are Welcome</a:t>
            </a:r>
          </a:p>
          <a:p>
            <a:pPr algn="ctr">
              <a:defRPr sz="1100">
                <a:solidFill>
                  <a:srgbClr val="94A3B8"/>
                </a:solidFill>
                <a:latin typeface="Calibri"/>
              </a:defRPr>
            </a:pPr>
            <a:r>
              <a:t>Student: Jiphin George (MAC25MCA-2033)  |  Project Guide: Prof. Biju Skaria  |  MCA Mini Project (Semester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