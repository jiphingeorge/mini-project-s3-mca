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82880" cy="5394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777240"/>
            <a:ext cx="10058400" cy="365760"/>
          </a:xfrm>
          <a:prstGeom prst="rect">
            <a:avLst/>
          </a:prstGeom>
          <a:noFill/>
        </p:spPr>
        <p:txBody>
          <a:bodyPr wrap="none" lIns="0" tIns="0" rIns="0" bIns="0">
            <a:spAutoFit/>
          </a:bodyPr>
          <a:lstStyle/>
          <a:p>
            <a:pPr>
              <a:defRPr sz="1100" b="1">
                <a:solidFill>
                  <a:srgbClr val="0D9488"/>
                </a:solidFill>
                <a:latin typeface="Calibri"/>
              </a:defRPr>
            </a:pPr>
            <a:r>
              <a:t>MAR ATHANASIUS COLLEGE OF ENGINEERING, KOTHAMANGALAM</a:t>
            </a:r>
          </a:p>
        </p:txBody>
      </p:sp>
      <p:sp>
        <p:nvSpPr>
          <p:cNvPr id="4" name="TextBox 3"/>
          <p:cNvSpPr txBox="1"/>
          <p:nvPr/>
        </p:nvSpPr>
        <p:spPr>
          <a:xfrm>
            <a:off x="1143000" y="1051560"/>
            <a:ext cx="10058400" cy="320040"/>
          </a:xfrm>
          <a:prstGeom prst="rect">
            <a:avLst/>
          </a:prstGeom>
          <a:noFill/>
        </p:spPr>
        <p:txBody>
          <a:bodyPr wrap="none" lIns="0" tIns="0" rIns="0" bIns="0">
            <a:spAutoFit/>
          </a:bodyPr>
          <a:lstStyle/>
          <a:p>
            <a:pPr>
              <a:defRPr sz="1100">
                <a:solidFill>
                  <a:srgbClr val="64748B"/>
                </a:solidFill>
                <a:latin typeface="Calibri"/>
              </a:defRPr>
            </a:pPr>
            <a:r>
              <a:t>Department of Computer Applications  |  MCA Mini Project (Semester 3)</a:t>
            </a:r>
          </a:p>
        </p:txBody>
      </p:sp>
      <p:sp>
        <p:nvSpPr>
          <p:cNvPr id="5" name="TextBox 4"/>
          <p:cNvSpPr txBox="1"/>
          <p:nvPr/>
        </p:nvSpPr>
        <p:spPr>
          <a:xfrm>
            <a:off x="1143000" y="1600200"/>
            <a:ext cx="10241280" cy="1280160"/>
          </a:xfrm>
          <a:prstGeom prst="rect">
            <a:avLst/>
          </a:prstGeom>
          <a:noFill/>
        </p:spPr>
        <p:txBody>
          <a:bodyPr wrap="square" lIns="0" tIns="0" rIns="0" bIns="0">
            <a:spAutoFit/>
          </a:bodyPr>
          <a:lstStyle/>
          <a:p>
            <a:pPr>
              <a:defRPr sz="2800" b="1">
                <a:solidFill>
                  <a:srgbClr val="0F172A"/>
                </a:solidFill>
                <a:latin typeface="Calibri"/>
              </a:defRPr>
            </a:pPr>
            <a:r>
              <a:t>Medical Specialty Classification using TF-IDF and Ensemble Machine Learning</a:t>
            </a:r>
          </a:p>
        </p:txBody>
      </p:sp>
      <p:sp>
        <p:nvSpPr>
          <p:cNvPr id="6" name="TextBox 5"/>
          <p:cNvSpPr txBox="1"/>
          <p:nvPr/>
        </p:nvSpPr>
        <p:spPr>
          <a:xfrm>
            <a:off x="1143000" y="2971800"/>
            <a:ext cx="10058400" cy="411480"/>
          </a:xfrm>
          <a:prstGeom prst="rect">
            <a:avLst/>
          </a:prstGeom>
          <a:noFill/>
        </p:spPr>
        <p:txBody>
          <a:bodyPr wrap="square" lIns="0" tIns="0" rIns="0" bIns="0">
            <a:spAutoFit/>
          </a:bodyPr>
          <a:lstStyle/>
          <a:p>
            <a:pPr>
              <a:defRPr sz="1400" b="1">
                <a:solidFill>
                  <a:srgbClr val="2563EB"/>
                </a:solidFill>
                <a:latin typeface="Calibri"/>
              </a:defRPr>
            </a:pPr>
            <a:r>
              <a:t>FIRST PROJECT PRESENTATION — SPRINT RELEASE I</a:t>
            </a:r>
          </a:p>
        </p:txBody>
      </p:sp>
      <p:sp>
        <p:nvSpPr>
          <p:cNvPr id="7" name="Rounded Rectangle 6"/>
          <p:cNvSpPr/>
          <p:nvPr/>
        </p:nvSpPr>
        <p:spPr>
          <a:xfrm>
            <a:off x="1143000"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Clinical NLP</a:t>
            </a:r>
          </a:p>
        </p:txBody>
      </p:sp>
      <p:sp>
        <p:nvSpPr>
          <p:cNvPr id="8" name="Rounded Rectangle 7"/>
          <p:cNvSpPr/>
          <p:nvPr/>
        </p:nvSpPr>
        <p:spPr>
          <a:xfrm>
            <a:off x="3182111"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TF-IDF Vectorization</a:t>
            </a:r>
          </a:p>
        </p:txBody>
      </p:sp>
      <p:sp>
        <p:nvSpPr>
          <p:cNvPr id="9" name="Rounded Rectangle 8"/>
          <p:cNvSpPr/>
          <p:nvPr/>
        </p:nvSpPr>
        <p:spPr>
          <a:xfrm>
            <a:off x="5221222"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Supervised ML</a:t>
            </a:r>
          </a:p>
        </p:txBody>
      </p:sp>
      <p:sp>
        <p:nvSpPr>
          <p:cNvPr id="10" name="Rounded Rectangle 9"/>
          <p:cNvSpPr/>
          <p:nvPr/>
        </p:nvSpPr>
        <p:spPr>
          <a:xfrm>
            <a:off x="7260333"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Soft Voting Ensemble</a:t>
            </a:r>
          </a:p>
        </p:txBody>
      </p:sp>
      <p:sp>
        <p:nvSpPr>
          <p:cNvPr id="11" name="Rounded Rectangle 10"/>
          <p:cNvSpPr/>
          <p:nvPr/>
        </p:nvSpPr>
        <p:spPr>
          <a:xfrm>
            <a:off x="9299444"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Flask Deployment</a:t>
            </a:r>
          </a:p>
        </p:txBody>
      </p:sp>
      <p:sp>
        <p:nvSpPr>
          <p:cNvPr id="12" name="Rounded Rectangle 11"/>
          <p:cNvSpPr/>
          <p:nvPr/>
        </p:nvSpPr>
        <p:spPr>
          <a:xfrm>
            <a:off x="1143000" y="4160520"/>
            <a:ext cx="484632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4297680"/>
            <a:ext cx="4389120" cy="1554480"/>
          </a:xfrm>
          <a:prstGeom prst="rect">
            <a:avLst/>
          </a:prstGeom>
          <a:noFill/>
        </p:spPr>
        <p:txBody>
          <a:bodyPr wrap="square">
            <a:spAutoFit/>
          </a:bodyPr>
          <a:lstStyle/>
          <a:p>
            <a:pPr>
              <a:defRPr sz="950" b="1">
                <a:solidFill>
                  <a:srgbClr val="0D9488"/>
                </a:solidFill>
              </a:defRPr>
            </a:pPr>
            <a:r>
              <a:t>PRESENTED BY</a:t>
            </a:r>
          </a:p>
          <a:p>
            <a:pPr>
              <a:defRPr sz="1700" b="1">
                <a:solidFill>
                  <a:srgbClr val="0F172A"/>
                </a:solidFill>
              </a:defRPr>
            </a:pPr>
            <a:r>
              <a:t>Jiphin George</a:t>
            </a:r>
          </a:p>
          <a:p>
            <a:pPr>
              <a:defRPr sz="1050">
                <a:solidFill>
                  <a:srgbClr val="334155"/>
                </a:solidFill>
              </a:defRPr>
            </a:pPr>
            <a:r>
              <a:t>Register No: MAC25MCA-2033</a:t>
            </a:r>
            <a:br/>
            <a:r>
              <a:t>Course: Master of Computer Applications (MCA)</a:t>
            </a:r>
          </a:p>
        </p:txBody>
      </p:sp>
      <p:sp>
        <p:nvSpPr>
          <p:cNvPr id="14" name="Rounded Rectangle 13"/>
          <p:cNvSpPr/>
          <p:nvPr/>
        </p:nvSpPr>
        <p:spPr>
          <a:xfrm>
            <a:off x="6217920" y="4160520"/>
            <a:ext cx="516636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297680"/>
            <a:ext cx="4709160" cy="1554480"/>
          </a:xfrm>
          <a:prstGeom prst="rect">
            <a:avLst/>
          </a:prstGeom>
          <a:noFill/>
        </p:spPr>
        <p:txBody>
          <a:bodyPr wrap="square">
            <a:spAutoFit/>
          </a:bodyPr>
          <a:lstStyle/>
          <a:p>
            <a:pPr>
              <a:defRPr sz="950" b="1">
                <a:solidFill>
                  <a:srgbClr val="0D9488"/>
                </a:solidFill>
              </a:defRPr>
            </a:pPr>
            <a:r>
              <a:t>PROJECT GUIDE</a:t>
            </a:r>
          </a:p>
          <a:p>
            <a:pPr>
              <a:defRPr sz="1700" b="1">
                <a:solidFill>
                  <a:srgbClr val="0F172A"/>
                </a:solidFill>
              </a:defRPr>
            </a:pPr>
            <a:r>
              <a:t>Prof. Biju Skaria</a:t>
            </a:r>
          </a:p>
          <a:p>
            <a:pPr>
              <a:defRPr sz="1050">
                <a:solidFill>
                  <a:srgbClr val="334155"/>
                </a:solidFill>
              </a:defRPr>
            </a:pPr>
            <a:r>
              <a:t>Department of Computer Applications</a:t>
            </a:r>
            <a:br/>
            <a:r>
              <a:t>Mar Athanasius College of Engineering, Kothamangalam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INTRODUCTION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Problem Statement &amp; Project Overview</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2 of 15</a:t>
            </a:r>
          </a:p>
        </p:txBody>
      </p:sp>
      <p:sp>
        <p:nvSpPr>
          <p:cNvPr id="10" name="Rounded Rectangle 9"/>
          <p:cNvSpPr/>
          <p:nvPr/>
        </p:nvSpPr>
        <p:spPr>
          <a:xfrm>
            <a:off x="731520"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34440"/>
            <a:ext cx="1847088" cy="868680"/>
          </a:xfrm>
          <a:prstGeom prst="rect">
            <a:avLst/>
          </a:prstGeom>
          <a:noFill/>
        </p:spPr>
        <p:txBody>
          <a:bodyPr wrap="square">
            <a:spAutoFit/>
          </a:bodyPr>
          <a:lstStyle/>
          <a:p>
            <a:pPr>
              <a:defRPr sz="1050" b="1">
                <a:solidFill>
                  <a:srgbClr val="1D4ED8"/>
                </a:solidFill>
              </a:defRPr>
            </a:pPr>
            <a:r>
              <a:t>1. Clinical Text</a:t>
            </a:r>
          </a:p>
          <a:p>
            <a:pPr>
              <a:defRPr sz="850">
                <a:solidFill>
                  <a:srgbClr val="334155"/>
                </a:solidFill>
              </a:defRPr>
            </a:pPr>
            <a:r>
              <a:t>Unstructured medical narratives &amp; patient records</a:t>
            </a:r>
          </a:p>
        </p:txBody>
      </p:sp>
      <p:sp>
        <p:nvSpPr>
          <p:cNvPr id="12" name="Rounded Rectangle 11"/>
          <p:cNvSpPr/>
          <p:nvPr/>
        </p:nvSpPr>
        <p:spPr>
          <a:xfrm>
            <a:off x="2898648"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1234440"/>
            <a:ext cx="1847088" cy="868680"/>
          </a:xfrm>
          <a:prstGeom prst="rect">
            <a:avLst/>
          </a:prstGeom>
          <a:noFill/>
        </p:spPr>
        <p:txBody>
          <a:bodyPr wrap="square">
            <a:spAutoFit/>
          </a:bodyPr>
          <a:lstStyle/>
          <a:p>
            <a:pPr>
              <a:defRPr sz="1050" b="1">
                <a:solidFill>
                  <a:srgbClr val="1D4ED8"/>
                </a:solidFill>
              </a:defRPr>
            </a:pPr>
            <a:r>
              <a:t>2. Text Preprocessing</a:t>
            </a:r>
          </a:p>
          <a:p>
            <a:pPr>
              <a:defRPr sz="850">
                <a:solidFill>
                  <a:srgbClr val="334155"/>
                </a:solidFill>
              </a:defRPr>
            </a:pPr>
            <a:r>
              <a:t>Cleaning, lemmatization &amp; medical stop-words</a:t>
            </a:r>
          </a:p>
        </p:txBody>
      </p:sp>
      <p:sp>
        <p:nvSpPr>
          <p:cNvPr id="14" name="Rounded Rectangle 13"/>
          <p:cNvSpPr/>
          <p:nvPr/>
        </p:nvSpPr>
        <p:spPr>
          <a:xfrm>
            <a:off x="5065776"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1234440"/>
            <a:ext cx="1847088" cy="868680"/>
          </a:xfrm>
          <a:prstGeom prst="rect">
            <a:avLst/>
          </a:prstGeom>
          <a:noFill/>
        </p:spPr>
        <p:txBody>
          <a:bodyPr wrap="square">
            <a:spAutoFit/>
          </a:bodyPr>
          <a:lstStyle/>
          <a:p>
            <a:pPr>
              <a:defRPr sz="1050" b="1">
                <a:solidFill>
                  <a:srgbClr val="1D4ED8"/>
                </a:solidFill>
              </a:defRPr>
            </a:pPr>
            <a:r>
              <a:t>3. TF-IDF Extraction</a:t>
            </a:r>
          </a:p>
          <a:p>
            <a:pPr>
              <a:defRPr sz="850">
                <a:solidFill>
                  <a:srgbClr val="334155"/>
                </a:solidFill>
              </a:defRPr>
            </a:pPr>
            <a:r>
              <a:t>Unigram/bigram numerical vectorization</a:t>
            </a:r>
          </a:p>
        </p:txBody>
      </p:sp>
      <p:sp>
        <p:nvSpPr>
          <p:cNvPr id="16" name="Rounded Rectangle 15"/>
          <p:cNvSpPr/>
          <p:nvPr/>
        </p:nvSpPr>
        <p:spPr>
          <a:xfrm>
            <a:off x="7232904"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344" y="1234440"/>
            <a:ext cx="1847088" cy="868680"/>
          </a:xfrm>
          <a:prstGeom prst="rect">
            <a:avLst/>
          </a:prstGeom>
          <a:noFill/>
        </p:spPr>
        <p:txBody>
          <a:bodyPr wrap="square">
            <a:spAutoFit/>
          </a:bodyPr>
          <a:lstStyle/>
          <a:p>
            <a:pPr>
              <a:defRPr sz="1050" b="1">
                <a:solidFill>
                  <a:srgbClr val="1D4ED8"/>
                </a:solidFill>
              </a:defRPr>
            </a:pPr>
            <a:r>
              <a:t>4. Ensemble ML</a:t>
            </a:r>
          </a:p>
          <a:p>
            <a:pPr>
              <a:defRPr sz="850">
                <a:solidFill>
                  <a:srgbClr val="334155"/>
                </a:solidFill>
              </a:defRPr>
            </a:pPr>
            <a:r>
              <a:t>Calibrated soft-voting classification</a:t>
            </a:r>
          </a:p>
        </p:txBody>
      </p:sp>
      <p:sp>
        <p:nvSpPr>
          <p:cNvPr id="18" name="Rounded Rectangle 17"/>
          <p:cNvSpPr/>
          <p:nvPr/>
        </p:nvSpPr>
        <p:spPr>
          <a:xfrm>
            <a:off x="9400032"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1234440"/>
            <a:ext cx="1847088" cy="868680"/>
          </a:xfrm>
          <a:prstGeom prst="rect">
            <a:avLst/>
          </a:prstGeom>
          <a:noFill/>
        </p:spPr>
        <p:txBody>
          <a:bodyPr wrap="square">
            <a:spAutoFit/>
          </a:bodyPr>
          <a:lstStyle/>
          <a:p>
            <a:pPr>
              <a:defRPr sz="1050" b="1">
                <a:solidFill>
                  <a:srgbClr val="1D4ED8"/>
                </a:solidFill>
              </a:defRPr>
            </a:pPr>
            <a:r>
              <a:t>5. Medical Specialty</a:t>
            </a:r>
          </a:p>
          <a:p>
            <a:pPr>
              <a:defRPr sz="850">
                <a:solidFill>
                  <a:srgbClr val="334155"/>
                </a:solidFill>
              </a:defRPr>
            </a:pPr>
            <a:r>
              <a:t>Automated prediction across 40 departments</a:t>
            </a:r>
          </a:p>
        </p:txBody>
      </p:sp>
      <p:sp>
        <p:nvSpPr>
          <p:cNvPr id="20" name="Rounded Rectangle 19"/>
          <p:cNvSpPr/>
          <p:nvPr/>
        </p:nvSpPr>
        <p:spPr>
          <a:xfrm>
            <a:off x="731520" y="2331720"/>
            <a:ext cx="5230368" cy="384048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468880"/>
            <a:ext cx="4773168" cy="411480"/>
          </a:xfrm>
          <a:prstGeom prst="rect">
            <a:avLst/>
          </a:prstGeom>
          <a:noFill/>
        </p:spPr>
        <p:txBody>
          <a:bodyPr wrap="none">
            <a:spAutoFit/>
          </a:bodyPr>
          <a:lstStyle/>
          <a:p>
            <a:pPr>
              <a:defRPr sz="1200" b="1">
                <a:solidFill>
                  <a:srgbClr val="DC2626"/>
                </a:solidFill>
              </a:defRPr>
            </a:pPr>
            <a:r>
              <a:t>THE CLINICAL CHALLENGE: MANUAL CLASSIFICATION</a:t>
            </a:r>
          </a:p>
        </p:txBody>
      </p:sp>
      <p:sp>
        <p:nvSpPr>
          <p:cNvPr id="22" name="TextBox 21"/>
          <p:cNvSpPr txBox="1"/>
          <p:nvPr/>
        </p:nvSpPr>
        <p:spPr>
          <a:xfrm>
            <a:off x="960120" y="2926080"/>
            <a:ext cx="4773168" cy="3108960"/>
          </a:xfrm>
          <a:prstGeom prst="rect">
            <a:avLst/>
          </a:prstGeom>
          <a:noFill/>
        </p:spPr>
        <p:txBody>
          <a:bodyPr wrap="square">
            <a:spAutoFit/>
          </a:bodyPr>
          <a:lstStyle/>
          <a:p>
            <a:pPr>
              <a:spcBef>
                <a:spcPts val="0"/>
              </a:spcBef>
              <a:defRPr sz="1050" b="1">
                <a:solidFill>
                  <a:srgbClr val="0F172A"/>
                </a:solidFill>
              </a:defRPr>
            </a:pPr>
            <a:r>
              <a:t>•  Unstructured Clinical Narratives: </a:t>
            </a:r>
            <a:r>
              <a:rPr b="0" sz="950">
                <a:solidFill>
                  <a:srgbClr val="334155"/>
                </a:solidFill>
              </a:rPr>
              <a:t>Modern hospitals generate thousands of medical dictations, discharge summaries, and consult notes daily stored entirely as unstructured free text.</a:t>
            </a:r>
          </a:p>
          <a:p>
            <a:pPr>
              <a:spcBef>
                <a:spcPts val="600"/>
              </a:spcBef>
              <a:defRPr sz="1050" b="1">
                <a:solidFill>
                  <a:srgbClr val="0F172A"/>
                </a:solidFill>
              </a:defRPr>
            </a:pPr>
            <a:r>
              <a:t>•  High Vocabulary Diversity &amp; Jargon: </a:t>
            </a:r>
            <a:r>
              <a:rPr b="0" sz="950">
                <a:solidFill>
                  <a:srgbClr val="334155"/>
                </a:solidFill>
              </a:rPr>
              <a:t>Medical terminology varies drastically between subdomains, containing dense Latin roots, complex clinical abbreviations, and doctor-specific phrasing.</a:t>
            </a:r>
          </a:p>
          <a:p>
            <a:pPr>
              <a:spcBef>
                <a:spcPts val="600"/>
              </a:spcBef>
              <a:defRPr sz="1050" b="1">
                <a:solidFill>
                  <a:srgbClr val="0F172A"/>
                </a:solidFill>
              </a:defRPr>
            </a:pPr>
            <a:r>
              <a:t>•  Labor-Intensive &amp; Error-Prone Tagging: </a:t>
            </a:r>
            <a:r>
              <a:rPr b="0" sz="950">
                <a:solidFill>
                  <a:srgbClr val="334155"/>
                </a:solidFill>
              </a:rPr>
              <a:t>Manual review and indexing across 40+ medical specialties is severely time-consuming, expensive, and subject to human cognitive fatigue.</a:t>
            </a:r>
          </a:p>
          <a:p>
            <a:pPr>
              <a:spcBef>
                <a:spcPts val="600"/>
              </a:spcBef>
              <a:defRPr sz="1050" b="1">
                <a:solidFill>
                  <a:srgbClr val="0F172A"/>
                </a:solidFill>
              </a:defRPr>
            </a:pPr>
            <a:r>
              <a:t>•  Inconsistent Cross-Department Labeling: </a:t>
            </a:r>
            <a:r>
              <a:rPr b="0" sz="950">
                <a:solidFill>
                  <a:srgbClr val="334155"/>
                </a:solidFill>
              </a:rPr>
              <a:t>Different human annotators assign conflicting specialty tags to overlapping patient cases, impairing hospital record retrieval and patient workflow.</a:t>
            </a:r>
          </a:p>
        </p:txBody>
      </p:sp>
      <p:sp>
        <p:nvSpPr>
          <p:cNvPr id="23" name="Rounded Rectangle 22"/>
          <p:cNvSpPr/>
          <p:nvPr/>
        </p:nvSpPr>
        <p:spPr>
          <a:xfrm>
            <a:off x="6217920" y="2331720"/>
            <a:ext cx="5230368" cy="38404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468880"/>
            <a:ext cx="4773168" cy="411480"/>
          </a:xfrm>
          <a:prstGeom prst="rect">
            <a:avLst/>
          </a:prstGeom>
          <a:noFill/>
        </p:spPr>
        <p:txBody>
          <a:bodyPr wrap="none">
            <a:spAutoFit/>
          </a:bodyPr>
          <a:lstStyle/>
          <a:p>
            <a:pPr>
              <a:defRPr sz="1200" b="1">
                <a:solidFill>
                  <a:srgbClr val="166534"/>
                </a:solidFill>
              </a:defRPr>
            </a:pPr>
            <a:r>
              <a:t>THE PROPOSED SOLUTION: AUTOMATED ML PIPELINE</a:t>
            </a:r>
          </a:p>
        </p:txBody>
      </p:sp>
      <p:sp>
        <p:nvSpPr>
          <p:cNvPr id="25" name="TextBox 24"/>
          <p:cNvSpPr txBox="1"/>
          <p:nvPr/>
        </p:nvSpPr>
        <p:spPr>
          <a:xfrm>
            <a:off x="6446520" y="2926080"/>
            <a:ext cx="4773168" cy="3108960"/>
          </a:xfrm>
          <a:prstGeom prst="rect">
            <a:avLst/>
          </a:prstGeom>
          <a:noFill/>
        </p:spPr>
        <p:txBody>
          <a:bodyPr wrap="square">
            <a:spAutoFit/>
          </a:bodyPr>
          <a:lstStyle/>
          <a:p>
            <a:pPr>
              <a:spcBef>
                <a:spcPts val="0"/>
              </a:spcBef>
              <a:defRPr sz="1050" b="1">
                <a:solidFill>
                  <a:srgbClr val="0F172A"/>
                </a:solidFill>
              </a:defRPr>
            </a:pPr>
            <a:r>
              <a:t>✓  Automated NLP &amp; TF-IDF Extraction: </a:t>
            </a:r>
            <a:r>
              <a:rPr b="0" sz="950">
                <a:solidFill>
                  <a:srgbClr val="334155"/>
                </a:solidFill>
              </a:rPr>
              <a:t>Transforms unstructured medical text through lowercasing, stop-word removal, and lemmatization into standardized, high-dimensional TF-IDF feature vectors.</a:t>
            </a:r>
          </a:p>
          <a:p>
            <a:pPr>
              <a:spcBef>
                <a:spcPts val="600"/>
              </a:spcBef>
              <a:defRPr sz="1050" b="1">
                <a:solidFill>
                  <a:srgbClr val="0F172A"/>
                </a:solidFill>
              </a:defRPr>
            </a:pPr>
            <a:r>
              <a:t>✓  Multi-Classifier Supervised Learning: </a:t>
            </a:r>
            <a:r>
              <a:rPr b="0" sz="950">
                <a:solidFill>
                  <a:srgbClr val="334155"/>
                </a:solidFill>
              </a:rPr>
              <a:t>Evaluates four distinct algorithms: SVM, Random Forest, Logistic Regression, and Multinomial Naive Bayes.</a:t>
            </a:r>
          </a:p>
          <a:p>
            <a:pPr>
              <a:spcBef>
                <a:spcPts val="600"/>
              </a:spcBef>
              <a:defRPr sz="1050" b="1">
                <a:solidFill>
                  <a:srgbClr val="0F172A"/>
                </a:solidFill>
              </a:defRPr>
            </a:pPr>
            <a:r>
              <a:t>✓  Soft Consensus Voting Ensemble: </a:t>
            </a:r>
            <a:r>
              <a:rPr b="0" sz="950">
                <a:solidFill>
                  <a:srgbClr val="334155"/>
                </a:solidFill>
              </a:rPr>
              <a:t>Synthesizes calibrated class probability distributions across all candidate models to mitigate individual classifier bias and reduce variance.</a:t>
            </a:r>
          </a:p>
          <a:p>
            <a:pPr>
              <a:spcBef>
                <a:spcPts val="600"/>
              </a:spcBef>
              <a:defRPr sz="1050" b="1">
                <a:solidFill>
                  <a:srgbClr val="0F172A"/>
                </a:solidFill>
              </a:defRPr>
            </a:pPr>
            <a:r>
              <a:t>✓  Live Interactive Web Deployment: </a:t>
            </a:r>
            <a:r>
              <a:rPr b="0" sz="950">
                <a:solidFill>
                  <a:srgbClr val="334155"/>
                </a:solidFill>
              </a:rPr>
              <a:t>Integrates the serialized pipeline into a lightweight Flask web application, delivering instant specialty predictions and confidence scores for clinicians.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Literature Review: Background &amp; Research Landscape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3 of 15</a:t>
            </a:r>
          </a:p>
        </p:txBody>
      </p:sp>
      <p:sp>
        <p:nvSpPr>
          <p:cNvPr id="10" name="Rounded Rectangle 9"/>
          <p:cNvSpPr/>
          <p:nvPr/>
        </p:nvSpPr>
        <p:spPr>
          <a:xfrm>
            <a:off x="731520"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188720"/>
            <a:ext cx="2359152" cy="685800"/>
          </a:xfrm>
          <a:prstGeom prst="rect">
            <a:avLst/>
          </a:prstGeom>
          <a:noFill/>
        </p:spPr>
        <p:txBody>
          <a:bodyPr wrap="square">
            <a:spAutoFit/>
          </a:bodyPr>
          <a:lstStyle/>
          <a:p>
            <a:pPr>
              <a:defRPr sz="1000" b="1">
                <a:solidFill>
                  <a:srgbClr val="1D4ED8"/>
                </a:solidFill>
              </a:defRPr>
            </a:pPr>
            <a:r>
              <a:t>1. Prior Literature</a:t>
            </a:r>
          </a:p>
          <a:p>
            <a:pPr>
              <a:defRPr sz="850">
                <a:solidFill>
                  <a:srgbClr val="64748B"/>
                </a:solidFill>
              </a:defRPr>
            </a:pPr>
            <a:r>
              <a:t>Validation of ML for clinical text</a:t>
            </a:r>
          </a:p>
        </p:txBody>
      </p:sp>
      <p:sp>
        <p:nvSpPr>
          <p:cNvPr id="12" name="Rounded Rectangle 11"/>
          <p:cNvSpPr/>
          <p:nvPr/>
        </p:nvSpPr>
        <p:spPr>
          <a:xfrm>
            <a:off x="3456432"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188720"/>
            <a:ext cx="2359152" cy="685800"/>
          </a:xfrm>
          <a:prstGeom prst="rect">
            <a:avLst/>
          </a:prstGeom>
          <a:noFill/>
        </p:spPr>
        <p:txBody>
          <a:bodyPr wrap="square">
            <a:spAutoFit/>
          </a:bodyPr>
          <a:lstStyle/>
          <a:p>
            <a:pPr>
              <a:defRPr sz="1000" b="1">
                <a:solidFill>
                  <a:srgbClr val="1D4ED8"/>
                </a:solidFill>
              </a:defRPr>
            </a:pPr>
            <a:r>
              <a:t>2. Key Methodologies</a:t>
            </a:r>
          </a:p>
          <a:p>
            <a:pPr>
              <a:defRPr sz="850">
                <a:solidFill>
                  <a:srgbClr val="64748B"/>
                </a:solidFill>
              </a:defRPr>
            </a:pPr>
            <a:r>
              <a:t>TF-IDF vectorization &amp; linear classifiers</a:t>
            </a:r>
          </a:p>
        </p:txBody>
      </p:sp>
      <p:sp>
        <p:nvSpPr>
          <p:cNvPr id="14" name="Rounded Rectangle 13"/>
          <p:cNvSpPr/>
          <p:nvPr/>
        </p:nvSpPr>
        <p:spPr>
          <a:xfrm>
            <a:off x="6181344"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1188720"/>
            <a:ext cx="2359152" cy="685800"/>
          </a:xfrm>
          <a:prstGeom prst="rect">
            <a:avLst/>
          </a:prstGeom>
          <a:noFill/>
        </p:spPr>
        <p:txBody>
          <a:bodyPr wrap="square">
            <a:spAutoFit/>
          </a:bodyPr>
          <a:lstStyle/>
          <a:p>
            <a:pPr>
              <a:defRPr sz="1000" b="1">
                <a:solidFill>
                  <a:srgbClr val="1D4ED8"/>
                </a:solidFill>
              </a:defRPr>
            </a:pPr>
            <a:r>
              <a:t>3. Identified Gap</a:t>
            </a:r>
          </a:p>
          <a:p>
            <a:pPr>
              <a:defRPr sz="850">
                <a:solidFill>
                  <a:srgbClr val="64748B"/>
                </a:solidFill>
              </a:defRPr>
            </a:pPr>
            <a:r>
              <a:t>High variance &amp; heavy GPU requirements</a:t>
            </a:r>
          </a:p>
        </p:txBody>
      </p:sp>
      <p:sp>
        <p:nvSpPr>
          <p:cNvPr id="16" name="Rounded Rectangle 15"/>
          <p:cNvSpPr/>
          <p:nvPr/>
        </p:nvSpPr>
        <p:spPr>
          <a:xfrm>
            <a:off x="8906256"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1188720"/>
            <a:ext cx="2359152" cy="685800"/>
          </a:xfrm>
          <a:prstGeom prst="rect">
            <a:avLst/>
          </a:prstGeom>
          <a:noFill/>
        </p:spPr>
        <p:txBody>
          <a:bodyPr wrap="square">
            <a:spAutoFit/>
          </a:bodyPr>
          <a:lstStyle/>
          <a:p>
            <a:pPr>
              <a:defRPr sz="1000" b="1">
                <a:solidFill>
                  <a:srgbClr val="1D4ED8"/>
                </a:solidFill>
              </a:defRPr>
            </a:pPr>
            <a:r>
              <a:t>4. Proposed Architecture</a:t>
            </a:r>
          </a:p>
          <a:p>
            <a:pPr>
              <a:defRPr sz="850">
                <a:solidFill>
                  <a:srgbClr val="64748B"/>
                </a:solidFill>
              </a:defRPr>
            </a:pPr>
            <a:r>
              <a:t>Lightweight soft voting ensemble on web</a:t>
            </a:r>
          </a:p>
        </p:txBody>
      </p:sp>
      <p:sp>
        <p:nvSpPr>
          <p:cNvPr id="18" name="Rounded Rectangle 17"/>
          <p:cNvSpPr/>
          <p:nvPr/>
        </p:nvSpPr>
        <p:spPr>
          <a:xfrm>
            <a:off x="7315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148840"/>
            <a:ext cx="73152" cy="1965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258568"/>
            <a:ext cx="4864608" cy="1737360"/>
          </a:xfrm>
          <a:prstGeom prst="rect">
            <a:avLst/>
          </a:prstGeom>
          <a:noFill/>
        </p:spPr>
        <p:txBody>
          <a:bodyPr wrap="square">
            <a:spAutoFit/>
          </a:bodyPr>
          <a:lstStyle/>
          <a:p>
            <a:pPr>
              <a:defRPr sz="1150" b="1">
                <a:solidFill>
                  <a:srgbClr val="0D9488"/>
                </a:solidFill>
              </a:defRPr>
            </a:pPr>
            <a:r>
              <a:t>Clinical NLP &amp; Preprocessing</a:t>
            </a:r>
          </a:p>
          <a:p>
            <a:pPr>
              <a:spcBef>
                <a:spcPts val="300"/>
              </a:spcBef>
              <a:defRPr sz="900">
                <a:solidFill>
                  <a:srgbClr val="334155"/>
                </a:solidFill>
              </a:defRPr>
            </a:pPr>
            <a:r>
              <a:t>•  Medical text contains distinct lexical noise: contractions, special characters, and non-informative clinical stops.</a:t>
            </a:r>
          </a:p>
          <a:p>
            <a:pPr>
              <a:spcBef>
                <a:spcPts val="300"/>
              </a:spcBef>
              <a:defRPr sz="900">
                <a:solidFill>
                  <a:srgbClr val="334155"/>
                </a:solidFill>
              </a:defRPr>
            </a:pPr>
            <a:r>
              <a:t>•  Studies establish a standard 5-step sequence: Cleaning, Lowercasing, Stop-word removal, Lemmatization, and Tokenization.</a:t>
            </a:r>
          </a:p>
          <a:p>
            <a:pPr>
              <a:spcBef>
                <a:spcPts val="300"/>
              </a:spcBef>
              <a:defRPr sz="900">
                <a:solidFill>
                  <a:srgbClr val="334155"/>
                </a:solidFill>
              </a:defRPr>
            </a:pPr>
            <a:r>
              <a:t>•  Domain-specific lemmatization normalizes inflected clinical roots without losing diagnostic context.</a:t>
            </a:r>
          </a:p>
        </p:txBody>
      </p:sp>
      <p:sp>
        <p:nvSpPr>
          <p:cNvPr id="21" name="Rounded Rectangle 20"/>
          <p:cNvSpPr/>
          <p:nvPr/>
        </p:nvSpPr>
        <p:spPr>
          <a:xfrm>
            <a:off x="62179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2148840"/>
            <a:ext cx="73152" cy="1965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258568"/>
            <a:ext cx="4864608" cy="1737360"/>
          </a:xfrm>
          <a:prstGeom prst="rect">
            <a:avLst/>
          </a:prstGeom>
          <a:noFill/>
        </p:spPr>
        <p:txBody>
          <a:bodyPr wrap="square">
            <a:spAutoFit/>
          </a:bodyPr>
          <a:lstStyle/>
          <a:p>
            <a:pPr>
              <a:defRPr sz="1150" b="1">
                <a:solidFill>
                  <a:srgbClr val="1D4ED8"/>
                </a:solidFill>
              </a:defRPr>
            </a:pPr>
            <a:r>
              <a:t>TF-IDF Feature Representation</a:t>
            </a:r>
          </a:p>
          <a:p>
            <a:pPr>
              <a:spcBef>
                <a:spcPts val="300"/>
              </a:spcBef>
              <a:defRPr sz="900">
                <a:solidFill>
                  <a:srgbClr val="334155"/>
                </a:solidFill>
              </a:defRPr>
            </a:pPr>
            <a:r>
              <a:t>•  Clinical notes exhibit high dimensional vocabulary with extreme word frequency variance across specialties.</a:t>
            </a:r>
          </a:p>
          <a:p>
            <a:pPr>
              <a:spcBef>
                <a:spcPts val="300"/>
              </a:spcBef>
              <a:defRPr sz="900">
                <a:solidFill>
                  <a:srgbClr val="334155"/>
                </a:solidFill>
              </a:defRPr>
            </a:pPr>
            <a:r>
              <a:t>•  TF-IDF with sublinear scaling (1 + log(TF)) dampens repetitive clinical terms ('patient', 'procedure').</a:t>
            </a:r>
          </a:p>
          <a:p>
            <a:pPr>
              <a:spcBef>
                <a:spcPts val="300"/>
              </a:spcBef>
              <a:defRPr sz="900">
                <a:solidFill>
                  <a:srgbClr val="334155"/>
                </a:solidFill>
              </a:defRPr>
            </a:pPr>
            <a:r>
              <a:t>•  Significantly faster and more lightweight than Word2Vec or deep embeddings, enabling instant local web deployment.</a:t>
            </a:r>
          </a:p>
        </p:txBody>
      </p:sp>
      <p:sp>
        <p:nvSpPr>
          <p:cNvPr id="24" name="Rounded Rectangle 23"/>
          <p:cNvSpPr/>
          <p:nvPr/>
        </p:nvSpPr>
        <p:spPr>
          <a:xfrm>
            <a:off x="7315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251960"/>
            <a:ext cx="73152" cy="1965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361688"/>
            <a:ext cx="4864608" cy="1737360"/>
          </a:xfrm>
          <a:prstGeom prst="rect">
            <a:avLst/>
          </a:prstGeom>
          <a:noFill/>
        </p:spPr>
        <p:txBody>
          <a:bodyPr wrap="square">
            <a:spAutoFit/>
          </a:bodyPr>
          <a:lstStyle/>
          <a:p>
            <a:pPr>
              <a:defRPr sz="1150" b="1">
                <a:solidFill>
                  <a:srgbClr val="2563EB"/>
                </a:solidFill>
              </a:defRPr>
            </a:pPr>
            <a:r>
              <a:t>Supervised ML Classifiers</a:t>
            </a:r>
          </a:p>
          <a:p>
            <a:pPr>
              <a:spcBef>
                <a:spcPts val="300"/>
              </a:spcBef>
              <a:defRPr sz="900">
                <a:solidFill>
                  <a:srgbClr val="334155"/>
                </a:solidFill>
              </a:defRPr>
            </a:pPr>
            <a:r>
              <a:t>•  Literature demonstrates that SVM and Logistic Regression excel at high-dimensional sparse text vectors.</a:t>
            </a:r>
          </a:p>
          <a:p>
            <a:pPr>
              <a:spcBef>
                <a:spcPts val="300"/>
              </a:spcBef>
              <a:defRPr sz="900">
                <a:solidFill>
                  <a:srgbClr val="334155"/>
                </a:solidFill>
              </a:defRPr>
            </a:pPr>
            <a:r>
              <a:t>•  Random Forest introduces non-linear feature interactions and bagging robustness.</a:t>
            </a:r>
          </a:p>
          <a:p>
            <a:pPr>
              <a:spcBef>
                <a:spcPts val="300"/>
              </a:spcBef>
              <a:defRPr sz="900">
                <a:solidFill>
                  <a:srgbClr val="334155"/>
                </a:solidFill>
              </a:defRPr>
            </a:pPr>
            <a:r>
              <a:t>•  Multinomial Naive Bayes provides strong, rapid probabilistic likelihoods for word frequency text representations.</a:t>
            </a:r>
          </a:p>
        </p:txBody>
      </p:sp>
      <p:sp>
        <p:nvSpPr>
          <p:cNvPr id="27" name="Rounded Rectangle 26"/>
          <p:cNvSpPr/>
          <p:nvPr/>
        </p:nvSpPr>
        <p:spPr>
          <a:xfrm>
            <a:off x="62179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251960"/>
            <a:ext cx="73152" cy="1965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361688"/>
            <a:ext cx="4864608" cy="1737360"/>
          </a:xfrm>
          <a:prstGeom prst="rect">
            <a:avLst/>
          </a:prstGeom>
          <a:noFill/>
        </p:spPr>
        <p:txBody>
          <a:bodyPr wrap="square">
            <a:spAutoFit/>
          </a:bodyPr>
          <a:lstStyle/>
          <a:p>
            <a:pPr>
              <a:defRPr sz="1150" b="1">
                <a:solidFill>
                  <a:srgbClr val="7C3AED"/>
                </a:solidFill>
              </a:defRPr>
            </a:pPr>
            <a:r>
              <a:t>Ensemble Learning &amp; Research Gap</a:t>
            </a:r>
          </a:p>
          <a:p>
            <a:pPr>
              <a:spcBef>
                <a:spcPts val="300"/>
              </a:spcBef>
              <a:defRPr sz="900">
                <a:solidFill>
                  <a:srgbClr val="334155"/>
                </a:solidFill>
              </a:defRPr>
            </a:pPr>
            <a:r>
              <a:t>•  Individual models show variable recall across the 40 imbalanced medical specialties in clinical practice.</a:t>
            </a:r>
          </a:p>
          <a:p>
            <a:pPr>
              <a:spcBef>
                <a:spcPts val="300"/>
              </a:spcBef>
              <a:defRPr sz="900">
                <a:solidFill>
                  <a:srgbClr val="334155"/>
                </a:solidFill>
              </a:defRPr>
            </a:pPr>
            <a:r>
              <a:t>•  Deep transformer models (BioBERT) require heavy GPU servers, unsuitable for lightweight hospital web apps.</a:t>
            </a:r>
          </a:p>
          <a:p>
            <a:pPr>
              <a:spcBef>
                <a:spcPts val="300"/>
              </a:spcBef>
              <a:defRPr sz="900">
                <a:solidFill>
                  <a:srgbClr val="334155"/>
                </a:solidFill>
              </a:defRPr>
            </a:pPr>
            <a:r>
              <a:t>•  Research Gap: Need for a fast, accessible Soft Voting Ensemble combining calibrated base estimators.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Summary of Key Research Papers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4 of 15</a:t>
            </a:r>
          </a:p>
        </p:txBody>
      </p:sp>
      <p:sp>
        <p:nvSpPr>
          <p:cNvPr id="10" name="Rounded Rectangle 9"/>
          <p:cNvSpPr/>
          <p:nvPr/>
        </p:nvSpPr>
        <p:spPr>
          <a:xfrm>
            <a:off x="731520"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342900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389888"/>
            <a:ext cx="3063240" cy="4617720"/>
          </a:xfrm>
          <a:prstGeom prst="rect">
            <a:avLst/>
          </a:prstGeom>
          <a:noFill/>
        </p:spPr>
        <p:txBody>
          <a:bodyPr wrap="square">
            <a:spAutoFit/>
          </a:bodyPr>
          <a:lstStyle/>
          <a:p>
            <a:pPr>
              <a:defRPr sz="950" b="1">
                <a:solidFill>
                  <a:srgbClr val="1D4ED8"/>
                </a:solidFill>
              </a:defRPr>
            </a:pPr>
            <a:r>
              <a:t>PAPER 1</a:t>
            </a:r>
          </a:p>
          <a:p>
            <a:pPr>
              <a:spcBef>
                <a:spcPts val="200"/>
              </a:spcBef>
              <a:defRPr sz="1200" b="1">
                <a:solidFill>
                  <a:srgbClr val="0F172A"/>
                </a:solidFill>
              </a:defRPr>
            </a:pPr>
            <a:r>
              <a:t>Clinical Text Classification using Machine Learning</a:t>
            </a:r>
          </a:p>
          <a:p>
            <a:pPr>
              <a:spcBef>
                <a:spcPts val="200"/>
              </a:spcBef>
              <a:defRPr sz="950">
                <a:solidFill>
                  <a:srgbClr val="64748B"/>
                </a:solidFill>
              </a:defRPr>
            </a:pPr>
            <a:r>
              <a:t>Authors: Almazaydeh et al. (2023)</a:t>
            </a:r>
          </a:p>
          <a:p>
            <a:pPr>
              <a:spcBef>
                <a:spcPts val="1000"/>
              </a:spcBef>
              <a:defRPr sz="900" b="1">
                <a:solidFill>
                  <a:srgbClr val="1D4ED8"/>
                </a:solidFill>
              </a:defRPr>
            </a:pPr>
            <a:r>
              <a:t>METHODOLOGY &amp; DATASET:</a:t>
            </a:r>
          </a:p>
          <a:p>
            <a:pPr>
              <a:spcBef>
                <a:spcPts val="200"/>
              </a:spcBef>
              <a:defRPr sz="900">
                <a:solidFill>
                  <a:srgbClr val="334155"/>
                </a:solidFill>
              </a:defRPr>
            </a:pPr>
            <a:r>
              <a:t>Kaggle MTSamples Dataset | 5-Stage Modular NLP Pipeline (Cleaning, Lowering, Stop-words, Lemmatization, Tokenization) + TF-IDF Vectorization.</a:t>
            </a:r>
          </a:p>
          <a:p>
            <a:pPr>
              <a:spcBef>
                <a:spcPts val="1000"/>
              </a:spcBef>
              <a:defRPr sz="900" b="1">
                <a:solidFill>
                  <a:srgbClr val="0D9488"/>
                </a:solidFill>
              </a:defRPr>
            </a:pPr>
            <a:r>
              <a:t>KEY RESEARCH FINDING:</a:t>
            </a:r>
          </a:p>
          <a:p>
            <a:pPr>
              <a:spcBef>
                <a:spcPts val="200"/>
              </a:spcBef>
              <a:defRPr sz="900">
                <a:solidFill>
                  <a:srgbClr val="334155"/>
                </a:solidFill>
              </a:defRPr>
            </a:pPr>
            <a:r>
              <a:t>Demonstrated that thorough clinical text preprocessing and TF-IDF feature weighting are critical to prevent sparse lexical noise and boost classification accuracy.</a:t>
            </a:r>
          </a:p>
          <a:p>
            <a:pPr>
              <a:spcBef>
                <a:spcPts val="1000"/>
              </a:spcBef>
              <a:defRPr sz="900" b="1">
                <a:solidFill>
                  <a:srgbClr val="7C3AED"/>
                </a:solidFill>
              </a:defRPr>
            </a:pPr>
            <a:r>
              <a:t>DIRECT RELEVANCE TO OUR SYSTEM:</a:t>
            </a:r>
          </a:p>
          <a:p>
            <a:pPr>
              <a:spcBef>
                <a:spcPts val="200"/>
              </a:spcBef>
              <a:defRPr sz="900">
                <a:solidFill>
                  <a:srgbClr val="334155"/>
                </a:solidFill>
              </a:defRPr>
            </a:pPr>
            <a:r>
              <a:t>Establishes our exact 5-step NLP preprocessing pipeline and proves the efficacy of the public Kaggle MTSamples benchmark dataset.</a:t>
            </a:r>
          </a:p>
        </p:txBody>
      </p:sp>
      <p:sp>
        <p:nvSpPr>
          <p:cNvPr id="13" name="Rounded Rectangle 12"/>
          <p:cNvSpPr/>
          <p:nvPr/>
        </p:nvSpPr>
        <p:spPr>
          <a:xfrm>
            <a:off x="4379976"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188720"/>
            <a:ext cx="342900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389888"/>
            <a:ext cx="3063240" cy="4617720"/>
          </a:xfrm>
          <a:prstGeom prst="rect">
            <a:avLst/>
          </a:prstGeom>
          <a:noFill/>
        </p:spPr>
        <p:txBody>
          <a:bodyPr wrap="square">
            <a:spAutoFit/>
          </a:bodyPr>
          <a:lstStyle/>
          <a:p>
            <a:pPr>
              <a:defRPr sz="950" b="1">
                <a:solidFill>
                  <a:srgbClr val="0D9488"/>
                </a:solidFill>
              </a:defRPr>
            </a:pPr>
            <a:r>
              <a:t>PAPER 2</a:t>
            </a:r>
          </a:p>
          <a:p>
            <a:pPr>
              <a:spcBef>
                <a:spcPts val="200"/>
              </a:spcBef>
              <a:defRPr sz="1200" b="1">
                <a:solidFill>
                  <a:srgbClr val="0F172A"/>
                </a:solidFill>
              </a:defRPr>
            </a:pPr>
            <a:r>
              <a:t>Clinical Vectorization and Multi-Class Supervised Learning</a:t>
            </a:r>
          </a:p>
          <a:p>
            <a:pPr>
              <a:spcBef>
                <a:spcPts val="200"/>
              </a:spcBef>
              <a:defRPr sz="950">
                <a:solidFill>
                  <a:srgbClr val="64748B"/>
                </a:solidFill>
              </a:defRPr>
            </a:pPr>
            <a:r>
              <a:t>Authors: Omar et al. (2023)</a:t>
            </a:r>
          </a:p>
          <a:p>
            <a:pPr>
              <a:spcBef>
                <a:spcPts val="1000"/>
              </a:spcBef>
              <a:defRPr sz="900" b="1">
                <a:solidFill>
                  <a:srgbClr val="1D4ED8"/>
                </a:solidFill>
              </a:defRPr>
            </a:pPr>
            <a:r>
              <a:t>METHODOLOGY &amp; DATASET:</a:t>
            </a:r>
          </a:p>
          <a:p>
            <a:pPr>
              <a:spcBef>
                <a:spcPts val="200"/>
              </a:spcBef>
              <a:defRPr sz="900">
                <a:solidFill>
                  <a:srgbClr val="334155"/>
                </a:solidFill>
              </a:defRPr>
            </a:pPr>
            <a:r>
              <a:t>EMR Narrative Records | Evaluated Logistic Regression, SVM, Multinomial Naive Bayes, and k-NN across clinical categories.</a:t>
            </a:r>
          </a:p>
          <a:p>
            <a:pPr>
              <a:spcBef>
                <a:spcPts val="1000"/>
              </a:spcBef>
              <a:defRPr sz="900" b="1">
                <a:solidFill>
                  <a:srgbClr val="0D9488"/>
                </a:solidFill>
              </a:defRPr>
            </a:pPr>
            <a:r>
              <a:t>KEY RESEARCH FINDING:</a:t>
            </a:r>
          </a:p>
          <a:p>
            <a:pPr>
              <a:spcBef>
                <a:spcPts val="200"/>
              </a:spcBef>
              <a:defRPr sz="900">
                <a:solidFill>
                  <a:srgbClr val="334155"/>
                </a:solidFill>
              </a:defRPr>
            </a:pPr>
            <a:r>
              <a:t>SVM and Logistic Regression outperformed complex non-linear models on high-dimensional text vectors, achieving peak accuracy (92%) with rapid convergence.</a:t>
            </a:r>
          </a:p>
          <a:p>
            <a:pPr>
              <a:spcBef>
                <a:spcPts val="1000"/>
              </a:spcBef>
              <a:defRPr sz="900" b="1">
                <a:solidFill>
                  <a:srgbClr val="7C3AED"/>
                </a:solidFill>
              </a:defRPr>
            </a:pPr>
            <a:r>
              <a:t>DIRECT RELEVANCE TO OUR SYSTEM:</a:t>
            </a:r>
          </a:p>
          <a:p>
            <a:pPr>
              <a:spcBef>
                <a:spcPts val="200"/>
              </a:spcBef>
              <a:defRPr sz="900">
                <a:solidFill>
                  <a:srgbClr val="334155"/>
                </a:solidFill>
              </a:defRPr>
            </a:pPr>
            <a:r>
              <a:t>Directly justifies our selection of SVM and Logistic Regression as core candidate estimators for sparse TF-IDF text matrices.</a:t>
            </a:r>
          </a:p>
        </p:txBody>
      </p:sp>
      <p:sp>
        <p:nvSpPr>
          <p:cNvPr id="16" name="Rounded Rectangle 15"/>
          <p:cNvSpPr/>
          <p:nvPr/>
        </p:nvSpPr>
        <p:spPr>
          <a:xfrm>
            <a:off x="8028432"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8432" y="1188720"/>
            <a:ext cx="34290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389888"/>
            <a:ext cx="3063240" cy="4617720"/>
          </a:xfrm>
          <a:prstGeom prst="rect">
            <a:avLst/>
          </a:prstGeom>
          <a:noFill/>
        </p:spPr>
        <p:txBody>
          <a:bodyPr wrap="square">
            <a:spAutoFit/>
          </a:bodyPr>
          <a:lstStyle/>
          <a:p>
            <a:pPr>
              <a:defRPr sz="950" b="1">
                <a:solidFill>
                  <a:srgbClr val="7C3AED"/>
                </a:solidFill>
              </a:defRPr>
            </a:pPr>
            <a:r>
              <a:t>PAPER 3</a:t>
            </a:r>
          </a:p>
          <a:p>
            <a:pPr>
              <a:spcBef>
                <a:spcPts val="200"/>
              </a:spcBef>
              <a:defRPr sz="1200" b="1">
                <a:solidFill>
                  <a:srgbClr val="0F172A"/>
                </a:solidFill>
              </a:defRPr>
            </a:pPr>
            <a:r>
              <a:t>Medical Subdomain Classification &amp; Ensemble Aggregation</a:t>
            </a:r>
          </a:p>
          <a:p>
            <a:pPr>
              <a:spcBef>
                <a:spcPts val="200"/>
              </a:spcBef>
              <a:defRPr sz="950">
                <a:solidFill>
                  <a:srgbClr val="64748B"/>
                </a:solidFill>
              </a:defRPr>
            </a:pPr>
            <a:r>
              <a:t>Authors: Weng et al. (2017) / Al-Garadi et al.</a:t>
            </a:r>
          </a:p>
          <a:p>
            <a:pPr>
              <a:spcBef>
                <a:spcPts val="1000"/>
              </a:spcBef>
              <a:defRPr sz="900" b="1">
                <a:solidFill>
                  <a:srgbClr val="1D4ED8"/>
                </a:solidFill>
              </a:defRPr>
            </a:pPr>
            <a:r>
              <a:t>METHODOLOGY &amp; DATASET:</a:t>
            </a:r>
          </a:p>
          <a:p>
            <a:pPr>
              <a:spcBef>
                <a:spcPts val="200"/>
              </a:spcBef>
              <a:defRPr sz="900">
                <a:solidFill>
                  <a:srgbClr val="334155"/>
                </a:solidFill>
              </a:defRPr>
            </a:pPr>
            <a:r>
              <a:t>Multi-Specialty Clinical Narratives | Multi-estimator aggregation, probability consensus, and tree-based decision ensembles.</a:t>
            </a:r>
          </a:p>
          <a:p>
            <a:pPr>
              <a:spcBef>
                <a:spcPts val="1000"/>
              </a:spcBef>
              <a:defRPr sz="900" b="1">
                <a:solidFill>
                  <a:srgbClr val="0D9488"/>
                </a:solidFill>
              </a:defRPr>
            </a:pPr>
            <a:r>
              <a:t>KEY RESEARCH FINDING:</a:t>
            </a:r>
          </a:p>
          <a:p>
            <a:pPr>
              <a:spcBef>
                <a:spcPts val="200"/>
              </a:spcBef>
              <a:defRPr sz="900">
                <a:solidFill>
                  <a:srgbClr val="334155"/>
                </a:solidFill>
              </a:defRPr>
            </a:pPr>
            <a:r>
              <a:t>Ensemble voting across complementary classifiers significantly mitigates individual estimator variance and improves multi-class minority specialty recognition.</a:t>
            </a:r>
          </a:p>
          <a:p>
            <a:pPr>
              <a:spcBef>
                <a:spcPts val="1000"/>
              </a:spcBef>
              <a:defRPr sz="900" b="1">
                <a:solidFill>
                  <a:srgbClr val="7C3AED"/>
                </a:solidFill>
              </a:defRPr>
            </a:pPr>
            <a:r>
              <a:t>DIRECT RELEVANCE TO OUR SYSTEM:</a:t>
            </a:r>
          </a:p>
          <a:p>
            <a:pPr>
              <a:spcBef>
                <a:spcPts val="200"/>
              </a:spcBef>
              <a:defRPr sz="900">
                <a:solidFill>
                  <a:srgbClr val="334155"/>
                </a:solidFill>
              </a:defRPr>
            </a:pPr>
            <a:r>
              <a:t>Provides the foundational justification for our proposed Soft Consensus Voting Ensemble combining SVM, Random Forest, LR, and MNB.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Dataset Overview: Kaggle MTSamples Corpus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5 of 15</a:t>
            </a:r>
          </a:p>
        </p:txBody>
      </p:sp>
      <p:sp>
        <p:nvSpPr>
          <p:cNvPr id="10" name="Rounded Rectangle 9"/>
          <p:cNvSpPr/>
          <p:nvPr/>
        </p:nvSpPr>
        <p:spPr>
          <a:xfrm>
            <a:off x="731520"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2542032"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325880"/>
            <a:ext cx="2267712" cy="1051560"/>
          </a:xfrm>
          <a:prstGeom prst="rect">
            <a:avLst/>
          </a:prstGeom>
          <a:noFill/>
        </p:spPr>
        <p:txBody>
          <a:bodyPr wrap="square">
            <a:spAutoFit/>
          </a:bodyPr>
          <a:lstStyle/>
          <a:p>
            <a:pPr>
              <a:defRPr sz="2200" b="1">
                <a:solidFill>
                  <a:srgbClr val="1D4ED8"/>
                </a:solidFill>
              </a:defRPr>
            </a:pPr>
            <a:r>
              <a:t>4,999</a:t>
            </a:r>
          </a:p>
          <a:p>
            <a:pPr>
              <a:defRPr sz="850" b="1">
                <a:solidFill>
                  <a:srgbClr val="0F172A"/>
                </a:solidFill>
              </a:defRPr>
            </a:pPr>
            <a:r>
              <a:t>INITIAL RAW RECORDS</a:t>
            </a:r>
          </a:p>
          <a:p>
            <a:pPr>
              <a:defRPr sz="800">
                <a:solidFill>
                  <a:srgbClr val="64748B"/>
                </a:solidFill>
              </a:defRPr>
            </a:pPr>
            <a:r>
              <a:t>Total transcription files in Kaggle dataset</a:t>
            </a:r>
          </a:p>
        </p:txBody>
      </p:sp>
      <p:sp>
        <p:nvSpPr>
          <p:cNvPr id="13" name="Rounded Rectangle 12"/>
          <p:cNvSpPr/>
          <p:nvPr/>
        </p:nvSpPr>
        <p:spPr>
          <a:xfrm>
            <a:off x="3456432"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188720"/>
            <a:ext cx="254203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1325880"/>
            <a:ext cx="2267712" cy="1051560"/>
          </a:xfrm>
          <a:prstGeom prst="rect">
            <a:avLst/>
          </a:prstGeom>
          <a:noFill/>
        </p:spPr>
        <p:txBody>
          <a:bodyPr wrap="square">
            <a:spAutoFit/>
          </a:bodyPr>
          <a:lstStyle/>
          <a:p>
            <a:pPr>
              <a:defRPr sz="2200" b="1">
                <a:solidFill>
                  <a:srgbClr val="0D9488"/>
                </a:solidFill>
              </a:defRPr>
            </a:pPr>
            <a:r>
              <a:t>~40</a:t>
            </a:r>
          </a:p>
          <a:p>
            <a:pPr>
              <a:defRPr sz="850" b="1">
                <a:solidFill>
                  <a:srgbClr val="0F172A"/>
                </a:solidFill>
              </a:defRPr>
            </a:pPr>
            <a:r>
              <a:t>MEDICAL SPECIALTIES</a:t>
            </a:r>
          </a:p>
          <a:p>
            <a:pPr>
              <a:defRPr sz="800">
                <a:solidFill>
                  <a:srgbClr val="64748B"/>
                </a:solidFill>
              </a:defRPr>
            </a:pPr>
            <a:r>
              <a:t>Multi-class medical classification targets</a:t>
            </a:r>
          </a:p>
        </p:txBody>
      </p:sp>
      <p:sp>
        <p:nvSpPr>
          <p:cNvPr id="16" name="Rounded Rectangle 15"/>
          <p:cNvSpPr/>
          <p:nvPr/>
        </p:nvSpPr>
        <p:spPr>
          <a:xfrm>
            <a:off x="6181344"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188720"/>
            <a:ext cx="254203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1325880"/>
            <a:ext cx="2267712" cy="1051560"/>
          </a:xfrm>
          <a:prstGeom prst="rect">
            <a:avLst/>
          </a:prstGeom>
          <a:noFill/>
        </p:spPr>
        <p:txBody>
          <a:bodyPr wrap="square">
            <a:spAutoFit/>
          </a:bodyPr>
          <a:lstStyle/>
          <a:p>
            <a:pPr>
              <a:defRPr sz="2200" b="1">
                <a:solidFill>
                  <a:srgbClr val="10B981"/>
                </a:solidFill>
              </a:defRPr>
            </a:pPr>
            <a:r>
              <a:t>4,966</a:t>
            </a:r>
          </a:p>
          <a:p>
            <a:pPr>
              <a:defRPr sz="850" b="1">
                <a:solidFill>
                  <a:srgbClr val="0F172A"/>
                </a:solidFill>
              </a:defRPr>
            </a:pPr>
            <a:r>
              <a:t>USABLE REPORTS AFTER CLEANING</a:t>
            </a:r>
          </a:p>
          <a:p>
            <a:pPr>
              <a:defRPr sz="800">
                <a:solidFill>
                  <a:srgbClr val="64748B"/>
                </a:solidFill>
              </a:defRPr>
            </a:pPr>
            <a:r>
              <a:t>Complete records after dropping blank nulls</a:t>
            </a:r>
          </a:p>
        </p:txBody>
      </p:sp>
      <p:sp>
        <p:nvSpPr>
          <p:cNvPr id="19" name="Rounded Rectangle 18"/>
          <p:cNvSpPr/>
          <p:nvPr/>
        </p:nvSpPr>
        <p:spPr>
          <a:xfrm>
            <a:off x="8906256"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06256" y="1188720"/>
            <a:ext cx="2542032"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325880"/>
            <a:ext cx="2267712" cy="1051560"/>
          </a:xfrm>
          <a:prstGeom prst="rect">
            <a:avLst/>
          </a:prstGeom>
          <a:noFill/>
        </p:spPr>
        <p:txBody>
          <a:bodyPr wrap="square">
            <a:spAutoFit/>
          </a:bodyPr>
          <a:lstStyle/>
          <a:p>
            <a:pPr>
              <a:defRPr sz="2200" b="1">
                <a:solidFill>
                  <a:srgbClr val="D97706"/>
                </a:solidFill>
              </a:defRPr>
            </a:pPr>
            <a:r>
              <a:t>33</a:t>
            </a:r>
          </a:p>
          <a:p>
            <a:pPr>
              <a:defRPr sz="850" b="1">
                <a:solidFill>
                  <a:srgbClr val="0F172A"/>
                </a:solidFill>
              </a:defRPr>
            </a:pPr>
            <a:r>
              <a:t>DROPPED NULL SAMPLES</a:t>
            </a:r>
          </a:p>
          <a:p>
            <a:pPr>
              <a:defRPr sz="800">
                <a:solidFill>
                  <a:srgbClr val="64748B"/>
                </a:solidFill>
              </a:defRPr>
            </a:pPr>
            <a:r>
              <a:t>Zero-length empty text reports identified</a:t>
            </a:r>
          </a:p>
        </p:txBody>
      </p:sp>
      <p:sp>
        <p:nvSpPr>
          <p:cNvPr id="22" name="Rounded Rectangle 21"/>
          <p:cNvSpPr/>
          <p:nvPr/>
        </p:nvSpPr>
        <p:spPr>
          <a:xfrm>
            <a:off x="7315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2743200"/>
            <a:ext cx="4773168" cy="3291840"/>
          </a:xfrm>
          <a:prstGeom prst="rect">
            <a:avLst/>
          </a:prstGeom>
          <a:noFill/>
        </p:spPr>
        <p:txBody>
          <a:bodyPr wrap="square">
            <a:spAutoFit/>
          </a:bodyPr>
          <a:lstStyle/>
          <a:p>
            <a:pPr>
              <a:defRPr sz="1200" b="1">
                <a:solidFill>
                  <a:srgbClr val="1D4ED8"/>
                </a:solidFill>
              </a:defRPr>
            </a:pPr>
            <a:r>
              <a:t>DATASET PROVENANCE &amp; CLINICAL CONTEXT</a:t>
            </a:r>
          </a:p>
          <a:p>
            <a:pPr>
              <a:spcBef>
                <a:spcPts val="600"/>
              </a:spcBef>
              <a:defRPr sz="1000" b="1">
                <a:solidFill>
                  <a:srgbClr val="0F172A"/>
                </a:solidFill>
              </a:defRPr>
            </a:pPr>
            <a:r>
              <a:t>•  Public Academic Benchmark: </a:t>
            </a:r>
            <a:r>
              <a:rPr b="0" sz="900">
                <a:solidFill>
                  <a:srgbClr val="334155"/>
                </a:solidFill>
              </a:rPr>
              <a:t>Sourced from the verified Kaggle MTSamples repository, comprising real-world anonymized medical transcription dictations.</a:t>
            </a:r>
          </a:p>
          <a:p>
            <a:pPr>
              <a:spcBef>
                <a:spcPts val="600"/>
              </a:spcBef>
              <a:defRPr sz="1000" b="1">
                <a:solidFill>
                  <a:srgbClr val="0F172A"/>
                </a:solidFill>
              </a:defRPr>
            </a:pPr>
            <a:r>
              <a:t>•  Overcoming HIPAA Constraints: </a:t>
            </a:r>
            <a:r>
              <a:rPr b="0" sz="900">
                <a:solidFill>
                  <a:srgbClr val="334155"/>
                </a:solidFill>
              </a:rPr>
              <a:t>HIPAA privacy regulations legally restrict distribution of private hospital electronic health records (EHR). MTSamples provides an authentic, ethically validated substitute.</a:t>
            </a:r>
          </a:p>
          <a:p>
            <a:pPr>
              <a:spcBef>
                <a:spcPts val="600"/>
              </a:spcBef>
              <a:defRPr sz="1000" b="1">
                <a:solidFill>
                  <a:srgbClr val="0F172A"/>
                </a:solidFill>
              </a:defRPr>
            </a:pPr>
            <a:r>
              <a:t>•  Diverse Medical Narratives: </a:t>
            </a:r>
            <a:r>
              <a:rPr b="0" sz="900">
                <a:solidFill>
                  <a:srgbClr val="334155"/>
                </a:solidFill>
              </a:rPr>
              <a:t>Contains actual physician dictations spanning operative notes, discharge summaries, emergency consultations, physical examinations, and patient histories.</a:t>
            </a:r>
          </a:p>
          <a:p>
            <a:pPr>
              <a:spcBef>
                <a:spcPts val="600"/>
              </a:spcBef>
              <a:defRPr sz="1000" b="1">
                <a:solidFill>
                  <a:srgbClr val="0F172A"/>
                </a:solidFill>
              </a:defRPr>
            </a:pPr>
            <a:r>
              <a:t>•  Multi-Class Domain Breadth: </a:t>
            </a:r>
            <a:r>
              <a:rPr b="0" sz="900">
                <a:solidFill>
                  <a:srgbClr val="334155"/>
                </a:solidFill>
              </a:rPr>
              <a:t>Encompasses 40 distinct specialty disciplines from General Medicine and Surgery to Neurosurgery, Cardiology, and Pediatrics.</a:t>
            </a:r>
          </a:p>
        </p:txBody>
      </p:sp>
      <p:sp>
        <p:nvSpPr>
          <p:cNvPr id="24" name="Rounded Rectangle 23"/>
          <p:cNvSpPr/>
          <p:nvPr/>
        </p:nvSpPr>
        <p:spPr>
          <a:xfrm>
            <a:off x="62179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743200"/>
            <a:ext cx="4773168" cy="3291840"/>
          </a:xfrm>
          <a:prstGeom prst="rect">
            <a:avLst/>
          </a:prstGeom>
          <a:noFill/>
        </p:spPr>
        <p:txBody>
          <a:bodyPr wrap="square">
            <a:spAutoFit/>
          </a:bodyPr>
          <a:lstStyle/>
          <a:p>
            <a:pPr>
              <a:defRPr sz="1200" b="1">
                <a:solidFill>
                  <a:srgbClr val="0D9488"/>
                </a:solidFill>
              </a:defRPr>
            </a:pPr>
            <a:r>
              <a:t>KEY DATASET ATTRIBUTES &amp; ROLES</a:t>
            </a:r>
          </a:p>
          <a:p>
            <a:pPr>
              <a:spcBef>
                <a:spcPts val="600"/>
              </a:spcBef>
              <a:defRPr sz="1000" b="1">
                <a:solidFill>
                  <a:srgbClr val="0F172A"/>
                </a:solidFill>
              </a:defRPr>
            </a:pPr>
            <a:r>
              <a:t>•  transcription (Primary Feature Input): </a:t>
            </a:r>
            <a:r>
              <a:rPr b="0" sz="900">
                <a:solidFill>
                  <a:srgbClr val="334155"/>
                </a:solidFill>
              </a:rPr>
              <a:t>Contains full free-text clinical narrative. Serves as the raw textual input for our 5-step NLP preprocessing and TF-IDF feature extraction pipeline.</a:t>
            </a:r>
          </a:p>
          <a:p>
            <a:pPr>
              <a:spcBef>
                <a:spcPts val="600"/>
              </a:spcBef>
              <a:defRPr sz="1000" b="1">
                <a:solidFill>
                  <a:srgbClr val="0F172A"/>
                </a:solidFill>
              </a:defRPr>
            </a:pPr>
            <a:r>
              <a:t>•  medical_specialty (Target Class Label): </a:t>
            </a:r>
            <a:r>
              <a:rPr b="0" sz="900">
                <a:solidFill>
                  <a:srgbClr val="334155"/>
                </a:solidFill>
              </a:rPr>
              <a:t>The ground-truth categorical specialty label (40 distinct classes) to be learned and predicted by the supervised machine learning models.</a:t>
            </a:r>
          </a:p>
          <a:p>
            <a:pPr>
              <a:spcBef>
                <a:spcPts val="600"/>
              </a:spcBef>
              <a:defRPr sz="1000" b="1">
                <a:solidFill>
                  <a:srgbClr val="0F172A"/>
                </a:solidFill>
              </a:defRPr>
            </a:pPr>
            <a:r>
              <a:t>•  description (Secondary Context): </a:t>
            </a:r>
            <a:r>
              <a:rPr b="0" sz="900">
                <a:solidFill>
                  <a:srgbClr val="334155"/>
                </a:solidFill>
              </a:rPr>
              <a:t>Short clinician summary of the medical case; utilized during exploratory validation to verify narrative diagnostic alignment.</a:t>
            </a:r>
          </a:p>
          <a:p>
            <a:pPr>
              <a:spcBef>
                <a:spcPts val="600"/>
              </a:spcBef>
              <a:defRPr sz="1000" b="1">
                <a:solidFill>
                  <a:srgbClr val="0F172A"/>
                </a:solidFill>
              </a:defRPr>
            </a:pPr>
            <a:r>
              <a:t>•  keywords (Omitted Attribute): </a:t>
            </a:r>
            <a:r>
              <a:rPr b="0" sz="900">
                <a:solidFill>
                  <a:srgbClr val="334155"/>
                </a:solidFill>
              </a:rPr>
              <a:t>Free-form clinician tags containing 21.36% missing values. Omitted from the model pipeline to prevent sparse keyword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Dataset Quality &amp; Missing Value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6 of 15</a:t>
            </a:r>
          </a:p>
        </p:txBody>
      </p:sp>
      <p:pic>
        <p:nvPicPr>
          <p:cNvPr id="10" name="Picture 9" descr="01_missing_values.png"/>
          <p:cNvPicPr>
            <a:picLocks noChangeAspect="1"/>
          </p:cNvPicPr>
          <p:nvPr/>
        </p:nvPicPr>
        <p:blipFill>
          <a:blip r:embed="rId2"/>
          <a:stretch>
            <a:fillRect/>
          </a:stretch>
        </p:blipFill>
        <p:spPr>
          <a:xfrm>
            <a:off x="731520" y="1280160"/>
            <a:ext cx="5852160" cy="3483864"/>
          </a:xfrm>
          <a:prstGeom prst="rect">
            <a:avLst/>
          </a:prstGeom>
        </p:spPr>
      </p:pic>
      <p:sp>
        <p:nvSpPr>
          <p:cNvPr id="11" name="Rounded Rectangle 10"/>
          <p:cNvSpPr/>
          <p:nvPr/>
        </p:nvSpPr>
        <p:spPr>
          <a:xfrm>
            <a:off x="731520" y="4892040"/>
            <a:ext cx="585216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577840" cy="1051560"/>
          </a:xfrm>
          <a:prstGeom prst="rect">
            <a:avLst/>
          </a:prstGeom>
          <a:noFill/>
        </p:spPr>
        <p:txBody>
          <a:bodyPr wrap="square">
            <a:spAutoFit/>
          </a:bodyPr>
          <a:lstStyle/>
          <a:p>
            <a:pPr>
              <a:defRPr sz="950" b="1">
                <a:solidFill>
                  <a:srgbClr val="0F172A"/>
                </a:solidFill>
              </a:defRPr>
            </a:pPr>
            <a:r>
              <a:t>Figure: Missing Value Distribution across Dataset Attributes</a:t>
            </a:r>
          </a:p>
          <a:p>
            <a:pPr>
              <a:defRPr sz="850">
                <a:solidFill>
                  <a:srgbClr val="64748B"/>
                </a:solidFill>
              </a:defRPr>
            </a:pPr>
            <a:r>
              <a:t>Systematic missing value analysis verifies that transcription has minimal nulls (0.66%), medical_specialty is 100% complete, and keywords has severe sparsity (21.36%).</a:t>
            </a:r>
          </a:p>
        </p:txBody>
      </p:sp>
      <p:sp>
        <p:nvSpPr>
          <p:cNvPr id="13" name="Rounded Rectangle 12"/>
          <p:cNvSpPr/>
          <p:nvPr/>
        </p:nvSpPr>
        <p:spPr>
          <a:xfrm>
            <a:off x="6858000" y="1280160"/>
            <a:ext cx="4572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114800" cy="4480560"/>
          </a:xfrm>
          <a:prstGeom prst="rect">
            <a:avLst/>
          </a:prstGeom>
          <a:noFill/>
        </p:spPr>
        <p:txBody>
          <a:bodyPr wrap="square">
            <a:spAutoFit/>
          </a:bodyPr>
          <a:lstStyle/>
          <a:p>
            <a:pPr>
              <a:defRPr sz="1200" b="1">
                <a:solidFill>
                  <a:srgbClr val="1D4ED8"/>
                </a:solidFill>
              </a:defRPr>
            </a:pPr>
            <a:r>
              <a:t>CRITICAL DATA QUALITY OBSERVATIONS</a:t>
            </a:r>
          </a:p>
          <a:p>
            <a:pPr>
              <a:spcBef>
                <a:spcPts val="800"/>
              </a:spcBef>
              <a:defRPr sz="1000" b="1">
                <a:solidFill>
                  <a:srgbClr val="10B981"/>
                </a:solidFill>
              </a:defRPr>
            </a:pPr>
            <a:r>
              <a:t>✓  Transcription Missing Values (33 Records)</a:t>
            </a:r>
          </a:p>
          <a:p>
            <a:pPr>
              <a:spcBef>
                <a:spcPts val="200"/>
              </a:spcBef>
              <a:defRPr sz="880">
                <a:solidFill>
                  <a:srgbClr val="334155"/>
                </a:solidFill>
              </a:defRPr>
            </a:pPr>
            <a:r>
              <a:t>Exploratory audit revealed exactly 33 records (0.66%) with completely blank/null transcription text. Because clinical narrative is the core model input, these 33 rows were safely pruned.</a:t>
            </a:r>
          </a:p>
          <a:p>
            <a:pPr>
              <a:spcBef>
                <a:spcPts val="800"/>
              </a:spcBef>
              <a:defRPr sz="1000" b="1">
                <a:solidFill>
                  <a:srgbClr val="0D9488"/>
                </a:solidFill>
              </a:defRPr>
            </a:pPr>
            <a:r>
              <a:t>✓  Target Label Completeness (0 Missing)</a:t>
            </a:r>
          </a:p>
          <a:p>
            <a:pPr>
              <a:spcBef>
                <a:spcPts val="200"/>
              </a:spcBef>
              <a:defRPr sz="880">
                <a:solidFill>
                  <a:srgbClr val="334155"/>
                </a:solidFill>
              </a:defRPr>
            </a:pPr>
            <a:r>
              <a:t>The target variable 'medical_specialty' exhibits 100% data integrity with zero null values across all 4,999 records, ensuring dependable supervised classification ground truth.</a:t>
            </a:r>
          </a:p>
          <a:p>
            <a:pPr>
              <a:spcBef>
                <a:spcPts val="800"/>
              </a:spcBef>
              <a:defRPr sz="1000" b="1">
                <a:solidFill>
                  <a:srgbClr val="D97706"/>
                </a:solidFill>
              </a:defRPr>
            </a:pPr>
            <a:r>
              <a:t>✓  Keywords Attribute Sparsity (1,068 Missing)</a:t>
            </a:r>
          </a:p>
          <a:p>
            <a:pPr>
              <a:spcBef>
                <a:spcPts val="200"/>
              </a:spcBef>
              <a:defRPr sz="880">
                <a:solidFill>
                  <a:srgbClr val="334155"/>
                </a:solidFill>
              </a:defRPr>
            </a:pPr>
            <a:r>
              <a:t>The 'keywords' field contains 1,068 missing entries (21.36%). To avoid artificial noise and severe missingness imputation, it was excluded from feature vectorization.</a:t>
            </a:r>
          </a:p>
          <a:p>
            <a:pPr>
              <a:spcBef>
                <a:spcPts val="800"/>
              </a:spcBef>
              <a:defRPr sz="1000" b="1">
                <a:solidFill>
                  <a:srgbClr val="1D4ED8"/>
                </a:solidFill>
              </a:defRPr>
            </a:pPr>
            <a:r>
              <a:t>✓  Final Usable Dataset (4,966 Records)</a:t>
            </a:r>
          </a:p>
          <a:p>
            <a:pPr>
              <a:spcBef>
                <a:spcPts val="200"/>
              </a:spcBef>
              <a:defRPr sz="880">
                <a:solidFill>
                  <a:srgbClr val="334155"/>
                </a:solidFill>
              </a:defRPr>
            </a:pPr>
            <a:r>
              <a:t>Following systematic data cleaning, a pristine subset of 4,966 high-integrity clinical reports remains, providing robust data for model training and cross-validation.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Medical Specialty Class Distribution</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7 of 15</a:t>
            </a:r>
          </a:p>
        </p:txBody>
      </p:sp>
      <p:pic>
        <p:nvPicPr>
          <p:cNvPr id="10" name="Picture 9" descr="02_top10_medical_specialties.png"/>
          <p:cNvPicPr>
            <a:picLocks noChangeAspect="1"/>
          </p:cNvPicPr>
          <p:nvPr/>
        </p:nvPicPr>
        <p:blipFill>
          <a:blip r:embed="rId2"/>
          <a:stretch>
            <a:fillRect/>
          </a:stretch>
        </p:blipFill>
        <p:spPr>
          <a:xfrm>
            <a:off x="731520" y="1280160"/>
            <a:ext cx="6035040" cy="3502152"/>
          </a:xfrm>
          <a:prstGeom prst="rect">
            <a:avLst/>
          </a:prstGeom>
        </p:spPr>
      </p:pic>
      <p:sp>
        <p:nvSpPr>
          <p:cNvPr id="11" name="Rounded Rectangle 10"/>
          <p:cNvSpPr/>
          <p:nvPr/>
        </p:nvSpPr>
        <p:spPr>
          <a:xfrm>
            <a:off x="731520" y="4892040"/>
            <a:ext cx="603504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760720" cy="1051560"/>
          </a:xfrm>
          <a:prstGeom prst="rect">
            <a:avLst/>
          </a:prstGeom>
          <a:noFill/>
        </p:spPr>
        <p:txBody>
          <a:bodyPr wrap="square">
            <a:spAutoFit/>
          </a:bodyPr>
          <a:lstStyle/>
          <a:p>
            <a:pPr>
              <a:defRPr sz="950" b="1">
                <a:solidFill>
                  <a:srgbClr val="0F172A"/>
                </a:solidFill>
              </a:defRPr>
            </a:pPr>
            <a:r>
              <a:t>Figure: Frequency Distribution of Top 10 Medical Specialties</a:t>
            </a:r>
          </a:p>
          <a:p>
            <a:pPr>
              <a:defRPr sz="850">
                <a:solidFill>
                  <a:srgbClr val="64748B"/>
                </a:solidFill>
              </a:defRPr>
            </a:pPr>
            <a:r>
              <a:t>Surgery dominates the dataset with 1,088 reports, followed by Consultative Medicine (516) and Cardiovascular (371), creating a classic long-tailed multi-class distribution.</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200" b="1">
                <a:solidFill>
                  <a:srgbClr val="1D4ED8"/>
                </a:solidFill>
              </a:defRPr>
            </a:pPr>
            <a:r>
              <a:t>DISTRIBUTION INSIGHTS &amp; STRATEGY</a:t>
            </a:r>
          </a:p>
          <a:p>
            <a:pPr>
              <a:spcBef>
                <a:spcPts val="800"/>
              </a:spcBef>
              <a:defRPr sz="1000" b="1">
                <a:solidFill>
                  <a:srgbClr val="D97706"/>
                </a:solidFill>
              </a:defRPr>
            </a:pPr>
            <a:r>
              <a:t>•  Prominent Class Imbalance</a:t>
            </a:r>
          </a:p>
          <a:p>
            <a:pPr>
              <a:spcBef>
                <a:spcPts val="200"/>
              </a:spcBef>
              <a:defRPr sz="880">
                <a:solidFill>
                  <a:srgbClr val="334155"/>
                </a:solidFill>
              </a:defRPr>
            </a:pPr>
            <a:r>
              <a:t>Surgery represents 1,088 out of 4,966 records (~21.9%), while minority specialties (e.g., Hospice, Allergy) contain fewer than 20 cases each.</a:t>
            </a:r>
          </a:p>
          <a:p>
            <a:pPr>
              <a:spcBef>
                <a:spcPts val="800"/>
              </a:spcBef>
              <a:defRPr sz="1000" b="1">
                <a:solidFill>
                  <a:srgbClr val="0F172A"/>
                </a:solidFill>
              </a:defRPr>
            </a:pPr>
            <a:r>
              <a:t>•  Top 10 High Concentration</a:t>
            </a:r>
          </a:p>
          <a:p>
            <a:pPr>
              <a:spcBef>
                <a:spcPts val="200"/>
              </a:spcBef>
              <a:defRPr sz="880">
                <a:solidFill>
                  <a:srgbClr val="334155"/>
                </a:solidFill>
              </a:defRPr>
            </a:pPr>
            <a:r>
              <a:t>The top 10 medical specialties collectively account for over 70% of all clinical reports, forming a pronounced majority cluster.</a:t>
            </a:r>
          </a:p>
          <a:p>
            <a:pPr>
              <a:spcBef>
                <a:spcPts val="800"/>
              </a:spcBef>
              <a:defRPr sz="1000" b="1">
                <a:solidFill>
                  <a:srgbClr val="0D9488"/>
                </a:solidFill>
              </a:defRPr>
            </a:pPr>
            <a:r>
              <a:t>•  Mandatory Stratified Splitting</a:t>
            </a:r>
          </a:p>
          <a:p>
            <a:pPr>
              <a:spcBef>
                <a:spcPts val="200"/>
              </a:spcBef>
              <a:defRPr sz="880">
                <a:solidFill>
                  <a:srgbClr val="334155"/>
                </a:solidFill>
              </a:defRPr>
            </a:pPr>
            <a:r>
              <a:t>To prevent minority classes from being excluded during train-test partitioning, stratified sampling (80% train / 20% test) is strictly required.</a:t>
            </a:r>
          </a:p>
          <a:p>
            <a:pPr>
              <a:spcBef>
                <a:spcPts val="800"/>
              </a:spcBef>
              <a:defRPr sz="1000" b="1">
                <a:solidFill>
                  <a:srgbClr val="7C3AED"/>
                </a:solidFill>
              </a:defRPr>
            </a:pPr>
            <a:r>
              <a:t>•  Multi-Metric Evaluation Design</a:t>
            </a:r>
          </a:p>
          <a:p>
            <a:pPr>
              <a:spcBef>
                <a:spcPts val="200"/>
              </a:spcBef>
              <a:defRPr sz="880">
                <a:solidFill>
                  <a:srgbClr val="334155"/>
                </a:solidFill>
              </a:defRPr>
            </a:pPr>
            <a:r>
              <a:t>Accuracy alone is misleading on imbalanced data. Evaluation must incorporate Macro-Precision, Macro-Recall, and Weighted F1-Score.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Clinical Transcription Text &amp; Lexical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8 of 15</a:t>
            </a:r>
          </a:p>
        </p:txBody>
      </p:sp>
      <p:pic>
        <p:nvPicPr>
          <p:cNvPr id="10" name="Picture 9" descr="04_transcription_length_distribution.png"/>
          <p:cNvPicPr>
            <a:picLocks noChangeAspect="1"/>
          </p:cNvPicPr>
          <p:nvPr/>
        </p:nvPicPr>
        <p:blipFill>
          <a:blip r:embed="rId2"/>
          <a:stretch>
            <a:fillRect/>
          </a:stretch>
        </p:blipFill>
        <p:spPr>
          <a:xfrm>
            <a:off x="731520" y="1188720"/>
            <a:ext cx="5120640" cy="2542032"/>
          </a:xfrm>
          <a:prstGeom prst="rect">
            <a:avLst/>
          </a:prstGeom>
        </p:spPr>
      </p:pic>
      <p:pic>
        <p:nvPicPr>
          <p:cNvPr id="11" name="Picture 10" descr="06_medical_transcription_wordcloud.png"/>
          <p:cNvPicPr>
            <a:picLocks noChangeAspect="1"/>
          </p:cNvPicPr>
          <p:nvPr/>
        </p:nvPicPr>
        <p:blipFill>
          <a:blip r:embed="rId3"/>
          <a:stretch>
            <a:fillRect/>
          </a:stretch>
        </p:blipFill>
        <p:spPr>
          <a:xfrm>
            <a:off x="6217920" y="1188720"/>
            <a:ext cx="5212080" cy="3063240"/>
          </a:xfrm>
          <a:prstGeom prst="rect">
            <a:avLst/>
          </a:prstGeom>
        </p:spPr>
      </p:pic>
      <p:sp>
        <p:nvSpPr>
          <p:cNvPr id="12" name="Rounded Rectangle 11"/>
          <p:cNvSpPr/>
          <p:nvPr/>
        </p:nvSpPr>
        <p:spPr>
          <a:xfrm>
            <a:off x="731520" y="384048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31920"/>
            <a:ext cx="4846320" cy="2148840"/>
          </a:xfrm>
          <a:prstGeom prst="rect">
            <a:avLst/>
          </a:prstGeom>
          <a:noFill/>
        </p:spPr>
        <p:txBody>
          <a:bodyPr wrap="square">
            <a:spAutoFit/>
          </a:bodyPr>
          <a:lstStyle/>
          <a:p>
            <a:pPr>
              <a:defRPr sz="1050" b="1">
                <a:solidFill>
                  <a:srgbClr val="1D4ED8"/>
                </a:solidFill>
              </a:defRPr>
            </a:pPr>
            <a:r>
              <a:t>KEY FINDINGS: TEXT LENGTH DISTRIBUTION</a:t>
            </a:r>
          </a:p>
          <a:p>
            <a:pPr>
              <a:spcBef>
                <a:spcPts val="300"/>
              </a:spcBef>
              <a:defRPr sz="880">
                <a:solidFill>
                  <a:srgbClr val="334155"/>
                </a:solidFill>
              </a:defRPr>
            </a:pPr>
            <a:r>
              <a:t>•  Right-Skewed Distribution: Most clinical notes span 200 to 700 words, reflecting concise clinical summaries.</a:t>
            </a:r>
          </a:p>
          <a:p>
            <a:pPr>
              <a:spcBef>
                <a:spcPts val="300"/>
              </a:spcBef>
              <a:defRPr sz="880">
                <a:solidFill>
                  <a:srgbClr val="334155"/>
                </a:solidFill>
              </a:defRPr>
            </a:pPr>
            <a:r>
              <a:t>•  Detailed Operative Reports: A long tail extends beyond 1,500+ words for complex surgical procedures and multi-system consults.</a:t>
            </a:r>
          </a:p>
          <a:p>
            <a:pPr>
              <a:spcBef>
                <a:spcPts val="300"/>
              </a:spcBef>
              <a:defRPr sz="880">
                <a:solidFill>
                  <a:srgbClr val="334155"/>
                </a:solidFill>
              </a:defRPr>
            </a:pPr>
            <a:r>
              <a:t>•  Impact on Feature Space: Extreme length disparity necessitates L2 Euclidean vector normalization in TF-IDF.</a:t>
            </a:r>
          </a:p>
        </p:txBody>
      </p:sp>
      <p:sp>
        <p:nvSpPr>
          <p:cNvPr id="14" name="Rounded Rectangle 13"/>
          <p:cNvSpPr/>
          <p:nvPr/>
        </p:nvSpPr>
        <p:spPr>
          <a:xfrm>
            <a:off x="6217920" y="4389120"/>
            <a:ext cx="521208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480560"/>
            <a:ext cx="4937760" cy="1600200"/>
          </a:xfrm>
          <a:prstGeom prst="rect">
            <a:avLst/>
          </a:prstGeom>
          <a:noFill/>
        </p:spPr>
        <p:txBody>
          <a:bodyPr wrap="square">
            <a:spAutoFit/>
          </a:bodyPr>
          <a:lstStyle/>
          <a:p>
            <a:pPr>
              <a:defRPr sz="1050" b="1">
                <a:solidFill>
                  <a:srgbClr val="0D9488"/>
                </a:solidFill>
              </a:defRPr>
            </a:pPr>
            <a:r>
              <a:t>KEY FINDINGS: CLINICAL LEXICAL PATTERNS</a:t>
            </a:r>
          </a:p>
          <a:p>
            <a:pPr>
              <a:spcBef>
                <a:spcPts val="300"/>
              </a:spcBef>
              <a:defRPr sz="880">
                <a:solidFill>
                  <a:srgbClr val="334155"/>
                </a:solidFill>
              </a:defRPr>
            </a:pPr>
            <a:r>
              <a:t>•  Dominant Clinical Jargon: Pervasive occurrences of terms like 'patient', 'procedure', 'history', 'diagnosis', 'left', 'right'.</a:t>
            </a:r>
          </a:p>
          <a:p>
            <a:pPr>
              <a:spcBef>
                <a:spcPts val="300"/>
              </a:spcBef>
              <a:defRPr sz="880">
                <a:solidFill>
                  <a:srgbClr val="334155"/>
                </a:solidFill>
              </a:defRPr>
            </a:pPr>
            <a:r>
              <a:t>•  Stop-word Removal &amp; Sublinear Scaling: Validates removing non-discriminative medical stopwords and applying sublinear term frequency weighting.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Transcription Length Across Medical Specialties &amp; EDA Summary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9 of 15</a:t>
            </a:r>
          </a:p>
        </p:txBody>
      </p:sp>
      <p:pic>
        <p:nvPicPr>
          <p:cNvPr id="10" name="Picture 9" descr="05_transcription_length_by_specialty.png"/>
          <p:cNvPicPr>
            <a:picLocks noChangeAspect="1"/>
          </p:cNvPicPr>
          <p:nvPr/>
        </p:nvPicPr>
        <p:blipFill>
          <a:blip r:embed="rId2"/>
          <a:stretch>
            <a:fillRect/>
          </a:stretch>
        </p:blipFill>
        <p:spPr>
          <a:xfrm>
            <a:off x="731520" y="1280160"/>
            <a:ext cx="6035040" cy="3456432"/>
          </a:xfrm>
          <a:prstGeom prst="rect">
            <a:avLst/>
          </a:prstGeom>
        </p:spPr>
      </p:pic>
      <p:sp>
        <p:nvSpPr>
          <p:cNvPr id="11" name="Rounded Rectangle 10"/>
          <p:cNvSpPr/>
          <p:nvPr/>
        </p:nvSpPr>
        <p:spPr>
          <a:xfrm>
            <a:off x="731520" y="4846320"/>
            <a:ext cx="6035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37760"/>
            <a:ext cx="5760720" cy="1097280"/>
          </a:xfrm>
          <a:prstGeom prst="rect">
            <a:avLst/>
          </a:prstGeom>
          <a:noFill/>
        </p:spPr>
        <p:txBody>
          <a:bodyPr wrap="square">
            <a:spAutoFit/>
          </a:bodyPr>
          <a:lstStyle/>
          <a:p>
            <a:pPr>
              <a:defRPr sz="950" b="1">
                <a:solidFill>
                  <a:srgbClr val="0F172A"/>
                </a:solidFill>
              </a:defRPr>
            </a:pPr>
            <a:r>
              <a:t>Figure: Transcription Length Boxplots Across Top 10 Specialties</a:t>
            </a:r>
          </a:p>
          <a:p>
            <a:pPr>
              <a:defRPr sz="850">
                <a:solidFill>
                  <a:srgbClr val="64748B"/>
                </a:solidFill>
              </a:defRPr>
            </a:pPr>
            <a:r>
              <a:t>Substantial variance exists between specialties: surgical notes feature high median lengths and widespread upper outliers, whereas consultative and diagnostic notes are comparatively concise.</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150" b="1">
                <a:solidFill>
                  <a:srgbClr val="1D4ED8"/>
                </a:solidFill>
              </a:defRPr>
            </a:pPr>
            <a:r>
              <a:t>SPECIALTY-WISE VARIATION</a:t>
            </a:r>
          </a:p>
          <a:p>
            <a:pPr>
              <a:spcBef>
                <a:spcPts val="400"/>
              </a:spcBef>
              <a:defRPr sz="950" b="1">
                <a:solidFill>
                  <a:srgbClr val="0F172A"/>
                </a:solidFill>
              </a:defRPr>
            </a:pPr>
            <a:r>
              <a:t>•  Operational vs Diagnostic Depth: </a:t>
            </a:r>
            <a:r>
              <a:rPr b="0" sz="880">
                <a:solidFill>
                  <a:srgbClr val="334155"/>
                </a:solidFill>
              </a:rPr>
              <a:t>Specialties like Surgery and Orthopedic require comprehensive documentation of intra-operative procedures, yielding longer texts with heavy technical outliers.</a:t>
            </a:r>
          </a:p>
          <a:p>
            <a:pPr>
              <a:spcBef>
                <a:spcPts val="400"/>
              </a:spcBef>
              <a:defRPr sz="950" b="1">
                <a:solidFill>
                  <a:srgbClr val="0F172A"/>
                </a:solidFill>
              </a:defRPr>
            </a:pPr>
            <a:r>
              <a:t>•  Concise Clinical Encounters: </a:t>
            </a:r>
            <a:r>
              <a:rPr b="0" sz="880">
                <a:solidFill>
                  <a:srgbClr val="334155"/>
                </a:solidFill>
              </a:rPr>
              <a:t>Fields like Dermatology and Radiology center around concise focal findings, presenting substantially tighter word count distributions.</a:t>
            </a:r>
          </a:p>
          <a:p>
            <a:pPr>
              <a:spcBef>
                <a:spcPts val="1200"/>
              </a:spcBef>
              <a:defRPr sz="1100" b="1">
                <a:solidFill>
                  <a:srgbClr val="0D9488"/>
                </a:solidFill>
              </a:defRPr>
            </a:pPr>
            <a:r>
              <a:t>EDA PHASE CONCLUSION</a:t>
            </a:r>
          </a:p>
          <a:p>
            <a:pPr>
              <a:spcBef>
                <a:spcPts val="300"/>
              </a:spcBef>
              <a:defRPr sz="880">
                <a:solidFill>
                  <a:srgbClr val="334155"/>
                </a:solidFill>
              </a:defRPr>
            </a:pPr>
            <a:r>
              <a:t>The comprehensive exploratory analysis confirms that the clinical corpus exhibits diverse document lengths, lexical sparsity, missing values, and severe class imbalance.</a:t>
            </a:r>
            <a:br/>
            <a:br/>
            <a:r>
              <a:t>These empirical findings establish the foundation for our 5-step NLP preprocessing, sublinear TF-IDF vectorization, stratified partitioning, and soft voting ensemble modeling.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Details of Proposed Machine Learning Algorithms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10 of 15</a:t>
            </a:r>
          </a:p>
        </p:txBody>
      </p:sp>
      <p:sp>
        <p:nvSpPr>
          <p:cNvPr id="10" name="Rounded Rectangle 9"/>
          <p:cNvSpPr/>
          <p:nvPr/>
        </p:nvSpPr>
        <p:spPr>
          <a:xfrm>
            <a:off x="731520" y="1143000"/>
            <a:ext cx="10728655"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188720"/>
            <a:ext cx="10362895" cy="640080"/>
          </a:xfrm>
          <a:prstGeom prst="rect">
            <a:avLst/>
          </a:prstGeom>
          <a:noFill/>
        </p:spPr>
        <p:txBody>
          <a:bodyPr wrap="square">
            <a:spAutoFit/>
          </a:bodyPr>
          <a:lstStyle/>
          <a:p>
            <a:pPr>
              <a:defRPr sz="1050" b="1">
                <a:solidFill>
                  <a:srgbClr val="1D4ED8"/>
                </a:solidFill>
              </a:defRPr>
            </a:pPr>
            <a:r>
              <a:t>FOUNDATIONAL DISTINCTION: FEATURE EXTRACTION vs. CLASSIFICATION ESTIMATORS</a:t>
            </a:r>
          </a:p>
          <a:p>
            <a:pPr>
              <a:defRPr sz="900">
                <a:solidFill>
                  <a:srgbClr val="334155"/>
                </a:solidFill>
              </a:defRPr>
            </a:pPr>
            <a:r>
              <a:t>TF-IDF (Term Frequency–Inverse Document Frequency) is the mathematical feature representation technique that vectorizes text into sparse matrices. The four algorithms below are the distinct Supervised Machine Learning Classifiers evaluated in our pipeline.</a:t>
            </a:r>
          </a:p>
        </p:txBody>
      </p:sp>
      <p:sp>
        <p:nvSpPr>
          <p:cNvPr id="12" name="Rounded Rectangle 11"/>
          <p:cNvSpPr/>
          <p:nvPr/>
        </p:nvSpPr>
        <p:spPr>
          <a:xfrm>
            <a:off x="7315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057400"/>
            <a:ext cx="73152" cy="2011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167128"/>
            <a:ext cx="4864608" cy="1783080"/>
          </a:xfrm>
          <a:prstGeom prst="rect">
            <a:avLst/>
          </a:prstGeom>
          <a:noFill/>
        </p:spPr>
        <p:txBody>
          <a:bodyPr wrap="square">
            <a:spAutoFit/>
          </a:bodyPr>
          <a:lstStyle/>
          <a:p>
            <a:pPr>
              <a:defRPr sz="1200" b="1">
                <a:solidFill>
                  <a:srgbClr val="1D4ED8"/>
                </a:solidFill>
              </a:defRPr>
            </a:pPr>
            <a:r>
              <a:t>Logistic Regression (LR)</a:t>
            </a:r>
          </a:p>
          <a:p>
            <a:pPr>
              <a:defRPr sz="850" b="1">
                <a:solidFill>
                  <a:srgbClr val="64748B"/>
                </a:solidFill>
              </a:defRPr>
            </a:pPr>
            <a:r>
              <a:t>LINEAR PROBABILISTIC BASELINE</a:t>
            </a:r>
          </a:p>
          <a:p>
            <a:pPr>
              <a:spcBef>
                <a:spcPts val="300"/>
              </a:spcBef>
              <a:defRPr sz="900">
                <a:solidFill>
                  <a:srgbClr val="334155"/>
                </a:solidFill>
              </a:defRPr>
            </a:pPr>
            <a:r>
              <a:t>•  Formulation: Multi-class linear model using cross-entropy loss and softmax probability mapping.</a:t>
            </a:r>
          </a:p>
          <a:p>
            <a:pPr>
              <a:spcBef>
                <a:spcPts val="300"/>
              </a:spcBef>
              <a:defRPr sz="900">
                <a:solidFill>
                  <a:srgbClr val="334155"/>
                </a:solidFill>
              </a:defRPr>
            </a:pPr>
            <a:r>
              <a:t>•  High-Dimensional Efficacy: Highly efficient and fast convergence on sparse, high-dimensional TF-IDF vectors.</a:t>
            </a:r>
          </a:p>
          <a:p>
            <a:pPr>
              <a:spcBef>
                <a:spcPts val="300"/>
              </a:spcBef>
              <a:defRPr sz="900">
                <a:solidFill>
                  <a:srgbClr val="334155"/>
                </a:solidFill>
              </a:defRPr>
            </a:pPr>
            <a:r>
              <a:t>•  Calibrated Outputs: Inherently yields smooth, well-calibrated class probability estimates for soft voting.</a:t>
            </a:r>
          </a:p>
        </p:txBody>
      </p:sp>
      <p:sp>
        <p:nvSpPr>
          <p:cNvPr id="15" name="Rounded Rectangle 14"/>
          <p:cNvSpPr/>
          <p:nvPr/>
        </p:nvSpPr>
        <p:spPr>
          <a:xfrm>
            <a:off x="62179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057400"/>
            <a:ext cx="73152"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167128"/>
            <a:ext cx="4864608" cy="1783080"/>
          </a:xfrm>
          <a:prstGeom prst="rect">
            <a:avLst/>
          </a:prstGeom>
          <a:noFill/>
        </p:spPr>
        <p:txBody>
          <a:bodyPr wrap="square">
            <a:spAutoFit/>
          </a:bodyPr>
          <a:lstStyle/>
          <a:p>
            <a:pPr>
              <a:defRPr sz="1200" b="1">
                <a:solidFill>
                  <a:srgbClr val="0D9488"/>
                </a:solidFill>
              </a:defRPr>
            </a:pPr>
            <a:r>
              <a:t>Support Vector Machine (SVM)</a:t>
            </a:r>
          </a:p>
          <a:p>
            <a:pPr>
              <a:defRPr sz="850" b="1">
                <a:solidFill>
                  <a:srgbClr val="64748B"/>
                </a:solidFill>
              </a:defRPr>
            </a:pPr>
            <a:r>
              <a:t>MAXIMUM-MARGIN HYPERPLANE</a:t>
            </a:r>
          </a:p>
          <a:p>
            <a:pPr>
              <a:spcBef>
                <a:spcPts val="300"/>
              </a:spcBef>
              <a:defRPr sz="900">
                <a:solidFill>
                  <a:srgbClr val="334155"/>
                </a:solidFill>
              </a:defRPr>
            </a:pPr>
            <a:r>
              <a:t>•  Formulation: Identifies optimal separating hyperplanes maximizing the functional margin between specialty classes.</a:t>
            </a:r>
          </a:p>
          <a:p>
            <a:pPr>
              <a:spcBef>
                <a:spcPts val="300"/>
              </a:spcBef>
              <a:defRPr sz="900">
                <a:solidFill>
                  <a:srgbClr val="334155"/>
                </a:solidFill>
              </a:defRPr>
            </a:pPr>
            <a:r>
              <a:t>•  Sparse Vector Superiority: Consistently recognized in clinical NLP literature as a top performer for text classification.</a:t>
            </a:r>
          </a:p>
          <a:p>
            <a:pPr>
              <a:spcBef>
                <a:spcPts val="300"/>
              </a:spcBef>
              <a:defRPr sz="900">
                <a:solidFill>
                  <a:srgbClr val="334155"/>
                </a:solidFill>
              </a:defRPr>
            </a:pPr>
            <a:r>
              <a:t>•  Decision Boundary Optimization: Effectively establishes robust decision boundaries across high-dimensional clinical feature vectors.</a:t>
            </a:r>
          </a:p>
        </p:txBody>
      </p:sp>
      <p:sp>
        <p:nvSpPr>
          <p:cNvPr id="18" name="Rounded Rectangle 17"/>
          <p:cNvSpPr/>
          <p:nvPr/>
        </p:nvSpPr>
        <p:spPr>
          <a:xfrm>
            <a:off x="7315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206240"/>
            <a:ext cx="73152" cy="2011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315968"/>
            <a:ext cx="4864608" cy="1783080"/>
          </a:xfrm>
          <a:prstGeom prst="rect">
            <a:avLst/>
          </a:prstGeom>
          <a:noFill/>
        </p:spPr>
        <p:txBody>
          <a:bodyPr wrap="square">
            <a:spAutoFit/>
          </a:bodyPr>
          <a:lstStyle/>
          <a:p>
            <a:pPr>
              <a:defRPr sz="1200" b="1">
                <a:solidFill>
                  <a:srgbClr val="7C3AED"/>
                </a:solidFill>
              </a:defRPr>
            </a:pPr>
            <a:r>
              <a:t>Random Forest (RF)</a:t>
            </a:r>
          </a:p>
          <a:p>
            <a:pPr>
              <a:defRPr sz="850" b="1">
                <a:solidFill>
                  <a:srgbClr val="64748B"/>
                </a:solidFill>
              </a:defRPr>
            </a:pPr>
            <a:r>
              <a:t>BAGGED DECISION TREE ENSEMBLE</a:t>
            </a:r>
          </a:p>
          <a:p>
            <a:pPr>
              <a:spcBef>
                <a:spcPts val="300"/>
              </a:spcBef>
              <a:defRPr sz="900">
                <a:solidFill>
                  <a:srgbClr val="334155"/>
                </a:solidFill>
              </a:defRPr>
            </a:pPr>
            <a:r>
              <a:t>•  Formulation: Ensemble of decorrelated decision trees trained via bootstrap aggregating and random feature subsets.</a:t>
            </a:r>
          </a:p>
          <a:p>
            <a:pPr>
              <a:spcBef>
                <a:spcPts val="300"/>
              </a:spcBef>
              <a:defRPr sz="900">
                <a:solidFill>
                  <a:srgbClr val="334155"/>
                </a:solidFill>
              </a:defRPr>
            </a:pPr>
            <a:r>
              <a:t>•  Non-Linear Interactions: Effectively captures complex term co-occurrences and non-linear clinical relationships.</a:t>
            </a:r>
          </a:p>
          <a:p>
            <a:pPr>
              <a:spcBef>
                <a:spcPts val="300"/>
              </a:spcBef>
              <a:defRPr sz="900">
                <a:solidFill>
                  <a:srgbClr val="334155"/>
                </a:solidFill>
              </a:defRPr>
            </a:pPr>
            <a:r>
              <a:t>•  Robustness to Overfitting: High resistance to individual feature noise and document length variations.</a:t>
            </a:r>
          </a:p>
        </p:txBody>
      </p:sp>
      <p:sp>
        <p:nvSpPr>
          <p:cNvPr id="21" name="Rounded Rectangle 20"/>
          <p:cNvSpPr/>
          <p:nvPr/>
        </p:nvSpPr>
        <p:spPr>
          <a:xfrm>
            <a:off x="62179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206240"/>
            <a:ext cx="73152"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315968"/>
            <a:ext cx="4864608" cy="1783080"/>
          </a:xfrm>
          <a:prstGeom prst="rect">
            <a:avLst/>
          </a:prstGeom>
          <a:noFill/>
        </p:spPr>
        <p:txBody>
          <a:bodyPr wrap="square">
            <a:spAutoFit/>
          </a:bodyPr>
          <a:lstStyle/>
          <a:p>
            <a:pPr>
              <a:defRPr sz="1200" b="1">
                <a:solidFill>
                  <a:srgbClr val="1E293B"/>
                </a:solidFill>
              </a:defRPr>
            </a:pPr>
            <a:r>
              <a:t>Multinomial Naïve Bayes (MNB)</a:t>
            </a:r>
          </a:p>
          <a:p>
            <a:pPr>
              <a:defRPr sz="850" b="1">
                <a:solidFill>
                  <a:srgbClr val="64748B"/>
                </a:solidFill>
              </a:defRPr>
            </a:pPr>
            <a:r>
              <a:t>PROBABILISTIC WORD-FREQUENCY MODEL</a:t>
            </a:r>
          </a:p>
          <a:p>
            <a:pPr>
              <a:spcBef>
                <a:spcPts val="300"/>
              </a:spcBef>
              <a:defRPr sz="900">
                <a:solidFill>
                  <a:srgbClr val="334155"/>
                </a:solidFill>
              </a:defRPr>
            </a:pPr>
            <a:r>
              <a:t>•  Formulation: Applies Bayes' theorem with independence assumptions tailored for discrete term frequency vectors.</a:t>
            </a:r>
          </a:p>
          <a:p>
            <a:pPr>
              <a:spcBef>
                <a:spcPts val="300"/>
              </a:spcBef>
              <a:defRPr sz="900">
                <a:solidFill>
                  <a:srgbClr val="334155"/>
                </a:solidFill>
              </a:defRPr>
            </a:pPr>
            <a:r>
              <a:t>•  Laplace Smoothing: Handles zero-probability terms for unobserved medical tokens in test transcriptions.</a:t>
            </a:r>
          </a:p>
          <a:p>
            <a:pPr>
              <a:spcBef>
                <a:spcPts val="300"/>
              </a:spcBef>
              <a:defRPr sz="900">
                <a:solidFill>
                  <a:srgbClr val="334155"/>
                </a:solidFill>
              </a:defRPr>
            </a:pPr>
            <a:r>
              <a:t>•  Computational Efficiency: Exceptionally lightweight and rapid, providing diverse complementary probabilities.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Ensemble Machine Learning Architecture: Soft Voting Strategy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11 of 15</a:t>
            </a:r>
          </a:p>
        </p:txBody>
      </p:sp>
      <p:sp>
        <p:nvSpPr>
          <p:cNvPr id="10" name="Rounded Rectangle 9"/>
          <p:cNvSpPr/>
          <p:nvPr/>
        </p:nvSpPr>
        <p:spPr>
          <a:xfrm>
            <a:off x="731520" y="1188720"/>
            <a:ext cx="2286000"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80160"/>
            <a:ext cx="2103120" cy="1005840"/>
          </a:xfrm>
          <a:prstGeom prst="rect">
            <a:avLst/>
          </a:prstGeom>
          <a:noFill/>
        </p:spPr>
        <p:txBody>
          <a:bodyPr wrap="square">
            <a:spAutoFit/>
          </a:bodyPr>
          <a:lstStyle/>
          <a:p>
            <a:pPr>
              <a:defRPr sz="1100" b="1">
                <a:solidFill>
                  <a:srgbClr val="1D4ED8"/>
                </a:solidFill>
              </a:defRPr>
            </a:pPr>
            <a:r>
              <a:t>TF-IDF VECTORS</a:t>
            </a:r>
          </a:p>
          <a:p>
            <a:pPr>
              <a:defRPr sz="850">
                <a:solidFill>
                  <a:srgbClr val="334155"/>
                </a:solidFill>
              </a:defRPr>
            </a:pPr>
            <a:r>
              <a:t>Sublinear frequency</a:t>
            </a:r>
            <a:br/>
            <a:r>
              <a:t>Unigrams &amp; Bigrams</a:t>
            </a:r>
            <a:br/>
            <a:r>
              <a:t>Sparse Matrix</a:t>
            </a:r>
          </a:p>
        </p:txBody>
      </p:sp>
      <p:sp>
        <p:nvSpPr>
          <p:cNvPr id="12" name="Rounded Rectangle 11"/>
          <p:cNvSpPr/>
          <p:nvPr/>
        </p:nvSpPr>
        <p:spPr>
          <a:xfrm>
            <a:off x="3383280" y="1143000"/>
            <a:ext cx="2926080" cy="384048"/>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179576"/>
            <a:ext cx="2926080" cy="310896"/>
          </a:xfrm>
          <a:prstGeom prst="rect">
            <a:avLst/>
          </a:prstGeom>
          <a:noFill/>
        </p:spPr>
        <p:txBody>
          <a:bodyPr wrap="none">
            <a:spAutoFit/>
          </a:bodyPr>
          <a:lstStyle/>
          <a:p>
            <a:pPr algn="ctr">
              <a:defRPr sz="950" b="1">
                <a:solidFill>
                  <a:srgbClr val="0D9488"/>
                </a:solidFill>
              </a:defRPr>
            </a:pPr>
            <a:r>
              <a:t>SVM</a:t>
            </a:r>
          </a:p>
        </p:txBody>
      </p:sp>
      <p:sp>
        <p:nvSpPr>
          <p:cNvPr id="14" name="Rounded Rectangle 13"/>
          <p:cNvSpPr/>
          <p:nvPr/>
        </p:nvSpPr>
        <p:spPr>
          <a:xfrm>
            <a:off x="3383280" y="1581912"/>
            <a:ext cx="2926080" cy="384048"/>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618488"/>
            <a:ext cx="2926080" cy="310896"/>
          </a:xfrm>
          <a:prstGeom prst="rect">
            <a:avLst/>
          </a:prstGeom>
          <a:noFill/>
        </p:spPr>
        <p:txBody>
          <a:bodyPr wrap="none">
            <a:spAutoFit/>
          </a:bodyPr>
          <a:lstStyle/>
          <a:p>
            <a:pPr algn="ctr">
              <a:defRPr sz="950" b="1">
                <a:solidFill>
                  <a:srgbClr val="7C3AED"/>
                </a:solidFill>
              </a:defRPr>
            </a:pPr>
            <a:r>
              <a:t>Random Forest</a:t>
            </a:r>
          </a:p>
        </p:txBody>
      </p:sp>
      <p:sp>
        <p:nvSpPr>
          <p:cNvPr id="16" name="Rounded Rectangle 15"/>
          <p:cNvSpPr/>
          <p:nvPr/>
        </p:nvSpPr>
        <p:spPr>
          <a:xfrm>
            <a:off x="3383280" y="2020824"/>
            <a:ext cx="2926080" cy="384048"/>
          </a:xfrm>
          <a:prstGeom prst="roundRect">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057400"/>
            <a:ext cx="2926080" cy="310896"/>
          </a:xfrm>
          <a:prstGeom prst="rect">
            <a:avLst/>
          </a:prstGeom>
          <a:noFill/>
        </p:spPr>
        <p:txBody>
          <a:bodyPr wrap="none">
            <a:spAutoFit/>
          </a:bodyPr>
          <a:lstStyle/>
          <a:p>
            <a:pPr algn="ctr">
              <a:defRPr sz="950" b="1">
                <a:solidFill>
                  <a:srgbClr val="1D4ED8"/>
                </a:solidFill>
              </a:defRPr>
            </a:pPr>
            <a:r>
              <a:t>Logistic Regression</a:t>
            </a:r>
          </a:p>
        </p:txBody>
      </p:sp>
      <p:sp>
        <p:nvSpPr>
          <p:cNvPr id="18" name="Rounded Rectangle 17"/>
          <p:cNvSpPr/>
          <p:nvPr/>
        </p:nvSpPr>
        <p:spPr>
          <a:xfrm>
            <a:off x="3383280" y="2459736"/>
            <a:ext cx="2926080" cy="384048"/>
          </a:xfrm>
          <a:prstGeom prst="roundRect">
            <a:avLst/>
          </a:prstGeom>
          <a:solidFill>
            <a:srgbClr val="FFFFFF"/>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0" y="2496312"/>
            <a:ext cx="2926080" cy="310896"/>
          </a:xfrm>
          <a:prstGeom prst="rect">
            <a:avLst/>
          </a:prstGeom>
          <a:noFill/>
        </p:spPr>
        <p:txBody>
          <a:bodyPr wrap="none">
            <a:spAutoFit/>
          </a:bodyPr>
          <a:lstStyle/>
          <a:p>
            <a:pPr algn="ctr">
              <a:defRPr sz="950" b="1">
                <a:solidFill>
                  <a:srgbClr val="1E293B"/>
                </a:solidFill>
              </a:defRPr>
            </a:pPr>
            <a:r>
              <a:t>Multinomial Naive Bayes</a:t>
            </a:r>
          </a:p>
        </p:txBody>
      </p:sp>
      <p:sp>
        <p:nvSpPr>
          <p:cNvPr id="20" name="Rounded Rectangle 19"/>
          <p:cNvSpPr/>
          <p:nvPr/>
        </p:nvSpPr>
        <p:spPr>
          <a:xfrm>
            <a:off x="6675120" y="1188720"/>
            <a:ext cx="2651760" cy="1188720"/>
          </a:xfrm>
          <a:prstGeom prst="roundRect">
            <a:avLst/>
          </a:prstGeom>
          <a:solidFill>
            <a:srgbClr val="FAF5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1280160"/>
            <a:ext cx="2468880" cy="1005840"/>
          </a:xfrm>
          <a:prstGeom prst="rect">
            <a:avLst/>
          </a:prstGeom>
          <a:noFill/>
        </p:spPr>
        <p:txBody>
          <a:bodyPr wrap="square">
            <a:spAutoFit/>
          </a:bodyPr>
          <a:lstStyle/>
          <a:p>
            <a:pPr>
              <a:defRPr sz="1100" b="1">
                <a:solidFill>
                  <a:srgbClr val="7C3AED"/>
                </a:solidFill>
              </a:defRPr>
            </a:pPr>
            <a:r>
              <a:t>SOFT VOTING ENSEMBLE</a:t>
            </a:r>
          </a:p>
          <a:p>
            <a:pPr>
              <a:defRPr sz="850">
                <a:solidFill>
                  <a:srgbClr val="334155"/>
                </a:solidFill>
              </a:defRPr>
            </a:pPr>
            <a:r>
              <a:t>Probability Consensus</a:t>
            </a:r>
            <a:br/>
            <a:r>
              <a:t>Weighted / Average Pooling</a:t>
            </a:r>
            <a:br/>
            <a:r>
              <a:t>Variance Reduction</a:t>
            </a:r>
          </a:p>
        </p:txBody>
      </p:sp>
      <p:sp>
        <p:nvSpPr>
          <p:cNvPr id="22" name="Rounded Rectangle 21"/>
          <p:cNvSpPr/>
          <p:nvPr/>
        </p:nvSpPr>
        <p:spPr>
          <a:xfrm>
            <a:off x="9631375" y="1188720"/>
            <a:ext cx="182880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22815" y="1280160"/>
            <a:ext cx="1645920" cy="1005840"/>
          </a:xfrm>
          <a:prstGeom prst="rect">
            <a:avLst/>
          </a:prstGeom>
          <a:noFill/>
        </p:spPr>
        <p:txBody>
          <a:bodyPr wrap="square">
            <a:spAutoFit/>
          </a:bodyPr>
          <a:lstStyle/>
          <a:p>
            <a:pPr>
              <a:defRPr sz="1100" b="1">
                <a:solidFill>
                  <a:srgbClr val="10B981"/>
                </a:solidFill>
              </a:defRPr>
            </a:pPr>
            <a:r>
              <a:t>FINAL PREDICTION</a:t>
            </a:r>
          </a:p>
          <a:p>
            <a:pPr>
              <a:defRPr sz="850">
                <a:solidFill>
                  <a:srgbClr val="334155"/>
                </a:solidFill>
              </a:defRPr>
            </a:pPr>
            <a:r>
              <a:t>Predicted Specialty +</a:t>
            </a:r>
            <a:br/>
            <a:r>
              <a:t>Confidence Score</a:t>
            </a:r>
          </a:p>
        </p:txBody>
      </p:sp>
      <p:sp>
        <p:nvSpPr>
          <p:cNvPr id="24" name="Rounded Rectangle 23"/>
          <p:cNvSpPr/>
          <p:nvPr/>
        </p:nvSpPr>
        <p:spPr>
          <a:xfrm>
            <a:off x="731520"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154680"/>
            <a:ext cx="342900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291840"/>
            <a:ext cx="3099816" cy="2697480"/>
          </a:xfrm>
          <a:prstGeom prst="rect">
            <a:avLst/>
          </a:prstGeom>
          <a:noFill/>
        </p:spPr>
        <p:txBody>
          <a:bodyPr wrap="square">
            <a:spAutoFit/>
          </a:bodyPr>
          <a:lstStyle/>
          <a:p>
            <a:pPr>
              <a:defRPr sz="1100" b="1">
                <a:solidFill>
                  <a:srgbClr val="1D4ED8"/>
                </a:solidFill>
              </a:defRPr>
            </a:pPr>
            <a:r>
              <a:t>Why Soft Voting Over Hard Voting?</a:t>
            </a:r>
          </a:p>
          <a:p>
            <a:pPr>
              <a:spcBef>
                <a:spcPts val="400"/>
              </a:spcBef>
              <a:defRPr sz="880">
                <a:solidFill>
                  <a:srgbClr val="334155"/>
                </a:solidFill>
              </a:defRPr>
            </a:pPr>
            <a:r>
              <a:t>•  Probability Granularity: Hard voting counts binary majority votes, ignoring confidence. Soft voting sums class probabilities.</a:t>
            </a:r>
          </a:p>
          <a:p>
            <a:pPr>
              <a:spcBef>
                <a:spcPts val="400"/>
              </a:spcBef>
              <a:defRPr sz="880">
                <a:solidFill>
                  <a:srgbClr val="334155"/>
                </a:solidFill>
              </a:defRPr>
            </a:pPr>
            <a:r>
              <a:t>•  Weighting Subtle Signals: If an ambiguous clinical note gives 49% probability to Neurology across models, soft voting preserves that critical confidence gradient.</a:t>
            </a:r>
          </a:p>
          <a:p>
            <a:pPr>
              <a:spcBef>
                <a:spcPts val="400"/>
              </a:spcBef>
              <a:defRPr sz="880">
                <a:solidFill>
                  <a:srgbClr val="334155"/>
                </a:solidFill>
              </a:defRPr>
            </a:pPr>
            <a:r>
              <a:t>•  Reduced Misclassification: Mitigates abrupt decision boundary errors common in single-vote deadlocks.</a:t>
            </a:r>
          </a:p>
        </p:txBody>
      </p:sp>
      <p:sp>
        <p:nvSpPr>
          <p:cNvPr id="27" name="Rounded Rectangle 26"/>
          <p:cNvSpPr/>
          <p:nvPr/>
        </p:nvSpPr>
        <p:spPr>
          <a:xfrm>
            <a:off x="4379976"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79976" y="3154680"/>
            <a:ext cx="34290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3291840"/>
            <a:ext cx="3099816" cy="2697480"/>
          </a:xfrm>
          <a:prstGeom prst="rect">
            <a:avLst/>
          </a:prstGeom>
          <a:noFill/>
        </p:spPr>
        <p:txBody>
          <a:bodyPr wrap="square">
            <a:spAutoFit/>
          </a:bodyPr>
          <a:lstStyle/>
          <a:p>
            <a:pPr>
              <a:defRPr sz="1100" b="1">
                <a:solidFill>
                  <a:srgbClr val="0D9488"/>
                </a:solidFill>
              </a:defRPr>
            </a:pPr>
            <a:r>
              <a:t>SVM in the Ensemble</a:t>
            </a:r>
          </a:p>
          <a:p>
            <a:pPr>
              <a:spcBef>
                <a:spcPts val="400"/>
              </a:spcBef>
              <a:defRPr sz="880">
                <a:solidFill>
                  <a:srgbClr val="334155"/>
                </a:solidFill>
              </a:defRPr>
            </a:pPr>
            <a:r>
              <a:t>•  SVM is used as one of the base machine learning classifiers for medical specialty classification.</a:t>
            </a:r>
          </a:p>
          <a:p>
            <a:pPr>
              <a:spcBef>
                <a:spcPts val="400"/>
              </a:spcBef>
              <a:defRPr sz="880">
                <a:solidFill>
                  <a:srgbClr val="334155"/>
                </a:solidFill>
              </a:defRPr>
            </a:pPr>
            <a:r>
              <a:t>•  It learns decision boundaries between different medical specialty categories using the TF-IDF feature representation.</a:t>
            </a:r>
          </a:p>
          <a:p>
            <a:pPr>
              <a:spcBef>
                <a:spcPts val="400"/>
              </a:spcBef>
              <a:defRPr sz="880">
                <a:solidFill>
                  <a:srgbClr val="334155"/>
                </a:solidFill>
              </a:defRPr>
            </a:pPr>
            <a:r>
              <a:t>•  Its predictions contribute to the overall ensemble decision together with Random Forest, Logistic Regression, and Multinomial Naive Bayes.</a:t>
            </a:r>
          </a:p>
        </p:txBody>
      </p:sp>
      <p:sp>
        <p:nvSpPr>
          <p:cNvPr id="30" name="Rounded Rectangle 29"/>
          <p:cNvSpPr/>
          <p:nvPr/>
        </p:nvSpPr>
        <p:spPr>
          <a:xfrm>
            <a:off x="8028432"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28432" y="3154680"/>
            <a:ext cx="3429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3024" y="3291840"/>
            <a:ext cx="3099816" cy="2697480"/>
          </a:xfrm>
          <a:prstGeom prst="rect">
            <a:avLst/>
          </a:prstGeom>
          <a:noFill/>
        </p:spPr>
        <p:txBody>
          <a:bodyPr wrap="square">
            <a:spAutoFit/>
          </a:bodyPr>
          <a:lstStyle/>
          <a:p>
            <a:pPr>
              <a:defRPr sz="1100" b="1">
                <a:solidFill>
                  <a:srgbClr val="7C3AED"/>
                </a:solidFill>
              </a:defRPr>
            </a:pPr>
            <a:r>
              <a:t>Expected Ensemble Advantages</a:t>
            </a:r>
          </a:p>
          <a:p>
            <a:pPr>
              <a:spcBef>
                <a:spcPts val="400"/>
              </a:spcBef>
              <a:defRPr sz="880">
                <a:solidFill>
                  <a:srgbClr val="334155"/>
                </a:solidFill>
              </a:defRPr>
            </a:pPr>
            <a:r>
              <a:t>•  Bias-Variance Trade-off: Combines linear hyperplanes (SVM, LR) with tree-based partitioning (RF) and probabilistic priors (MNB).</a:t>
            </a:r>
          </a:p>
          <a:p>
            <a:pPr>
              <a:spcBef>
                <a:spcPts val="400"/>
              </a:spcBef>
              <a:defRPr sz="880">
                <a:solidFill>
                  <a:srgbClr val="334155"/>
                </a:solidFill>
              </a:defRPr>
            </a:pPr>
            <a:r>
              <a:t>•  Minority Specialty Sensitivity: Improves recognition rates on under-represented medical classes with fewer training notes.</a:t>
            </a:r>
          </a:p>
          <a:p>
            <a:pPr>
              <a:spcBef>
                <a:spcPts val="400"/>
              </a:spcBef>
              <a:defRPr sz="880">
                <a:solidFill>
                  <a:srgbClr val="334155"/>
                </a:solidFill>
              </a:defRPr>
            </a:pPr>
            <a:r>
              <a:t>•  Production Reliability: Ensures robust, dependable inference before serializing the pipeline for Flask web serving.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PIPELINE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Proposed End-to-End System Project Pipeline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12 of 15</a:t>
            </a:r>
          </a:p>
        </p:txBody>
      </p:sp>
      <p:pic>
        <p:nvPicPr>
          <p:cNvPr id="10" name="Picture 9" descr="07_project_pipeline.png"/>
          <p:cNvPicPr>
            <a:picLocks noChangeAspect="1"/>
          </p:cNvPicPr>
          <p:nvPr/>
        </p:nvPicPr>
        <p:blipFill>
          <a:blip r:embed="rId2"/>
          <a:stretch>
            <a:fillRect/>
          </a:stretch>
        </p:blipFill>
        <p:spPr>
          <a:xfrm>
            <a:off x="731520" y="1188720"/>
            <a:ext cx="6217920" cy="4946904"/>
          </a:xfrm>
          <a:prstGeom prst="rect">
            <a:avLst/>
          </a:prstGeom>
        </p:spPr>
      </p:pic>
      <p:sp>
        <p:nvSpPr>
          <p:cNvPr id="11" name="Rounded Rectangle 10"/>
          <p:cNvSpPr/>
          <p:nvPr/>
        </p:nvSpPr>
        <p:spPr>
          <a:xfrm>
            <a:off x="7205472" y="118872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5472" y="1188720"/>
            <a:ext cx="73152" cy="157276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8352" y="1280160"/>
            <a:ext cx="3931920" cy="1389888"/>
          </a:xfrm>
          <a:prstGeom prst="rect">
            <a:avLst/>
          </a:prstGeom>
          <a:noFill/>
        </p:spPr>
        <p:txBody>
          <a:bodyPr wrap="square">
            <a:spAutoFit/>
          </a:bodyPr>
          <a:lstStyle/>
          <a:p>
            <a:pPr>
              <a:defRPr sz="1050" b="1">
                <a:solidFill>
                  <a:srgbClr val="1D4ED8"/>
                </a:solidFill>
              </a:defRPr>
            </a:pPr>
            <a:r>
              <a:t>CONTAINER 1: DATA STAGE</a:t>
            </a:r>
          </a:p>
          <a:p>
            <a:pPr>
              <a:spcBef>
                <a:spcPts val="200"/>
              </a:spcBef>
              <a:defRPr sz="850">
                <a:solidFill>
                  <a:srgbClr val="334155"/>
                </a:solidFill>
              </a:defRPr>
            </a:pPr>
            <a:r>
              <a:t>•  Kaggle MTSamples: 4,966 cleaned multi-specialty clinical transcriptions.</a:t>
            </a:r>
          </a:p>
          <a:p>
            <a:pPr>
              <a:spcBef>
                <a:spcPts val="200"/>
              </a:spcBef>
              <a:defRPr sz="850">
                <a:solidFill>
                  <a:srgbClr val="334155"/>
                </a:solidFill>
              </a:defRPr>
            </a:pPr>
            <a:r>
              <a:t>•  Text Preprocessing: Lowercasing, medical stop-word filtering, WordNet lemmatization.</a:t>
            </a:r>
          </a:p>
          <a:p>
            <a:pPr>
              <a:spcBef>
                <a:spcPts val="200"/>
              </a:spcBef>
              <a:defRPr sz="850">
                <a:solidFill>
                  <a:srgbClr val="334155"/>
                </a:solidFill>
              </a:defRPr>
            </a:pPr>
            <a:r>
              <a:t>•  TF-IDF Vectorization: Unigram &amp; bigram features with sublinear scaling (features_final.csv).</a:t>
            </a:r>
          </a:p>
        </p:txBody>
      </p:sp>
      <p:sp>
        <p:nvSpPr>
          <p:cNvPr id="14" name="Rounded Rectangle 13"/>
          <p:cNvSpPr/>
          <p:nvPr/>
        </p:nvSpPr>
        <p:spPr>
          <a:xfrm>
            <a:off x="7205472" y="288036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05472" y="2880360"/>
            <a:ext cx="73152" cy="15727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2971800"/>
            <a:ext cx="3931920" cy="1389888"/>
          </a:xfrm>
          <a:prstGeom prst="rect">
            <a:avLst/>
          </a:prstGeom>
          <a:noFill/>
        </p:spPr>
        <p:txBody>
          <a:bodyPr wrap="square">
            <a:spAutoFit/>
          </a:bodyPr>
          <a:lstStyle/>
          <a:p>
            <a:pPr>
              <a:defRPr sz="1050" b="1">
                <a:solidFill>
                  <a:srgbClr val="0D9488"/>
                </a:solidFill>
              </a:defRPr>
            </a:pPr>
            <a:r>
              <a:t>CONTAINER 2: MODEL BUILDING</a:t>
            </a:r>
          </a:p>
          <a:p>
            <a:pPr>
              <a:spcBef>
                <a:spcPts val="200"/>
              </a:spcBef>
              <a:defRPr sz="850">
                <a:solidFill>
                  <a:srgbClr val="334155"/>
                </a:solidFill>
              </a:defRPr>
            </a:pPr>
            <a:r>
              <a:t>•  80/20 Stratified Split: Strict preservation of minority class proportions across all 40 specialties.</a:t>
            </a:r>
          </a:p>
          <a:p>
            <a:pPr>
              <a:spcBef>
                <a:spcPts val="200"/>
              </a:spcBef>
              <a:defRPr sz="850">
                <a:solidFill>
                  <a:srgbClr val="334155"/>
                </a:solidFill>
              </a:defRPr>
            </a:pPr>
            <a:r>
              <a:t>•  Parallel Training: SVM (calibrated), Random Forest, Logistic Regression, Multinomial Naive Bayes.</a:t>
            </a:r>
          </a:p>
          <a:p>
            <a:pPr>
              <a:spcBef>
                <a:spcPts val="200"/>
              </a:spcBef>
              <a:defRPr sz="850">
                <a:solidFill>
                  <a:srgbClr val="334155"/>
                </a:solidFill>
              </a:defRPr>
            </a:pPr>
            <a:r>
              <a:t>•  Soft Voting Ensemble: Synthesizes probability consensus, evaluated via multi-class metrics &amp; serialized.</a:t>
            </a:r>
          </a:p>
        </p:txBody>
      </p:sp>
      <p:sp>
        <p:nvSpPr>
          <p:cNvPr id="17" name="Rounded Rectangle 16"/>
          <p:cNvSpPr/>
          <p:nvPr/>
        </p:nvSpPr>
        <p:spPr>
          <a:xfrm>
            <a:off x="7205472" y="457200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05472" y="4572000"/>
            <a:ext cx="73152" cy="15727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4663440"/>
            <a:ext cx="3931920" cy="1389888"/>
          </a:xfrm>
          <a:prstGeom prst="rect">
            <a:avLst/>
          </a:prstGeom>
          <a:noFill/>
        </p:spPr>
        <p:txBody>
          <a:bodyPr wrap="square">
            <a:spAutoFit/>
          </a:bodyPr>
          <a:lstStyle/>
          <a:p>
            <a:pPr>
              <a:defRPr sz="1050" b="1">
                <a:solidFill>
                  <a:srgbClr val="7C3AED"/>
                </a:solidFill>
              </a:defRPr>
            </a:pPr>
            <a:r>
              <a:t>CONTAINER 3: DEPLOYMENT STAGE</a:t>
            </a:r>
          </a:p>
          <a:p>
            <a:pPr>
              <a:spcBef>
                <a:spcPts val="200"/>
              </a:spcBef>
              <a:defRPr sz="850">
                <a:solidFill>
                  <a:srgbClr val="334155"/>
                </a:solidFill>
              </a:defRPr>
            </a:pPr>
            <a:r>
              <a:t>•  Flask Web Application: Interactive clinician-facing dashboard for note entry / file upload.</a:t>
            </a:r>
          </a:p>
          <a:p>
            <a:pPr>
              <a:spcBef>
                <a:spcPts val="200"/>
              </a:spcBef>
              <a:defRPr sz="850">
                <a:solidFill>
                  <a:srgbClr val="334155"/>
                </a:solidFill>
              </a:defRPr>
            </a:pPr>
            <a:r>
              <a:t>•  Live Prediction Pipeline: Transforms input text using serialized TF-IDF vectorizer.</a:t>
            </a:r>
          </a:p>
          <a:p>
            <a:pPr>
              <a:spcBef>
                <a:spcPts val="200"/>
              </a:spcBef>
              <a:defRPr sz="850">
                <a:solidFill>
                  <a:srgbClr val="334155"/>
                </a:solidFill>
              </a:defRPr>
            </a:pPr>
            <a:r>
              <a:t>•  Confidence Output: Returns predicted specialty and classification confidence percentage.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PROGRESS &amp; ROADMAP</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Current Project Progress &amp; Implementation Roadmap</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13 of 15</a:t>
            </a:r>
          </a:p>
        </p:txBody>
      </p:sp>
      <p:sp>
        <p:nvSpPr>
          <p:cNvPr id="10" name="Rounded Rectangle 9"/>
          <p:cNvSpPr/>
          <p:nvPr/>
        </p:nvSpPr>
        <p:spPr>
          <a:xfrm>
            <a:off x="731520" y="1188720"/>
            <a:ext cx="5230368" cy="411480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325880"/>
            <a:ext cx="4773168" cy="3840480"/>
          </a:xfrm>
          <a:prstGeom prst="rect">
            <a:avLst/>
          </a:prstGeom>
          <a:noFill/>
        </p:spPr>
        <p:txBody>
          <a:bodyPr wrap="square">
            <a:spAutoFit/>
          </a:bodyPr>
          <a:lstStyle/>
          <a:p>
            <a:pPr>
              <a:defRPr sz="1200" b="1">
                <a:solidFill>
                  <a:srgbClr val="166534"/>
                </a:solidFill>
              </a:defRPr>
            </a:pPr>
            <a:r>
              <a:t>CURRENT PROGRESS (PHASE 1 / SPRINT RELEASE I)</a:t>
            </a:r>
          </a:p>
          <a:p>
            <a:pPr>
              <a:spcBef>
                <a:spcPts val="400"/>
              </a:spcBef>
              <a:defRPr sz="950" b="1">
                <a:solidFill>
                  <a:srgbClr val="0F172A"/>
                </a:solidFill>
              </a:defRPr>
            </a:pPr>
            <a:r>
              <a:t>✓  Comprehensive Literature Review: </a:t>
            </a:r>
            <a:r>
              <a:rPr b="0" sz="850">
                <a:solidFill>
                  <a:srgbClr val="334155"/>
                </a:solidFill>
              </a:rPr>
              <a:t>Surveyed clinical NLP and machine learning papers, establishing preprocessing standards.</a:t>
            </a:r>
          </a:p>
          <a:p>
            <a:pPr>
              <a:spcBef>
                <a:spcPts val="400"/>
              </a:spcBef>
              <a:defRPr sz="950" b="1">
                <a:solidFill>
                  <a:srgbClr val="0F172A"/>
                </a:solidFill>
              </a:defRPr>
            </a:pPr>
            <a:r>
              <a:t>✓  Dataset Acquisition &amp; Cleaning Audit: </a:t>
            </a:r>
            <a:r>
              <a:rPr b="0" sz="850">
                <a:solidFill>
                  <a:srgbClr val="334155"/>
                </a:solidFill>
              </a:rPr>
              <a:t>Acquired Kaggle MTSamples (4,999 records); identified and pruned 33 blank transcripts.</a:t>
            </a:r>
          </a:p>
          <a:p>
            <a:pPr>
              <a:spcBef>
                <a:spcPts val="400"/>
              </a:spcBef>
              <a:defRPr sz="950" b="1">
                <a:solidFill>
                  <a:srgbClr val="0F172A"/>
                </a:solidFill>
              </a:defRPr>
            </a:pPr>
            <a:r>
              <a:t>✓  Complete Exploratory Data Analysis: </a:t>
            </a:r>
            <a:r>
              <a:rPr b="0" sz="850">
                <a:solidFill>
                  <a:srgbClr val="334155"/>
                </a:solidFill>
              </a:rPr>
              <a:t>Generated 6 specialized visual distributions covering missing values, class imbalance, and text lengths.</a:t>
            </a:r>
          </a:p>
          <a:p>
            <a:pPr>
              <a:spcBef>
                <a:spcPts val="400"/>
              </a:spcBef>
              <a:defRPr sz="950" b="1">
                <a:solidFill>
                  <a:srgbClr val="0F172A"/>
                </a:solidFill>
              </a:defRPr>
            </a:pPr>
            <a:r>
              <a:t>✓  Class Imbalance Profiling: </a:t>
            </a:r>
            <a:r>
              <a:rPr b="0" sz="850">
                <a:solidFill>
                  <a:srgbClr val="334155"/>
                </a:solidFill>
              </a:rPr>
              <a:t>Characterized severe class skew across 40 specialties, formulating stratified sampling strategy.</a:t>
            </a:r>
          </a:p>
          <a:p>
            <a:pPr>
              <a:spcBef>
                <a:spcPts val="400"/>
              </a:spcBef>
              <a:defRPr sz="950" b="1">
                <a:solidFill>
                  <a:srgbClr val="0F172A"/>
                </a:solidFill>
              </a:defRPr>
            </a:pPr>
            <a:r>
              <a:t>✓  NLP Preprocessing Pipeline Design: </a:t>
            </a:r>
            <a:r>
              <a:rPr b="0" sz="850">
                <a:solidFill>
                  <a:srgbClr val="334155"/>
                </a:solidFill>
              </a:rPr>
              <a:t>Finalized 5-step sequence: Lowercasing, character cleaning, stop-word removal, and lemmatization.</a:t>
            </a:r>
          </a:p>
          <a:p>
            <a:pPr>
              <a:spcBef>
                <a:spcPts val="400"/>
              </a:spcBef>
              <a:defRPr sz="950" b="1">
                <a:solidFill>
                  <a:srgbClr val="0F172A"/>
                </a:solidFill>
              </a:defRPr>
            </a:pPr>
            <a:r>
              <a:t>✓  TF-IDF Vectorization Architecture: </a:t>
            </a:r>
            <a:r>
              <a:rPr b="0" sz="850">
                <a:solidFill>
                  <a:srgbClr val="334155"/>
                </a:solidFill>
              </a:rPr>
              <a:t>Selected unigram/bigram tokenization with sublinear term-frequency scaling and L2 normalization.</a:t>
            </a:r>
          </a:p>
          <a:p>
            <a:pPr>
              <a:spcBef>
                <a:spcPts val="400"/>
              </a:spcBef>
              <a:defRPr sz="950" b="1">
                <a:solidFill>
                  <a:srgbClr val="0F172A"/>
                </a:solidFill>
              </a:defRPr>
            </a:pPr>
            <a:r>
              <a:t>✓  Model &amp; Ensemble Architecture Formulated: </a:t>
            </a:r>
            <a:r>
              <a:rPr b="0" sz="850">
                <a:solidFill>
                  <a:srgbClr val="334155"/>
                </a:solidFill>
              </a:rPr>
              <a:t>Selected SVM (calibrated), RF, LR, MNB and soft voting probability consensus aggregation.</a:t>
            </a:r>
          </a:p>
        </p:txBody>
      </p:sp>
      <p:sp>
        <p:nvSpPr>
          <p:cNvPr id="12" name="Rounded Rectangle 11"/>
          <p:cNvSpPr/>
          <p:nvPr/>
        </p:nvSpPr>
        <p:spPr>
          <a:xfrm>
            <a:off x="6217920" y="1188720"/>
            <a:ext cx="5230368" cy="41148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25880"/>
            <a:ext cx="4773168" cy="3840480"/>
          </a:xfrm>
          <a:prstGeom prst="rect">
            <a:avLst/>
          </a:prstGeom>
          <a:noFill/>
        </p:spPr>
        <p:txBody>
          <a:bodyPr wrap="square">
            <a:spAutoFit/>
          </a:bodyPr>
          <a:lstStyle/>
          <a:p>
            <a:pPr>
              <a:defRPr sz="1200" b="1">
                <a:solidFill>
                  <a:srgbClr val="1D4ED8"/>
                </a:solidFill>
              </a:defRPr>
            </a:pPr>
            <a:r>
              <a:t>PLANNED NEXT STEPS (PHASE 2 / SPRINT RELEASE II)</a:t>
            </a:r>
          </a:p>
          <a:p>
            <a:pPr>
              <a:spcBef>
                <a:spcPts val="400"/>
              </a:spcBef>
              <a:defRPr sz="950" b="1">
                <a:solidFill>
                  <a:srgbClr val="0F172A"/>
                </a:solidFill>
              </a:defRPr>
            </a:pPr>
            <a:r>
              <a:t>→  Execute Automated Preprocessing Pipeline: </a:t>
            </a:r>
            <a:r>
              <a:rPr b="0" sz="850">
                <a:solidFill>
                  <a:srgbClr val="334155"/>
                </a:solidFill>
              </a:rPr>
              <a:t>Implement modular Python text cleaner to generate clean tokenized transcripts.</a:t>
            </a:r>
          </a:p>
          <a:p>
            <a:pPr>
              <a:spcBef>
                <a:spcPts val="400"/>
              </a:spcBef>
              <a:defRPr sz="950" b="1">
                <a:solidFill>
                  <a:srgbClr val="0F172A"/>
                </a:solidFill>
              </a:defRPr>
            </a:pPr>
            <a:r>
              <a:t>→  TF-IDF Matrix Generation &amp; Feature Export: </a:t>
            </a:r>
            <a:r>
              <a:rPr b="0" sz="850">
                <a:solidFill>
                  <a:srgbClr val="334155"/>
                </a:solidFill>
              </a:rPr>
              <a:t>Fit and persist TF-IDF vectorizer; compile high-dimensional sparse feature matrix.</a:t>
            </a:r>
          </a:p>
          <a:p>
            <a:pPr>
              <a:spcBef>
                <a:spcPts val="400"/>
              </a:spcBef>
              <a:defRPr sz="950" b="1">
                <a:solidFill>
                  <a:srgbClr val="0F172A"/>
                </a:solidFill>
              </a:defRPr>
            </a:pPr>
            <a:r>
              <a:t>→  Candidate Model Training: </a:t>
            </a:r>
            <a:r>
              <a:rPr b="0" sz="850">
                <a:solidFill>
                  <a:srgbClr val="334155"/>
                </a:solidFill>
              </a:rPr>
              <a:t>Train SVM, Random Forest, Logistic Regression, and Multinomial Naive Bayes candidate classifiers.</a:t>
            </a:r>
          </a:p>
          <a:p>
            <a:pPr>
              <a:spcBef>
                <a:spcPts val="400"/>
              </a:spcBef>
              <a:defRPr sz="950" b="1">
                <a:solidFill>
                  <a:srgbClr val="0F172A"/>
                </a:solidFill>
              </a:defRPr>
            </a:pPr>
            <a:r>
              <a:t>→  Soft Voting Ensemble Implementation: </a:t>
            </a:r>
            <a:r>
              <a:rPr b="0" sz="850">
                <a:solidFill>
                  <a:srgbClr val="334155"/>
                </a:solidFill>
              </a:rPr>
              <a:t>Implement soft consensus probability aggregation combining all four candidate estimators.</a:t>
            </a:r>
          </a:p>
          <a:p>
            <a:pPr>
              <a:spcBef>
                <a:spcPts val="400"/>
              </a:spcBef>
              <a:defRPr sz="950" b="1">
                <a:solidFill>
                  <a:srgbClr val="0F172A"/>
                </a:solidFill>
              </a:defRPr>
            </a:pPr>
            <a:r>
              <a:t>→  Rigorous Multi-Class Model Evaluation: </a:t>
            </a:r>
            <a:r>
              <a:rPr b="0" sz="850">
                <a:solidFill>
                  <a:srgbClr val="334155"/>
                </a:solidFill>
              </a:rPr>
              <a:t>Compute multi-class evaluation metrics: Macro/Weighted Precision, Recall, F1, and Confusion Matrices.</a:t>
            </a:r>
          </a:p>
          <a:p>
            <a:pPr>
              <a:spcBef>
                <a:spcPts val="400"/>
              </a:spcBef>
              <a:defRPr sz="950" b="1">
                <a:solidFill>
                  <a:srgbClr val="0F172A"/>
                </a:solidFill>
              </a:defRPr>
            </a:pPr>
            <a:r>
              <a:t>→  Model Serialization &amp; Web Deployment: </a:t>
            </a:r>
            <a:r>
              <a:rPr b="0" sz="850">
                <a:solidFill>
                  <a:srgbClr val="334155"/>
                </a:solidFill>
              </a:rPr>
              <a:t>Serialize trained ensemble with Joblib; build interactive clinician dashboard using Flask.</a:t>
            </a:r>
          </a:p>
          <a:p>
            <a:pPr>
              <a:spcBef>
                <a:spcPts val="400"/>
              </a:spcBef>
              <a:defRPr sz="950" b="1">
                <a:solidFill>
                  <a:srgbClr val="0F172A"/>
                </a:solidFill>
              </a:defRPr>
            </a:pPr>
            <a:r>
              <a:t>→  System Testing &amp; Validation: </a:t>
            </a:r>
            <a:r>
              <a:rPr b="0" sz="850">
                <a:solidFill>
                  <a:srgbClr val="334155"/>
                </a:solidFill>
              </a:rPr>
              <a:t>Validate inference latency, specialty prediction accuracy, and confidence score reliability.</a:t>
            </a:r>
          </a:p>
        </p:txBody>
      </p:sp>
      <p:sp>
        <p:nvSpPr>
          <p:cNvPr id="14" name="Rounded Rectangle 13"/>
          <p:cNvSpPr/>
          <p:nvPr/>
        </p:nvSpPr>
        <p:spPr>
          <a:xfrm>
            <a:off x="731520" y="5440680"/>
            <a:ext cx="10716768" cy="73152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04688"/>
            <a:ext cx="10351008" cy="594360"/>
          </a:xfrm>
          <a:prstGeom prst="rect">
            <a:avLst/>
          </a:prstGeom>
          <a:noFill/>
        </p:spPr>
        <p:txBody>
          <a:bodyPr wrap="square">
            <a:spAutoFit/>
          </a:bodyPr>
          <a:lstStyle/>
          <a:p>
            <a:pPr>
              <a:defRPr sz="1000" b="1">
                <a:solidFill>
                  <a:srgbClr val="0D9488"/>
                </a:solidFill>
              </a:defRPr>
            </a:pPr>
            <a:r>
              <a:t>CURRENT STATUS SUMMARY &amp; MILESTONE ALIGNMENT</a:t>
            </a:r>
          </a:p>
          <a:p>
            <a:pPr>
              <a:defRPr sz="850">
                <a:solidFill>
                  <a:srgbClr val="334155"/>
                </a:solidFill>
              </a:defRPr>
            </a:pPr>
            <a:r>
              <a:t>The project has successfully completed the literature review, dataset exploration, and architectural design phases (Sprint Release I). The implementation phase is now commencing according to the project timeline.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TIMELINE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Project Timeline &amp; Milestone Schedule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14 of 15</a:t>
            </a:r>
          </a:p>
        </p:txBody>
      </p:sp>
      <p:sp>
        <p:nvSpPr>
          <p:cNvPr id="10" name="Rounded Rectangle 9"/>
          <p:cNvSpPr/>
          <p:nvPr/>
        </p:nvSpPr>
        <p:spPr>
          <a:xfrm>
            <a:off x="731520" y="1115568"/>
            <a:ext cx="10728655" cy="47548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170432"/>
            <a:ext cx="10424160" cy="384048"/>
          </a:xfrm>
          <a:prstGeom prst="rect">
            <a:avLst/>
          </a:prstGeom>
          <a:noFill/>
        </p:spPr>
        <p:txBody>
          <a:bodyPr wrap="square">
            <a:spAutoFit/>
          </a:bodyPr>
          <a:lstStyle/>
          <a:p>
            <a:pPr>
              <a:defRPr sz="950" b="1">
                <a:solidFill>
                  <a:srgbClr val="1D4ED8"/>
                </a:solidFill>
                <a:latin typeface="Calibri"/>
              </a:defRPr>
            </a:pPr>
            <a:r>
              <a:t>ACADEMIC TIMELINE &amp; PRESENTATION MILESTONES (SEMESTER 3 MCA MINI PROJECT)</a:t>
            </a:r>
          </a:p>
        </p:txBody>
      </p:sp>
      <p:graphicFrame>
        <p:nvGraphicFramePr>
          <p:cNvPr id="12" name="Table 11"/>
          <p:cNvGraphicFramePr>
            <a:graphicFrameLocks noGrp="1"/>
          </p:cNvGraphicFramePr>
          <p:nvPr/>
        </p:nvGraphicFramePr>
        <p:xfrm>
          <a:off x="731520" y="1691640"/>
          <a:ext cx="10728655" cy="4526280"/>
        </p:xfrm>
        <a:graphic>
          <a:graphicData uri="http://schemas.openxmlformats.org/drawingml/2006/table">
            <a:tbl>
              <a:tblPr firstRow="1" bandRow="1">
                <a:tableStyleId>{5C22544A-7EE6-4342-B048-85BDC9FD1C3A}</a:tableStyleId>
              </a:tblPr>
              <a:tblGrid>
                <a:gridCol w="2743200"/>
                <a:gridCol w="7985455"/>
              </a:tblGrid>
              <a:tr h="282892">
                <a:tc>
                  <a:txBody>
                    <a:bodyPr/>
                    <a:lstStyle/>
                    <a:p>
                      <a:pPr>
                        <a:defRPr sz="1000" b="1">
                          <a:solidFill>
                            <a:srgbClr val="FFFFFF"/>
                          </a:solidFill>
                          <a:latin typeface="Calibri"/>
                        </a:defRPr>
                      </a:pPr>
                      <a:r>
                        <a:t>Period / Date</a:t>
                      </a:r>
                    </a:p>
                  </a:txBody>
                  <a:tcPr marT="36576" marB="36576" marL="109728" marR="109728">
                    <a:solidFill>
                      <a:srgbClr val="0F172A"/>
                    </a:solidFill>
                  </a:tcPr>
                </a:tc>
                <a:tc>
                  <a:txBody>
                    <a:bodyPr/>
                    <a:lstStyle/>
                    <a:p>
                      <a:pPr>
                        <a:defRPr sz="1000" b="1">
                          <a:solidFill>
                            <a:srgbClr val="FFFFFF"/>
                          </a:solidFill>
                          <a:latin typeface="Calibri"/>
                        </a:defRPr>
                      </a:pPr>
                      <a:r>
                        <a:t>Planned Activity / Presentation Milestone</a:t>
                      </a:r>
                    </a:p>
                  </a:txBody>
                  <a:tcPr marT="36576" marB="36576" marL="109728" marR="109728">
                    <a:solidFill>
                      <a:srgbClr val="0F172A"/>
                    </a:solidFill>
                  </a:tcPr>
                </a:tc>
              </a:tr>
              <a:tr h="282892">
                <a:tc>
                  <a:txBody>
                    <a:bodyPr/>
                    <a:lstStyle/>
                    <a:p>
                      <a:pPr>
                        <a:defRPr sz="880" b="0">
                          <a:solidFill>
                            <a:srgbClr val="334155"/>
                          </a:solidFill>
                          <a:latin typeface="Calibri"/>
                        </a:defRPr>
                      </a:pPr>
                      <a:r>
                        <a:t>Week 1–2</a:t>
                      </a:r>
                    </a:p>
                  </a:txBody>
                  <a:tcPr marT="18288" marB="18288" marL="109728" marR="109728">
                    <a:solidFill>
                      <a:srgbClr val="FFFFFF"/>
                    </a:solidFill>
                  </a:tcPr>
                </a:tc>
                <a:tc>
                  <a:txBody>
                    <a:bodyPr/>
                    <a:lstStyle/>
                    <a:p>
                      <a:pPr>
                        <a:defRPr sz="880" b="0">
                          <a:solidFill>
                            <a:srgbClr val="334155"/>
                          </a:solidFill>
                          <a:latin typeface="Calibri"/>
                        </a:defRPr>
                      </a:pPr>
                      <a:r>
                        <a:t>Dataset Collection, Exploratory Data Analysis, and Initial Data Cleaning</a:t>
                      </a:r>
                    </a:p>
                  </a:txBody>
                  <a:tcPr marT="18288" marB="18288" marL="109728" marR="109728">
                    <a:solidFill>
                      <a:srgbClr val="FFFFFF"/>
                    </a:solidFill>
                  </a:tcPr>
                </a:tc>
              </a:tr>
              <a:tr h="282892">
                <a:tc>
                  <a:txBody>
                    <a:bodyPr/>
                    <a:lstStyle/>
                    <a:p>
                      <a:pPr>
                        <a:defRPr sz="880" b="1">
                          <a:solidFill>
                            <a:srgbClr val="0F172A"/>
                          </a:solidFill>
                          <a:latin typeface="Calibri"/>
                        </a:defRPr>
                      </a:pPr>
                      <a:r>
                        <a:t>21.07.2026</a:t>
                      </a:r>
                    </a:p>
                  </a:txBody>
                  <a:tcPr marT="18288" marB="18288" marL="109728" marR="109728">
                    <a:solidFill>
                      <a:srgbClr val="F8FAFC"/>
                    </a:solidFill>
                  </a:tcPr>
                </a:tc>
                <a:tc>
                  <a:txBody>
                    <a:bodyPr/>
                    <a:lstStyle/>
                    <a:p>
                      <a:pPr>
                        <a:defRPr sz="880" b="1">
                          <a:solidFill>
                            <a:srgbClr val="0F172A"/>
                          </a:solidFill>
                          <a:latin typeface="Calibri"/>
                        </a:defRPr>
                      </a:pPr>
                      <a:r>
                        <a:t>Project Proposal Approval</a:t>
                      </a:r>
                    </a:p>
                  </a:txBody>
                  <a:tcPr marT="18288" marB="18288" marL="109728" marR="109728">
                    <a:solidFill>
                      <a:srgbClr val="F8FAFC"/>
                    </a:solidFill>
                  </a:tcPr>
                </a:tc>
              </a:tr>
              <a:tr h="282892">
                <a:tc>
                  <a:txBody>
                    <a:bodyPr/>
                    <a:lstStyle/>
                    <a:p>
                      <a:pPr>
                        <a:defRPr sz="880" b="0">
                          <a:solidFill>
                            <a:srgbClr val="334155"/>
                          </a:solidFill>
                          <a:latin typeface="Calibri"/>
                        </a:defRPr>
                      </a:pPr>
                      <a:r>
                        <a:t>Week 3–4</a:t>
                      </a:r>
                    </a:p>
                  </a:txBody>
                  <a:tcPr marT="18288" marB="18288" marL="109728" marR="109728">
                    <a:solidFill>
                      <a:srgbClr val="FFFFFF"/>
                    </a:solidFill>
                  </a:tcPr>
                </a:tc>
                <a:tc>
                  <a:txBody>
                    <a:bodyPr/>
                    <a:lstStyle/>
                    <a:p>
                      <a:pPr>
                        <a:defRPr sz="880" b="0">
                          <a:solidFill>
                            <a:srgbClr val="334155"/>
                          </a:solidFill>
                          <a:latin typeface="Calibri"/>
                        </a:defRPr>
                      </a:pPr>
                      <a:r>
                        <a:t>Clinical Text Preprocessing, Medical Stop-word Removal, and Lemmatization</a:t>
                      </a:r>
                    </a:p>
                  </a:txBody>
                  <a:tcPr marT="18288" marB="18288" marL="109728" marR="109728">
                    <a:solidFill>
                      <a:srgbClr val="FFFFFF"/>
                    </a:solidFill>
                  </a:tcPr>
                </a:tc>
              </a:tr>
              <a:tr h="282892">
                <a:tc>
                  <a:txBody>
                    <a:bodyPr/>
                    <a:lstStyle/>
                    <a:p>
                      <a:pPr>
                        <a:defRPr sz="880" b="0">
                          <a:solidFill>
                            <a:srgbClr val="334155"/>
                          </a:solidFill>
                          <a:latin typeface="Calibri"/>
                        </a:defRPr>
                      </a:pPr>
                      <a:r>
                        <a:t>Week 5</a:t>
                      </a:r>
                    </a:p>
                  </a:txBody>
                  <a:tcPr marT="18288" marB="18288" marL="109728" marR="109728">
                    <a:solidFill>
                      <a:srgbClr val="F8FAFC"/>
                    </a:solidFill>
                  </a:tcPr>
                </a:tc>
                <a:tc>
                  <a:txBody>
                    <a:bodyPr/>
                    <a:lstStyle/>
                    <a:p>
                      <a:pPr>
                        <a:defRPr sz="880" b="0">
                          <a:solidFill>
                            <a:srgbClr val="334155"/>
                          </a:solidFill>
                          <a:latin typeface="Calibri"/>
                        </a:defRPr>
                      </a:pPr>
                      <a:r>
                        <a:t>TF-IDF Feature Extraction and Feature Representation Analysis</a:t>
                      </a:r>
                    </a:p>
                  </a:txBody>
                  <a:tcPr marT="18288" marB="18288" marL="109728" marR="109728">
                    <a:solidFill>
                      <a:srgbClr val="F8FAFC"/>
                    </a:solidFill>
                  </a:tcPr>
                </a:tc>
              </a:tr>
              <a:tr h="282892">
                <a:tc>
                  <a:txBody>
                    <a:bodyPr/>
                    <a:lstStyle/>
                    <a:p>
                      <a:pPr>
                        <a:defRPr sz="880" b="1">
                          <a:solidFill>
                            <a:srgbClr val="1D4ED8"/>
                          </a:solidFill>
                          <a:latin typeface="Calibri"/>
                        </a:defRPr>
                      </a:pPr>
                      <a:r>
                        <a:t>08.09.2026</a:t>
                      </a:r>
                    </a:p>
                  </a:txBody>
                  <a:tcPr marT="18288" marB="18288" marL="109728" marR="109728">
                    <a:solidFill>
                      <a:srgbClr val="EFF6FF"/>
                    </a:solidFill>
                  </a:tcPr>
                </a:tc>
                <a:tc>
                  <a:txBody>
                    <a:bodyPr/>
                    <a:lstStyle/>
                    <a:p>
                      <a:pPr>
                        <a:defRPr sz="880" b="1">
                          <a:solidFill>
                            <a:srgbClr val="1D4ED8"/>
                          </a:solidFill>
                          <a:latin typeface="Calibri"/>
                        </a:defRPr>
                      </a:pPr>
                      <a:r>
                        <a:t>First Project Presentation (Current Milestone — Phase 1 Faculty Review)</a:t>
                      </a:r>
                    </a:p>
                  </a:txBody>
                  <a:tcPr marT="18288" marB="18288" marL="109728" marR="109728">
                    <a:solidFill>
                      <a:srgbClr val="EFF6FF"/>
                    </a:solidFill>
                  </a:tcPr>
                </a:tc>
              </a:tr>
              <a:tr h="282892">
                <a:tc>
                  <a:txBody>
                    <a:bodyPr/>
                    <a:lstStyle/>
                    <a:p>
                      <a:pPr>
                        <a:defRPr sz="880" b="1">
                          <a:solidFill>
                            <a:srgbClr val="1D4ED8"/>
                          </a:solidFill>
                          <a:latin typeface="Calibri"/>
                        </a:defRPr>
                      </a:pPr>
                      <a:r>
                        <a:t>09.09.2026</a:t>
                      </a:r>
                    </a:p>
                  </a:txBody>
                  <a:tcPr marT="18288" marB="18288" marL="109728" marR="109728">
                    <a:solidFill>
                      <a:srgbClr val="EFF6FF"/>
                    </a:solidFill>
                  </a:tcPr>
                </a:tc>
                <a:tc>
                  <a:txBody>
                    <a:bodyPr/>
                    <a:lstStyle/>
                    <a:p>
                      <a:pPr>
                        <a:defRPr sz="880" b="1">
                          <a:solidFill>
                            <a:srgbClr val="1D4ED8"/>
                          </a:solidFill>
                          <a:latin typeface="Calibri"/>
                        </a:defRPr>
                      </a:pPr>
                      <a:r>
                        <a:t>Sprint Release I (Dataset Exploration &amp; Pipeline Architecture Completed)</a:t>
                      </a:r>
                    </a:p>
                  </a:txBody>
                  <a:tcPr marT="18288" marB="18288" marL="109728" marR="109728">
                    <a:solidFill>
                      <a:srgbClr val="EFF6FF"/>
                    </a:solidFill>
                  </a:tcPr>
                </a:tc>
              </a:tr>
              <a:tr h="282892">
                <a:tc>
                  <a:txBody>
                    <a:bodyPr/>
                    <a:lstStyle/>
                    <a:p>
                      <a:pPr>
                        <a:defRPr sz="880" b="0">
                          <a:solidFill>
                            <a:srgbClr val="334155"/>
                          </a:solidFill>
                          <a:latin typeface="Calibri"/>
                        </a:defRPr>
                      </a:pPr>
                      <a:r>
                        <a:t>Week 6</a:t>
                      </a:r>
                    </a:p>
                  </a:txBody>
                  <a:tcPr marT="18288" marB="18288" marL="109728" marR="109728">
                    <a:solidFill>
                      <a:srgbClr val="FFFFFF"/>
                    </a:solidFill>
                  </a:tcPr>
                </a:tc>
                <a:tc>
                  <a:txBody>
                    <a:bodyPr/>
                    <a:lstStyle/>
                    <a:p>
                      <a:pPr>
                        <a:defRPr sz="880" b="0">
                          <a:solidFill>
                            <a:srgbClr val="334155"/>
                          </a:solidFill>
                          <a:latin typeface="Calibri"/>
                        </a:defRPr>
                      </a:pPr>
                      <a:r>
                        <a:t>Candidate ML Model Training (SVM, Random Forest, Logistic Regression, MNB) and Baseline Evaluation</a:t>
                      </a:r>
                    </a:p>
                  </a:txBody>
                  <a:tcPr marT="18288" marB="18288" marL="109728" marR="109728">
                    <a:solidFill>
                      <a:srgbClr val="FFFFFF"/>
                    </a:solidFill>
                  </a:tcPr>
                </a:tc>
              </a:tr>
              <a:tr h="282892">
                <a:tc>
                  <a:txBody>
                    <a:bodyPr/>
                    <a:lstStyle/>
                    <a:p>
                      <a:pPr>
                        <a:defRPr sz="880" b="1">
                          <a:solidFill>
                            <a:srgbClr val="0F172A"/>
                          </a:solidFill>
                          <a:latin typeface="Calibri"/>
                        </a:defRPr>
                      </a:pPr>
                      <a:r>
                        <a:t>18.09.2026</a:t>
                      </a:r>
                    </a:p>
                  </a:txBody>
                  <a:tcPr marT="18288" marB="18288" marL="109728" marR="109728">
                    <a:solidFill>
                      <a:srgbClr val="F8FAFC"/>
                    </a:solidFill>
                  </a:tcPr>
                </a:tc>
                <a:tc>
                  <a:txBody>
                    <a:bodyPr/>
                    <a:lstStyle/>
                    <a:p>
                      <a:pPr>
                        <a:defRPr sz="880" b="1">
                          <a:solidFill>
                            <a:srgbClr val="0F172A"/>
                          </a:solidFill>
                          <a:latin typeface="Calibri"/>
                        </a:defRPr>
                      </a:pPr>
                      <a:r>
                        <a:t>Sprint Release II</a:t>
                      </a:r>
                    </a:p>
                  </a:txBody>
                  <a:tcPr marT="18288" marB="18288" marL="109728" marR="109728">
                    <a:solidFill>
                      <a:srgbClr val="F8FAFC"/>
                    </a:solidFill>
                  </a:tcPr>
                </a:tc>
              </a:tr>
              <a:tr h="282892">
                <a:tc>
                  <a:txBody>
                    <a:bodyPr/>
                    <a:lstStyle/>
                    <a:p>
                      <a:pPr>
                        <a:defRPr sz="880" b="0">
                          <a:solidFill>
                            <a:srgbClr val="334155"/>
                          </a:solidFill>
                          <a:latin typeface="Calibri"/>
                        </a:defRPr>
                      </a:pPr>
                      <a:r>
                        <a:t>Week 7–8</a:t>
                      </a:r>
                    </a:p>
                  </a:txBody>
                  <a:tcPr marT="18288" marB="18288" marL="109728" marR="109728">
                    <a:solidFill>
                      <a:srgbClr val="FFFFFF"/>
                    </a:solidFill>
                  </a:tcPr>
                </a:tc>
                <a:tc>
                  <a:txBody>
                    <a:bodyPr/>
                    <a:lstStyle/>
                    <a:p>
                      <a:pPr>
                        <a:defRPr sz="880" b="0">
                          <a:solidFill>
                            <a:srgbClr val="334155"/>
                          </a:solidFill>
                          <a:latin typeface="Calibri"/>
                        </a:defRPr>
                      </a:pPr>
                      <a:r>
                        <a:t>Soft Voting Ensemble Formulation, Grid Search Hyperparameter Tuning, and Web UI Design</a:t>
                      </a:r>
                    </a:p>
                  </a:txBody>
                  <a:tcPr marT="18288" marB="18288" marL="109728" marR="109728">
                    <a:solidFill>
                      <a:srgbClr val="FFFFFF"/>
                    </a:solidFill>
                  </a:tcPr>
                </a:tc>
              </a:tr>
              <a:tr h="282892">
                <a:tc>
                  <a:txBody>
                    <a:bodyPr/>
                    <a:lstStyle/>
                    <a:p>
                      <a:pPr>
                        <a:defRPr sz="880" b="1">
                          <a:solidFill>
                            <a:srgbClr val="0F172A"/>
                          </a:solidFill>
                          <a:latin typeface="Calibri"/>
                        </a:defRPr>
                      </a:pPr>
                      <a:r>
                        <a:t>29.09.2026 – 30.09.2026</a:t>
                      </a:r>
                    </a:p>
                  </a:txBody>
                  <a:tcPr marT="18288" marB="18288" marL="109728" marR="109728">
                    <a:solidFill>
                      <a:srgbClr val="F8FAFC"/>
                    </a:solidFill>
                  </a:tcPr>
                </a:tc>
                <a:tc>
                  <a:txBody>
                    <a:bodyPr/>
                    <a:lstStyle/>
                    <a:p>
                      <a:pPr>
                        <a:defRPr sz="880" b="1">
                          <a:solidFill>
                            <a:srgbClr val="0F172A"/>
                          </a:solidFill>
                          <a:latin typeface="Calibri"/>
                        </a:defRPr>
                      </a:pPr>
                      <a:r>
                        <a:t>Interim Project Presentation</a:t>
                      </a:r>
                    </a:p>
                  </a:txBody>
                  <a:tcPr marT="18288" marB="18288" marL="109728" marR="109728">
                    <a:solidFill>
                      <a:srgbClr val="F8FAFC"/>
                    </a:solidFill>
                  </a:tcPr>
                </a:tc>
              </a:tr>
              <a:tr h="282892">
                <a:tc>
                  <a:txBody>
                    <a:bodyPr/>
                    <a:lstStyle/>
                    <a:p>
                      <a:pPr>
                        <a:defRPr sz="880" b="0">
                          <a:solidFill>
                            <a:srgbClr val="334155"/>
                          </a:solidFill>
                          <a:latin typeface="Calibri"/>
                        </a:defRPr>
                      </a:pPr>
                      <a:r>
                        <a:t>Week 9</a:t>
                      </a:r>
                    </a:p>
                  </a:txBody>
                  <a:tcPr marT="18288" marB="18288" marL="109728" marR="109728">
                    <a:solidFill>
                      <a:srgbClr val="FFFFFF"/>
                    </a:solidFill>
                  </a:tcPr>
                </a:tc>
                <a:tc>
                  <a:txBody>
                    <a:bodyPr/>
                    <a:lstStyle/>
                    <a:p>
                      <a:pPr>
                        <a:defRPr sz="880" b="0">
                          <a:solidFill>
                            <a:srgbClr val="334155"/>
                          </a:solidFill>
                          <a:latin typeface="Calibri"/>
                        </a:defRPr>
                      </a:pPr>
                      <a:r>
                        <a:t>Flask Web Application Integration, Route Setup, and Serialized Pipeline Deployment</a:t>
                      </a:r>
                    </a:p>
                  </a:txBody>
                  <a:tcPr marT="18288" marB="18288" marL="109728" marR="109728">
                    <a:solidFill>
                      <a:srgbClr val="FFFFFF"/>
                    </a:solidFill>
                  </a:tcPr>
                </a:tc>
              </a:tr>
              <a:tr h="282892">
                <a:tc>
                  <a:txBody>
                    <a:bodyPr/>
                    <a:lstStyle/>
                    <a:p>
                      <a:pPr>
                        <a:defRPr sz="880" b="1">
                          <a:solidFill>
                            <a:srgbClr val="0F172A"/>
                          </a:solidFill>
                          <a:latin typeface="Calibri"/>
                        </a:defRPr>
                      </a:pPr>
                      <a:r>
                        <a:t>09.10.2026</a:t>
                      </a:r>
                    </a:p>
                  </a:txBody>
                  <a:tcPr marT="18288" marB="18288" marL="109728" marR="109728">
                    <a:solidFill>
                      <a:srgbClr val="F8FAFC"/>
                    </a:solidFill>
                  </a:tcPr>
                </a:tc>
                <a:tc>
                  <a:txBody>
                    <a:bodyPr/>
                    <a:lstStyle/>
                    <a:p>
                      <a:pPr>
                        <a:defRPr sz="880" b="1">
                          <a:solidFill>
                            <a:srgbClr val="0F172A"/>
                          </a:solidFill>
                          <a:latin typeface="Calibri"/>
                        </a:defRPr>
                      </a:pPr>
                      <a:r>
                        <a:t>Sprint Release III</a:t>
                      </a:r>
                    </a:p>
                  </a:txBody>
                  <a:tcPr marT="18288" marB="18288" marL="109728" marR="109728">
                    <a:solidFill>
                      <a:srgbClr val="F8FAFC"/>
                    </a:solidFill>
                  </a:tcPr>
                </a:tc>
              </a:tr>
              <a:tr h="282892">
                <a:tc>
                  <a:txBody>
                    <a:bodyPr/>
                    <a:lstStyle/>
                    <a:p>
                      <a:pPr>
                        <a:defRPr sz="880" b="0">
                          <a:solidFill>
                            <a:srgbClr val="334155"/>
                          </a:solidFill>
                          <a:latin typeface="Calibri"/>
                        </a:defRPr>
                      </a:pPr>
                      <a:r>
                        <a:t>Week 10–11</a:t>
                      </a:r>
                    </a:p>
                  </a:txBody>
                  <a:tcPr marT="18288" marB="18288" marL="109728" marR="109728">
                    <a:solidFill>
                      <a:srgbClr val="FFFFFF"/>
                    </a:solidFill>
                  </a:tcPr>
                </a:tc>
                <a:tc>
                  <a:txBody>
                    <a:bodyPr/>
                    <a:lstStyle/>
                    <a:p>
                      <a:pPr>
                        <a:defRPr sz="880" b="0">
                          <a:solidFill>
                            <a:srgbClr val="334155"/>
                          </a:solidFill>
                          <a:latin typeface="Calibri"/>
                        </a:defRPr>
                      </a:pPr>
                      <a:r>
                        <a:t>Multi-Class Evaluation, Confusion Matrix Analysis, Threshold Tuning, and System Testing</a:t>
                      </a:r>
                    </a:p>
                  </a:txBody>
                  <a:tcPr marT="18288" marB="18288" marL="109728" marR="109728">
                    <a:solidFill>
                      <a:srgbClr val="FFFFFF"/>
                    </a:solidFill>
                  </a:tcPr>
                </a:tc>
              </a:tr>
              <a:tr h="282892">
                <a:tc>
                  <a:txBody>
                    <a:bodyPr/>
                    <a:lstStyle/>
                    <a:p>
                      <a:pPr>
                        <a:defRPr sz="880" b="1">
                          <a:solidFill>
                            <a:srgbClr val="0F172A"/>
                          </a:solidFill>
                          <a:latin typeface="Calibri"/>
                        </a:defRPr>
                      </a:pPr>
                      <a:r>
                        <a:t>22.10.2026 – 23.10.2026</a:t>
                      </a:r>
                    </a:p>
                  </a:txBody>
                  <a:tcPr marT="18288" marB="18288" marL="109728" marR="109728">
                    <a:solidFill>
                      <a:srgbClr val="F8FAFC"/>
                    </a:solidFill>
                  </a:tcPr>
                </a:tc>
                <a:tc>
                  <a:txBody>
                    <a:bodyPr/>
                    <a:lstStyle/>
                    <a:p>
                      <a:pPr>
                        <a:defRPr sz="880" b="1">
                          <a:solidFill>
                            <a:srgbClr val="0F172A"/>
                          </a:solidFill>
                          <a:latin typeface="Calibri"/>
                        </a:defRPr>
                      </a:pPr>
                      <a:r>
                        <a:t>Final Project Presentation</a:t>
                      </a:r>
                    </a:p>
                  </a:txBody>
                  <a:tcPr marT="18288" marB="18288" marL="109728" marR="109728">
                    <a:solidFill>
                      <a:srgbClr val="F8FAFC"/>
                    </a:solidFill>
                  </a:tcPr>
                </a:tc>
              </a:tr>
              <a:tr h="282900">
                <a:tc>
                  <a:txBody>
                    <a:bodyPr/>
                    <a:lstStyle/>
                    <a:p>
                      <a:pPr>
                        <a:defRPr sz="880" b="1">
                          <a:solidFill>
                            <a:srgbClr val="0F172A"/>
                          </a:solidFill>
                          <a:latin typeface="Calibri"/>
                        </a:defRPr>
                      </a:pPr>
                      <a:r>
                        <a:t>30.10.2026</a:t>
                      </a:r>
                    </a:p>
                  </a:txBody>
                  <a:tcPr marT="18288" marB="18288" marL="109728" marR="109728">
                    <a:solidFill>
                      <a:srgbClr val="FFFFFF"/>
                    </a:solidFill>
                  </a:tcPr>
                </a:tc>
                <a:tc>
                  <a:txBody>
                    <a:bodyPr/>
                    <a:lstStyle/>
                    <a:p>
                      <a:pPr>
                        <a:defRPr sz="880" b="1">
                          <a:solidFill>
                            <a:srgbClr val="0F172A"/>
                          </a:solidFill>
                          <a:latin typeface="Calibri"/>
                        </a:defRPr>
                      </a:pPr>
                      <a:r>
                        <a:t>Final Report Submission</a:t>
                      </a:r>
                    </a:p>
                  </a:txBody>
                  <a:tcPr marT="18288" marB="18288" marL="109728" marR="109728">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914400"/>
            <a:ext cx="182880"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188720"/>
            <a:ext cx="9601200" cy="1188720"/>
          </a:xfrm>
          <a:prstGeom prst="rect">
            <a:avLst/>
          </a:prstGeom>
          <a:noFill/>
        </p:spPr>
        <p:txBody>
          <a:bodyPr wrap="none">
            <a:spAutoFit/>
          </a:bodyPr>
          <a:lstStyle/>
          <a:p>
            <a:pPr>
              <a:defRPr sz="4000" b="1">
                <a:solidFill>
                  <a:srgbClr val="0F172A"/>
                </a:solidFill>
                <a:latin typeface="Calibri"/>
              </a:defRPr>
            </a:pPr>
            <a:r>
              <a:t>Thank You!</a:t>
            </a:r>
          </a:p>
          <a:p>
            <a:pPr>
              <a:spcBef>
                <a:spcPts val="400"/>
              </a:spcBef>
              <a:defRPr sz="2000" b="1">
                <a:solidFill>
                  <a:srgbClr val="0D9488"/>
                </a:solidFill>
              </a:defRPr>
            </a:pPr>
            <a:r>
              <a:t>Questions &amp; Discussion</a:t>
            </a:r>
          </a:p>
        </p:txBody>
      </p:sp>
      <p:sp>
        <p:nvSpPr>
          <p:cNvPr id="4" name="Rounded Rectangle 3"/>
          <p:cNvSpPr/>
          <p:nvPr/>
        </p:nvSpPr>
        <p:spPr>
          <a:xfrm>
            <a:off x="1188720" y="2651760"/>
            <a:ext cx="9601200" cy="1097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235440" cy="914400"/>
          </a:xfrm>
          <a:prstGeom prst="rect">
            <a:avLst/>
          </a:prstGeom>
          <a:noFill/>
        </p:spPr>
        <p:txBody>
          <a:bodyPr wrap="square">
            <a:spAutoFit/>
          </a:bodyPr>
          <a:lstStyle/>
          <a:p>
            <a:pPr>
              <a:defRPr sz="950" b="1">
                <a:solidFill>
                  <a:srgbClr val="1D4ED8"/>
                </a:solidFill>
              </a:defRPr>
            </a:pPr>
            <a:r>
              <a:t>PROJECT TITLE</a:t>
            </a:r>
          </a:p>
          <a:p>
            <a:pPr>
              <a:defRPr sz="1600" b="1">
                <a:solidFill>
                  <a:srgbClr val="0F172A"/>
                </a:solidFill>
              </a:defRPr>
            </a:pPr>
            <a:r>
              <a:t>Medical Specialty Classification using TF-IDF and Ensemble Machine Learning</a:t>
            </a:r>
          </a:p>
        </p:txBody>
      </p:sp>
      <p:sp>
        <p:nvSpPr>
          <p:cNvPr id="6" name="Rounded Rectangle 5"/>
          <p:cNvSpPr/>
          <p:nvPr/>
        </p:nvSpPr>
        <p:spPr>
          <a:xfrm>
            <a:off x="1188720" y="3977639"/>
            <a:ext cx="46634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069080"/>
            <a:ext cx="4297680" cy="1371600"/>
          </a:xfrm>
          <a:prstGeom prst="rect">
            <a:avLst/>
          </a:prstGeom>
          <a:noFill/>
        </p:spPr>
        <p:txBody>
          <a:bodyPr wrap="none">
            <a:spAutoFit/>
          </a:bodyPr>
          <a:lstStyle/>
          <a:p>
            <a:pPr>
              <a:defRPr sz="950" b="1">
                <a:solidFill>
                  <a:srgbClr val="0D9488"/>
                </a:solidFill>
              </a:defRPr>
            </a:pPr>
            <a:r>
              <a:t>STUDENT DETAILS</a:t>
            </a:r>
          </a:p>
          <a:p>
            <a:pPr>
              <a:defRPr sz="1300" b="1">
                <a:solidFill>
                  <a:srgbClr val="0F172A"/>
                </a:solidFill>
              </a:defRPr>
            </a:pPr>
            <a:r>
              <a:t>Jiphin George  (MAC25MCA-2033)</a:t>
            </a:r>
          </a:p>
          <a:p>
            <a:pPr>
              <a:defRPr sz="1000">
                <a:solidFill>
                  <a:srgbClr val="334155"/>
                </a:solidFill>
              </a:defRPr>
            </a:pPr>
            <a:r>
              <a:t>Master of Computer Applications (MCA - S3)</a:t>
            </a:r>
            <a:br/>
            <a:r>
              <a:t>Department of Computer Applications</a:t>
            </a:r>
          </a:p>
        </p:txBody>
      </p:sp>
      <p:sp>
        <p:nvSpPr>
          <p:cNvPr id="8" name="Rounded Rectangle 7"/>
          <p:cNvSpPr/>
          <p:nvPr/>
        </p:nvSpPr>
        <p:spPr>
          <a:xfrm>
            <a:off x="6035040" y="3977639"/>
            <a:ext cx="475488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4069080"/>
            <a:ext cx="4389120" cy="1371600"/>
          </a:xfrm>
          <a:prstGeom prst="rect">
            <a:avLst/>
          </a:prstGeom>
          <a:noFill/>
        </p:spPr>
        <p:txBody>
          <a:bodyPr wrap="none">
            <a:spAutoFit/>
          </a:bodyPr>
          <a:lstStyle/>
          <a:p>
            <a:pPr>
              <a:defRPr sz="950" b="1">
                <a:solidFill>
                  <a:srgbClr val="0D9488"/>
                </a:solidFill>
              </a:defRPr>
            </a:pPr>
            <a:r>
              <a:t>PROJECT GUIDE &amp; INSTITUTION</a:t>
            </a:r>
          </a:p>
          <a:p>
            <a:pPr>
              <a:defRPr sz="1300" b="1">
                <a:solidFill>
                  <a:srgbClr val="0F172A"/>
                </a:solidFill>
              </a:defRPr>
            </a:pPr>
            <a:r>
              <a:t>Prof. Biju Skaria</a:t>
            </a:r>
          </a:p>
          <a:p>
            <a:pPr>
              <a:defRPr sz="1000">
                <a:solidFill>
                  <a:srgbClr val="334155"/>
                </a:solidFill>
              </a:defRPr>
            </a:pPr>
            <a:r>
              <a:t>Department of Computer Applications</a:t>
            </a:r>
            <a:br/>
            <a:r>
              <a:t>Mar Athanasius College of Engineering, Kothamangalam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