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2 of 19</a:t>
            </a:r>
          </a:p>
        </p:txBody>
      </p:sp>
      <p:sp>
        <p:nvSpPr>
          <p:cNvPr id="8" name="Shape 6"/>
          <p:cNvSpPr/>
          <p:nvPr/>
        </p:nvSpPr>
        <p:spPr>
          <a:xfrm>
            <a:off x="457200" y="1554480"/>
            <a:ext cx="5394960"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768096" y="1837944"/>
            <a:ext cx="566928" cy="566928"/>
          </a:xfrm>
          <a:prstGeom prst="ellipse">
            <a:avLst/>
          </a:prstGeom>
          <a:solidFill>
            <a:srgbClr val="6C4AB6"/>
          </a:solidFill>
          <a:ln/>
        </p:spPr>
        <p:txBody>
          <a:bodyPr/>
          <a:p/>
        </p:txBody>
      </p:sp>
      <p:sp>
        <p:nvSpPr>
          <p:cNvPr id="10" name="Text 8"/>
          <p:cNvSpPr txBox="1"/>
          <p:nvPr/>
        </p:nvSpPr>
        <p:spPr>
          <a:xfrm>
            <a:off x="76809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1" name="Text 9"/>
          <p:cNvSpPr txBox="1"/>
          <p:nvPr/>
        </p:nvSpPr>
        <p:spPr>
          <a:xfrm>
            <a:off x="1417320" y="1828800"/>
            <a:ext cx="420624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Problem</a:t>
            </a:r>
            <a:endParaRPr lang="en-US" sz="1600" dirty="0"/>
          </a:p>
        </p:txBody>
      </p:sp>
      <p:sp>
        <p:nvSpPr>
          <p:cNvPr id="12" name="Text 10"/>
          <p:cNvSpPr txBox="1"/>
          <p:nvPr/>
        </p:nvSpPr>
        <p:spPr>
          <a:xfrm>
            <a:off x="777240" y="2331720"/>
            <a:ext cx="480060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Clinical transcription data is unstructured and can belong to any of several medical specialties, making manual categorization by medical coders slow, inconsistent, and prone to human error as patient volumes grow.</a:t>
            </a:r>
            <a:endParaRPr lang="en-US" sz="1250" dirty="0"/>
          </a:p>
        </p:txBody>
      </p:sp>
      <p:sp>
        <p:nvSpPr>
          <p:cNvPr id="13" name="Shape 11"/>
          <p:cNvSpPr/>
          <p:nvPr/>
        </p:nvSpPr>
        <p:spPr>
          <a:xfrm>
            <a:off x="6035040" y="1554480"/>
            <a:ext cx="5696712"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6345936" y="1837944"/>
            <a:ext cx="566928" cy="566928"/>
          </a:xfrm>
          <a:prstGeom prst="ellipse">
            <a:avLst/>
          </a:prstGeom>
          <a:solidFill>
            <a:srgbClr val="0E7C86"/>
          </a:solidFill>
          <a:ln/>
        </p:spPr>
        <p:txBody>
          <a:bodyPr/>
          <a:p/>
        </p:txBody>
      </p:sp>
      <p:sp>
        <p:nvSpPr>
          <p:cNvPr id="15" name="Text 13"/>
          <p:cNvSpPr txBox="1"/>
          <p:nvPr/>
        </p:nvSpPr>
        <p:spPr>
          <a:xfrm>
            <a:off x="634593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6995160" y="1828800"/>
            <a:ext cx="45720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Objective</a:t>
            </a:r>
            <a:endParaRPr lang="en-US" sz="1600" dirty="0"/>
          </a:p>
        </p:txBody>
      </p:sp>
      <p:sp>
        <p:nvSpPr>
          <p:cNvPr id="17" name="Text 15"/>
          <p:cNvSpPr txBox="1"/>
          <p:nvPr/>
        </p:nvSpPr>
        <p:spPr>
          <a:xfrm>
            <a:off x="6355080" y="2331720"/>
            <a:ext cx="512064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Develop an automated NLP and Ensemble Machine Learning system that predicts the correct medical specialty from a clinical transcription, reducing administrative overhead and speeding up document routing.</a:t>
            </a:r>
            <a:endParaRPr lang="en-US" sz="1250" dirty="0"/>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0" name="Shape 18"/>
          <p:cNvSpPr/>
          <p:nvPr/>
        </p:nvSpPr>
        <p:spPr>
          <a:xfrm>
            <a:off x="1577340" y="4430268"/>
            <a:ext cx="502920" cy="502920"/>
          </a:xfrm>
          <a:prstGeom prst="ellipse">
            <a:avLst/>
          </a:prstGeom>
          <a:solidFill>
            <a:srgbClr val="6C4AB6"/>
          </a:solidFill>
          <a:ln/>
        </p:spPr>
        <p:txBody>
          <a:body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5" name="Shape 23"/>
          <p:cNvSpPr/>
          <p:nvPr/>
        </p:nvSpPr>
        <p:spPr>
          <a:xfrm>
            <a:off x="4457700" y="4430268"/>
            <a:ext cx="502920" cy="502920"/>
          </a:xfrm>
          <a:prstGeom prst="ellipse">
            <a:avLst/>
          </a:prstGeom>
          <a:solidFill>
            <a:srgbClr val="0E7C86"/>
          </a:solidFill>
          <a:ln/>
        </p:spPr>
        <p:txBody>
          <a:body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0" name="Shape 28"/>
          <p:cNvSpPr/>
          <p:nvPr/>
        </p:nvSpPr>
        <p:spPr>
          <a:xfrm>
            <a:off x="7338060" y="4430268"/>
            <a:ext cx="502920" cy="502920"/>
          </a:xfrm>
          <a:prstGeom prst="ellipse">
            <a:avLst/>
          </a:prstGeom>
          <a:solidFill>
            <a:srgbClr val="13294B"/>
          </a:solidFill>
          <a:ln/>
        </p:spPr>
        <p:txBody>
          <a:body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10218420" y="4430268"/>
            <a:ext cx="502920" cy="502920"/>
          </a:xfrm>
          <a:prstGeom prst="ellipse">
            <a:avLst/>
          </a:prstGeom>
          <a:solidFill>
            <a:srgbClr val="6C4AB6"/>
          </a:solidFill>
          <a:ln/>
        </p:spPr>
        <p:txBody>
          <a:body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Combine SVM, RF, LR, MNB via Voting; deploy on a Flask web app.</a:t>
            </a:r>
            <a:endParaRPr lang="en-US" sz="10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0E7C86"/>
                </a:solidFill>
                <a:latin typeface="Calibri"/>
              </a:defRPr>
            </a:pPr>
            <a:r>
              <a:t>1. Prior Literature</a:t>
            </a:r>
          </a:p>
          <a:p>
            <a:pPr>
              <a:defRPr sz="900">
                <a:solidFill>
                  <a:srgbClr val="334155"/>
                </a:solidFill>
                <a:latin typeface="Calibri"/>
              </a:defRPr>
            </a:pPr>
            <a: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2563EB"/>
                </a:solidFill>
                <a:latin typeface="Calibri"/>
              </a:defRPr>
            </a:pPr>
            <a:r>
              <a:t>2. Key Methodologies</a:t>
            </a:r>
          </a:p>
          <a:p>
            <a:pPr>
              <a:defRPr sz="900">
                <a:solidFill>
                  <a:srgbClr val="334155"/>
                </a:solidFill>
                <a:latin typeface="Calibri"/>
              </a:defRPr>
            </a:pPr>
            <a: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9333EA"/>
                </a:solidFill>
                <a:latin typeface="Calibri"/>
              </a:defRPr>
            </a:pPr>
            <a:r>
              <a:t>3. Identified Gap</a:t>
            </a:r>
          </a:p>
          <a:p>
            <a:pPr>
              <a:defRPr sz="900">
                <a:solidFill>
                  <a:srgbClr val="334155"/>
                </a:solidFill>
                <a:latin typeface="Calibri"/>
              </a:defRPr>
            </a:pPr>
            <a: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16A34A"/>
                </a:solidFill>
                <a:latin typeface="Calibri"/>
              </a:defRPr>
            </a:pPr>
            <a:r>
              <a:t>4. Proposed Architecture</a:t>
            </a:r>
          </a:p>
          <a:p>
            <a:pPr>
              <a:defRPr sz="900">
                <a:solidFill>
                  <a:srgbClr val="334155"/>
                </a:solidFill>
                <a:latin typeface="Calibri"/>
              </a:defRPr>
            </a:pPr>
            <a: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0E7C86"/>
                </a:solidFill>
                <a:latin typeface="Calibri"/>
              </a:defRPr>
            </a:pPr>
            <a:r>
              <a:t>Clinical NLP &amp; Preprocessing</a:t>
            </a:r>
          </a:p>
          <a:p>
            <a:pPr>
              <a:spcAft>
                <a:spcPts val="200"/>
              </a:spcAft>
            </a:pPr>
            <a:r>
              <a:rPr sz="950" b="1">
                <a:solidFill>
                  <a:srgbClr val="0E7C86"/>
                </a:solidFill>
                <a:latin typeface="Calibri"/>
              </a:rPr>
              <a:t>• </a:t>
            </a:r>
            <a:r>
              <a:rPr sz="900">
                <a:solidFill>
                  <a:srgbClr val="334155"/>
                </a:solidFill>
                <a:latin typeface="Calibri"/>
              </a:rPr>
              <a:t>Clinical narratives contain non-standard doctor shorthand, abbreviations, and punctuation noise.</a:t>
            </a:r>
          </a:p>
          <a:p>
            <a:pPr>
              <a:spcAft>
                <a:spcPts val="200"/>
              </a:spcAft>
            </a:pPr>
            <a:r>
              <a:rPr sz="950" b="1">
                <a:solidFill>
                  <a:srgbClr val="0E7C86"/>
                </a:solidFill>
                <a:latin typeface="Calibri"/>
              </a:rPr>
              <a:t>• </a:t>
            </a:r>
            <a:r>
              <a:rPr sz="900">
                <a:solidFill>
                  <a:srgbClr val="334155"/>
                </a:solidFill>
                <a:latin typeface="Calibri"/>
              </a:rPr>
              <a:t>Implements a 5-step sequence: Cleaning, Lowercasing, Tokenization, Stop-word removal, and Lemmatization.</a:t>
            </a:r>
          </a:p>
          <a:p>
            <a:pPr>
              <a:spcAft>
                <a:spcPts val="200"/>
              </a:spcAft>
            </a:pPr>
            <a:r>
              <a:rPr sz="950" b="1">
                <a:solidFill>
                  <a:srgbClr val="0E7C86"/>
                </a:solidFill>
                <a:latin typeface="Calibri"/>
              </a:rPr>
              <a:t>• </a:t>
            </a:r>
            <a:r>
              <a:rPr sz="900">
                <a:solidFill>
                  <a:srgbClr val="334155"/>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2563EB"/>
                </a:solidFill>
                <a:latin typeface="Calibri"/>
              </a:defRPr>
            </a:pPr>
            <a:r>
              <a:t>TF-IDF Feature Representation</a:t>
            </a:r>
          </a:p>
          <a:p>
            <a:pPr>
              <a:spcAft>
                <a:spcPts val="200"/>
              </a:spcAft>
            </a:pPr>
            <a:r>
              <a:rPr sz="950" b="1">
                <a:solidFill>
                  <a:srgbClr val="2563EB"/>
                </a:solidFill>
                <a:latin typeface="Calibri"/>
              </a:rPr>
              <a:t>• </a:t>
            </a:r>
            <a:r>
              <a:rPr sz="900">
                <a:solidFill>
                  <a:srgbClr val="334155"/>
                </a:solidFill>
                <a:latin typeface="Calibri"/>
              </a:rPr>
              <a:t>Converts unstructured medical text into standardized, high-dimensional sparse numerical feature vectors.</a:t>
            </a:r>
          </a:p>
          <a:p>
            <a:pPr>
              <a:spcAft>
                <a:spcPts val="200"/>
              </a:spcAft>
            </a:pPr>
            <a:r>
              <a:rPr sz="950" b="1">
                <a:solidFill>
                  <a:srgbClr val="2563EB"/>
                </a:solidFill>
                <a:latin typeface="Calibri"/>
              </a:rPr>
              <a:t>• </a:t>
            </a:r>
            <a:r>
              <a:rPr sz="900">
                <a:solidFill>
                  <a:srgbClr val="334155"/>
                </a:solidFill>
                <a:latin typeface="Calibri"/>
              </a:rPr>
              <a:t>Sublinear scaling (1 + log(TF)) dampens repetitive non-informative terms while highlighting discriminative tokens.</a:t>
            </a:r>
          </a:p>
          <a:p>
            <a:pPr>
              <a:spcAft>
                <a:spcPts val="200"/>
              </a:spcAft>
            </a:pPr>
            <a:r>
              <a:rPr sz="950" b="1">
                <a:solidFill>
                  <a:srgbClr val="2563EB"/>
                </a:solidFill>
                <a:latin typeface="Calibri"/>
              </a:rPr>
              <a:t>• </a:t>
            </a:r>
            <a:r>
              <a:rPr sz="900">
                <a:solidFill>
                  <a:srgbClr val="334155"/>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16A34A"/>
                </a:solidFill>
                <a:latin typeface="Calibri"/>
              </a:defRPr>
            </a:pPr>
            <a:r>
              <a:t>Supervised ML Classifiers</a:t>
            </a:r>
          </a:p>
          <a:p>
            <a:pPr>
              <a:spcAft>
                <a:spcPts val="200"/>
              </a:spcAft>
            </a:pPr>
            <a:r>
              <a:rPr sz="950" b="1">
                <a:solidFill>
                  <a:srgbClr val="16A34A"/>
                </a:solidFill>
                <a:latin typeface="Calibri"/>
              </a:rPr>
              <a:t>• </a:t>
            </a:r>
            <a:r>
              <a:rPr sz="900">
                <a:solidFill>
                  <a:srgbClr val="334155"/>
                </a:solidFill>
                <a:latin typeface="Calibri"/>
              </a:rPr>
              <a:t>Linear models (SVM, Logistic Regression) excel on high-dimensional sparse text representations.</a:t>
            </a:r>
          </a:p>
          <a:p>
            <a:pPr>
              <a:spcAft>
                <a:spcPts val="200"/>
              </a:spcAft>
            </a:pPr>
            <a:r>
              <a:rPr sz="950" b="1">
                <a:solidFill>
                  <a:srgbClr val="16A34A"/>
                </a:solidFill>
                <a:latin typeface="Calibri"/>
              </a:rPr>
              <a:t>• </a:t>
            </a:r>
            <a:r>
              <a:rPr sz="900">
                <a:solidFill>
                  <a:srgbClr val="334155"/>
                </a:solidFill>
                <a:latin typeface="Calibri"/>
              </a:rPr>
              <a:t>Random Forest introduces non-linear decision partitioning and bagging variance reduction.</a:t>
            </a:r>
          </a:p>
          <a:p>
            <a:pPr>
              <a:spcAft>
                <a:spcPts val="200"/>
              </a:spcAft>
            </a:pPr>
            <a:r>
              <a:rPr sz="950" b="1">
                <a:solidFill>
                  <a:srgbClr val="16A34A"/>
                </a:solidFill>
                <a:latin typeface="Calibri"/>
              </a:rPr>
              <a:t>• </a:t>
            </a:r>
            <a:r>
              <a:rPr sz="900">
                <a:solidFill>
                  <a:srgbClr val="334155"/>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9333EA"/>
                </a:solidFill>
                <a:latin typeface="Calibri"/>
              </a:defRPr>
            </a:pPr>
            <a:r>
              <a:t>Ensemble Learning &amp; Research Gap</a:t>
            </a:r>
          </a:p>
          <a:p>
            <a:pPr>
              <a:spcAft>
                <a:spcPts val="200"/>
              </a:spcAft>
            </a:pPr>
            <a:r>
              <a:rPr sz="950" b="1">
                <a:solidFill>
                  <a:srgbClr val="9333EA"/>
                </a:solidFill>
                <a:latin typeface="Calibri"/>
              </a:rPr>
              <a:t>• </a:t>
            </a:r>
            <a:r>
              <a:rPr sz="900">
                <a:solidFill>
                  <a:srgbClr val="334155"/>
                </a:solidFill>
                <a:latin typeface="Calibri"/>
              </a:rPr>
              <a:t>Identified Gap: Many deep learning approaches demand heavy GPU resources; single models show variance on rare classes.</a:t>
            </a:r>
          </a:p>
          <a:p>
            <a:pPr>
              <a:spcAft>
                <a:spcPts val="200"/>
              </a:spcAft>
            </a:pPr>
            <a:r>
              <a:rPr sz="950" b="1">
                <a:solidFill>
                  <a:srgbClr val="9333EA"/>
                </a:solidFill>
                <a:latin typeface="Calibri"/>
              </a:rPr>
              <a:t>• </a:t>
            </a:r>
            <a:r>
              <a:rPr sz="900">
                <a:solidFill>
                  <a:srgbClr val="334155"/>
                </a:solidFill>
                <a:latin typeface="Calibri"/>
              </a:rPr>
              <a:t>Proposed Solution: An accessible Soft Voting Ensemble combining calibrated base models for balanced classification.</a:t>
            </a:r>
          </a:p>
          <a:p>
            <a:pPr>
              <a:spcAft>
                <a:spcPts val="200"/>
              </a:spcAft>
            </a:pPr>
            <a:r>
              <a:rPr sz="950" b="1">
                <a:solidFill>
                  <a:srgbClr val="9333EA"/>
                </a:solidFill>
                <a:latin typeface="Calibri"/>
              </a:rPr>
              <a:t>• </a:t>
            </a:r>
            <a:r>
              <a:rPr sz="900">
                <a:solidFill>
                  <a:srgbClr val="334155"/>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3 of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4 of 19</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5 of 19</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pPr>
            <a:r>
              <a:rPr lang="en-US" sz="1100" dirty="0">
                <a:solidFill>
                  <a:srgbClr val="16213E"/>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6675120" y="3493008"/>
            <a:ext cx="457200" cy="457200"/>
          </a:xfrm>
          <a:prstGeom prst="ellipse">
            <a:avLst/>
          </a:prstGeom>
          <a:solidFill>
            <a:srgbClr val="0E7C86"/>
          </a:solidFill>
          <a:ln/>
        </p:spPr>
        <p:txBody>
          <a:body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0" name="Shape 38"/>
          <p:cNvSpPr/>
          <p:nvPr/>
        </p:nvSpPr>
        <p:spPr>
          <a:xfrm>
            <a:off x="6675120" y="4663440"/>
            <a:ext cx="457200" cy="457200"/>
          </a:xfrm>
          <a:prstGeom prst="ellipse">
            <a:avLst/>
          </a:prstGeom>
          <a:solidFill>
            <a:srgbClr val="6C4AB6"/>
          </a:solidFill>
          <a:ln/>
        </p:spPr>
        <p:txBody>
          <a:body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pPr>
            <a:r>
              <a:rPr lang="en-US" sz="1000" i="1" dirty="0">
                <a:solidFill>
                  <a:srgbClr val="5B6472"/>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6 of 19</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7 of 19</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pPr>
            <a:r>
              <a:rPr lang="en-US" sz="1000" i="1" dirty="0">
                <a:solidFill>
                  <a:srgbClr val="5B6472"/>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8 of 19</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pPr>
            <a:r>
              <a:rPr lang="en-US" sz="1070" dirty="0">
                <a:solidFill>
                  <a:srgbClr val="16213E"/>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9 of 19</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10 of 19</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40080" y="1755648"/>
            <a:ext cx="548640" cy="548640"/>
          </a:xfrm>
          <a:prstGeom prst="ellipse">
            <a:avLst/>
          </a:prstGeom>
          <a:solidFill>
            <a:srgbClr val="6C4AB6"/>
          </a:solidFill>
          <a:ln/>
        </p:spPr>
        <p:txBody>
          <a:body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416552" y="1755648"/>
            <a:ext cx="548640" cy="548640"/>
          </a:xfrm>
          <a:prstGeom prst="ellipse">
            <a:avLst/>
          </a:prstGeom>
          <a:solidFill>
            <a:srgbClr val="0E7C86"/>
          </a:solidFill>
          <a:ln/>
        </p:spPr>
        <p:txBody>
          <a:body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8193024" y="1755648"/>
            <a:ext cx="548640" cy="548640"/>
          </a:xfrm>
          <a:prstGeom prst="ellipse">
            <a:avLst/>
          </a:prstGeom>
          <a:solidFill>
            <a:srgbClr val="13294B"/>
          </a:solidFill>
          <a:ln/>
        </p:spPr>
        <p:txBody>
          <a:body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640080" y="4041648"/>
            <a:ext cx="548640" cy="548640"/>
          </a:xfrm>
          <a:prstGeom prst="ellipse">
            <a:avLst/>
          </a:prstGeom>
          <a:solidFill>
            <a:srgbClr val="6C4AB6"/>
          </a:solidFill>
          <a:ln/>
        </p:spPr>
        <p:txBody>
          <a:body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4416552" y="4041648"/>
            <a:ext cx="548640" cy="548640"/>
          </a:xfrm>
          <a:prstGeom prst="ellipse">
            <a:avLst/>
          </a:prstGeom>
          <a:solidFill>
            <a:srgbClr val="0E7C86"/>
          </a:solidFill>
          <a:ln/>
        </p:spPr>
        <p:txBody>
          <a:body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4" name="Shape 32"/>
          <p:cNvSpPr/>
          <p:nvPr/>
        </p:nvSpPr>
        <p:spPr>
          <a:xfrm>
            <a:off x="8193024" y="4041648"/>
            <a:ext cx="548640" cy="548640"/>
          </a:xfrm>
          <a:prstGeom prst="ellipse">
            <a:avLst/>
          </a:prstGeom>
          <a:solidFill>
            <a:srgbClr val="13294B"/>
          </a:solidFill>
          <a:ln/>
        </p:spPr>
        <p:txBody>
          <a:body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11 of 19</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pPr>
            <a:r>
              <a:rPr lang="en-US" sz="1050" dirty="0">
                <a:solidFill>
                  <a:srgbClr val="16213E"/>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12 of 19</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1490472" y="1682496"/>
            <a:ext cx="658368" cy="658368"/>
          </a:xfrm>
          <a:prstGeom prst="ellipse">
            <a:avLst/>
          </a:prstGeom>
          <a:solidFill>
            <a:srgbClr val="0E7C86"/>
          </a:solidFill>
          <a:ln/>
        </p:spPr>
        <p:txBody>
          <a:body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334256" y="1682496"/>
            <a:ext cx="658368" cy="658368"/>
          </a:xfrm>
          <a:prstGeom prst="ellipse">
            <a:avLst/>
          </a:prstGeom>
          <a:solidFill>
            <a:srgbClr val="6C4AB6"/>
          </a:solidFill>
          <a:ln/>
        </p:spPr>
        <p:txBody>
          <a:body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7178040" y="1682496"/>
            <a:ext cx="658368" cy="658368"/>
          </a:xfrm>
          <a:prstGeom prst="ellipse">
            <a:avLst/>
          </a:prstGeom>
          <a:solidFill>
            <a:srgbClr val="13294B"/>
          </a:solidFill>
          <a:ln/>
        </p:spPr>
        <p:txBody>
          <a:body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10021824" y="1682496"/>
            <a:ext cx="658368" cy="658368"/>
          </a:xfrm>
          <a:prstGeom prst="ellipse">
            <a:avLst/>
          </a:prstGeom>
          <a:solidFill>
            <a:srgbClr val="0E7C86"/>
          </a:solidFill>
          <a:ln/>
        </p:spPr>
        <p:txBody>
          <a:body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Rounded Rectangle 27"/>
          <p:cNvSpPr/>
          <p:nvPr/>
        </p:nvSpPr>
        <p:spPr>
          <a:xfrm>
            <a:off x="457200" y="4343400"/>
            <a:ext cx="2468880" cy="160020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38BDF8"/>
                </a:solidFill>
                <a:latin typeface="Calibri"/>
              </a:defRPr>
            </a:pPr>
            <a:r>
              <a:t>FEATURE EXTRACTION</a:t>
            </a:r>
          </a:p>
          <a:p>
            <a:pPr>
              <a:spcAft>
                <a:spcPts val="400"/>
              </a:spcAft>
              <a:defRPr sz="1600" b="1">
                <a:solidFill>
                  <a:srgbClr val="FFFFFF"/>
                </a:solidFill>
                <a:latin typeface="Cambria"/>
              </a:defRPr>
            </a:pPr>
            <a:r>
              <a:t>TF-IDF Vectorizer</a:t>
            </a:r>
          </a:p>
          <a:p>
            <a:pPr>
              <a:defRPr sz="950">
                <a:solidFill>
                  <a:srgbClr val="CBD5E1"/>
                </a:solidFill>
                <a:latin typeface="Calibri"/>
              </a:defRPr>
            </a:pPr>
            <a:r>
              <a:t>Unigrams &amp; bigrams with sublinear TF scaling and L2 normalization.</a:t>
            </a:r>
          </a:p>
        </p:txBody>
      </p:sp>
      <p:sp>
        <p:nvSpPr>
          <p:cNvPr id="29" name="Rounded Rectangle 28"/>
          <p:cNvSpPr/>
          <p:nvPr/>
        </p:nvSpPr>
        <p:spPr>
          <a:xfrm>
            <a:off x="3108960" y="4343400"/>
            <a:ext cx="5623560" cy="1600200"/>
          </a:xfrm>
          <a:prstGeom prst="roundRect">
            <a:avLst/>
          </a:prstGeom>
          <a:solidFill>
            <a:srgbClr val="0E7C86"/>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37160"/>
          <a:lstStyle/>
          <a:p>
            <a:pPr algn="ctr">
              <a:spcAft>
                <a:spcPts val="400"/>
              </a:spcAft>
              <a:defRPr sz="1000" b="1">
                <a:solidFill>
                  <a:srgbClr val="A7F3D0"/>
                </a:solidFill>
                <a:latin typeface="Calibri"/>
              </a:defRPr>
            </a:pPr>
            <a:r>
              <a:t>CLASSIFICATION (4 DIVERSE BASE ESTIMATORS)</a:t>
            </a:r>
          </a:p>
          <a:p>
            <a:pPr>
              <a:spcAft>
                <a:spcPts val="400"/>
              </a:spcAft>
              <a:defRPr sz="1550" b="1">
                <a:solidFill>
                  <a:srgbClr val="FFFFFF"/>
                </a:solidFill>
                <a:latin typeface="Cambria"/>
              </a:defRPr>
            </a:pPr>
            <a:r>
              <a:t>SVM + Random Forest + Logistic Regression + Multinomial NB</a:t>
            </a:r>
          </a:p>
          <a:p>
            <a:pPr>
              <a:defRPr sz="950">
                <a:solidFill>
                  <a:srgbClr val="F0FDFA"/>
                </a:solidFill>
                <a:latin typeface="Calibri"/>
              </a:defRPr>
            </a:pPr>
            <a:r>
              <a:t>Each model independently evaluates high-dimensional sparse vectors and outputs class probabilities.</a:t>
            </a:r>
          </a:p>
        </p:txBody>
      </p:sp>
      <p:sp>
        <p:nvSpPr>
          <p:cNvPr id="30" name="Rounded Rectangle 29"/>
          <p:cNvSpPr/>
          <p:nvPr/>
        </p:nvSpPr>
        <p:spPr>
          <a:xfrm>
            <a:off x="8915400" y="4343400"/>
            <a:ext cx="2816352" cy="1600200"/>
          </a:xfrm>
          <a:prstGeom prst="roundRect">
            <a:avLst/>
          </a:prstGeom>
          <a:solidFill>
            <a:srgbClr val="5B21B6"/>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E9D5FF"/>
                </a:solidFill>
                <a:latin typeface="Calibri"/>
              </a:defRPr>
            </a:pPr>
            <a:r>
              <a:t>ENSEMBLE AGGREGATION</a:t>
            </a:r>
          </a:p>
          <a:p>
            <a:pPr>
              <a:spcAft>
                <a:spcPts val="400"/>
              </a:spcAft>
              <a:defRPr sz="1600" b="1">
                <a:solidFill>
                  <a:srgbClr val="FFFFFF"/>
                </a:solidFill>
                <a:latin typeface="Cambria"/>
              </a:defRPr>
            </a:pPr>
            <a:r>
              <a:t>Voting Classifier (Soft)</a:t>
            </a:r>
          </a:p>
          <a:p>
            <a:pPr>
              <a:defRPr sz="950">
                <a:solidFill>
                  <a:srgbClr val="F5F3FF"/>
                </a:solidFill>
                <a:latin typeface="Calibri"/>
              </a:defRPr>
            </a:pPr>
            <a:r>
              <a:t>Aggregates consensus probabilities to output final specialty prediction.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13 of 19</a:t>
            </a:r>
          </a:p>
        </p:txBody>
      </p:sp>
      <p:sp>
        <p:nvSpPr>
          <p:cNvPr id="7" name="Rounded Rectangle 6"/>
          <p:cNvSpPr/>
          <p:nvPr/>
        </p:nvSpPr>
        <p:spPr>
          <a:xfrm>
            <a:off x="457200" y="1325880"/>
            <a:ext cx="544068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417320"/>
            <a:ext cx="516636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SUPPORT VECTOR MACHINE (SVM) — ACTIVITY DIAGRAM</a:t>
            </a:r>
          </a:p>
        </p:txBody>
      </p:sp>
      <p:pic>
        <p:nvPicPr>
          <p:cNvPr id="9" name="Picture 8" descr="svm.png"/>
          <p:cNvPicPr>
            <a:picLocks noChangeAspect="1"/>
          </p:cNvPicPr>
          <p:nvPr/>
        </p:nvPicPr>
        <p:blipFill>
          <a:blip r:embed="rId3"/>
          <a:stretch>
            <a:fillRect/>
          </a:stretch>
        </p:blipFill>
        <p:spPr>
          <a:xfrm>
            <a:off x="1892807" y="1874519"/>
            <a:ext cx="2560320" cy="4437888"/>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55080" y="1417320"/>
            <a:ext cx="5212080" cy="38404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MULTINOMIAL NAIVE BAYES (MNB) — ACTIVITY DIAGRAM</a:t>
            </a:r>
          </a:p>
        </p:txBody>
      </p:sp>
      <p:pic>
        <p:nvPicPr>
          <p:cNvPr id="12" name="Picture 11" descr="mnb.png"/>
          <p:cNvPicPr>
            <a:picLocks noChangeAspect="1"/>
          </p:cNvPicPr>
          <p:nvPr/>
        </p:nvPicPr>
        <p:blipFill>
          <a:blip r:embed="rId4"/>
          <a:stretch>
            <a:fillRect/>
          </a:stretch>
        </p:blipFill>
        <p:spPr>
          <a:xfrm>
            <a:off x="7379208" y="1920240"/>
            <a:ext cx="3154680" cy="433960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14 of 19</a:t>
            </a:r>
          </a:p>
        </p:txBody>
      </p:sp>
      <p:sp>
        <p:nvSpPr>
          <p:cNvPr id="7" name="Rounded Rectangle 6"/>
          <p:cNvSpPr/>
          <p:nvPr/>
        </p:nvSpPr>
        <p:spPr>
          <a:xfrm>
            <a:off x="457200" y="1325880"/>
            <a:ext cx="5440680" cy="507492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417320"/>
            <a:ext cx="5166360" cy="38404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RANDOM FOREST (RF) — ACTIVITY DIAGRAM</a:t>
            </a:r>
          </a:p>
        </p:txBody>
      </p:sp>
      <p:pic>
        <p:nvPicPr>
          <p:cNvPr id="9" name="Picture 8" descr="rf.png"/>
          <p:cNvPicPr>
            <a:picLocks noChangeAspect="1"/>
          </p:cNvPicPr>
          <p:nvPr/>
        </p:nvPicPr>
        <p:blipFill>
          <a:blip r:embed="rId3"/>
          <a:stretch>
            <a:fillRect/>
          </a:stretch>
        </p:blipFill>
        <p:spPr>
          <a:xfrm>
            <a:off x="1828800" y="1874519"/>
            <a:ext cx="2697480" cy="4339946"/>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55080" y="1417320"/>
            <a:ext cx="5212080" cy="384048"/>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LOGISTIC REGRESSION (LR) — ACTIVITY DIAGRAM</a:t>
            </a:r>
          </a:p>
        </p:txBody>
      </p:sp>
      <p:pic>
        <p:nvPicPr>
          <p:cNvPr id="12" name="Picture 11" descr="lr.png"/>
          <p:cNvPicPr>
            <a:picLocks noChangeAspect="1"/>
          </p:cNvPicPr>
          <p:nvPr/>
        </p:nvPicPr>
        <p:blipFill>
          <a:blip r:embed="rId4"/>
          <a:stretch>
            <a:fillRect/>
          </a:stretch>
        </p:blipFill>
        <p:spPr>
          <a:xfrm>
            <a:off x="7744968" y="1874519"/>
            <a:ext cx="2423160" cy="44478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15 of 19</a:t>
            </a:r>
          </a:p>
        </p:txBody>
      </p:sp>
      <p:sp>
        <p:nvSpPr>
          <p:cNvPr id="7" name="Rounded Rectangle 6"/>
          <p:cNvSpPr/>
          <p:nvPr/>
        </p:nvSpPr>
        <p:spPr>
          <a:xfrm>
            <a:off x="457200" y="1325880"/>
            <a:ext cx="685800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417320"/>
            <a:ext cx="658368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VOTING ENSEMBLE CLASSIFIER — ACTIVITY DIAGRAM</a:t>
            </a:r>
          </a:p>
        </p:txBody>
      </p:sp>
      <p:pic>
        <p:nvPicPr>
          <p:cNvPr id="9" name="Picture 8" descr="ensemble.png"/>
          <p:cNvPicPr>
            <a:picLocks noChangeAspect="1"/>
          </p:cNvPicPr>
          <p:nvPr/>
        </p:nvPicPr>
        <p:blipFill>
          <a:blip r:embed="rId3"/>
          <a:stretch>
            <a:fillRect/>
          </a:stretch>
        </p:blipFill>
        <p:spPr>
          <a:xfrm>
            <a:off x="640080" y="1874519"/>
            <a:ext cx="6492240" cy="4440372"/>
          </a:xfrm>
          <a:prstGeom prst="rect">
            <a:avLst/>
          </a:prstGeom>
        </p:spPr>
      </p:pic>
      <p:sp>
        <p:nvSpPr>
          <p:cNvPr id="10" name="Rounded Rectangle 9"/>
          <p:cNvSpPr/>
          <p:nvPr/>
        </p:nvSpPr>
        <p:spPr>
          <a:xfrm>
            <a:off x="7543800" y="1325880"/>
            <a:ext cx="4160520" cy="5074920"/>
          </a:xfrm>
          <a:prstGeom prst="roundRect">
            <a:avLst/>
          </a:prstGeom>
          <a:solidFill>
            <a:srgbClr val="FA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82880"/>
          <a:lstStyle/>
          <a:p>
            <a:pPr algn="ctr">
              <a:spcAft>
                <a:spcPts val="600"/>
              </a:spcAft>
              <a:defRPr sz="1150" b="1">
                <a:solidFill>
                  <a:srgbClr val="0E7C86"/>
                </a:solidFill>
                <a:latin typeface="Calibri"/>
              </a:defRPr>
            </a:pPr>
            <a:r>
              <a:t>ENSEMBLE ARCHITECTURE</a:t>
            </a:r>
          </a:p>
          <a:p>
            <a:pPr>
              <a:spcAft>
                <a:spcPts val="400"/>
              </a:spcAft>
            </a:pPr>
            <a:r>
              <a:rPr sz="950" b="1">
                <a:solidFill>
                  <a:srgbClr val="0B1F3A"/>
                </a:solidFill>
                <a:latin typeface="Calibri"/>
              </a:rPr>
              <a:t>• Parallel Execution: </a:t>
            </a:r>
            <a:r>
              <a:rPr sz="900">
                <a:solidFill>
                  <a:srgbClr val="334155"/>
                </a:solidFill>
                <a:latin typeface="Calibri"/>
              </a:rPr>
              <a:t>All 4 base classifiers (LR, SVM, RF, MNB) ingest identical TF-IDF vectors simultaneously.</a:t>
            </a:r>
          </a:p>
          <a:p>
            <a:pPr>
              <a:spcAft>
                <a:spcPts val="400"/>
              </a:spcAft>
            </a:pPr>
            <a:r>
              <a:rPr sz="950" b="1">
                <a:solidFill>
                  <a:srgbClr val="0B1F3A"/>
                </a:solidFill>
                <a:latin typeface="Calibri"/>
              </a:rPr>
              <a:t>• Probability Calibration: </a:t>
            </a:r>
            <a:r>
              <a:rPr sz="900">
                <a:solidFill>
                  <a:srgbClr val="334155"/>
                </a:solidFill>
                <a:latin typeface="Calibri"/>
              </a:rPr>
              <a:t>Logistic Regression, RF, and MNB output natural probabilities; SVM decision scores are calibrated to produce true probability distributions.</a:t>
            </a:r>
          </a:p>
          <a:p>
            <a:pPr>
              <a:spcAft>
                <a:spcPts val="400"/>
              </a:spcAft>
            </a:pPr>
            <a:r>
              <a:rPr sz="950" b="1">
                <a:solidFill>
                  <a:srgbClr val="0B1F3A"/>
                </a:solidFill>
                <a:latin typeface="Calibri"/>
              </a:rPr>
              <a:t>• Soft Voting Consensus: </a:t>
            </a:r>
            <a:r>
              <a:rPr sz="900">
                <a:solidFill>
                  <a:srgbClr val="334155"/>
                </a:solidFill>
                <a:latin typeface="Calibri"/>
              </a:rPr>
              <a:t>P_ensemble(c | x) = 1/4 Σ P_m(c | x) averages predicted probabilities across all 40 categories.</a:t>
            </a:r>
          </a:p>
          <a:p>
            <a:pPr>
              <a:spcAft>
                <a:spcPts val="400"/>
              </a:spcAft>
            </a:pPr>
            <a:r>
              <a:rPr sz="950" b="1">
                <a:solidFill>
                  <a:srgbClr val="0B1F3A"/>
                </a:solidFill>
                <a:latin typeface="Calibri"/>
              </a:rPr>
              <a:t>• Argmax Decision Rule: </a:t>
            </a:r>
            <a:r>
              <a:rPr sz="900">
                <a:solidFill>
                  <a:srgbClr val="334155"/>
                </a:solidFill>
                <a:latin typeface="Calibri"/>
              </a:rPr>
              <a:t>The final medical specialty is selected as the class that maximizes the aggregated ensemble probability: ŷ = argmax P_ensemble(c | x).</a:t>
            </a:r>
          </a:p>
          <a:p>
            <a:pPr>
              <a:spcAft>
                <a:spcPts val="400"/>
              </a:spcAft>
            </a:pPr>
            <a:r>
              <a:rPr sz="950" b="1">
                <a:solidFill>
                  <a:srgbClr val="0B1F3A"/>
                </a:solidFill>
                <a:latin typeface="Calibri"/>
              </a:rPr>
              <a:t>• Variance Reduction: </a:t>
            </a:r>
            <a:r>
              <a:rPr sz="900">
                <a:solidFill>
                  <a:srgbClr val="334155"/>
                </a:solidFill>
                <a:latin typeface="Calibri"/>
              </a:rPr>
              <a:t>Compensates for individual estimator weaknesses, smoothing noise and stabilizing prediction on rare specialty classes.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16 of 19</a:t>
            </a:r>
          </a:p>
        </p:txBody>
      </p:sp>
      <p:sp>
        <p:nvSpPr>
          <p:cNvPr id="8" name="Rounded Rectangle 7"/>
          <p:cNvSpPr/>
          <p:nvPr/>
        </p:nvSpPr>
        <p:spPr>
          <a:xfrm>
            <a:off x="457200" y="1325880"/>
            <a:ext cx="1124712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4360" y="1417320"/>
            <a:ext cx="1097280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END-TO-END PROJECT PIPELINE DIAGRAM (FIGURE 13 FROM REPORT)</a:t>
            </a:r>
          </a:p>
        </p:txBody>
      </p:sp>
      <p:pic>
        <p:nvPicPr>
          <p:cNvPr id="10" name="Picture 9" descr="diagram_page_35_img_1.png"/>
          <p:cNvPicPr>
            <a:picLocks noChangeAspect="1"/>
          </p:cNvPicPr>
          <p:nvPr/>
        </p:nvPicPr>
        <p:blipFill>
          <a:blip r:embed="rId4"/>
          <a:stretch>
            <a:fillRect/>
          </a:stretch>
        </p:blipFill>
        <p:spPr>
          <a:xfrm>
            <a:off x="3368192" y="1874519"/>
            <a:ext cx="5455310" cy="43434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17 of 19</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t>CURRENT PROGRESS (PHASE 1 / SPRINT RELEASE I)</a:t>
            </a:r>
          </a:p>
          <a:p>
            <a:pPr>
              <a:spcAft>
                <a:spcPts val="300"/>
              </a:spcAft>
            </a:pPr>
            <a:r>
              <a:rPr sz="1000" b="1">
                <a:solidFill>
                  <a:srgbClr val="0B1F3A"/>
                </a:solidFill>
                <a:latin typeface="Calibri"/>
              </a:rPr>
              <a:t>✓ Literature Review &amp; Paper Benchmarking: </a:t>
            </a:r>
            <a:r>
              <a:rPr sz="950" b="0">
                <a:solidFill>
                  <a:srgbClr val="334155"/>
                </a:solidFill>
                <a:latin typeface="Calibri"/>
              </a:rPr>
              <a:t>Surveyed clinical NLP literature (Omar et al., Zhang et al., Blanchard et al.), establishing preprocessing standards.</a:t>
            </a:r>
          </a:p>
          <a:p>
            <a:pPr>
              <a:spcAft>
                <a:spcPts val="300"/>
              </a:spcAft>
            </a:pPr>
            <a:r>
              <a:rPr sz="1000" b="1">
                <a:solidFill>
                  <a:srgbClr val="0B1F3A"/>
                </a:solidFill>
                <a:latin typeface="Calibri"/>
              </a:rPr>
              <a:t>✓ Dataset Acquisition &amp; Cleaning Audit: </a:t>
            </a:r>
            <a:r>
              <a:rPr sz="950" b="0">
                <a:solidFill>
                  <a:srgbClr val="334155"/>
                </a:solidFill>
                <a:latin typeface="Calibri"/>
              </a:rPr>
              <a:t>Acquired Kaggle MTSamples (4,999 cases); identified and removed 33 empty transcription records.</a:t>
            </a:r>
          </a:p>
          <a:p>
            <a:pPr>
              <a:spcAft>
                <a:spcPts val="300"/>
              </a:spcAft>
            </a:pPr>
            <a:r>
              <a:rPr sz="1000" b="1">
                <a:solidFill>
                  <a:srgbClr val="0B1F3A"/>
                </a:solidFill>
                <a:latin typeface="Calibri"/>
              </a:rPr>
              <a:t>✓ Exploratory Data Analysis &amp; Visualization: </a:t>
            </a:r>
            <a:r>
              <a:rPr sz="950" b="0">
                <a:solidFill>
                  <a:srgbClr val="334155"/>
                </a:solidFill>
                <a:latin typeface="Calibri"/>
              </a:rPr>
              <a:t>Executed 6 statistical distributions covering missing values, token lengths, and specialty frequencies.</a:t>
            </a:r>
          </a:p>
          <a:p>
            <a:pPr>
              <a:spcAft>
                <a:spcPts val="300"/>
              </a:spcAft>
            </a:pPr>
            <a:r>
              <a:rPr sz="1000" b="1">
                <a:solidFill>
                  <a:srgbClr val="0B1F3A"/>
                </a:solidFill>
                <a:latin typeface="Calibri"/>
              </a:rPr>
              <a:t>✓ Class Imbalance Characterization: </a:t>
            </a:r>
            <a:r>
              <a:rPr sz="950" b="0">
                <a:solidFill>
                  <a:srgbClr val="334155"/>
                </a:solidFill>
                <a:latin typeface="Calibri"/>
              </a:rPr>
              <a:t>Audited extreme long-tail class skew across 40 medical specialties; formulated stratified sampling strategy.</a:t>
            </a:r>
          </a:p>
          <a:p>
            <a:pPr>
              <a:spcAft>
                <a:spcPts val="300"/>
              </a:spcAft>
            </a:pPr>
            <a:r>
              <a:rPr sz="1000" b="1">
                <a:solidFill>
                  <a:srgbClr val="0B1F3A"/>
                </a:solidFill>
                <a:latin typeface="Calibri"/>
              </a:rPr>
              <a:t>✓ NLP Cleaning Pipeline Design: </a:t>
            </a:r>
            <a:r>
              <a:rPr sz="950" b="0">
                <a:solidFill>
                  <a:srgbClr val="334155"/>
                </a:solidFill>
                <a:latin typeface="Calibri"/>
              </a:rPr>
              <a:t>Finalized sequence: Cleaning, Lowercasing, Alphanumeric Filtering, Stop-word Removal, and Lemmatization.</a:t>
            </a:r>
          </a:p>
          <a:p>
            <a:pPr>
              <a:spcAft>
                <a:spcPts val="300"/>
              </a:spcAft>
            </a:pPr>
            <a:r>
              <a:rPr sz="1000" b="1">
                <a:solidFill>
                  <a:srgbClr val="0B1F3A"/>
                </a:solidFill>
                <a:latin typeface="Calibri"/>
              </a:rPr>
              <a:t>✓ TF-IDF Architecture Formulation: </a:t>
            </a:r>
            <a:r>
              <a:rPr sz="950" b="0">
                <a:solidFill>
                  <a:srgbClr val="334155"/>
                </a:solidFill>
                <a:latin typeface="Calibri"/>
              </a:rPr>
              <a:t>Configured unigram/bigram tokenization with sublinear TF scaling and Euclidean L2 normalization.</a:t>
            </a:r>
          </a:p>
          <a:p>
            <a:pPr>
              <a:spcAft>
                <a:spcPts val="300"/>
              </a:spcAft>
            </a:pPr>
            <a:r>
              <a:rPr sz="1000" b="1">
                <a:solidFill>
                  <a:srgbClr val="0B1F3A"/>
                </a:solidFill>
                <a:latin typeface="Calibri"/>
              </a:rPr>
              <a:t>✓ Model &amp; Ensemble Formulation: </a:t>
            </a:r>
            <a:r>
              <a:rPr sz="950" b="0">
                <a:solidFill>
                  <a:srgbClr val="334155"/>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t>PLANNED NEXT STEPS (PHASE 2 / SPRINT RELEASE II &amp; III)</a:t>
            </a:r>
          </a:p>
          <a:p>
            <a:pPr>
              <a:spcAft>
                <a:spcPts val="300"/>
              </a:spcAft>
            </a:pPr>
            <a:r>
              <a:rPr sz="1000" b="1">
                <a:solidFill>
                  <a:srgbClr val="0B1F3A"/>
                </a:solidFill>
                <a:latin typeface="Calibri"/>
              </a:rPr>
              <a:t>→ Full Text Preprocessing Implementation: </a:t>
            </a:r>
            <a:r>
              <a:rPr sz="950" b="0">
                <a:solidFill>
                  <a:srgbClr val="334155"/>
                </a:solidFill>
                <a:latin typeface="Calibri"/>
              </a:rPr>
              <a:t>Execute the 8-step cleaning module across 4,966 records to produce normalized narrative corpus.</a:t>
            </a:r>
          </a:p>
          <a:p>
            <a:pPr>
              <a:spcAft>
                <a:spcPts val="300"/>
              </a:spcAft>
            </a:pPr>
            <a:r>
              <a:rPr sz="1000" b="1">
                <a:solidFill>
                  <a:srgbClr val="0B1F3A"/>
                </a:solidFill>
                <a:latin typeface="Calibri"/>
              </a:rPr>
              <a:t>→ TF-IDF Feature Matrix Generation: </a:t>
            </a:r>
            <a:r>
              <a:rPr sz="950" b="0">
                <a:solidFill>
                  <a:srgbClr val="334155"/>
                </a:solidFill>
                <a:latin typeface="Calibri"/>
              </a:rPr>
              <a:t>Fit vectorizer strictly on training partition (80:20 split) to eliminate data leakage; transform test set.</a:t>
            </a:r>
          </a:p>
          <a:p>
            <a:pPr>
              <a:spcAft>
                <a:spcPts val="300"/>
              </a:spcAft>
            </a:pPr>
            <a:r>
              <a:rPr sz="1000" b="1">
                <a:solidFill>
                  <a:srgbClr val="0B1F3A"/>
                </a:solidFill>
                <a:latin typeface="Calibri"/>
              </a:rPr>
              <a:t>→ Candidate Model Training &amp; Optimization: </a:t>
            </a:r>
            <a:r>
              <a:rPr sz="950" b="0">
                <a:solidFill>
                  <a:srgbClr val="334155"/>
                </a:solidFill>
                <a:latin typeface="Calibri"/>
              </a:rPr>
              <a:t>Train SVM, Random Forest, Logistic Regression, and Multinomial Naive Bayes classifiers.</a:t>
            </a:r>
          </a:p>
          <a:p>
            <a:pPr>
              <a:spcAft>
                <a:spcPts val="300"/>
              </a:spcAft>
            </a:pPr>
            <a:r>
              <a:rPr sz="1000" b="1">
                <a:solidFill>
                  <a:srgbClr val="0B1F3A"/>
                </a:solidFill>
                <a:latin typeface="Calibri"/>
              </a:rPr>
              <a:t>→ Soft Voting Ensemble Development: </a:t>
            </a:r>
            <a:r>
              <a:rPr sz="950" b="0">
                <a:solidFill>
                  <a:srgbClr val="334155"/>
                </a:solidFill>
                <a:latin typeface="Calibri"/>
              </a:rPr>
              <a:t>Implement weighted/soft probability aggregation combining decision outputs across all base estimators.</a:t>
            </a:r>
          </a:p>
          <a:p>
            <a:pPr>
              <a:spcAft>
                <a:spcPts val="300"/>
              </a:spcAft>
            </a:pPr>
            <a:r>
              <a:rPr sz="1000" b="1">
                <a:solidFill>
                  <a:srgbClr val="0B1F3A"/>
                </a:solidFill>
                <a:latin typeface="Calibri"/>
              </a:rPr>
              <a:t>→ Multi-Class Performance Evaluation: </a:t>
            </a:r>
            <a:r>
              <a:rPr sz="950" b="0">
                <a:solidFill>
                  <a:srgbClr val="334155"/>
                </a:solidFill>
                <a:latin typeface="Calibri"/>
              </a:rPr>
              <a:t>Benchmark multi-class Macro/Weighted Precision, Recall, F1-score, and cross-class Confusion Matrices.</a:t>
            </a:r>
          </a:p>
          <a:p>
            <a:pPr>
              <a:spcAft>
                <a:spcPts val="300"/>
              </a:spcAft>
            </a:pPr>
            <a:r>
              <a:rPr sz="1000" b="1">
                <a:solidFill>
                  <a:srgbClr val="0B1F3A"/>
                </a:solidFill>
                <a:latin typeface="Calibri"/>
              </a:rPr>
              <a:t>→ Pipeline Serialization &amp; Web Deployment: </a:t>
            </a:r>
            <a:r>
              <a:rPr sz="950" b="0">
                <a:solidFill>
                  <a:srgbClr val="334155"/>
                </a:solidFill>
                <a:latin typeface="Calibri"/>
              </a:rPr>
              <a:t>Serialize end-to-end pipeline with Joblib; construct interactive clinician dashboard using Flask.</a:t>
            </a:r>
          </a:p>
          <a:p>
            <a:pPr>
              <a:spcAft>
                <a:spcPts val="300"/>
              </a:spcAft>
            </a:pPr>
            <a:r>
              <a:rPr sz="1000" b="1">
                <a:solidFill>
                  <a:srgbClr val="0B1F3A"/>
                </a:solidFill>
                <a:latin typeface="Calibri"/>
              </a:rPr>
              <a:t>→ Validation &amp; Clinical Usability Testing: </a:t>
            </a:r>
            <a:r>
              <a:rPr sz="950" b="0">
                <a:solidFill>
                  <a:srgbClr val="334155"/>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PROGRESS &amp; ROADMAP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18 of 19</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t>PHASE 1: FOUNDATION &amp; SPRINT RELEASE I</a:t>
            </a:r>
          </a:p>
          <a:p>
            <a:pPr>
              <a:spcAft>
                <a:spcPts val="300"/>
              </a:spcAft>
            </a:pPr>
            <a:r>
              <a:rPr sz="950" b="1">
                <a:solidFill>
                  <a:srgbClr val="16A34A"/>
                </a:solidFill>
                <a:latin typeface="Calibri"/>
              </a:rPr>
              <a:t>✓  [17.07.2026]  Project Proposal &amp; Synopsis Approval by Guide
</a:t>
            </a:r>
            <a:r>
              <a:rPr sz="850" b="0">
                <a:solidFill>
                  <a:srgbClr val="334155"/>
                </a:solidFill>
                <a:latin typeface="Calibri"/>
              </a:rPr>
              <a:t>    Formal approval of project scope, objectives, and feasibility by faculty guide.</a:t>
            </a:r>
          </a:p>
          <a:p>
            <a:pPr>
              <a:spcAft>
                <a:spcPts val="300"/>
              </a:spcAft>
            </a:pPr>
            <a:r>
              <a:rPr sz="950" b="1">
                <a:solidFill>
                  <a:srgbClr val="16A34A"/>
                </a:solidFill>
                <a:latin typeface="Calibri"/>
              </a:rPr>
              <a:t>✓  [20.07.2026 – 21.07.2026]  Project Proposal Presentation
</a:t>
            </a:r>
            <a:r>
              <a:rPr sz="850" b="0">
                <a:solidFill>
                  <a:srgbClr val="334155"/>
                </a:solidFill>
                <a:latin typeface="Calibri"/>
              </a:rPr>
              <a:t>    Presented proposal before Department Project Approval Committee.</a:t>
            </a:r>
          </a:p>
          <a:p>
            <a:pPr>
              <a:spcAft>
                <a:spcPts val="300"/>
              </a:spcAft>
            </a:pPr>
            <a:r>
              <a:rPr sz="950" b="1">
                <a:solidFill>
                  <a:srgbClr val="16A34A"/>
                </a:solidFill>
                <a:latin typeface="Calibri"/>
              </a:rPr>
              <a:t>✓  [Weeks 1–2]  Dataset Collection &amp; Exploratory Data Analysis
</a:t>
            </a:r>
            <a:r>
              <a:rPr sz="850" b="0">
                <a:solidFill>
                  <a:srgbClr val="334155"/>
                </a:solidFill>
                <a:latin typeface="Calibri"/>
              </a:rPr>
              <a:t>    Acquired Kaggle MTSamples (4,999 records); audited nulls and generated 6 EDA plots.</a:t>
            </a:r>
          </a:p>
          <a:p>
            <a:pPr>
              <a:spcAft>
                <a:spcPts val="300"/>
              </a:spcAft>
            </a:pPr>
            <a:r>
              <a:rPr sz="950" b="1">
                <a:solidFill>
                  <a:srgbClr val="16A34A"/>
                </a:solidFill>
                <a:latin typeface="Calibri"/>
              </a:rPr>
              <a:t>✓  [Weeks 3–4]  Clinical Text Preprocessing Pipeline
</a:t>
            </a:r>
            <a:r>
              <a:rPr sz="850" b="0">
                <a:solidFill>
                  <a:srgbClr val="334155"/>
                </a:solidFill>
                <a:latin typeface="Calibri"/>
              </a:rPr>
              <a:t>    Designed 5-step sequence: Cleaning, Lowercasing, Tokenization, Stop-words, Lemmatization.</a:t>
            </a:r>
          </a:p>
          <a:p>
            <a:pPr>
              <a:spcAft>
                <a:spcPts val="300"/>
              </a:spcAft>
            </a:pPr>
            <a:r>
              <a:rPr sz="950" b="1">
                <a:solidFill>
                  <a:srgbClr val="16A34A"/>
                </a:solidFill>
                <a:latin typeface="Calibri"/>
              </a:rPr>
              <a:t>✓  [Week 5]  TF-IDF Vectorization Architecture
</a:t>
            </a:r>
            <a:r>
              <a:rPr sz="850" b="0">
                <a:solidFill>
                  <a:srgbClr val="334155"/>
                </a:solidFill>
                <a:latin typeface="Calibri"/>
              </a:rPr>
              <a:t>    Formulated unigram/bigram tokenization with sublinear scaling and sparse matrix layout.</a:t>
            </a:r>
          </a:p>
          <a:p>
            <a:pPr>
              <a:spcAft>
                <a:spcPts val="300"/>
              </a:spcAft>
            </a:pPr>
            <a:r>
              <a:rPr sz="950" b="1">
                <a:solidFill>
                  <a:srgbClr val="D97706"/>
                </a:solidFill>
                <a:latin typeface="Calibri"/>
              </a:rPr>
              <a:t>★  [08.09.2026]  First Project Presentation ★
</a:t>
            </a:r>
            <a:r>
              <a:rPr sz="850" b="0">
                <a:solidFill>
                  <a:srgbClr val="334155"/>
                </a:solidFill>
                <a:latin typeface="Calibri"/>
              </a:rPr>
              <a:t>    Current Milestone — Phase 1 Faculty Review &amp; Initial Progress Defense.</a:t>
            </a:r>
          </a:p>
          <a:p>
            <a:pPr>
              <a:spcAft>
                <a:spcPts val="300"/>
              </a:spcAft>
            </a:pPr>
            <a:r>
              <a:rPr sz="950" b="1">
                <a:solidFill>
                  <a:srgbClr val="D97706"/>
                </a:solidFill>
                <a:latin typeface="Calibri"/>
              </a:rPr>
              <a:t>★  [09.09.2026]  Sprint Release I ★
</a:t>
            </a:r>
            <a:r>
              <a:rPr sz="850" b="0">
                <a:solidFill>
                  <a:srgbClr val="334155"/>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t>PHASES 2 &amp; 3: MODEL BUILDING, ENSEMBLE &amp; DEPLOYMENT</a:t>
            </a:r>
          </a:p>
          <a:p>
            <a:pPr>
              <a:spcAft>
                <a:spcPts val="200"/>
              </a:spcAft>
            </a:pPr>
            <a:r>
              <a:rPr sz="919" b="1">
                <a:solidFill>
                  <a:srgbClr val="2563EB"/>
                </a:solidFill>
                <a:latin typeface="Calibri"/>
              </a:rPr>
              <a:t>→  [Week 6]  Candidate Model Training &amp; Baseline Evaluation
</a:t>
            </a:r>
            <a:r>
              <a:rPr sz="819" b="0">
                <a:solidFill>
                  <a:srgbClr val="334155"/>
                </a:solidFill>
                <a:latin typeface="Calibri"/>
              </a:rPr>
              <a:t>    Train SVM, Random Forest, Logistic Regression, and Multinomial Naive Bayes.</a:t>
            </a:r>
          </a:p>
          <a:p>
            <a:pPr>
              <a:spcAft>
                <a:spcPts val="200"/>
              </a:spcAft>
            </a:pPr>
            <a:r>
              <a:rPr sz="919" b="1">
                <a:solidFill>
                  <a:srgbClr val="D97706"/>
                </a:solidFill>
                <a:latin typeface="Calibri"/>
              </a:rPr>
              <a:t>★  [18.09.2026]  Sprint Release II ★
</a:t>
            </a:r>
            <a:r>
              <a:rPr sz="819" b="0">
                <a:solidFill>
                  <a:srgbClr val="334155"/>
                </a:solidFill>
                <a:latin typeface="Calibri"/>
              </a:rPr>
              <a:t>    Milestone release: Trained baseline classifiers and preliminary metrics.</a:t>
            </a:r>
          </a:p>
          <a:p>
            <a:pPr>
              <a:spcAft>
                <a:spcPts val="200"/>
              </a:spcAft>
            </a:pPr>
            <a:r>
              <a:rPr sz="919" b="1">
                <a:solidFill>
                  <a:srgbClr val="2563EB"/>
                </a:solidFill>
                <a:latin typeface="Calibri"/>
              </a:rPr>
              <a:t>→  [Week 7]  Hyperparameter Tuning &amp; Model Comparison
</a:t>
            </a:r>
            <a:r>
              <a:rPr sz="819" b="0">
                <a:solidFill>
                  <a:srgbClr val="334155"/>
                </a:solidFill>
                <a:latin typeface="Calibri"/>
              </a:rPr>
              <a:t>    Systematic tuning and comparative performance profiling across candidate estimators.</a:t>
            </a:r>
          </a:p>
          <a:p>
            <a:pPr>
              <a:spcAft>
                <a:spcPts val="200"/>
              </a:spcAft>
            </a:pPr>
            <a:r>
              <a:rPr sz="919" b="1">
                <a:solidFill>
                  <a:srgbClr val="2563EB"/>
                </a:solidFill>
                <a:latin typeface="Calibri"/>
              </a:rPr>
              <a:t>→  [Week 8]  Soft Voting Ensemble Implementation
</a:t>
            </a:r>
            <a:r>
              <a:rPr sz="819" b="0">
                <a:solidFill>
                  <a:srgbClr val="334155"/>
                </a:solidFill>
                <a:latin typeface="Calibri"/>
              </a:rPr>
              <a:t>    Construct soft voting ensemble; aggregate consensus probability distributions.</a:t>
            </a:r>
          </a:p>
          <a:p>
            <a:pPr>
              <a:spcAft>
                <a:spcPts val="200"/>
              </a:spcAft>
            </a:pPr>
            <a:r>
              <a:rPr sz="919" b="1">
                <a:solidFill>
                  <a:srgbClr val="D97706"/>
                </a:solidFill>
                <a:latin typeface="Calibri"/>
              </a:rPr>
              <a:t>★  [29.09.2026 – 30.09.2026]  Interim Project Presentation ★
</a:t>
            </a:r>
            <a:r>
              <a:rPr sz="819" b="0">
                <a:solidFill>
                  <a:srgbClr val="334155"/>
                </a:solidFill>
                <a:latin typeface="Calibri"/>
              </a:rPr>
              <a:t>    Progress review and working model demonstration before faculty committee.</a:t>
            </a:r>
          </a:p>
          <a:p>
            <a:pPr>
              <a:spcAft>
                <a:spcPts val="200"/>
              </a:spcAft>
            </a:pPr>
            <a:r>
              <a:rPr sz="919" b="1">
                <a:solidFill>
                  <a:srgbClr val="2563EB"/>
                </a:solidFill>
                <a:latin typeface="Calibri"/>
              </a:rPr>
              <a:t>→  [Week 9]  Flask Web Integration &amp; Serialization
</a:t>
            </a:r>
            <a:r>
              <a:rPr sz="819" b="0">
                <a:solidFill>
                  <a:srgbClr val="334155"/>
                </a:solidFill>
                <a:latin typeface="Calibri"/>
              </a:rPr>
              <a:t>    Serialize pipeline with Joblib; build interactive clinician UI for live inference.</a:t>
            </a:r>
          </a:p>
          <a:p>
            <a:pPr>
              <a:spcAft>
                <a:spcPts val="200"/>
              </a:spcAft>
            </a:pPr>
            <a:r>
              <a:rPr sz="919" b="1">
                <a:solidFill>
                  <a:srgbClr val="D97706"/>
                </a:solidFill>
                <a:latin typeface="Calibri"/>
              </a:rPr>
              <a:t>★  [09.10.2026]  Sprint Release III ★
</a:t>
            </a:r>
            <a:r>
              <a:rPr sz="819" b="0">
                <a:solidFill>
                  <a:srgbClr val="334155"/>
                </a:solidFill>
                <a:latin typeface="Calibri"/>
              </a:rPr>
              <a:t>    Integrated system release: Flask web application and serialized ensemble.</a:t>
            </a:r>
          </a:p>
          <a:p>
            <a:pPr>
              <a:spcAft>
                <a:spcPts val="200"/>
              </a:spcAft>
            </a:pPr>
            <a:r>
              <a:rPr sz="919" b="1">
                <a:solidFill>
                  <a:srgbClr val="2563EB"/>
                </a:solidFill>
                <a:latin typeface="Calibri"/>
              </a:rPr>
              <a:t>→  [Weeks 10–11]  Evaluation &amp; System Testing
</a:t>
            </a:r>
            <a:r>
              <a:rPr sz="819" b="0">
                <a:solidFill>
                  <a:srgbClr val="334155"/>
                </a:solidFill>
                <a:latin typeface="Calibri"/>
              </a:rPr>
              <a:t>    Multi-class metrics (Macro F1, Recall), confusion matrix analysis, and validation.</a:t>
            </a:r>
          </a:p>
          <a:p>
            <a:pPr>
              <a:spcAft>
                <a:spcPts val="200"/>
              </a:spcAft>
            </a:pPr>
            <a:r>
              <a:rPr sz="919" b="1">
                <a:solidFill>
                  <a:srgbClr val="D97706"/>
                </a:solidFill>
                <a:latin typeface="Calibri"/>
              </a:rPr>
              <a:t>★  [22.10.2026 – 23.10.2026]  Final Project Presentation ★
</a:t>
            </a:r>
            <a:r>
              <a:rPr sz="819" b="0">
                <a:solidFill>
                  <a:srgbClr val="334155"/>
                </a:solidFill>
                <a:latin typeface="Calibri"/>
              </a:rPr>
              <a:t>    Comprehensive final project defense before the examination board.</a:t>
            </a:r>
          </a:p>
          <a:p>
            <a:pPr>
              <a:spcAft>
                <a:spcPts val="200"/>
              </a:spcAft>
            </a:pPr>
            <a:r>
              <a:rPr sz="919" b="1">
                <a:solidFill>
                  <a:srgbClr val="D97706"/>
                </a:solidFill>
                <a:latin typeface="Calibri"/>
              </a:rPr>
              <a:t>★  [30.10.2026]  Final Report Submission ★
</a:t>
            </a:r>
            <a:r>
              <a:rPr sz="819" b="0">
                <a:solidFill>
                  <a:srgbClr val="334155"/>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t>ACADEMIC TIMELINE &amp; PRESENTATION MILESTONES (SEMESTER 3 MCA MINI PROJECT)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94790" y="1234440"/>
            <a:ext cx="9601200" cy="438912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365760" bIns="274320" lIns="365760" rIns="365760"/>
          <a:lstStyle/>
          <a:p>
            <a:pPr algn="ctr">
              <a:spcAft>
                <a:spcPts val="800"/>
              </a:spcAft>
              <a:defRPr sz="4600" b="1">
                <a:solidFill>
                  <a:srgbClr val="FFFFFF"/>
                </a:solidFill>
                <a:latin typeface="Cambria"/>
              </a:defRPr>
            </a:pPr>
            <a:r>
              <a:t>THANK YOU!</a:t>
            </a:r>
          </a:p>
          <a:p>
            <a:pPr algn="ctr">
              <a:spcAft>
                <a:spcPts val="1800"/>
              </a:spcAft>
              <a:defRPr sz="2000" b="1">
                <a:solidFill>
                  <a:srgbClr val="38BDF8"/>
                </a:solidFill>
                <a:latin typeface="Calibri"/>
              </a:defRPr>
            </a:pPr>
            <a:r>
              <a:t>Questions, Suggestions &amp; Discussion</a:t>
            </a:r>
          </a:p>
          <a:p>
            <a:pPr algn="ctr">
              <a:spcAft>
                <a:spcPts val="2000"/>
              </a:spcAft>
              <a:defRPr sz="1700" b="1">
                <a:solidFill>
                  <a:srgbClr val="F1F5F9"/>
                </a:solidFill>
                <a:latin typeface="Cambria"/>
              </a:defRPr>
            </a:pPr>
            <a:r>
              <a:t>Medical Specialty Classification Using TF-IDF</a:t>
            </a:r>
            <a:br/>
            <a:r>
              <a:t>and Ensemble Machine Learning</a:t>
            </a:r>
          </a:p>
          <a:p>
            <a:pPr algn="ctr">
              <a:spcAft>
                <a:spcPts val="400"/>
              </a:spcAft>
              <a:defRPr sz="1350" b="1">
                <a:solidFill>
                  <a:srgbClr val="4ADE80"/>
                </a:solidFill>
                <a:latin typeface="Calibri"/>
              </a:defRPr>
            </a:pPr>
            <a:r>
              <a:t>Presented by: Jiphin George (Register No: MAC25MCA-2033)</a:t>
            </a:r>
          </a:p>
          <a:p>
            <a:pPr algn="ctr">
              <a:spcAft>
                <a:spcPts val="400"/>
              </a:spcAft>
              <a:defRPr sz="1250" b="0">
                <a:solidFill>
                  <a:srgbClr val="E2E8F0"/>
                </a:solidFill>
                <a:latin typeface="Calibri"/>
              </a:defRPr>
            </a:pPr>
            <a:r>
              <a:t>Project Guide: Prof. Biju Skaria  |  Department of Computer Applications</a:t>
            </a:r>
          </a:p>
          <a:p>
            <a:pPr algn="ctr">
              <a:defRPr sz="1150" b="0">
                <a:solidFill>
                  <a:srgbClr val="94A3B8"/>
                </a:solidFill>
                <a:latin typeface="Calibri"/>
              </a:defRPr>
            </a:pPr>
            <a:r>
              <a:t>Mar Athanasius College of Engineering, Kothamangalam  |  MCA Mini Project (Semester 3)</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19 of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