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2 of 19</a:t>
            </a:r>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defRPr>
                <a:solidFill/>
              </a:defRPr>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0" name="Shape 18"/>
          <p:cNvSpPr/>
          <p:nvPr/>
        </p:nvSpPr>
        <p:spPr>
          <a:xfrm>
            <a:off x="1577340" y="4430268"/>
            <a:ext cx="502920" cy="502920"/>
          </a:xfrm>
          <a:prstGeom prst="ellipse">
            <a:avLst/>
          </a:prstGeom>
          <a:solidFill>
            <a:srgbClr val="6C4AB6"/>
          </a:solidFill>
          <a:ln/>
        </p:spPr>
        <p:txBody>
          <a:bodyPr/>
          <a:p>
            <a:pPr>
              <a:defRPr>
                <a:solidFill/>
              </a:defRPr>
            </a:p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5" name="Shape 23"/>
          <p:cNvSpPr/>
          <p:nvPr/>
        </p:nvSpPr>
        <p:spPr>
          <a:xfrm>
            <a:off x="4457700" y="4430268"/>
            <a:ext cx="502920" cy="502920"/>
          </a:xfrm>
          <a:prstGeom prst="ellipse">
            <a:avLst/>
          </a:prstGeom>
          <a:solidFill>
            <a:srgbClr val="0E7C86"/>
          </a:solidFill>
          <a:ln/>
        </p:spPr>
        <p:txBody>
          <a:bodyPr/>
          <a:p>
            <a:pPr>
              <a:defRPr>
                <a:solidFill/>
              </a:defRPr>
            </a:p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0" name="Shape 28"/>
          <p:cNvSpPr/>
          <p:nvPr/>
        </p:nvSpPr>
        <p:spPr>
          <a:xfrm>
            <a:off x="7338060" y="4430268"/>
            <a:ext cx="502920" cy="502920"/>
          </a:xfrm>
          <a:prstGeom prst="ellipse">
            <a:avLst/>
          </a:prstGeom>
          <a:solidFill>
            <a:srgbClr val="13294B"/>
          </a:solidFill>
          <a:ln/>
        </p:spPr>
        <p:txBody>
          <a:bodyPr/>
          <a:p>
            <a:pPr>
              <a:defRPr>
                <a:solidFill/>
              </a:defRPr>
            </a:p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10218420" y="4430268"/>
            <a:ext cx="502920" cy="502920"/>
          </a:xfrm>
          <a:prstGeom prst="ellipse">
            <a:avLst/>
          </a:prstGeom>
          <a:solidFill>
            <a:srgbClr val="6C4AB6"/>
          </a:solidFill>
          <a:ln/>
        </p:spPr>
        <p:txBody>
          <a:bodyPr/>
          <a:p>
            <a:pPr>
              <a:defRPr>
                <a:solidFill/>
              </a:defRPr>
            </a:p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Combine SVM, RF, LR, MNB via Voting; deploy on a Flask web app.</a:t>
            </a:r>
            <a:endParaRPr lang="en-US" sz="1000" dirty="0"/>
          </a:p>
        </p:txBody>
      </p:sp>
      <p:sp>
        <p:nvSpPr>
          <p:cNvPr id="39" name="Rounded Rectangle 38"/>
          <p:cNvSpPr/>
          <p:nvPr/>
        </p:nvSpPr>
        <p:spPr>
          <a:xfrm>
            <a:off x="457200" y="1554480"/>
            <a:ext cx="5394960"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Oval 39"/>
          <p:cNvSpPr/>
          <p:nvPr/>
        </p:nvSpPr>
        <p:spPr>
          <a:xfrm>
            <a:off x="777240" y="1755648"/>
            <a:ext cx="438912" cy="438912"/>
          </a:xfrm>
          <a:prstGeom prst="ellipse">
            <a:avLst/>
          </a:prstGeom>
          <a:solidFill>
            <a:srgbClr val="6C4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1" name="TextBox 40"/>
          <p:cNvSpPr txBox="1"/>
          <p:nvPr/>
        </p:nvSpPr>
        <p:spPr>
          <a:xfrm>
            <a:off x="1353312" y="1755648"/>
            <a:ext cx="4297680" cy="438912"/>
          </a:xfrm>
          <a:prstGeom prst="rect">
            <a:avLst/>
          </a:prstGeom>
          <a:noFill/>
        </p:spPr>
        <p:txBody>
          <a:bodyPr wrap="none" anchor="ctr" lIns="45720">
            <a:spAutoFit/>
          </a:bodyPr>
          <a:lstStyle/>
          <a:p>
            <a:pPr>
              <a:defRPr sz="2000" b="1">
                <a:solidFill>
                  <a:srgbClr val="0B1F3A"/>
                </a:solidFill>
                <a:latin typeface="Cambria"/>
              </a:defRPr>
            </a:pPr>
            <a:r>
              <a:rPr>
                <a:solidFill/>
              </a:rPr>
              <a:t>Problem</a:t>
            </a:r>
          </a:p>
        </p:txBody>
      </p:sp>
      <p:sp>
        <p:nvSpPr>
          <p:cNvPr id="42" name="TextBox 41"/>
          <p:cNvSpPr txBox="1"/>
          <p:nvPr/>
        </p:nvSpPr>
        <p:spPr>
          <a:xfrm>
            <a:off x="777240" y="2331720"/>
            <a:ext cx="480060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Clinical transcription data is unstructured and can belong to any of several medical specialties, making manual categorization by medical coders slow, inconsistent, and prone to human error as patient volumes grow.</a:t>
            </a:r>
          </a:p>
        </p:txBody>
      </p:sp>
      <p:sp>
        <p:nvSpPr>
          <p:cNvPr id="43" name="Rounded Rectangle 42"/>
          <p:cNvSpPr/>
          <p:nvPr/>
        </p:nvSpPr>
        <p:spPr>
          <a:xfrm>
            <a:off x="6035040" y="1554480"/>
            <a:ext cx="5696712"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Oval 43"/>
          <p:cNvSpPr/>
          <p:nvPr/>
        </p:nvSpPr>
        <p:spPr>
          <a:xfrm>
            <a:off x="6355080" y="1755648"/>
            <a:ext cx="438912" cy="438912"/>
          </a:xfrm>
          <a:prstGeom prst="ellipse">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5" name="TextBox 44"/>
          <p:cNvSpPr txBox="1"/>
          <p:nvPr/>
        </p:nvSpPr>
        <p:spPr>
          <a:xfrm>
            <a:off x="6931152" y="1755648"/>
            <a:ext cx="4572000" cy="438912"/>
          </a:xfrm>
          <a:prstGeom prst="rect">
            <a:avLst/>
          </a:prstGeom>
          <a:noFill/>
        </p:spPr>
        <p:txBody>
          <a:bodyPr wrap="none" anchor="ctr" lIns="45720">
            <a:spAutoFit/>
          </a:bodyPr>
          <a:lstStyle/>
          <a:p>
            <a:pPr>
              <a:defRPr sz="2000" b="1">
                <a:solidFill>
                  <a:srgbClr val="0B1F3A"/>
                </a:solidFill>
                <a:latin typeface="Cambria"/>
              </a:defRPr>
            </a:pPr>
            <a:r>
              <a:rPr>
                <a:solidFill/>
              </a:rPr>
              <a:t>Objective</a:t>
            </a:r>
          </a:p>
        </p:txBody>
      </p:sp>
      <p:sp>
        <p:nvSpPr>
          <p:cNvPr id="46" name="TextBox 45"/>
          <p:cNvSpPr txBox="1"/>
          <p:nvPr/>
        </p:nvSpPr>
        <p:spPr>
          <a:xfrm>
            <a:off x="6355080" y="2331720"/>
            <a:ext cx="512064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Develop an automated NLP and Ensemble Machine Learning system that predicts the correct medical specialty from a clinical transcription, reducing administrative overhead and speeding up document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0E7C86"/>
                </a:solidFill>
                <a:latin typeface="Calibri"/>
              </a:defRPr>
            </a:pPr>
            <a:r>
              <a:rPr sz="1150" b="1">
                <a:solidFill>
                  <a:srgbClr val="0E7C86"/>
                </a:solidFill>
              </a:rPr>
              <a:t>1. Prior Literature</a:t>
            </a:r>
          </a:p>
          <a:p>
            <a:pPr>
              <a:defRPr sz="980" b="1">
                <a:solidFill>
                  <a:srgbClr val="000000"/>
                </a:solidFill>
                <a:latin typeface="Calibri"/>
              </a:defRPr>
            </a:pPr>
            <a:r>
              <a:rPr sz="980" b="1">
                <a:solidFill>
                  <a:srgbClr val="000000"/>
                </a:solidFill>
              </a:rP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2563EB"/>
                </a:solidFill>
                <a:latin typeface="Calibri"/>
              </a:defRPr>
            </a:pPr>
            <a:r>
              <a:rPr sz="1150" b="1">
                <a:solidFill>
                  <a:srgbClr val="2563EB"/>
                </a:solidFill>
              </a:rPr>
              <a:t>2. Key Methodologies</a:t>
            </a:r>
          </a:p>
          <a:p>
            <a:pPr>
              <a:defRPr sz="980" b="1">
                <a:solidFill>
                  <a:srgbClr val="000000"/>
                </a:solidFill>
                <a:latin typeface="Calibri"/>
              </a:defRPr>
            </a:pPr>
            <a:r>
              <a:rPr sz="980" b="1">
                <a:solidFill>
                  <a:srgbClr val="000000"/>
                </a:solidFill>
              </a:rP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9333EA"/>
                </a:solidFill>
                <a:latin typeface="Calibri"/>
              </a:defRPr>
            </a:pPr>
            <a:r>
              <a:rPr sz="1150" b="1">
                <a:solidFill>
                  <a:srgbClr val="9333EA"/>
                </a:solidFill>
              </a:rPr>
              <a:t>3. Identified Gap</a:t>
            </a:r>
          </a:p>
          <a:p>
            <a:pPr>
              <a:defRPr sz="980" b="1">
                <a:solidFill>
                  <a:srgbClr val="000000"/>
                </a:solidFill>
                <a:latin typeface="Calibri"/>
              </a:defRPr>
            </a:pPr>
            <a:r>
              <a:rPr sz="980" b="1">
                <a:solidFill>
                  <a:srgbClr val="000000"/>
                </a:solidFill>
              </a:rP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16A34A"/>
                </a:solidFill>
                <a:latin typeface="Calibri"/>
              </a:defRPr>
            </a:pPr>
            <a:r>
              <a:rPr sz="1150" b="1">
                <a:solidFill>
                  <a:srgbClr val="16A34A"/>
                </a:solidFill>
              </a:rPr>
              <a:t>4. Proposed Architecture</a:t>
            </a:r>
          </a:p>
          <a:p>
            <a:pPr>
              <a:defRPr sz="980" b="1">
                <a:solidFill>
                  <a:srgbClr val="000000"/>
                </a:solidFill>
                <a:latin typeface="Calibri"/>
              </a:defRPr>
            </a:pPr>
            <a:r>
              <a:rPr sz="980" b="1">
                <a:solidFill>
                  <a:srgbClr val="000000"/>
                </a:solidFill>
              </a:rP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0E7C86"/>
                </a:solidFill>
                <a:latin typeface="Calibri"/>
              </a:defRPr>
            </a:pPr>
            <a:r>
              <a:rPr sz="1500" b="1">
                <a:solidFill>
                  <a:srgbClr val="0E7C86"/>
                </a:solidFill>
              </a:rPr>
              <a:t>Clinical NLP &amp; Preprocessing</a:t>
            </a:r>
          </a:p>
          <a:p>
            <a:pPr>
              <a:spcAft>
                <a:spcPts val="550"/>
              </a:spcAft>
            </a:pPr>
            <a:r>
              <a:rPr sz="1300" b="1">
                <a:solidFill>
                  <a:srgbClr val="0E7C86"/>
                </a:solidFill>
                <a:latin typeface="Calibri"/>
              </a:rPr>
              <a:t>• </a:t>
            </a:r>
            <a:r>
              <a:rPr sz="1250" b="0">
                <a:solidFill>
                  <a:srgbClr val="000000"/>
                </a:solidFill>
                <a:latin typeface="Calibri"/>
              </a:rPr>
              <a:t>Clinical narratives contain non-standard doctor shorthand, abbreviations, and punctuation noise.</a:t>
            </a:r>
          </a:p>
          <a:p>
            <a:pPr>
              <a:spcAft>
                <a:spcPts val="550"/>
              </a:spcAft>
            </a:pPr>
            <a:r>
              <a:rPr sz="1300" b="1">
                <a:solidFill>
                  <a:srgbClr val="0E7C86"/>
                </a:solidFill>
                <a:latin typeface="Calibri"/>
              </a:rPr>
              <a:t>• </a:t>
            </a:r>
            <a:r>
              <a:rPr sz="1250" b="0">
                <a:solidFill>
                  <a:srgbClr val="000000"/>
                </a:solidFill>
                <a:latin typeface="Calibri"/>
              </a:rPr>
              <a:t>Implements a 5-step sequence: Cleaning, Lowercasing, Tokenization, Stop-word removal, and Lemmatization.</a:t>
            </a:r>
          </a:p>
          <a:p>
            <a:pPr>
              <a:spcAft>
                <a:spcPts val="550"/>
              </a:spcAft>
            </a:pPr>
            <a:r>
              <a:rPr sz="1300" b="1">
                <a:solidFill>
                  <a:srgbClr val="0E7C86"/>
                </a:solidFill>
                <a:latin typeface="Calibri"/>
              </a:rPr>
              <a:t>• </a:t>
            </a:r>
            <a:r>
              <a:rPr sz="1250" b="0">
                <a:solidFill>
                  <a:srgbClr val="000000"/>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2563EB"/>
                </a:solidFill>
                <a:latin typeface="Calibri"/>
              </a:defRPr>
            </a:pPr>
            <a:r>
              <a:rPr sz="1500" b="1">
                <a:solidFill>
                  <a:srgbClr val="2563EB"/>
                </a:solidFill>
              </a:rPr>
              <a:t>TF-IDF Feature Representation</a:t>
            </a:r>
          </a:p>
          <a:p>
            <a:pPr>
              <a:spcAft>
                <a:spcPts val="550"/>
              </a:spcAft>
            </a:pPr>
            <a:r>
              <a:rPr sz="1300" b="1">
                <a:solidFill>
                  <a:srgbClr val="2563EB"/>
                </a:solidFill>
                <a:latin typeface="Calibri"/>
              </a:rPr>
              <a:t>• </a:t>
            </a:r>
            <a:r>
              <a:rPr sz="1250" b="0">
                <a:solidFill>
                  <a:srgbClr val="000000"/>
                </a:solidFill>
                <a:latin typeface="Calibri"/>
              </a:rPr>
              <a:t>Converts unstructured medical text into standardized, high-dimensional sparse numerical feature vectors.</a:t>
            </a:r>
          </a:p>
          <a:p>
            <a:pPr>
              <a:spcAft>
                <a:spcPts val="550"/>
              </a:spcAft>
            </a:pPr>
            <a:r>
              <a:rPr sz="1300" b="1">
                <a:solidFill>
                  <a:srgbClr val="2563EB"/>
                </a:solidFill>
                <a:latin typeface="Calibri"/>
              </a:rPr>
              <a:t>• </a:t>
            </a:r>
            <a:r>
              <a:rPr sz="1250" b="0">
                <a:solidFill>
                  <a:srgbClr val="000000"/>
                </a:solidFill>
                <a:latin typeface="Calibri"/>
              </a:rPr>
              <a:t>Sublinear scaling (1 + log(TF)) dampens repetitive non-informative terms while highlighting discriminative tokens.</a:t>
            </a:r>
          </a:p>
          <a:p>
            <a:pPr>
              <a:spcAft>
                <a:spcPts val="550"/>
              </a:spcAft>
            </a:pPr>
            <a:r>
              <a:rPr sz="1300" b="1">
                <a:solidFill>
                  <a:srgbClr val="2563EB"/>
                </a:solidFill>
                <a:latin typeface="Calibri"/>
              </a:rPr>
              <a:t>• </a:t>
            </a:r>
            <a:r>
              <a:rPr sz="1250" b="0">
                <a:solidFill>
                  <a:srgbClr val="000000"/>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16A34A"/>
                </a:solidFill>
                <a:latin typeface="Calibri"/>
              </a:defRPr>
            </a:pPr>
            <a:r>
              <a:rPr sz="1500" b="1">
                <a:solidFill>
                  <a:srgbClr val="16A34A"/>
                </a:solidFill>
              </a:rPr>
              <a:t>Supervised ML Classifiers</a:t>
            </a:r>
          </a:p>
          <a:p>
            <a:pPr>
              <a:spcAft>
                <a:spcPts val="550"/>
              </a:spcAft>
            </a:pPr>
            <a:r>
              <a:rPr sz="1300" b="1">
                <a:solidFill>
                  <a:srgbClr val="16A34A"/>
                </a:solidFill>
                <a:latin typeface="Calibri"/>
              </a:rPr>
              <a:t>• </a:t>
            </a:r>
            <a:r>
              <a:rPr sz="1250" b="0">
                <a:solidFill>
                  <a:srgbClr val="000000"/>
                </a:solidFill>
                <a:latin typeface="Calibri"/>
              </a:rPr>
              <a:t>Linear models (SVM, Logistic Regression) excel on high-dimensional sparse text representations.</a:t>
            </a:r>
          </a:p>
          <a:p>
            <a:pPr>
              <a:spcAft>
                <a:spcPts val="550"/>
              </a:spcAft>
            </a:pPr>
            <a:r>
              <a:rPr sz="1300" b="1">
                <a:solidFill>
                  <a:srgbClr val="16A34A"/>
                </a:solidFill>
                <a:latin typeface="Calibri"/>
              </a:rPr>
              <a:t>• </a:t>
            </a:r>
            <a:r>
              <a:rPr sz="1250" b="0">
                <a:solidFill>
                  <a:srgbClr val="000000"/>
                </a:solidFill>
                <a:latin typeface="Calibri"/>
              </a:rPr>
              <a:t>Random Forest introduces non-linear decision partitioning and bagging variance reduction.</a:t>
            </a:r>
          </a:p>
          <a:p>
            <a:pPr>
              <a:spcAft>
                <a:spcPts val="550"/>
              </a:spcAft>
            </a:pPr>
            <a:r>
              <a:rPr sz="1300" b="1">
                <a:solidFill>
                  <a:srgbClr val="16A34A"/>
                </a:solidFill>
                <a:latin typeface="Calibri"/>
              </a:rPr>
              <a:t>• </a:t>
            </a:r>
            <a:r>
              <a:rPr sz="1250" b="0">
                <a:solidFill>
                  <a:srgbClr val="000000"/>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9333EA"/>
                </a:solidFill>
                <a:latin typeface="Calibri"/>
              </a:defRPr>
            </a:pPr>
            <a:r>
              <a:rPr sz="1500" b="1">
                <a:solidFill>
                  <a:srgbClr val="9333EA"/>
                </a:solidFill>
              </a:rPr>
              <a:t>Ensemble Learning &amp; Research Gap</a:t>
            </a:r>
          </a:p>
          <a:p>
            <a:pPr>
              <a:spcAft>
                <a:spcPts val="550"/>
              </a:spcAft>
            </a:pPr>
            <a:r>
              <a:rPr sz="1300" b="1">
                <a:solidFill>
                  <a:srgbClr val="9333EA"/>
                </a:solidFill>
                <a:latin typeface="Calibri"/>
              </a:rPr>
              <a:t>• </a:t>
            </a:r>
            <a:r>
              <a:rPr sz="1250" b="0">
                <a:solidFill>
                  <a:srgbClr val="000000"/>
                </a:solidFill>
                <a:latin typeface="Calibri"/>
              </a:rPr>
              <a:t>Identified Gap: Many deep learning approaches demand heavy GPU resources; single models show variance on rare classes.</a:t>
            </a:r>
          </a:p>
          <a:p>
            <a:pPr>
              <a:spcAft>
                <a:spcPts val="550"/>
              </a:spcAft>
            </a:pPr>
            <a:r>
              <a:rPr sz="1300" b="1">
                <a:solidFill>
                  <a:srgbClr val="9333EA"/>
                </a:solidFill>
                <a:latin typeface="Calibri"/>
              </a:rPr>
              <a:t>• </a:t>
            </a:r>
            <a:r>
              <a:rPr sz="1250" b="0">
                <a:solidFill>
                  <a:srgbClr val="000000"/>
                </a:solidFill>
                <a:latin typeface="Calibri"/>
              </a:rPr>
              <a:t>Proposed Solution: An accessible Soft Voting Ensemble combining calibrated base models for balanced classification.</a:t>
            </a:r>
          </a:p>
          <a:p>
            <a:pPr>
              <a:spcAft>
                <a:spcPts val="550"/>
              </a:spcAft>
            </a:pPr>
            <a:r>
              <a:rPr sz="1300" b="1">
                <a:solidFill>
                  <a:srgbClr val="9333EA"/>
                </a:solidFill>
                <a:latin typeface="Calibri"/>
              </a:rPr>
              <a:t>• </a:t>
            </a:r>
            <a:r>
              <a:rPr sz="1250" b="0">
                <a:solidFill>
                  <a:srgbClr val="000000"/>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rPr>
                <a:solidFill/>
              </a:rP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rPr>
                <a:solidFill/>
              </a:rP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rPr>
                <a:solidFill/>
              </a:rP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rPr>
                <a:solidFill/>
              </a:rP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rPr>
                <a:solidFill/>
              </a:rP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a:pPr>
              <a:defRPr>
                <a:solidFill/>
              </a:defRPr>
            </a:p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a:pPr>
              <a:defRPr>
                <a:solidFill/>
              </a:defRPr>
            </a:p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a:pPr>
              <a:defRPr>
                <a:solidFill/>
              </a:defRPr>
            </a:p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defRPr>
                <a:solidFill/>
              </a:defRPr>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defRPr>
                <a:solidFill/>
              </a:defRPr>
            </a:pPr>
            <a:r>
              <a:rPr lang="en-US" sz="1250" dirty="0">
                <a:solidFill>
                  <a:srgbClr val="000000"/>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defRPr>
                <a:solidFill/>
              </a:defRPr>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a:pPr>
              <a:defRPr>
                <a:solidFill/>
              </a:defRPr>
            </a:p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a:pPr>
              <a:defRPr>
                <a:solidFill/>
              </a:defRPr>
            </a:p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a:pPr>
              <a:defRPr>
                <a:solidFill/>
              </a:defRPr>
            </a:p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6675120" y="3493008"/>
            <a:ext cx="457200" cy="457200"/>
          </a:xfrm>
          <a:prstGeom prst="ellipse">
            <a:avLst/>
          </a:prstGeom>
          <a:solidFill>
            <a:srgbClr val="0E7C86"/>
          </a:solidFill>
          <a:ln/>
        </p:spPr>
        <p:txBody>
          <a:bodyPr/>
          <a:p>
            <a:pPr>
              <a:defRPr>
                <a:solidFill/>
              </a:defRPr>
            </a:p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0" name="Shape 38"/>
          <p:cNvSpPr/>
          <p:nvPr/>
        </p:nvSpPr>
        <p:spPr>
          <a:xfrm>
            <a:off x="6675120" y="4663440"/>
            <a:ext cx="457200" cy="457200"/>
          </a:xfrm>
          <a:prstGeom prst="ellipse">
            <a:avLst/>
          </a:prstGeom>
          <a:solidFill>
            <a:srgbClr val="6C4AB6"/>
          </a:solidFill>
          <a:ln/>
        </p:spPr>
        <p:txBody>
          <a:bodyPr/>
          <a:p>
            <a:pPr>
              <a:defRPr>
                <a:solidFill/>
              </a:defRPr>
            </a:p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defRPr>
                <a:solidFill/>
              </a:defRPr>
            </a:pPr>
            <a:r>
              <a:rPr lang="en-US" sz="1150" i="1" dirty="0">
                <a:solidFill>
                  <a:srgbClr val="000000"/>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a:pPr>
              <a:defRPr>
                <a:solidFill/>
              </a:defRPr>
            </a:p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a:pPr>
              <a:defRPr>
                <a:solidFill/>
              </a:defRPr>
            </a:p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a:pPr>
              <a:defRPr>
                <a:solidFill/>
              </a:defRPr>
            </a:p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defRPr>
                <a:solidFill/>
              </a:defRPr>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a:pPr>
              <a:defRPr>
                <a:solidFill/>
              </a:defRPr>
            </a:p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defRPr>
                <a:solidFill/>
              </a:defRPr>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a:pPr>
              <a:defRPr>
                <a:solidFill/>
              </a:defRPr>
            </a:p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a:pPr>
              <a:defRPr>
                <a:solidFill/>
              </a:defRPr>
            </a:p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a:pPr>
              <a:defRPr>
                <a:solidFill/>
              </a:defRPr>
            </a:p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a:pPr>
              <a:defRPr>
                <a:solidFill/>
              </a:defRPr>
            </a:p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a:pPr>
              <a:defRPr>
                <a:solidFill/>
              </a:defRPr>
            </a:p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a:pPr>
              <a:defRPr>
                <a:solidFill/>
              </a:defRPr>
            </a:p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a:pPr>
              <a:defRPr>
                <a:solidFill/>
              </a:defRPr>
            </a:p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defRPr>
                <a:solidFill/>
              </a:defRPr>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defRPr>
                <a:solidFill/>
              </a:defRPr>
            </a:pPr>
            <a:r>
              <a:rPr lang="en-US" sz="1150" i="1" dirty="0">
                <a:solidFill>
                  <a:srgbClr val="000000"/>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defRPr>
                <a:solidFill/>
              </a:defRPr>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defRPr>
                <a:solidFill/>
              </a:defRPr>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defRPr>
                <a:solidFill/>
              </a:defRPr>
            </a:pPr>
            <a:r>
              <a:rPr lang="en-US" sz="1220" dirty="0">
                <a:solidFill>
                  <a:srgbClr val="000000"/>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40080" y="1755648"/>
            <a:ext cx="548640" cy="548640"/>
          </a:xfrm>
          <a:prstGeom prst="ellipse">
            <a:avLst/>
          </a:prstGeom>
          <a:solidFill>
            <a:srgbClr val="6C4AB6"/>
          </a:solidFill>
          <a:ln/>
        </p:spPr>
        <p:txBody>
          <a:bodyPr/>
          <a:p>
            <a:pPr>
              <a:defRPr>
                <a:solidFill/>
              </a:defRPr>
            </a:p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416552" y="1755648"/>
            <a:ext cx="548640" cy="548640"/>
          </a:xfrm>
          <a:prstGeom prst="ellipse">
            <a:avLst/>
          </a:prstGeom>
          <a:solidFill>
            <a:srgbClr val="0E7C86"/>
          </a:solidFill>
          <a:ln/>
        </p:spPr>
        <p:txBody>
          <a:bodyPr/>
          <a:p>
            <a:pPr>
              <a:defRPr>
                <a:solidFill/>
              </a:defRPr>
            </a:p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8193024" y="1755648"/>
            <a:ext cx="548640" cy="548640"/>
          </a:xfrm>
          <a:prstGeom prst="ellipse">
            <a:avLst/>
          </a:prstGeom>
          <a:solidFill>
            <a:srgbClr val="13294B"/>
          </a:solidFill>
          <a:ln/>
        </p:spPr>
        <p:txBody>
          <a:bodyPr/>
          <a:p>
            <a:pPr>
              <a:defRPr>
                <a:solidFill/>
              </a:defRPr>
            </a:p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640080" y="4041648"/>
            <a:ext cx="548640" cy="548640"/>
          </a:xfrm>
          <a:prstGeom prst="ellipse">
            <a:avLst/>
          </a:prstGeom>
          <a:solidFill>
            <a:srgbClr val="6C4AB6"/>
          </a:solidFill>
          <a:ln/>
        </p:spPr>
        <p:txBody>
          <a:bodyPr/>
          <a:p>
            <a:pPr>
              <a:defRPr>
                <a:solidFill/>
              </a:defRPr>
            </a:p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4416552" y="4041648"/>
            <a:ext cx="548640" cy="548640"/>
          </a:xfrm>
          <a:prstGeom prst="ellipse">
            <a:avLst/>
          </a:prstGeom>
          <a:solidFill>
            <a:srgbClr val="0E7C86"/>
          </a:solidFill>
          <a:ln/>
        </p:spPr>
        <p:txBody>
          <a:bodyPr/>
          <a:p>
            <a:pPr>
              <a:defRPr>
                <a:solidFill/>
              </a:defRPr>
            </a:p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4" name="Shape 32"/>
          <p:cNvSpPr/>
          <p:nvPr/>
        </p:nvSpPr>
        <p:spPr>
          <a:xfrm>
            <a:off x="8193024" y="4041648"/>
            <a:ext cx="548640" cy="548640"/>
          </a:xfrm>
          <a:prstGeom prst="ellipse">
            <a:avLst/>
          </a:prstGeom>
          <a:solidFill>
            <a:srgbClr val="13294B"/>
          </a:solidFill>
          <a:ln/>
        </p:spPr>
        <p:txBody>
          <a:bodyPr/>
          <a:p>
            <a:pPr>
              <a:defRPr>
                <a:solidFill/>
              </a:defRPr>
            </a:p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defRPr>
                <a:solidFill/>
              </a:defRPr>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defRPr>
                <a:solidFill/>
              </a:defRPr>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defRPr>
                <a:solidFill/>
              </a:defRPr>
            </a:pPr>
            <a:r>
              <a:rPr lang="en-US" sz="1200" i="1" dirty="0">
                <a:solidFill>
                  <a:srgbClr val="000000"/>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a:pPr>
              <a:defRPr>
                <a:solidFill/>
              </a:defRPr>
            </a:p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a:pPr>
              <a:defRPr>
                <a:solidFill/>
              </a:defRPr>
            </a:p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a:pPr>
              <a:defRPr>
                <a:solidFill/>
              </a:defRPr>
            </a:p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defRPr>
                <a:solidFill/>
              </a:defRPr>
            </a:pPr>
            <a:r>
              <a:rPr lang="en-US" sz="1200" dirty="0">
                <a:solidFill>
                  <a:srgbClr val="000000"/>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defRPr>
                <a:solidFill/>
              </a:defRPr>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1490472" y="1682496"/>
            <a:ext cx="658368" cy="658368"/>
          </a:xfrm>
          <a:prstGeom prst="ellipse">
            <a:avLst/>
          </a:prstGeom>
          <a:solidFill>
            <a:srgbClr val="0E7C86"/>
          </a:solidFill>
          <a:ln/>
        </p:spPr>
        <p:txBody>
          <a:bodyPr/>
          <a:p>
            <a:pPr>
              <a:defRPr>
                <a:solidFill/>
              </a:defRPr>
            </a:p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334256" y="1682496"/>
            <a:ext cx="658368" cy="658368"/>
          </a:xfrm>
          <a:prstGeom prst="ellipse">
            <a:avLst/>
          </a:prstGeom>
          <a:solidFill>
            <a:srgbClr val="6C4AB6"/>
          </a:solidFill>
          <a:ln/>
        </p:spPr>
        <p:txBody>
          <a:bodyPr/>
          <a:p>
            <a:pPr>
              <a:defRPr>
                <a:solidFill/>
              </a:defRPr>
            </a:p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7178040" y="1682496"/>
            <a:ext cx="658368" cy="658368"/>
          </a:xfrm>
          <a:prstGeom prst="ellipse">
            <a:avLst/>
          </a:prstGeom>
          <a:solidFill>
            <a:srgbClr val="13294B"/>
          </a:solidFill>
          <a:ln/>
        </p:spPr>
        <p:txBody>
          <a:bodyPr/>
          <a:p>
            <a:pPr>
              <a:defRPr>
                <a:solidFill/>
              </a:defRPr>
            </a:p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10021824" y="1682496"/>
            <a:ext cx="658368" cy="658368"/>
          </a:xfrm>
          <a:prstGeom prst="ellipse">
            <a:avLst/>
          </a:prstGeom>
          <a:solidFill>
            <a:srgbClr val="0E7C86"/>
          </a:solidFill>
          <a:ln/>
        </p:spPr>
        <p:txBody>
          <a:bodyPr/>
          <a:p>
            <a:pPr>
              <a:defRPr>
                <a:solidFill/>
              </a:defRPr>
            </a:p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FFFFFF"/>
                </a:solidFill>
                <a:latin typeface="Calibri"/>
              </a:defRPr>
            </a:pPr>
            <a:r>
              <a:rPr>
                <a:solidFill>
                  <a:srgbClr val="FFFFFF"/>
                </a:solidFill>
              </a:rPr>
              <a:t>FEATURE EXTRACTION</a:t>
            </a:r>
          </a:p>
          <a:p>
            <a:pPr>
              <a:spcAft>
                <a:spcPts val="400"/>
              </a:spcAft>
              <a:defRPr sz="1600" b="1">
                <a:solidFill>
                  <a:srgbClr val="FFFFFF"/>
                </a:solidFill>
                <a:latin typeface="Cambria"/>
              </a:defRPr>
            </a:pPr>
            <a:r>
              <a:rPr>
                <a:solidFill>
                  <a:srgbClr val="FFFFFF"/>
                </a:solidFill>
              </a:rPr>
              <a:t>TF-IDF Vectorizer</a:t>
            </a:r>
          </a:p>
          <a:p>
            <a:pPr>
              <a:defRPr sz="1100">
                <a:solidFill>
                  <a:srgbClr val="FFFFFF"/>
                </a:solidFill>
                <a:latin typeface="Calibri"/>
              </a:defRPr>
            </a:pPr>
            <a:r>
              <a:rPr sz="1100">
                <a:solidFill>
                  <a:srgbClr val="FFFFFF"/>
                </a:solidFill>
              </a:rP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FFFFFF"/>
                </a:solidFill>
                <a:latin typeface="Calibri"/>
              </a:defRPr>
            </a:pPr>
            <a:r>
              <a:rPr>
                <a:solidFill>
                  <a:srgbClr val="FFFFFF"/>
                </a:solidFill>
              </a:rPr>
              <a:t>CLASSIFICATION (4 DIVERSE BASE ESTIMATORS)</a:t>
            </a:r>
          </a:p>
          <a:p>
            <a:pPr>
              <a:spcAft>
                <a:spcPts val="400"/>
              </a:spcAft>
              <a:defRPr sz="1550" b="1">
                <a:solidFill>
                  <a:srgbClr val="FFFFFF"/>
                </a:solidFill>
                <a:latin typeface="Cambria"/>
              </a:defRPr>
            </a:pPr>
            <a:r>
              <a:rPr>
                <a:solidFill>
                  <a:srgbClr val="FFFFFF"/>
                </a:solidFill>
              </a:rPr>
              <a:t>SVM + Random Forest + Logistic Regression + Multinomial NB</a:t>
            </a:r>
          </a:p>
          <a:p>
            <a:pPr>
              <a:defRPr sz="1100">
                <a:solidFill>
                  <a:srgbClr val="FFFFFF"/>
                </a:solidFill>
                <a:latin typeface="Calibri"/>
              </a:defRPr>
            </a:pPr>
            <a:r>
              <a:rPr sz="1100">
                <a:solidFill>
                  <a:srgbClr val="FFFFFF"/>
                </a:solidFill>
              </a:rP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FFFFFF"/>
                </a:solidFill>
                <a:latin typeface="Calibri"/>
              </a:defRPr>
            </a:pPr>
            <a:r>
              <a:rPr>
                <a:solidFill>
                  <a:srgbClr val="FFFFFF"/>
                </a:solidFill>
              </a:rPr>
              <a:t>ENSEMBLE AGGREGATION</a:t>
            </a:r>
          </a:p>
          <a:p>
            <a:pPr>
              <a:spcAft>
                <a:spcPts val="400"/>
              </a:spcAft>
              <a:defRPr sz="1600" b="1">
                <a:solidFill>
                  <a:srgbClr val="FFFFFF"/>
                </a:solidFill>
                <a:latin typeface="Cambria"/>
              </a:defRPr>
            </a:pPr>
            <a:r>
              <a:rPr>
                <a:solidFill>
                  <a:srgbClr val="FFFFFF"/>
                </a:solidFill>
              </a:rPr>
              <a:t>Voting Classifier (Soft)</a:t>
            </a:r>
          </a:p>
          <a:p>
            <a:pPr>
              <a:defRPr sz="1100">
                <a:solidFill>
                  <a:srgbClr val="FFFFFF"/>
                </a:solidFill>
                <a:latin typeface="Calibri"/>
              </a:defRPr>
            </a:pPr>
            <a:r>
              <a:rPr sz="1100">
                <a:solidFill>
                  <a:srgbClr val="FFFFFF"/>
                </a:solidFill>
              </a:rP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rPr>
                <a:solidFill/>
              </a:rPr>
              <a:t>ENSEMBLE ARCHITECTURE</a:t>
            </a:r>
          </a:p>
          <a:p>
            <a:pPr>
              <a:spcAft>
                <a:spcPts val="400"/>
              </a:spcAft>
              <a:defRPr>
                <a:solidFill/>
              </a:defRPr>
            </a:pPr>
            <a:r>
              <a:rPr sz="950" b="1">
                <a:solidFill>
                  <a:srgbClr val="0B1F3A"/>
                </a:solidFill>
                <a:latin typeface="Calibri"/>
              </a:rPr>
              <a:t>• Parallel Execution: </a:t>
            </a:r>
            <a:r>
              <a:rPr sz="1050">
                <a:solidFill>
                  <a:srgbClr val="000000"/>
                </a:solidFill>
                <a:latin typeface="Calibri"/>
              </a:rPr>
              <a:t>All 4 base classifiers (LR, SVM, RF, MNB) ingest identical TF-IDF vectors simultaneously.</a:t>
            </a:r>
          </a:p>
          <a:p>
            <a:pPr>
              <a:spcAft>
                <a:spcPts val="400"/>
              </a:spcAft>
              <a:defRPr>
                <a:solidFill/>
              </a:defRPr>
            </a:pPr>
            <a:r>
              <a:rPr sz="950" b="1">
                <a:solidFill>
                  <a:srgbClr val="0B1F3A"/>
                </a:solidFill>
                <a:latin typeface="Calibri"/>
              </a:rPr>
              <a:t>• Probability Calibration: </a:t>
            </a:r>
            <a:r>
              <a:rPr sz="1050">
                <a:solidFill>
                  <a:srgbClr val="000000"/>
                </a:solidFill>
                <a:latin typeface="Calibri"/>
              </a:rPr>
              <a:t>Logistic Regression, RF, and MNB output natural probabilities; SVM decision scores are calibrated to produce true probability distributions.</a:t>
            </a:r>
          </a:p>
          <a:p>
            <a:pPr>
              <a:spcAft>
                <a:spcPts val="400"/>
              </a:spcAft>
              <a:defRPr>
                <a:solidFill/>
              </a:defRPr>
            </a:pPr>
            <a:r>
              <a:rPr sz="950" b="1">
                <a:solidFill>
                  <a:srgbClr val="0B1F3A"/>
                </a:solidFill>
                <a:latin typeface="Calibri"/>
              </a:rPr>
              <a:t>• Soft Voting Consensus: </a:t>
            </a:r>
            <a:r>
              <a:rPr sz="1050">
                <a:solidFill>
                  <a:srgbClr val="000000"/>
                </a:solidFill>
                <a:latin typeface="Calibri"/>
              </a:rPr>
              <a:t>P_ensemble(c | x) = 1/4 Σ P_m(c | x) averages predicted probabilities across all 40 categories.</a:t>
            </a:r>
          </a:p>
          <a:p>
            <a:pPr>
              <a:spcAft>
                <a:spcPts val="400"/>
              </a:spcAft>
              <a:defRPr>
                <a:solidFill/>
              </a:defRPr>
            </a:pPr>
            <a:r>
              <a:rPr sz="950" b="1">
                <a:solidFill>
                  <a:srgbClr val="0B1F3A"/>
                </a:solidFill>
                <a:latin typeface="Calibri"/>
              </a:rPr>
              <a:t>• Argmax Decision Rule: </a:t>
            </a:r>
            <a:r>
              <a:rPr sz="1050">
                <a:solidFill>
                  <a:srgbClr val="000000"/>
                </a:solidFill>
                <a:latin typeface="Calibri"/>
              </a:rPr>
              <a:t>The final medical specialty is selected as the class that maximizes the aggregated ensemble probability: ŷ = argmax P_ensemble(c | x).</a:t>
            </a:r>
          </a:p>
          <a:p>
            <a:pPr>
              <a:spcAft>
                <a:spcPts val="400"/>
              </a:spcAft>
              <a:defRPr>
                <a:solidFill/>
              </a:defRPr>
            </a:pPr>
            <a:r>
              <a:rPr sz="950" b="1">
                <a:solidFill>
                  <a:srgbClr val="0B1F3A"/>
                </a:solidFill>
                <a:latin typeface="Calibri"/>
              </a:rPr>
              <a:t>• Variance Reduction: </a:t>
            </a:r>
            <a:r>
              <a:rPr sz="1050">
                <a:solidFill>
                  <a:srgbClr val="000000"/>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3368192" y="1874519"/>
            <a:ext cx="545531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rPr>
                <a:solidFill/>
              </a:rPr>
              <a:t>CURRENT PROGRESS (PHASE 1 / SPRINT RELEASE I)</a:t>
            </a:r>
          </a:p>
          <a:p>
            <a:pPr>
              <a:spcAft>
                <a:spcPts val="300"/>
              </a:spcAft>
              <a:defRPr>
                <a:solidFill/>
              </a:defRPr>
            </a:pPr>
            <a:r>
              <a:rPr sz="1000" b="1">
                <a:solidFill>
                  <a:srgbClr val="0B1F3A"/>
                </a:solidFill>
                <a:latin typeface="Calibri"/>
              </a:rPr>
              <a:t>✓ Literature Review &amp; Paper Benchmarking: </a:t>
            </a:r>
            <a:r>
              <a:rPr sz="1100" b="0">
                <a:solidFill>
                  <a:srgbClr val="000000"/>
                </a:solidFill>
                <a:latin typeface="Calibri"/>
              </a:rPr>
              <a:t>Surveyed clinical NLP literature (Omar et al., Zhang et al., Blanchard et al.), establishing preprocessing standards.</a:t>
            </a:r>
          </a:p>
          <a:p>
            <a:pPr>
              <a:spcAft>
                <a:spcPts val="300"/>
              </a:spcAft>
              <a:defRPr>
                <a:solidFill/>
              </a:defRPr>
            </a:pPr>
            <a:r>
              <a:rPr sz="1000" b="1">
                <a:solidFill>
                  <a:srgbClr val="0B1F3A"/>
                </a:solidFill>
                <a:latin typeface="Calibri"/>
              </a:rPr>
              <a:t>✓ Dataset Acquisition &amp; Cleaning Audit: </a:t>
            </a:r>
            <a:r>
              <a:rPr sz="1100" b="0">
                <a:solidFill>
                  <a:srgbClr val="000000"/>
                </a:solidFill>
                <a:latin typeface="Calibri"/>
              </a:rPr>
              <a:t>Acquired Kaggle MTSamples (4,999 cases); identified and removed 33 empty transcription records.</a:t>
            </a:r>
          </a:p>
          <a:p>
            <a:pPr>
              <a:spcAft>
                <a:spcPts val="300"/>
              </a:spcAft>
              <a:defRPr>
                <a:solidFill/>
              </a:defRPr>
            </a:pPr>
            <a:r>
              <a:rPr sz="1000" b="1">
                <a:solidFill>
                  <a:srgbClr val="0B1F3A"/>
                </a:solidFill>
                <a:latin typeface="Calibri"/>
              </a:rPr>
              <a:t>✓ Exploratory Data Analysis &amp; Visualization: </a:t>
            </a:r>
            <a:r>
              <a:rPr sz="1100" b="0">
                <a:solidFill>
                  <a:srgbClr val="000000"/>
                </a:solidFill>
                <a:latin typeface="Calibri"/>
              </a:rPr>
              <a:t>Executed 6 statistical distributions covering missing values, token lengths, and specialty frequencies.</a:t>
            </a:r>
          </a:p>
          <a:p>
            <a:pPr>
              <a:spcAft>
                <a:spcPts val="300"/>
              </a:spcAft>
              <a:defRPr>
                <a:solidFill/>
              </a:defRPr>
            </a:pPr>
            <a:r>
              <a:rPr sz="1000" b="1">
                <a:solidFill>
                  <a:srgbClr val="0B1F3A"/>
                </a:solidFill>
                <a:latin typeface="Calibri"/>
              </a:rPr>
              <a:t>✓ Class Imbalance Characterization: </a:t>
            </a:r>
            <a:r>
              <a:rPr sz="1100" b="0">
                <a:solidFill>
                  <a:srgbClr val="000000"/>
                </a:solidFill>
                <a:latin typeface="Calibri"/>
              </a:rPr>
              <a:t>Audited extreme long-tail class skew across 40 medical specialties; formulated stratified sampling strategy.</a:t>
            </a:r>
          </a:p>
          <a:p>
            <a:pPr>
              <a:spcAft>
                <a:spcPts val="300"/>
              </a:spcAft>
              <a:defRPr>
                <a:solidFill/>
              </a:defRPr>
            </a:pPr>
            <a:r>
              <a:rPr sz="1000" b="1">
                <a:solidFill>
                  <a:srgbClr val="0B1F3A"/>
                </a:solidFill>
                <a:latin typeface="Calibri"/>
              </a:rPr>
              <a:t>✓ NLP Cleaning Pipeline Design: </a:t>
            </a:r>
            <a:r>
              <a:rPr sz="1100" b="0">
                <a:solidFill>
                  <a:srgbClr val="000000"/>
                </a:solidFill>
                <a:latin typeface="Calibri"/>
              </a:rPr>
              <a:t>Finalized sequence: Cleaning, Lowercasing, Alphanumeric Filtering, Stop-word Removal, and Lemmatization.</a:t>
            </a:r>
          </a:p>
          <a:p>
            <a:pPr>
              <a:spcAft>
                <a:spcPts val="300"/>
              </a:spcAft>
              <a:defRPr>
                <a:solidFill/>
              </a:defRPr>
            </a:pPr>
            <a:r>
              <a:rPr sz="1000" b="1">
                <a:solidFill>
                  <a:srgbClr val="0B1F3A"/>
                </a:solidFill>
                <a:latin typeface="Calibri"/>
              </a:rPr>
              <a:t>✓ TF-IDF Architecture Formulation: </a:t>
            </a:r>
            <a:r>
              <a:rPr sz="1100" b="0">
                <a:solidFill>
                  <a:srgbClr val="000000"/>
                </a:solidFill>
                <a:latin typeface="Calibri"/>
              </a:rPr>
              <a:t>Configured unigram/bigram tokenization with sublinear TF scaling and Euclidean L2 normalization.</a:t>
            </a:r>
          </a:p>
          <a:p>
            <a:pPr>
              <a:spcAft>
                <a:spcPts val="300"/>
              </a:spcAft>
              <a:defRPr>
                <a:solidFill/>
              </a:defRPr>
            </a:pPr>
            <a:r>
              <a:rPr sz="1000" b="1">
                <a:solidFill>
                  <a:srgbClr val="0B1F3A"/>
                </a:solidFill>
                <a:latin typeface="Calibri"/>
              </a:rPr>
              <a:t>✓ Model &amp; Ensemble Formulation: </a:t>
            </a:r>
            <a:r>
              <a:rPr sz="1100" b="0">
                <a:solidFill>
                  <a:srgbClr val="000000"/>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rPr>
                <a:solidFill/>
              </a:rPr>
              <a:t>PLANNED NEXT STEPS (PHASE 2 / SPRINT RELEASE II &amp; III)</a:t>
            </a:r>
          </a:p>
          <a:p>
            <a:pPr>
              <a:spcAft>
                <a:spcPts val="300"/>
              </a:spcAft>
              <a:defRPr>
                <a:solidFill/>
              </a:defRPr>
            </a:pPr>
            <a:r>
              <a:rPr sz="1000" b="1">
                <a:solidFill>
                  <a:srgbClr val="0B1F3A"/>
                </a:solidFill>
                <a:latin typeface="Calibri"/>
              </a:rPr>
              <a:t>→ Full Text Preprocessing Implementation: </a:t>
            </a:r>
            <a:r>
              <a:rPr sz="1100" b="0">
                <a:solidFill>
                  <a:srgbClr val="000000"/>
                </a:solidFill>
                <a:latin typeface="Calibri"/>
              </a:rPr>
              <a:t>Execute the 8-step cleaning module across 4,966 records to produce normalized narrative corpus.</a:t>
            </a:r>
          </a:p>
          <a:p>
            <a:pPr>
              <a:spcAft>
                <a:spcPts val="300"/>
              </a:spcAft>
              <a:defRPr>
                <a:solidFill/>
              </a:defRPr>
            </a:pPr>
            <a:r>
              <a:rPr sz="1000" b="1">
                <a:solidFill>
                  <a:srgbClr val="0B1F3A"/>
                </a:solidFill>
                <a:latin typeface="Calibri"/>
              </a:rPr>
              <a:t>→ TF-IDF Feature Matrix Generation: </a:t>
            </a:r>
            <a:r>
              <a:rPr sz="1100" b="0">
                <a:solidFill>
                  <a:srgbClr val="000000"/>
                </a:solidFill>
                <a:latin typeface="Calibri"/>
              </a:rPr>
              <a:t>Fit vectorizer strictly on training partition (80:20 split) to eliminate data leakage; transform test set.</a:t>
            </a:r>
          </a:p>
          <a:p>
            <a:pPr>
              <a:spcAft>
                <a:spcPts val="300"/>
              </a:spcAft>
              <a:defRPr>
                <a:solidFill/>
              </a:defRPr>
            </a:pPr>
            <a:r>
              <a:rPr sz="1000" b="1">
                <a:solidFill>
                  <a:srgbClr val="0B1F3A"/>
                </a:solidFill>
                <a:latin typeface="Calibri"/>
              </a:rPr>
              <a:t>→ Candidate Model Training &amp; Optimization: </a:t>
            </a:r>
            <a:r>
              <a:rPr sz="1100" b="0">
                <a:solidFill>
                  <a:srgbClr val="000000"/>
                </a:solidFill>
                <a:latin typeface="Calibri"/>
              </a:rPr>
              <a:t>Train SVM, Random Forest, Logistic Regression, and Multinomial Naive Bayes classifiers.</a:t>
            </a:r>
          </a:p>
          <a:p>
            <a:pPr>
              <a:spcAft>
                <a:spcPts val="300"/>
              </a:spcAft>
              <a:defRPr>
                <a:solidFill/>
              </a:defRPr>
            </a:pPr>
            <a:r>
              <a:rPr sz="1000" b="1">
                <a:solidFill>
                  <a:srgbClr val="0B1F3A"/>
                </a:solidFill>
                <a:latin typeface="Calibri"/>
              </a:rPr>
              <a:t>→ Soft Voting Ensemble Development: </a:t>
            </a:r>
            <a:r>
              <a:rPr sz="1100" b="0">
                <a:solidFill>
                  <a:srgbClr val="000000"/>
                </a:solidFill>
                <a:latin typeface="Calibri"/>
              </a:rPr>
              <a:t>Implement weighted/soft probability aggregation combining decision outputs across all base estimators.</a:t>
            </a:r>
          </a:p>
          <a:p>
            <a:pPr>
              <a:spcAft>
                <a:spcPts val="300"/>
              </a:spcAft>
              <a:defRPr>
                <a:solidFill/>
              </a:defRPr>
            </a:pPr>
            <a:r>
              <a:rPr sz="1000" b="1">
                <a:solidFill>
                  <a:srgbClr val="0B1F3A"/>
                </a:solidFill>
                <a:latin typeface="Calibri"/>
              </a:rPr>
              <a:t>→ Multi-Class Performance Evaluation: </a:t>
            </a:r>
            <a:r>
              <a:rPr sz="1100" b="0">
                <a:solidFill>
                  <a:srgbClr val="000000"/>
                </a:solidFill>
                <a:latin typeface="Calibri"/>
              </a:rPr>
              <a:t>Benchmark multi-class Macro/Weighted Precision, Recall, F1-score, and cross-class Confusion Matrices.</a:t>
            </a:r>
          </a:p>
          <a:p>
            <a:pPr>
              <a:spcAft>
                <a:spcPts val="300"/>
              </a:spcAft>
              <a:defRPr>
                <a:solidFill/>
              </a:defRPr>
            </a:pPr>
            <a:r>
              <a:rPr sz="1000" b="1">
                <a:solidFill>
                  <a:srgbClr val="0B1F3A"/>
                </a:solidFill>
                <a:latin typeface="Calibri"/>
              </a:rPr>
              <a:t>→ Pipeline Serialization &amp; Web Deployment: </a:t>
            </a:r>
            <a:r>
              <a:rPr sz="1100" b="0">
                <a:solidFill>
                  <a:srgbClr val="000000"/>
                </a:solidFill>
                <a:latin typeface="Calibri"/>
              </a:rPr>
              <a:t>Serialize end-to-end pipeline with Joblib; construct interactive clinician dashboard using Flask.</a:t>
            </a:r>
          </a:p>
          <a:p>
            <a:pPr>
              <a:spcAft>
                <a:spcPts val="300"/>
              </a:spcAft>
              <a:defRPr>
                <a:solidFill/>
              </a:defRPr>
            </a:pPr>
            <a:r>
              <a:rPr sz="1000" b="1">
                <a:solidFill>
                  <a:srgbClr val="0B1F3A"/>
                </a:solidFill>
                <a:latin typeface="Calibri"/>
              </a:rPr>
              <a:t>→ Validation &amp; Clinical Usability Testing: </a:t>
            </a:r>
            <a:r>
              <a:rPr sz="1100" b="0">
                <a:solidFill>
                  <a:srgbClr val="000000"/>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defRPr>
                <a:solidFill/>
              </a:defRPr>
            </a:pP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rPr>
                <a:solidFill/>
              </a:rPr>
              <a:t>PHASE 1: FOUNDATION &amp; SPRINT RELEASE I</a:t>
            </a:r>
          </a:p>
          <a:p>
            <a:pPr>
              <a:spcAft>
                <a:spcPts val="300"/>
              </a:spcAft>
              <a:defRPr>
                <a:solidFill/>
              </a:defRPr>
            </a:pPr>
            <a:r>
              <a:rPr sz="950" b="1">
                <a:solidFill>
                  <a:srgbClr val="16A34A"/>
                </a:solidFill>
                <a:latin typeface="Calibri"/>
              </a:rPr>
              <a:t>✓  [17.07.2026]  Project Proposal &amp; Synopsis Approval by Guide
</a:t>
            </a:r>
            <a:r>
              <a:rPr sz="1000" b="0">
                <a:solidFill>
                  <a:srgbClr val="000000"/>
                </a:solidFill>
                <a:latin typeface="Calibri"/>
              </a:rPr>
              <a:t>    Formal approval of project scope, objectives, and feasibility by faculty guide.</a:t>
            </a:r>
          </a:p>
          <a:p>
            <a:pPr>
              <a:spcAft>
                <a:spcPts val="300"/>
              </a:spcAft>
              <a:defRPr>
                <a:solidFill/>
              </a:defRPr>
            </a:pPr>
            <a:r>
              <a:rPr sz="950" b="1">
                <a:solidFill>
                  <a:srgbClr val="16A34A"/>
                </a:solidFill>
                <a:latin typeface="Calibri"/>
              </a:rPr>
              <a:t>✓  [20.07.2026 – 21.07.2026]  Project Proposal Presentation
</a:t>
            </a:r>
            <a:r>
              <a:rPr sz="1000" b="0">
                <a:solidFill>
                  <a:srgbClr val="000000"/>
                </a:solidFill>
                <a:latin typeface="Calibri"/>
              </a:rPr>
              <a:t>    Presented proposal before Department Project Approval Committee.</a:t>
            </a:r>
          </a:p>
          <a:p>
            <a:pPr>
              <a:spcAft>
                <a:spcPts val="300"/>
              </a:spcAft>
              <a:defRPr>
                <a:solidFill/>
              </a:defRPr>
            </a:pPr>
            <a:r>
              <a:rPr sz="950" b="1">
                <a:solidFill>
                  <a:srgbClr val="16A34A"/>
                </a:solidFill>
                <a:latin typeface="Calibri"/>
              </a:rPr>
              <a:t>✓  [Weeks 1–2]  Dataset Collection &amp; Exploratory Data Analysis
</a:t>
            </a:r>
            <a:r>
              <a:rPr sz="1000" b="0">
                <a:solidFill>
                  <a:srgbClr val="000000"/>
                </a:solidFill>
                <a:latin typeface="Calibri"/>
              </a:rPr>
              <a:t>    Acquired Kaggle MTSamples (4,999 records); audited nulls and generated 6 EDA plots.</a:t>
            </a:r>
          </a:p>
          <a:p>
            <a:pPr>
              <a:spcAft>
                <a:spcPts val="300"/>
              </a:spcAft>
              <a:defRPr>
                <a:solidFill/>
              </a:defRPr>
            </a:pPr>
            <a:r>
              <a:rPr sz="950" b="1">
                <a:solidFill>
                  <a:srgbClr val="16A34A"/>
                </a:solidFill>
                <a:latin typeface="Calibri"/>
              </a:rPr>
              <a:t>✓  [Weeks 3–4]  Clinical Text Preprocessing Pipeline
</a:t>
            </a:r>
            <a:r>
              <a:rPr sz="1000" b="0">
                <a:solidFill>
                  <a:srgbClr val="000000"/>
                </a:solidFill>
                <a:latin typeface="Calibri"/>
              </a:rPr>
              <a:t>    Designed 5-step sequence: Cleaning, Lowercasing, Tokenization, Stop-words, Lemmatization.</a:t>
            </a:r>
          </a:p>
          <a:p>
            <a:pPr>
              <a:spcAft>
                <a:spcPts val="300"/>
              </a:spcAft>
              <a:defRPr>
                <a:solidFill/>
              </a:defRPr>
            </a:pPr>
            <a:r>
              <a:rPr sz="950" b="1">
                <a:solidFill>
                  <a:srgbClr val="16A34A"/>
                </a:solidFill>
                <a:latin typeface="Calibri"/>
              </a:rPr>
              <a:t>✓  [Week 5]  TF-IDF Vectorization Architecture
</a:t>
            </a:r>
            <a:r>
              <a:rPr sz="1000" b="0">
                <a:solidFill>
                  <a:srgbClr val="000000"/>
                </a:solidFill>
                <a:latin typeface="Calibri"/>
              </a:rPr>
              <a:t>    Formulated unigram/bigram tokenization with sublinear scaling and sparse matrix layout.</a:t>
            </a:r>
          </a:p>
          <a:p>
            <a:pPr>
              <a:spcAft>
                <a:spcPts val="300"/>
              </a:spcAft>
              <a:defRPr>
                <a:solidFill/>
              </a:defRPr>
            </a:pPr>
            <a:r>
              <a:rPr sz="950" b="1">
                <a:solidFill>
                  <a:srgbClr val="D97706"/>
                </a:solidFill>
                <a:latin typeface="Calibri"/>
              </a:rPr>
              <a:t>★  [08.09.2026]  First Project Presentation ★
</a:t>
            </a:r>
            <a:r>
              <a:rPr sz="1000" b="0">
                <a:solidFill>
                  <a:srgbClr val="000000"/>
                </a:solidFill>
                <a:latin typeface="Calibri"/>
              </a:rPr>
              <a:t>    Current Milestone — Phase 1 Faculty Review &amp; Initial Progress Defense.</a:t>
            </a:r>
          </a:p>
          <a:p>
            <a:pPr>
              <a:spcAft>
                <a:spcPts val="300"/>
              </a:spcAft>
              <a:defRPr>
                <a:solidFill/>
              </a:defRPr>
            </a:pPr>
            <a:r>
              <a:rPr sz="950" b="1">
                <a:solidFill>
                  <a:srgbClr val="D97706"/>
                </a:solidFill>
                <a:latin typeface="Calibri"/>
              </a:rPr>
              <a:t>★  [09.09.2026]  Sprint Release I ★
</a:t>
            </a:r>
            <a:r>
              <a:rPr sz="1000" b="0">
                <a:solidFill>
                  <a:srgbClr val="000000"/>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rPr>
                <a:solidFill/>
              </a:rPr>
              <a:t>PHASES 2 &amp; 3: MODEL BUILDING, ENSEMBLE &amp; DEPLOYMENT</a:t>
            </a:r>
          </a:p>
          <a:p>
            <a:pPr>
              <a:spcAft>
                <a:spcPts val="200"/>
              </a:spcAft>
              <a:defRPr>
                <a:solidFill/>
              </a:defRPr>
            </a:pPr>
            <a:r>
              <a:rPr sz="919" b="1">
                <a:solidFill>
                  <a:srgbClr val="2563EB"/>
                </a:solidFill>
                <a:latin typeface="Calibri"/>
              </a:rPr>
              <a:t>→  [Week 6]  Candidate Model Training &amp; Baseline Evaluation
</a:t>
            </a:r>
            <a:r>
              <a:rPr sz="969" b="0">
                <a:solidFill>
                  <a:srgbClr val="000000"/>
                </a:solidFill>
                <a:latin typeface="Calibri"/>
              </a:rPr>
              <a:t>    Train SVM, Random Forest, Logistic Regression, and Multinomial Naive Bayes.</a:t>
            </a:r>
          </a:p>
          <a:p>
            <a:pPr>
              <a:spcAft>
                <a:spcPts val="200"/>
              </a:spcAft>
              <a:defRPr>
                <a:solidFill/>
              </a:defRPr>
            </a:pPr>
            <a:r>
              <a:rPr sz="919" b="1">
                <a:solidFill>
                  <a:srgbClr val="D97706"/>
                </a:solidFill>
                <a:latin typeface="Calibri"/>
              </a:rPr>
              <a:t>★  [18.09.2026]  Sprint Release II ★
</a:t>
            </a:r>
            <a:r>
              <a:rPr sz="969" b="0">
                <a:solidFill>
                  <a:srgbClr val="000000"/>
                </a:solidFill>
                <a:latin typeface="Calibri"/>
              </a:rPr>
              <a:t>    Milestone release: Trained baseline classifiers and preliminary metrics.</a:t>
            </a:r>
          </a:p>
          <a:p>
            <a:pPr>
              <a:spcAft>
                <a:spcPts val="200"/>
              </a:spcAft>
              <a:defRPr>
                <a:solidFill/>
              </a:defRPr>
            </a:pPr>
            <a:r>
              <a:rPr sz="919" b="1">
                <a:solidFill>
                  <a:srgbClr val="2563EB"/>
                </a:solidFill>
                <a:latin typeface="Calibri"/>
              </a:rPr>
              <a:t>→  [Week 7]  Hyperparameter Tuning &amp; Model Comparison
</a:t>
            </a:r>
            <a:r>
              <a:rPr sz="969" b="0">
                <a:solidFill>
                  <a:srgbClr val="000000"/>
                </a:solidFill>
                <a:latin typeface="Calibri"/>
              </a:rPr>
              <a:t>    Systematic tuning and comparative performance profiling across candidate estimators.</a:t>
            </a:r>
          </a:p>
          <a:p>
            <a:pPr>
              <a:spcAft>
                <a:spcPts val="200"/>
              </a:spcAft>
              <a:defRPr>
                <a:solidFill/>
              </a:defRPr>
            </a:pPr>
            <a:r>
              <a:rPr sz="919" b="1">
                <a:solidFill>
                  <a:srgbClr val="2563EB"/>
                </a:solidFill>
                <a:latin typeface="Calibri"/>
              </a:rPr>
              <a:t>→  [Week 8]  Soft Voting Ensemble Implementation
</a:t>
            </a:r>
            <a:r>
              <a:rPr sz="969" b="0">
                <a:solidFill>
                  <a:srgbClr val="000000"/>
                </a:solidFill>
                <a:latin typeface="Calibri"/>
              </a:rPr>
              <a:t>    Construct soft voting ensemble; aggregate consensus probability distributions.</a:t>
            </a:r>
          </a:p>
          <a:p>
            <a:pPr>
              <a:spcAft>
                <a:spcPts val="200"/>
              </a:spcAft>
              <a:defRPr>
                <a:solidFill/>
              </a:defRPr>
            </a:pPr>
            <a:r>
              <a:rPr sz="919" b="1">
                <a:solidFill>
                  <a:srgbClr val="D97706"/>
                </a:solidFill>
                <a:latin typeface="Calibri"/>
              </a:rPr>
              <a:t>★  [29.09.2026 – 30.09.2026]  Interim Project Presentation ★
</a:t>
            </a:r>
            <a:r>
              <a:rPr sz="969" b="0">
                <a:solidFill>
                  <a:srgbClr val="000000"/>
                </a:solidFill>
                <a:latin typeface="Calibri"/>
              </a:rPr>
              <a:t>    Progress review and working model demonstration before faculty committee.</a:t>
            </a:r>
          </a:p>
          <a:p>
            <a:pPr>
              <a:spcAft>
                <a:spcPts val="200"/>
              </a:spcAft>
              <a:defRPr>
                <a:solidFill/>
              </a:defRPr>
            </a:pPr>
            <a:r>
              <a:rPr sz="919" b="1">
                <a:solidFill>
                  <a:srgbClr val="2563EB"/>
                </a:solidFill>
                <a:latin typeface="Calibri"/>
              </a:rPr>
              <a:t>→  [Week 9]  Flask Web Integration &amp; Serialization
</a:t>
            </a:r>
            <a:r>
              <a:rPr sz="969" b="0">
                <a:solidFill>
                  <a:srgbClr val="000000"/>
                </a:solidFill>
                <a:latin typeface="Calibri"/>
              </a:rPr>
              <a:t>    Serialize pipeline with Joblib; build interactive clinician UI for live inference.</a:t>
            </a:r>
          </a:p>
          <a:p>
            <a:pPr>
              <a:spcAft>
                <a:spcPts val="200"/>
              </a:spcAft>
              <a:defRPr>
                <a:solidFill/>
              </a:defRPr>
            </a:pPr>
            <a:r>
              <a:rPr sz="919" b="1">
                <a:solidFill>
                  <a:srgbClr val="D97706"/>
                </a:solidFill>
                <a:latin typeface="Calibri"/>
              </a:rPr>
              <a:t>★  [09.10.2026]  Sprint Release III ★
</a:t>
            </a:r>
            <a:r>
              <a:rPr sz="969" b="0">
                <a:solidFill>
                  <a:srgbClr val="000000"/>
                </a:solidFill>
                <a:latin typeface="Calibri"/>
              </a:rPr>
              <a:t>    Integrated system release: Flask web application and serialized ensemble.</a:t>
            </a:r>
          </a:p>
          <a:p>
            <a:pPr>
              <a:spcAft>
                <a:spcPts val="200"/>
              </a:spcAft>
              <a:defRPr>
                <a:solidFill/>
              </a:defRPr>
            </a:pPr>
            <a:r>
              <a:rPr sz="919" b="1">
                <a:solidFill>
                  <a:srgbClr val="2563EB"/>
                </a:solidFill>
                <a:latin typeface="Calibri"/>
              </a:rPr>
              <a:t>→  [Weeks 10–11]  Evaluation &amp; System Testing
</a:t>
            </a:r>
            <a:r>
              <a:rPr sz="969" b="0">
                <a:solidFill>
                  <a:srgbClr val="000000"/>
                </a:solidFill>
                <a:latin typeface="Calibri"/>
              </a:rPr>
              <a:t>    Multi-class metrics (Macro F1, Recall), confusion matrix analysis, and validation.</a:t>
            </a:r>
          </a:p>
          <a:p>
            <a:pPr>
              <a:spcAft>
                <a:spcPts val="200"/>
              </a:spcAft>
              <a:defRPr>
                <a:solidFill/>
              </a:defRPr>
            </a:pPr>
            <a:r>
              <a:rPr sz="919" b="1">
                <a:solidFill>
                  <a:srgbClr val="D97706"/>
                </a:solidFill>
                <a:latin typeface="Calibri"/>
              </a:rPr>
              <a:t>★  [22.10.2026 – 23.10.2026]  Final Project Presentation ★
</a:t>
            </a:r>
            <a:r>
              <a:rPr sz="969" b="0">
                <a:solidFill>
                  <a:srgbClr val="000000"/>
                </a:solidFill>
                <a:latin typeface="Calibri"/>
              </a:rPr>
              <a:t>    Comprehensive final project defense before the examination board.</a:t>
            </a:r>
          </a:p>
          <a:p>
            <a:pPr>
              <a:spcAft>
                <a:spcPts val="200"/>
              </a:spcAft>
              <a:defRPr>
                <a:solidFill/>
              </a:defRPr>
            </a:pPr>
            <a:r>
              <a:rPr sz="919" b="1">
                <a:solidFill>
                  <a:srgbClr val="D97706"/>
                </a:solidFill>
                <a:latin typeface="Calibri"/>
              </a:rPr>
              <a:t>★  [30.10.2026]  Final Report Submission ★
</a:t>
            </a:r>
            <a:r>
              <a:rPr sz="969" b="0">
                <a:solidFill>
                  <a:srgbClr val="000000"/>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rPr>
                <a:solidFill/>
              </a:rP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