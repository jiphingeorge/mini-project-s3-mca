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2 of 19</a:t>
            </a:r>
          </a:p>
        </p:txBody>
      </p:sp>
      <p:sp>
        <p:nvSpPr>
          <p:cNvPr id="8" name="Shape 6"/>
          <p:cNvSpPr/>
          <p:nvPr/>
        </p:nvSpPr>
        <p:spPr>
          <a:xfrm>
            <a:off x="457200" y="1554480"/>
            <a:ext cx="5394960"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768096" y="1837944"/>
            <a:ext cx="566928" cy="566928"/>
          </a:xfrm>
          <a:prstGeom prst="ellipse">
            <a:avLst/>
          </a:prstGeom>
          <a:solidFill>
            <a:srgbClr val="6C4AB6"/>
          </a:solidFill>
          <a:ln/>
        </p:spPr>
        <p:txBody>
          <a:bodyPr/>
          <a:p/>
        </p:txBody>
      </p:sp>
      <p:sp>
        <p:nvSpPr>
          <p:cNvPr id="10" name="Text 8"/>
          <p:cNvSpPr txBox="1"/>
          <p:nvPr/>
        </p:nvSpPr>
        <p:spPr>
          <a:xfrm>
            <a:off x="76809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1417320" y="1828800"/>
            <a:ext cx="420624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Problem</a:t>
            </a:r>
            <a:endParaRPr lang="en-US" sz="1600" dirty="0"/>
          </a:p>
        </p:txBody>
      </p:sp>
      <p:sp>
        <p:nvSpPr>
          <p:cNvPr id="12" name="Text 10"/>
          <p:cNvSpPr txBox="1"/>
          <p:nvPr/>
        </p:nvSpPr>
        <p:spPr>
          <a:xfrm>
            <a:off x="777240" y="2331720"/>
            <a:ext cx="480060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Clinical transcription data is unstructured and can belong to any of several medical specialties, making manual categorization by medical coders slow, inconsistent, and prone to human error as patient volumes grow.</a:t>
            </a:r>
            <a:endParaRPr lang="en-US" sz="1250" dirty="0"/>
          </a:p>
        </p:txBody>
      </p:sp>
      <p:sp>
        <p:nvSpPr>
          <p:cNvPr id="13" name="Shape 11"/>
          <p:cNvSpPr/>
          <p:nvPr/>
        </p:nvSpPr>
        <p:spPr>
          <a:xfrm>
            <a:off x="6035040" y="1554480"/>
            <a:ext cx="5696712"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6345936" y="1837944"/>
            <a:ext cx="566928" cy="566928"/>
          </a:xfrm>
          <a:prstGeom prst="ellipse">
            <a:avLst/>
          </a:prstGeom>
          <a:solidFill>
            <a:srgbClr val="0E7C86"/>
          </a:solidFill>
          <a:ln/>
        </p:spPr>
        <p:txBody>
          <a:bodyPr/>
          <a:p/>
        </p:txBody>
      </p:sp>
      <p:sp>
        <p:nvSpPr>
          <p:cNvPr id="15" name="Text 13"/>
          <p:cNvSpPr txBox="1"/>
          <p:nvPr/>
        </p:nvSpPr>
        <p:spPr>
          <a:xfrm>
            <a:off x="634593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6995160" y="1828800"/>
            <a:ext cx="45720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Objective</a:t>
            </a:r>
            <a:endParaRPr lang="en-US" sz="1600" dirty="0"/>
          </a:p>
        </p:txBody>
      </p:sp>
      <p:sp>
        <p:nvSpPr>
          <p:cNvPr id="17" name="Text 15"/>
          <p:cNvSpPr txBox="1"/>
          <p:nvPr/>
        </p:nvSpPr>
        <p:spPr>
          <a:xfrm>
            <a:off x="6355080" y="2331720"/>
            <a:ext cx="512064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Develop an automated NLP and Ensemble Machine Learning system that predicts the correct medical specialty from a clinical transcription, reducing administrative overhead and speeding up document routing.</a:t>
            </a:r>
            <a:endParaRPr lang="en-US" sz="1250" dirty="0"/>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0" name="Shape 18"/>
          <p:cNvSpPr/>
          <p:nvPr/>
        </p:nvSpPr>
        <p:spPr>
          <a:xfrm>
            <a:off x="1577340" y="4430268"/>
            <a:ext cx="502920" cy="502920"/>
          </a:xfrm>
          <a:prstGeom prst="ellipse">
            <a:avLst/>
          </a:prstGeom>
          <a:solidFill>
            <a:srgbClr val="6C4AB6"/>
          </a:solidFill>
          <a:ln/>
        </p:spPr>
        <p:txBody>
          <a:body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5" name="Shape 23"/>
          <p:cNvSpPr/>
          <p:nvPr/>
        </p:nvSpPr>
        <p:spPr>
          <a:xfrm>
            <a:off x="4457700" y="4430268"/>
            <a:ext cx="502920" cy="502920"/>
          </a:xfrm>
          <a:prstGeom prst="ellipse">
            <a:avLst/>
          </a:prstGeom>
          <a:solidFill>
            <a:srgbClr val="0E7C86"/>
          </a:solidFill>
          <a:ln/>
        </p:spPr>
        <p:txBody>
          <a:body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0" name="Shape 28"/>
          <p:cNvSpPr/>
          <p:nvPr/>
        </p:nvSpPr>
        <p:spPr>
          <a:xfrm>
            <a:off x="7338060" y="4430268"/>
            <a:ext cx="502920" cy="502920"/>
          </a:xfrm>
          <a:prstGeom prst="ellipse">
            <a:avLst/>
          </a:prstGeom>
          <a:solidFill>
            <a:srgbClr val="13294B"/>
          </a:solidFill>
          <a:ln/>
        </p:spPr>
        <p:txBody>
          <a:body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10218420" y="4430268"/>
            <a:ext cx="502920" cy="502920"/>
          </a:xfrm>
          <a:prstGeom prst="ellipse">
            <a:avLst/>
          </a:prstGeom>
          <a:solidFill>
            <a:srgbClr val="6C4AB6"/>
          </a:solidFill>
          <a:ln/>
        </p:spPr>
        <p:txBody>
          <a:body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Combine SVM, RF, LR, MNB via Voting; deploy on a Flask web app.</a:t>
            </a:r>
            <a:endParaRPr lang="en-US" sz="10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0E7C86"/>
                </a:solidFill>
                <a:latin typeface="Calibri"/>
              </a:defRPr>
            </a:pPr>
            <a:r>
              <a:t>1. Prior Literature</a:t>
            </a:r>
          </a:p>
          <a:p>
            <a:pPr>
              <a:defRPr sz="900">
                <a:solidFill>
                  <a:srgbClr val="334155"/>
                </a:solidFill>
                <a:latin typeface="Calibri"/>
              </a:defRPr>
            </a:pPr>
            <a: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2563EB"/>
                </a:solidFill>
                <a:latin typeface="Calibri"/>
              </a:defRPr>
            </a:pPr>
            <a:r>
              <a:t>2. Key Methodologies</a:t>
            </a:r>
          </a:p>
          <a:p>
            <a:pPr>
              <a:defRPr sz="900">
                <a:solidFill>
                  <a:srgbClr val="334155"/>
                </a:solidFill>
                <a:latin typeface="Calibri"/>
              </a:defRPr>
            </a:pPr>
            <a: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9333EA"/>
                </a:solidFill>
                <a:latin typeface="Calibri"/>
              </a:defRPr>
            </a:pPr>
            <a:r>
              <a:t>3. Identified Gap</a:t>
            </a:r>
          </a:p>
          <a:p>
            <a:pPr>
              <a:defRPr sz="900">
                <a:solidFill>
                  <a:srgbClr val="334155"/>
                </a:solidFill>
                <a:latin typeface="Calibri"/>
              </a:defRPr>
            </a:pPr>
            <a: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16A34A"/>
                </a:solidFill>
                <a:latin typeface="Calibri"/>
              </a:defRPr>
            </a:pPr>
            <a:r>
              <a:t>4. Proposed Architecture</a:t>
            </a:r>
          </a:p>
          <a:p>
            <a:pPr>
              <a:defRPr sz="900">
                <a:solidFill>
                  <a:srgbClr val="334155"/>
                </a:solidFill>
                <a:latin typeface="Calibri"/>
              </a:defRPr>
            </a:pPr>
            <a: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0E7C86"/>
                </a:solidFill>
                <a:latin typeface="Calibri"/>
              </a:defRPr>
            </a:pPr>
            <a:r>
              <a:t>Clinical NLP &amp; Preprocessing</a:t>
            </a:r>
          </a:p>
          <a:p>
            <a:pPr>
              <a:spcAft>
                <a:spcPts val="200"/>
              </a:spcAft>
            </a:pPr>
            <a:r>
              <a:rPr sz="950" b="1">
                <a:solidFill>
                  <a:srgbClr val="0E7C86"/>
                </a:solidFill>
                <a:latin typeface="Calibri"/>
              </a:rPr>
              <a:t>• </a:t>
            </a:r>
            <a:r>
              <a:rPr sz="900">
                <a:solidFill>
                  <a:srgbClr val="334155"/>
                </a:solidFill>
                <a:latin typeface="Calibri"/>
              </a:rPr>
              <a:t>Clinical narratives contain non-standard doctor shorthand, abbreviations, and punctuation noise.</a:t>
            </a:r>
          </a:p>
          <a:p>
            <a:pPr>
              <a:spcAft>
                <a:spcPts val="200"/>
              </a:spcAft>
            </a:pPr>
            <a:r>
              <a:rPr sz="950" b="1">
                <a:solidFill>
                  <a:srgbClr val="0E7C86"/>
                </a:solidFill>
                <a:latin typeface="Calibri"/>
              </a:rPr>
              <a:t>• </a:t>
            </a:r>
            <a:r>
              <a:rPr sz="900">
                <a:solidFill>
                  <a:srgbClr val="334155"/>
                </a:solidFill>
                <a:latin typeface="Calibri"/>
              </a:rPr>
              <a:t>Implements a 5-step sequence: Cleaning, Lowercasing, Tokenization, Stop-word removal, and Lemmatization.</a:t>
            </a:r>
          </a:p>
          <a:p>
            <a:pPr>
              <a:spcAft>
                <a:spcPts val="200"/>
              </a:spcAft>
            </a:pPr>
            <a:r>
              <a:rPr sz="950" b="1">
                <a:solidFill>
                  <a:srgbClr val="0E7C86"/>
                </a:solidFill>
                <a:latin typeface="Calibri"/>
              </a:rPr>
              <a:t>• </a:t>
            </a:r>
            <a:r>
              <a:rPr sz="900">
                <a:solidFill>
                  <a:srgbClr val="334155"/>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2563EB"/>
                </a:solidFill>
                <a:latin typeface="Calibri"/>
              </a:defRPr>
            </a:pPr>
            <a:r>
              <a:t>TF-IDF Feature Representation</a:t>
            </a:r>
          </a:p>
          <a:p>
            <a:pPr>
              <a:spcAft>
                <a:spcPts val="200"/>
              </a:spcAft>
            </a:pPr>
            <a:r>
              <a:rPr sz="950" b="1">
                <a:solidFill>
                  <a:srgbClr val="2563EB"/>
                </a:solidFill>
                <a:latin typeface="Calibri"/>
              </a:rPr>
              <a:t>• </a:t>
            </a:r>
            <a:r>
              <a:rPr sz="900">
                <a:solidFill>
                  <a:srgbClr val="334155"/>
                </a:solidFill>
                <a:latin typeface="Calibri"/>
              </a:rPr>
              <a:t>Converts unstructured medical text into standardized, high-dimensional sparse numerical feature vectors.</a:t>
            </a:r>
          </a:p>
          <a:p>
            <a:pPr>
              <a:spcAft>
                <a:spcPts val="200"/>
              </a:spcAft>
            </a:pPr>
            <a:r>
              <a:rPr sz="950" b="1">
                <a:solidFill>
                  <a:srgbClr val="2563EB"/>
                </a:solidFill>
                <a:latin typeface="Calibri"/>
              </a:rPr>
              <a:t>• </a:t>
            </a:r>
            <a:r>
              <a:rPr sz="900">
                <a:solidFill>
                  <a:srgbClr val="334155"/>
                </a:solidFill>
                <a:latin typeface="Calibri"/>
              </a:rPr>
              <a:t>Sublinear scaling (1 + log(TF)) dampens repetitive non-informative terms while highlighting discriminative tokens.</a:t>
            </a:r>
          </a:p>
          <a:p>
            <a:pPr>
              <a:spcAft>
                <a:spcPts val="200"/>
              </a:spcAft>
            </a:pPr>
            <a:r>
              <a:rPr sz="950" b="1">
                <a:solidFill>
                  <a:srgbClr val="2563EB"/>
                </a:solidFill>
                <a:latin typeface="Calibri"/>
              </a:rPr>
              <a:t>• </a:t>
            </a:r>
            <a:r>
              <a:rPr sz="900">
                <a:solidFill>
                  <a:srgbClr val="334155"/>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16A34A"/>
                </a:solidFill>
                <a:latin typeface="Calibri"/>
              </a:defRPr>
            </a:pPr>
            <a:r>
              <a:t>Supervised ML Classifiers</a:t>
            </a:r>
          </a:p>
          <a:p>
            <a:pPr>
              <a:spcAft>
                <a:spcPts val="200"/>
              </a:spcAft>
            </a:pPr>
            <a:r>
              <a:rPr sz="950" b="1">
                <a:solidFill>
                  <a:srgbClr val="16A34A"/>
                </a:solidFill>
                <a:latin typeface="Calibri"/>
              </a:rPr>
              <a:t>• </a:t>
            </a:r>
            <a:r>
              <a:rPr sz="900">
                <a:solidFill>
                  <a:srgbClr val="334155"/>
                </a:solidFill>
                <a:latin typeface="Calibri"/>
              </a:rPr>
              <a:t>Linear models (SVM, Logistic Regression) excel on high-dimensional sparse text representations.</a:t>
            </a:r>
          </a:p>
          <a:p>
            <a:pPr>
              <a:spcAft>
                <a:spcPts val="200"/>
              </a:spcAft>
            </a:pPr>
            <a:r>
              <a:rPr sz="950" b="1">
                <a:solidFill>
                  <a:srgbClr val="16A34A"/>
                </a:solidFill>
                <a:latin typeface="Calibri"/>
              </a:rPr>
              <a:t>• </a:t>
            </a:r>
            <a:r>
              <a:rPr sz="900">
                <a:solidFill>
                  <a:srgbClr val="334155"/>
                </a:solidFill>
                <a:latin typeface="Calibri"/>
              </a:rPr>
              <a:t>Random Forest introduces non-linear decision partitioning and bagging variance reduction.</a:t>
            </a:r>
          </a:p>
          <a:p>
            <a:pPr>
              <a:spcAft>
                <a:spcPts val="200"/>
              </a:spcAft>
            </a:pPr>
            <a:r>
              <a:rPr sz="950" b="1">
                <a:solidFill>
                  <a:srgbClr val="16A34A"/>
                </a:solidFill>
                <a:latin typeface="Calibri"/>
              </a:rPr>
              <a:t>• </a:t>
            </a:r>
            <a:r>
              <a:rPr sz="900">
                <a:solidFill>
                  <a:srgbClr val="334155"/>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9333EA"/>
                </a:solidFill>
                <a:latin typeface="Calibri"/>
              </a:defRPr>
            </a:pPr>
            <a:r>
              <a:t>Ensemble Learning &amp; Research Gap</a:t>
            </a:r>
          </a:p>
          <a:p>
            <a:pPr>
              <a:spcAft>
                <a:spcPts val="200"/>
              </a:spcAft>
            </a:pPr>
            <a:r>
              <a:rPr sz="950" b="1">
                <a:solidFill>
                  <a:srgbClr val="9333EA"/>
                </a:solidFill>
                <a:latin typeface="Calibri"/>
              </a:rPr>
              <a:t>• </a:t>
            </a:r>
            <a:r>
              <a:rPr sz="900">
                <a:solidFill>
                  <a:srgbClr val="334155"/>
                </a:solidFill>
                <a:latin typeface="Calibri"/>
              </a:rPr>
              <a:t>Identified Gap: Many deep learning approaches demand heavy GPU resources; single models show variance on rare classes.</a:t>
            </a:r>
          </a:p>
          <a:p>
            <a:pPr>
              <a:spcAft>
                <a:spcPts val="200"/>
              </a:spcAft>
            </a:pPr>
            <a:r>
              <a:rPr sz="950" b="1">
                <a:solidFill>
                  <a:srgbClr val="9333EA"/>
                </a:solidFill>
                <a:latin typeface="Calibri"/>
              </a:rPr>
              <a:t>• </a:t>
            </a:r>
            <a:r>
              <a:rPr sz="900">
                <a:solidFill>
                  <a:srgbClr val="334155"/>
                </a:solidFill>
                <a:latin typeface="Calibri"/>
              </a:rPr>
              <a:t>Proposed Solution: An accessible Soft Voting Ensemble combining calibrated base models for balanced classification.</a:t>
            </a:r>
          </a:p>
          <a:p>
            <a:pPr>
              <a:spcAft>
                <a:spcPts val="200"/>
              </a:spcAft>
            </a:pPr>
            <a:r>
              <a:rPr sz="950" b="1">
                <a:solidFill>
                  <a:srgbClr val="9333EA"/>
                </a:solidFill>
                <a:latin typeface="Calibri"/>
              </a:rPr>
              <a:t>• </a:t>
            </a:r>
            <a:r>
              <a:rPr sz="900">
                <a:solidFill>
                  <a:srgbClr val="334155"/>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pPr>
            <a:r>
              <a:rPr lang="en-US" sz="1100" dirty="0">
                <a:solidFill>
                  <a:srgbClr val="16213E"/>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6675120" y="3493008"/>
            <a:ext cx="457200" cy="457200"/>
          </a:xfrm>
          <a:prstGeom prst="ellipse">
            <a:avLst/>
          </a:prstGeom>
          <a:solidFill>
            <a:srgbClr val="0E7C86"/>
          </a:solidFill>
          <a:ln/>
        </p:spPr>
        <p:txBody>
          <a:body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0" name="Shape 38"/>
          <p:cNvSpPr/>
          <p:nvPr/>
        </p:nvSpPr>
        <p:spPr>
          <a:xfrm>
            <a:off x="6675120" y="4663440"/>
            <a:ext cx="457200" cy="457200"/>
          </a:xfrm>
          <a:prstGeom prst="ellipse">
            <a:avLst/>
          </a:prstGeom>
          <a:solidFill>
            <a:srgbClr val="6C4AB6"/>
          </a:solidFill>
          <a:ln/>
        </p:spPr>
        <p:txBody>
          <a:body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pPr>
            <a:r>
              <a:rPr lang="en-US" sz="1000" i="1" dirty="0">
                <a:solidFill>
                  <a:srgbClr val="5B6472"/>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pPr>
            <a:r>
              <a:rPr lang="en-US" sz="1070" dirty="0">
                <a:solidFill>
                  <a:srgbClr val="16213E"/>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40080" y="1755648"/>
            <a:ext cx="548640" cy="548640"/>
          </a:xfrm>
          <a:prstGeom prst="ellipse">
            <a:avLst/>
          </a:prstGeom>
          <a:solidFill>
            <a:srgbClr val="6C4AB6"/>
          </a:solidFill>
          <a:ln/>
        </p:spPr>
        <p:txBody>
          <a:body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416552" y="1755648"/>
            <a:ext cx="548640" cy="548640"/>
          </a:xfrm>
          <a:prstGeom prst="ellipse">
            <a:avLst/>
          </a:prstGeom>
          <a:solidFill>
            <a:srgbClr val="0E7C86"/>
          </a:solidFill>
          <a:ln/>
        </p:spPr>
        <p:txBody>
          <a:body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8193024" y="1755648"/>
            <a:ext cx="548640" cy="548640"/>
          </a:xfrm>
          <a:prstGeom prst="ellipse">
            <a:avLst/>
          </a:prstGeom>
          <a:solidFill>
            <a:srgbClr val="13294B"/>
          </a:solidFill>
          <a:ln/>
        </p:spPr>
        <p:txBody>
          <a:body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640080" y="4041648"/>
            <a:ext cx="548640" cy="548640"/>
          </a:xfrm>
          <a:prstGeom prst="ellipse">
            <a:avLst/>
          </a:prstGeom>
          <a:solidFill>
            <a:srgbClr val="6C4AB6"/>
          </a:solidFill>
          <a:ln/>
        </p:spPr>
        <p:txBody>
          <a:body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4416552" y="4041648"/>
            <a:ext cx="548640" cy="548640"/>
          </a:xfrm>
          <a:prstGeom prst="ellipse">
            <a:avLst/>
          </a:prstGeom>
          <a:solidFill>
            <a:srgbClr val="0E7C86"/>
          </a:solidFill>
          <a:ln/>
        </p:spPr>
        <p:txBody>
          <a:body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4" name="Shape 32"/>
          <p:cNvSpPr/>
          <p:nvPr/>
        </p:nvSpPr>
        <p:spPr>
          <a:xfrm>
            <a:off x="8193024" y="4041648"/>
            <a:ext cx="548640" cy="548640"/>
          </a:xfrm>
          <a:prstGeom prst="ellipse">
            <a:avLst/>
          </a:prstGeom>
          <a:solidFill>
            <a:srgbClr val="13294B"/>
          </a:solidFill>
          <a:ln/>
        </p:spPr>
        <p:txBody>
          <a:body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pPr>
            <a:r>
              <a:rPr lang="en-US" sz="1050" dirty="0">
                <a:solidFill>
                  <a:srgbClr val="16213E"/>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1490472" y="1682496"/>
            <a:ext cx="658368" cy="658368"/>
          </a:xfrm>
          <a:prstGeom prst="ellipse">
            <a:avLst/>
          </a:prstGeom>
          <a:solidFill>
            <a:srgbClr val="0E7C86"/>
          </a:solidFill>
          <a:ln/>
        </p:spPr>
        <p:txBody>
          <a:body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334256" y="1682496"/>
            <a:ext cx="658368" cy="658368"/>
          </a:xfrm>
          <a:prstGeom prst="ellipse">
            <a:avLst/>
          </a:prstGeom>
          <a:solidFill>
            <a:srgbClr val="6C4AB6"/>
          </a:solidFill>
          <a:ln/>
        </p:spPr>
        <p:txBody>
          <a:body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7178040" y="1682496"/>
            <a:ext cx="658368" cy="658368"/>
          </a:xfrm>
          <a:prstGeom prst="ellipse">
            <a:avLst/>
          </a:prstGeom>
          <a:solidFill>
            <a:srgbClr val="13294B"/>
          </a:solidFill>
          <a:ln/>
        </p:spPr>
        <p:txBody>
          <a:body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10021824" y="1682496"/>
            <a:ext cx="658368" cy="658368"/>
          </a:xfrm>
          <a:prstGeom prst="ellipse">
            <a:avLst/>
          </a:prstGeom>
          <a:solidFill>
            <a:srgbClr val="0E7C86"/>
          </a:solidFill>
          <a:ln/>
        </p:spPr>
        <p:txBody>
          <a:body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Rounded Rectangle 27"/>
          <p:cNvSpPr/>
          <p:nvPr/>
        </p:nvSpPr>
        <p:spPr>
          <a:xfrm>
            <a:off x="457200" y="4343400"/>
            <a:ext cx="2468880" cy="160020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38BDF8"/>
                </a:solidFill>
                <a:latin typeface="Calibri"/>
              </a:defRPr>
            </a:pPr>
            <a:r>
              <a:t>FEATURE EXTRACTION</a:t>
            </a:r>
          </a:p>
          <a:p>
            <a:pPr>
              <a:spcAft>
                <a:spcPts val="400"/>
              </a:spcAft>
              <a:defRPr sz="1600" b="1">
                <a:solidFill>
                  <a:srgbClr val="FFFFFF"/>
                </a:solidFill>
                <a:latin typeface="Cambria"/>
              </a:defRPr>
            </a:pPr>
            <a:r>
              <a:t>TF-IDF Vectorizer</a:t>
            </a:r>
          </a:p>
          <a:p>
            <a:pPr>
              <a:defRPr sz="950">
                <a:solidFill>
                  <a:srgbClr val="CBD5E1"/>
                </a:solidFill>
                <a:latin typeface="Calibri"/>
              </a:defRPr>
            </a:pPr>
            <a:r>
              <a:t>Unigrams &amp; bigrams with sublinear TF scaling and L2 normalization.</a:t>
            </a:r>
          </a:p>
        </p:txBody>
      </p:sp>
      <p:sp>
        <p:nvSpPr>
          <p:cNvPr id="29" name="Rounded Rectangle 28"/>
          <p:cNvSpPr/>
          <p:nvPr/>
        </p:nvSpPr>
        <p:spPr>
          <a:xfrm>
            <a:off x="3108960" y="4343400"/>
            <a:ext cx="5623560" cy="1600200"/>
          </a:xfrm>
          <a:prstGeom prst="roundRect">
            <a:avLst/>
          </a:prstGeom>
          <a:solidFill>
            <a:srgbClr val="0E7C86"/>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37160"/>
          <a:lstStyle/>
          <a:p>
            <a:pPr algn="ctr">
              <a:spcAft>
                <a:spcPts val="400"/>
              </a:spcAft>
              <a:defRPr sz="1000" b="1">
                <a:solidFill>
                  <a:srgbClr val="A7F3D0"/>
                </a:solidFill>
                <a:latin typeface="Calibri"/>
              </a:defRPr>
            </a:pPr>
            <a:r>
              <a:t>CLASSIFICATION (4 DIVERSE BASE ESTIMATORS)</a:t>
            </a:r>
          </a:p>
          <a:p>
            <a:pPr>
              <a:spcAft>
                <a:spcPts val="400"/>
              </a:spcAft>
              <a:defRPr sz="1550" b="1">
                <a:solidFill>
                  <a:srgbClr val="FFFFFF"/>
                </a:solidFill>
                <a:latin typeface="Cambria"/>
              </a:defRPr>
            </a:pPr>
            <a:r>
              <a:t>SVM + Random Forest + Logistic Regression + Multinomial NB</a:t>
            </a:r>
          </a:p>
          <a:p>
            <a:pPr>
              <a:defRPr sz="950">
                <a:solidFill>
                  <a:srgbClr val="F0FDFA"/>
                </a:solidFill>
                <a:latin typeface="Calibri"/>
              </a:defRPr>
            </a:pPr>
            <a:r>
              <a:t>Each model independently evaluates high-dimensional sparse vectors and outputs class probabilities.</a:t>
            </a:r>
          </a:p>
        </p:txBody>
      </p:sp>
      <p:sp>
        <p:nvSpPr>
          <p:cNvPr id="30" name="Rounded Rectangle 29"/>
          <p:cNvSpPr/>
          <p:nvPr/>
        </p:nvSpPr>
        <p:spPr>
          <a:xfrm>
            <a:off x="8915400" y="4343400"/>
            <a:ext cx="2816352" cy="1600200"/>
          </a:xfrm>
          <a:prstGeom prst="roundRect">
            <a:avLst/>
          </a:prstGeom>
          <a:solidFill>
            <a:srgbClr val="5B21B6"/>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E9D5FF"/>
                </a:solidFill>
                <a:latin typeface="Calibri"/>
              </a:defRPr>
            </a:pPr>
            <a:r>
              <a:t>ENSEMBLE AGGREGATION</a:t>
            </a:r>
          </a:p>
          <a:p>
            <a:pPr>
              <a:spcAft>
                <a:spcPts val="400"/>
              </a:spcAft>
              <a:defRPr sz="1600" b="1">
                <a:solidFill>
                  <a:srgbClr val="FFFFFF"/>
                </a:solidFill>
                <a:latin typeface="Cambria"/>
              </a:defRPr>
            </a:pPr>
            <a:r>
              <a:t>Voting Classifier (Soft)</a:t>
            </a:r>
          </a:p>
          <a:p>
            <a:pPr>
              <a:defRPr sz="950">
                <a:solidFill>
                  <a:srgbClr val="F5F3FF"/>
                </a:solidFill>
                <a:latin typeface="Calibri"/>
              </a:defRPr>
            </a:pPr>
            <a:r>
              <a:t>Aggregates consensus probabilities to output final specialty prediction.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13 of 19</a:t>
            </a:r>
          </a:p>
        </p:txBody>
      </p:sp>
      <p:sp>
        <p:nvSpPr>
          <p:cNvPr id="7" name="Rounded Rectangle 6"/>
          <p:cNvSpPr/>
          <p:nvPr/>
        </p:nvSpPr>
        <p:spPr>
          <a:xfrm>
            <a:off x="457200" y="1371600"/>
            <a:ext cx="5440680" cy="49834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SVM (SUPPORT VECTOR MACHINE) ACTIVITY FLOW</a:t>
            </a:r>
          </a:p>
        </p:txBody>
      </p:sp>
      <p:sp>
        <p:nvSpPr>
          <p:cNvPr id="9" name="Rounded Rectangle 8"/>
          <p:cNvSpPr/>
          <p:nvPr/>
        </p:nvSpPr>
        <p:spPr>
          <a:xfrm>
            <a:off x="594360" y="214884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1. High-Dimensional Input</a:t>
            </a:r>
          </a:p>
          <a:p>
            <a:pPr>
              <a:defRPr sz="850" b="0">
                <a:solidFill>
                  <a:srgbClr val="334155"/>
                </a:solidFill>
                <a:latin typeface="Calibri"/>
              </a:defRPr>
            </a:pPr>
            <a:r>
              <a:t>Sparse TF-IDF feature vector x ∈ R^V representing clinical narrative vocabulary.</a:t>
            </a:r>
          </a:p>
        </p:txBody>
      </p:sp>
      <p:sp>
        <p:nvSpPr>
          <p:cNvPr id="10" name="Rounded Rectangle 9"/>
          <p:cNvSpPr/>
          <p:nvPr/>
        </p:nvSpPr>
        <p:spPr>
          <a:xfrm>
            <a:off x="594360" y="2852928"/>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2. Linear Decision Mapping</a:t>
            </a:r>
          </a:p>
          <a:p>
            <a:pPr>
              <a:defRPr sz="850" b="0">
                <a:solidFill>
                  <a:srgbClr val="334155"/>
                </a:solidFill>
                <a:latin typeface="Calibri"/>
              </a:defRPr>
            </a:pPr>
            <a:r>
              <a:t>Constructs decision hyperplane w·x + b = 0 in sparse high-dimensional term space.</a:t>
            </a:r>
          </a:p>
        </p:txBody>
      </p:sp>
      <p:sp>
        <p:nvSpPr>
          <p:cNvPr id="11" name="Rounded Rectangle 10"/>
          <p:cNvSpPr/>
          <p:nvPr/>
        </p:nvSpPr>
        <p:spPr>
          <a:xfrm>
            <a:off x="594360" y="3557016"/>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3. Maximum Margin Optimization</a:t>
            </a:r>
          </a:p>
          <a:p>
            <a:pPr>
              <a:defRPr sz="850" b="0">
                <a:solidFill>
                  <a:srgbClr val="334155"/>
                </a:solidFill>
                <a:latin typeface="Calibri"/>
              </a:defRPr>
            </a:pPr>
            <a:r>
              <a:t>Solves quadratic program: min 1/2 ||w||² subject to y_i(w·x_i + b) ≥ 1 - ξ_i.</a:t>
            </a:r>
          </a:p>
        </p:txBody>
      </p:sp>
      <p:sp>
        <p:nvSpPr>
          <p:cNvPr id="12" name="Rounded Rectangle 11"/>
          <p:cNvSpPr/>
          <p:nvPr/>
        </p:nvSpPr>
        <p:spPr>
          <a:xfrm>
            <a:off x="594360" y="4261104"/>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4. Support Vector Identification</a:t>
            </a:r>
          </a:p>
          <a:p>
            <a:pPr>
              <a:defRPr sz="850" b="0">
                <a:solidFill>
                  <a:srgbClr val="334155"/>
                </a:solidFill>
                <a:latin typeface="Calibri"/>
              </a:defRPr>
            </a:pPr>
            <a:r>
              <a:t>Identifies critical borderline transcripts that define category separation margins.</a:t>
            </a:r>
          </a:p>
        </p:txBody>
      </p:sp>
      <p:sp>
        <p:nvSpPr>
          <p:cNvPr id="13" name="Rounded Rectangle 12"/>
          <p:cNvSpPr/>
          <p:nvPr/>
        </p:nvSpPr>
        <p:spPr>
          <a:xfrm>
            <a:off x="594360" y="4965192"/>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5. Platt Probability Scaling</a:t>
            </a:r>
          </a:p>
          <a:p>
            <a:pPr>
              <a:defRPr sz="850" b="0">
                <a:solidFill>
                  <a:srgbClr val="334155"/>
                </a:solidFill>
                <a:latin typeface="Calibri"/>
              </a:defRPr>
            </a:pPr>
            <a:r>
              <a:t>Calibrates decision distances via sigmoid fitting: P(c|x) = 1 / (1 + exp(A·f(x) + B)).</a:t>
            </a:r>
          </a:p>
        </p:txBody>
      </p:sp>
      <p:sp>
        <p:nvSpPr>
          <p:cNvPr id="14" name="Rounded Rectangle 13"/>
          <p:cNvSpPr/>
          <p:nvPr/>
        </p:nvSpPr>
        <p:spPr>
          <a:xfrm>
            <a:off x="594360" y="566928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6. Class Probability Output</a:t>
            </a:r>
          </a:p>
          <a:p>
            <a:pPr>
              <a:defRPr sz="850" b="0">
                <a:solidFill>
                  <a:srgbClr val="334155"/>
                </a:solidFill>
                <a:latin typeface="Calibri"/>
              </a:defRPr>
            </a:pPr>
            <a:r>
              <a:t>Outputs calibrated probability distribution across all 40 medical specialty categories.</a:t>
            </a:r>
          </a:p>
        </p:txBody>
      </p:sp>
      <p:sp>
        <p:nvSpPr>
          <p:cNvPr id="15" name="Rounded Rectangle 14"/>
          <p:cNvSpPr/>
          <p:nvPr/>
        </p:nvSpPr>
        <p:spPr>
          <a:xfrm>
            <a:off x="6217920" y="1371600"/>
            <a:ext cx="5486400" cy="49834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MULTINOMIAL NAIVE BAYES ACTIVITY FLOW</a:t>
            </a:r>
          </a:p>
        </p:txBody>
      </p:sp>
      <p:sp>
        <p:nvSpPr>
          <p:cNvPr id="17" name="Rounded Rectangle 16"/>
          <p:cNvSpPr/>
          <p:nvPr/>
        </p:nvSpPr>
        <p:spPr>
          <a:xfrm>
            <a:off x="6355080" y="214884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1. Term Frequency Vector Input</a:t>
            </a:r>
          </a:p>
          <a:p>
            <a:pPr>
              <a:defRPr sz="850" b="0">
                <a:solidFill>
                  <a:srgbClr val="334155"/>
                </a:solidFill>
                <a:latin typeface="Calibri"/>
              </a:defRPr>
            </a:pPr>
            <a:r>
              <a:t>Vector of clinical token counts and TF-IDF weights for each vocabulary term t_k.</a:t>
            </a:r>
          </a:p>
        </p:txBody>
      </p:sp>
      <p:sp>
        <p:nvSpPr>
          <p:cNvPr id="18" name="Rounded Rectangle 17"/>
          <p:cNvSpPr/>
          <p:nvPr/>
        </p:nvSpPr>
        <p:spPr>
          <a:xfrm>
            <a:off x="6355080" y="2852928"/>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2. Prior Class Probability P(c)</a:t>
            </a:r>
          </a:p>
          <a:p>
            <a:pPr>
              <a:defRPr sz="850" b="0">
                <a:solidFill>
                  <a:srgbClr val="334155"/>
                </a:solidFill>
                <a:latin typeface="Calibri"/>
              </a:defRPr>
            </a:pPr>
            <a:r>
              <a:t>Estimates empirical prior for each specialty: P(c) = N_c / N_total from training data.</a:t>
            </a:r>
          </a:p>
        </p:txBody>
      </p:sp>
      <p:sp>
        <p:nvSpPr>
          <p:cNvPr id="19" name="Rounded Rectangle 18"/>
          <p:cNvSpPr/>
          <p:nvPr/>
        </p:nvSpPr>
        <p:spPr>
          <a:xfrm>
            <a:off x="6355080" y="3557016"/>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3. Feature Likelihood with Smoothing</a:t>
            </a:r>
          </a:p>
          <a:p>
            <a:pPr>
              <a:defRPr sz="850" b="0">
                <a:solidFill>
                  <a:srgbClr val="334155"/>
                </a:solidFill>
                <a:latin typeface="Calibri"/>
              </a:defRPr>
            </a:pPr>
            <a:r>
              <a:t>Calculates P(t|c) = (count(t,c) + α) / (Σ count(w,c) + α·|V|) using Laplace smoothing (α=1).</a:t>
            </a:r>
          </a:p>
        </p:txBody>
      </p:sp>
      <p:sp>
        <p:nvSpPr>
          <p:cNvPr id="20" name="Rounded Rectangle 19"/>
          <p:cNvSpPr/>
          <p:nvPr/>
        </p:nvSpPr>
        <p:spPr>
          <a:xfrm>
            <a:off x="6355080" y="4261104"/>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4. Log Posterior Accumulation</a:t>
            </a:r>
          </a:p>
          <a:p>
            <a:pPr>
              <a:defRPr sz="850" b="0">
                <a:solidFill>
                  <a:srgbClr val="334155"/>
                </a:solidFill>
                <a:latin typeface="Calibri"/>
              </a:defRPr>
            </a:pPr>
            <a:r>
              <a:t>Computes log P(c|d) = log P(c) + Σ f_t · log P(t|c) to prevent floating-point underflow.</a:t>
            </a:r>
          </a:p>
        </p:txBody>
      </p:sp>
      <p:sp>
        <p:nvSpPr>
          <p:cNvPr id="21" name="Rounded Rectangle 20"/>
          <p:cNvSpPr/>
          <p:nvPr/>
        </p:nvSpPr>
        <p:spPr>
          <a:xfrm>
            <a:off x="6355080" y="4965192"/>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5. Softmax Normalization</a:t>
            </a:r>
          </a:p>
          <a:p>
            <a:pPr>
              <a:defRPr sz="850" b="0">
                <a:solidFill>
                  <a:srgbClr val="334155"/>
                </a:solidFill>
                <a:latin typeface="Calibri"/>
              </a:defRPr>
            </a:pPr>
            <a:r>
              <a:t>Converts log-likelihoods into normalized probability distribution: P(c|d) = exp(s_c)/Σ exp(s_k).</a:t>
            </a:r>
          </a:p>
        </p:txBody>
      </p:sp>
      <p:sp>
        <p:nvSpPr>
          <p:cNvPr id="22" name="Rounded Rectangle 21"/>
          <p:cNvSpPr/>
          <p:nvPr/>
        </p:nvSpPr>
        <p:spPr>
          <a:xfrm>
            <a:off x="6355080" y="566928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6. Class Probability Output</a:t>
            </a:r>
          </a:p>
          <a:p>
            <a:pPr>
              <a:defRPr sz="850" b="0">
                <a:solidFill>
                  <a:srgbClr val="334155"/>
                </a:solidFill>
                <a:latin typeface="Calibri"/>
              </a:defRPr>
            </a:pPr>
            <a:r>
              <a:t>Generates probabilistic score distribution over 40 categories for ensemble soft voting.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14 of 19</a:t>
            </a:r>
          </a:p>
        </p:txBody>
      </p:sp>
      <p:sp>
        <p:nvSpPr>
          <p:cNvPr id="7" name="Rounded Rectangle 6"/>
          <p:cNvSpPr/>
          <p:nvPr/>
        </p:nvSpPr>
        <p:spPr>
          <a:xfrm>
            <a:off x="457200" y="1371600"/>
            <a:ext cx="5440680" cy="49834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RANDOM FOREST (RF) ACTIVITY FLOW</a:t>
            </a:r>
          </a:p>
        </p:txBody>
      </p:sp>
      <p:sp>
        <p:nvSpPr>
          <p:cNvPr id="9" name="Rounded Rectangle 8"/>
          <p:cNvSpPr/>
          <p:nvPr/>
        </p:nvSpPr>
        <p:spPr>
          <a:xfrm>
            <a:off x="594360" y="214884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1. Dataset &amp; Feature Matrix Input</a:t>
            </a:r>
          </a:p>
          <a:p>
            <a:pPr>
              <a:defRPr sz="850" b="0">
                <a:solidFill>
                  <a:srgbClr val="334155"/>
                </a:solidFill>
                <a:latin typeface="Calibri"/>
              </a:defRPr>
            </a:pPr>
            <a:r>
              <a:t>Receives training matrix X (TF-IDF features) and multi-class labels Y (40 classes).</a:t>
            </a:r>
          </a:p>
        </p:txBody>
      </p:sp>
      <p:sp>
        <p:nvSpPr>
          <p:cNvPr id="10" name="Rounded Rectangle 9"/>
          <p:cNvSpPr/>
          <p:nvPr/>
        </p:nvSpPr>
        <p:spPr>
          <a:xfrm>
            <a:off x="594360" y="2852928"/>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2. Bootstrap Sampling (Bagging)</a:t>
            </a:r>
          </a:p>
          <a:p>
            <a:pPr>
              <a:defRPr sz="850" b="0">
                <a:solidFill>
                  <a:srgbClr val="334155"/>
                </a:solidFill>
                <a:latin typeface="Calibri"/>
              </a:defRPr>
            </a:pPr>
            <a:r>
              <a:t>Generates B bootstrap sample sets by sampling rows with replacement to induce diversity.</a:t>
            </a:r>
          </a:p>
        </p:txBody>
      </p:sp>
      <p:sp>
        <p:nvSpPr>
          <p:cNvPr id="11" name="Rounded Rectangle 10"/>
          <p:cNvSpPr/>
          <p:nvPr/>
        </p:nvSpPr>
        <p:spPr>
          <a:xfrm>
            <a:off x="594360" y="3557016"/>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3. Random Feature Subspace Split</a:t>
            </a:r>
          </a:p>
          <a:p>
            <a:pPr>
              <a:defRPr sz="850" b="0">
                <a:solidFill>
                  <a:srgbClr val="334155"/>
                </a:solidFill>
                <a:latin typeface="Calibri"/>
              </a:defRPr>
            </a:pPr>
            <a:r>
              <a:t>At each decision node, randomly selects m = √|V| features and finds optimal split.</a:t>
            </a:r>
          </a:p>
        </p:txBody>
      </p:sp>
      <p:sp>
        <p:nvSpPr>
          <p:cNvPr id="12" name="Rounded Rectangle 11"/>
          <p:cNvSpPr/>
          <p:nvPr/>
        </p:nvSpPr>
        <p:spPr>
          <a:xfrm>
            <a:off x="594360" y="4261104"/>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4. Decision Tree Induction</a:t>
            </a:r>
          </a:p>
          <a:p>
            <a:pPr>
              <a:defRPr sz="850" b="0">
                <a:solidFill>
                  <a:srgbClr val="334155"/>
                </a:solidFill>
                <a:latin typeface="Calibri"/>
              </a:defRPr>
            </a:pPr>
            <a:r>
              <a:t>Recursively splits nodes using Gini Impurity: Gini = 1 - Σ p_i² until stopping criterion.</a:t>
            </a:r>
          </a:p>
        </p:txBody>
      </p:sp>
      <p:sp>
        <p:nvSpPr>
          <p:cNvPr id="13" name="Rounded Rectangle 12"/>
          <p:cNvSpPr/>
          <p:nvPr/>
        </p:nvSpPr>
        <p:spPr>
          <a:xfrm>
            <a:off x="594360" y="4965192"/>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5. Forest Ensemble Assembly</a:t>
            </a:r>
          </a:p>
          <a:p>
            <a:pPr>
              <a:defRPr sz="850" b="0">
                <a:solidFill>
                  <a:srgbClr val="334155"/>
                </a:solidFill>
                <a:latin typeface="Calibri"/>
              </a:defRPr>
            </a:pPr>
            <a:r>
              <a:t>Combines B independently trained decision trees into an uncorrelated forest ensemble.</a:t>
            </a:r>
          </a:p>
        </p:txBody>
      </p:sp>
      <p:sp>
        <p:nvSpPr>
          <p:cNvPr id="14" name="Rounded Rectangle 13"/>
          <p:cNvSpPr/>
          <p:nvPr/>
        </p:nvSpPr>
        <p:spPr>
          <a:xfrm>
            <a:off x="594360" y="566928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6. Ensemble Averaged Probability</a:t>
            </a:r>
          </a:p>
          <a:p>
            <a:pPr>
              <a:defRPr sz="850" b="0">
                <a:solidFill>
                  <a:srgbClr val="334155"/>
                </a:solidFill>
                <a:latin typeface="Calibri"/>
              </a:defRPr>
            </a:pPr>
            <a:r>
              <a:t>Calculates consensus class probabilities: P_RF(c) = (1/B) Σ P_tree_b(c) across all B trees.</a:t>
            </a:r>
          </a:p>
        </p:txBody>
      </p:sp>
      <p:sp>
        <p:nvSpPr>
          <p:cNvPr id="15" name="Rounded Rectangle 14"/>
          <p:cNvSpPr/>
          <p:nvPr/>
        </p:nvSpPr>
        <p:spPr>
          <a:xfrm>
            <a:off x="6217920" y="1371600"/>
            <a:ext cx="5486400" cy="49834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LOGISTIC REGRESSION (LR) ACTIVITY FLOW</a:t>
            </a:r>
          </a:p>
        </p:txBody>
      </p:sp>
      <p:sp>
        <p:nvSpPr>
          <p:cNvPr id="17" name="Rounded Rectangle 16"/>
          <p:cNvSpPr/>
          <p:nvPr/>
        </p:nvSpPr>
        <p:spPr>
          <a:xfrm>
            <a:off x="6355080" y="214884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1. Standardized Vector Input</a:t>
            </a:r>
          </a:p>
          <a:p>
            <a:pPr>
              <a:defRPr sz="850" b="0">
                <a:solidFill>
                  <a:srgbClr val="334155"/>
                </a:solidFill>
                <a:latin typeface="Calibri"/>
              </a:defRPr>
            </a:pPr>
            <a:r>
              <a:t>Sparse TF-IDF vector x with L2 Euclidean normalization representing clinical narrative.</a:t>
            </a:r>
          </a:p>
        </p:txBody>
      </p:sp>
      <p:sp>
        <p:nvSpPr>
          <p:cNvPr id="18" name="Rounded Rectangle 17"/>
          <p:cNvSpPr/>
          <p:nvPr/>
        </p:nvSpPr>
        <p:spPr>
          <a:xfrm>
            <a:off x="6355080" y="2852928"/>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2. Linear Logit Computation</a:t>
            </a:r>
          </a:p>
          <a:p>
            <a:pPr>
              <a:defRPr sz="850" b="0">
                <a:solidFill>
                  <a:srgbClr val="334155"/>
                </a:solidFill>
                <a:latin typeface="Calibri"/>
              </a:defRPr>
            </a:pPr>
            <a:r>
              <a:t>Computes linear combination z_c = w_c · x + b_c for each medical specialty class c ∈ {1..40}.</a:t>
            </a:r>
          </a:p>
        </p:txBody>
      </p:sp>
      <p:sp>
        <p:nvSpPr>
          <p:cNvPr id="19" name="Rounded Rectangle 18"/>
          <p:cNvSpPr/>
          <p:nvPr/>
        </p:nvSpPr>
        <p:spPr>
          <a:xfrm>
            <a:off x="6355080" y="3557016"/>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3. L2 Ridge Regularization</a:t>
            </a:r>
          </a:p>
          <a:p>
            <a:pPr>
              <a:defRPr sz="850" b="0">
                <a:solidFill>
                  <a:srgbClr val="334155"/>
                </a:solidFill>
                <a:latin typeface="Calibri"/>
              </a:defRPr>
            </a:pPr>
            <a:r>
              <a:t>Applies L2 penalty λ/2 ||w||² in objective function to shrink weights &amp; prevent overfitting.</a:t>
            </a:r>
          </a:p>
        </p:txBody>
      </p:sp>
      <p:sp>
        <p:nvSpPr>
          <p:cNvPr id="20" name="Rounded Rectangle 19"/>
          <p:cNvSpPr/>
          <p:nvPr/>
        </p:nvSpPr>
        <p:spPr>
          <a:xfrm>
            <a:off x="6355080" y="4261104"/>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4. Softmax Probability Mapping</a:t>
            </a:r>
          </a:p>
          <a:p>
            <a:pPr>
              <a:defRPr sz="850" b="0">
                <a:solidFill>
                  <a:srgbClr val="334155"/>
                </a:solidFill>
                <a:latin typeface="Calibri"/>
              </a:defRPr>
            </a:pPr>
            <a:r>
              <a:t>Transforms logits to calibrated probabilities via Softmax: P(y=c|x) = exp(z_c) / Σ exp(z_k).</a:t>
            </a:r>
          </a:p>
        </p:txBody>
      </p:sp>
      <p:sp>
        <p:nvSpPr>
          <p:cNvPr id="21" name="Rounded Rectangle 20"/>
          <p:cNvSpPr/>
          <p:nvPr/>
        </p:nvSpPr>
        <p:spPr>
          <a:xfrm>
            <a:off x="6355080" y="4965192"/>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5. Cross-Entropy Loss Optimization</a:t>
            </a:r>
          </a:p>
          <a:p>
            <a:pPr>
              <a:defRPr sz="850" b="0">
                <a:solidFill>
                  <a:srgbClr val="334155"/>
                </a:solidFill>
                <a:latin typeface="Calibri"/>
              </a:defRPr>
            </a:pPr>
            <a:r>
              <a:t>Optimizes parameter weights using L-BFGS quasi-Newton gradient ascent solver.</a:t>
            </a:r>
          </a:p>
        </p:txBody>
      </p:sp>
      <p:sp>
        <p:nvSpPr>
          <p:cNvPr id="22" name="Rounded Rectangle 21"/>
          <p:cNvSpPr/>
          <p:nvPr/>
        </p:nvSpPr>
        <p:spPr>
          <a:xfrm>
            <a:off x="6355080" y="566928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6. Multi-Class Probability Output</a:t>
            </a:r>
          </a:p>
          <a:p>
            <a:pPr>
              <a:defRPr sz="850" b="0">
                <a:solidFill>
                  <a:srgbClr val="334155"/>
                </a:solidFill>
                <a:latin typeface="Calibri"/>
              </a:defRPr>
            </a:pPr>
            <a:r>
              <a:t>Generates calibrated posterior probability distribution vector across all 40 categories.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15 of 19</a:t>
            </a:r>
          </a:p>
        </p:txBody>
      </p:sp>
      <p:sp>
        <p:nvSpPr>
          <p:cNvPr id="7" name="Rounded Rectangle 6"/>
          <p:cNvSpPr/>
          <p:nvPr/>
        </p:nvSpPr>
        <p:spPr>
          <a:xfrm>
            <a:off x="457200" y="1371600"/>
            <a:ext cx="11247120" cy="731520"/>
          </a:xfrm>
          <a:prstGeom prst="roundRect">
            <a:avLst/>
          </a:prstGeom>
          <a:solidFill>
            <a:srgbClr val="EEF6F6"/>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E7C86"/>
                </a:solidFill>
                <a:latin typeface="Calibri"/>
              </a:defRPr>
            </a:pPr>
            <a:r>
              <a:t>STAGE 1: INPUT NARRATIVE &amp; VECTORIZATION INFERENCE</a:t>
            </a:r>
          </a:p>
          <a:p>
            <a:pPr>
              <a:defRPr sz="1000">
                <a:solidFill>
                  <a:srgbClr val="0F172A"/>
                </a:solidFill>
                <a:latin typeface="Calibri"/>
              </a:defRPr>
            </a:pPr>
            <a:r>
              <a:t>Unseen Clinical Transcription Text  →  8-Step Preprocessing Pipeline  →  TF-IDF Transformation (V vocabulary features)  →  Normalized Sparse Vector x</a:t>
            </a:r>
          </a:p>
        </p:txBody>
      </p:sp>
      <p:sp>
        <p:nvSpPr>
          <p:cNvPr id="8" name="Rounded Rectangle 7"/>
          <p:cNvSpPr/>
          <p:nvPr/>
        </p:nvSpPr>
        <p:spPr>
          <a:xfrm>
            <a:off x="457200" y="2240280"/>
            <a:ext cx="2651760" cy="1508760"/>
          </a:xfrm>
          <a:prstGeom prst="roundRect">
            <a:avLst/>
          </a:prstGeom>
          <a:solidFill>
            <a:srgbClr val="F0FDFA"/>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0E7C86"/>
                </a:solidFill>
                <a:latin typeface="Calibri"/>
              </a:defRPr>
            </a:pPr>
            <a:r>
              <a:t>MODEL 1: SVM Classifier</a:t>
            </a:r>
          </a:p>
          <a:p>
            <a:pPr>
              <a:defRPr sz="950">
                <a:solidFill>
                  <a:srgbClr val="334155"/>
                </a:solidFill>
                <a:latin typeface="Calibri"/>
              </a:defRPr>
            </a:pPr>
            <a:r>
              <a:t>Support Vector Machine</a:t>
            </a:r>
          </a:p>
          <a:p>
            <a:pPr>
              <a:spcAft>
                <a:spcPts val="400"/>
              </a:spcAft>
              <a:defRPr sz="900">
                <a:solidFill>
                  <a:srgbClr val="94A3B8"/>
                </a:solidFill>
                <a:latin typeface="Calibri"/>
              </a:defRPr>
            </a:pPr>
            <a:r>
              <a:t>Platt Calibrated Scaling</a:t>
            </a:r>
          </a:p>
          <a:p>
            <a:pPr>
              <a:defRPr sz="950" b="1">
                <a:solidFill>
                  <a:srgbClr val="0E7C86"/>
                </a:solidFill>
                <a:latin typeface="Calibri"/>
              </a:defRPr>
            </a:pPr>
            <a:r>
              <a:t>Output: P_SVM(c|x) ∈ R^40</a:t>
            </a:r>
          </a:p>
        </p:txBody>
      </p:sp>
      <p:sp>
        <p:nvSpPr>
          <p:cNvPr id="9" name="Rounded Rectangle 8"/>
          <p:cNvSpPr/>
          <p:nvPr/>
        </p:nvSpPr>
        <p:spPr>
          <a:xfrm>
            <a:off x="3319272" y="2240280"/>
            <a:ext cx="2651760" cy="150876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16A34A"/>
                </a:solidFill>
                <a:latin typeface="Calibri"/>
              </a:defRPr>
            </a:pPr>
            <a:r>
              <a:t>MODEL 2: Random Forest</a:t>
            </a:r>
          </a:p>
          <a:p>
            <a:pPr>
              <a:defRPr sz="950">
                <a:solidFill>
                  <a:srgbClr val="334155"/>
                </a:solidFill>
                <a:latin typeface="Calibri"/>
              </a:defRPr>
            </a:pPr>
            <a:r>
              <a:t>Ensemble Decision Trees</a:t>
            </a:r>
          </a:p>
          <a:p>
            <a:pPr>
              <a:spcAft>
                <a:spcPts val="400"/>
              </a:spcAft>
              <a:defRPr sz="900">
                <a:solidFill>
                  <a:srgbClr val="94A3B8"/>
                </a:solidFill>
                <a:latin typeface="Calibri"/>
              </a:defRPr>
            </a:pPr>
            <a:r>
              <a:t>Tree Mean Voting</a:t>
            </a:r>
          </a:p>
          <a:p>
            <a:pPr>
              <a:defRPr sz="950" b="1">
                <a:solidFill>
                  <a:srgbClr val="16A34A"/>
                </a:solidFill>
                <a:latin typeface="Calibri"/>
              </a:defRPr>
            </a:pPr>
            <a:r>
              <a:t>Output: P_RF(c|x) ∈ R^40</a:t>
            </a:r>
          </a:p>
        </p:txBody>
      </p:sp>
      <p:sp>
        <p:nvSpPr>
          <p:cNvPr id="10" name="Rounded Rectangle 9"/>
          <p:cNvSpPr/>
          <p:nvPr/>
        </p:nvSpPr>
        <p:spPr>
          <a:xfrm>
            <a:off x="6181344" y="2240280"/>
            <a:ext cx="2651760" cy="1508760"/>
          </a:xfrm>
          <a:prstGeom prst="roundRect">
            <a:avLst/>
          </a:prstGeom>
          <a:solidFill>
            <a:srgbClr val="FAF5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9333EA"/>
                </a:solidFill>
                <a:latin typeface="Calibri"/>
              </a:defRPr>
            </a:pPr>
            <a:r>
              <a:t>MODEL 3: Logistic Regression</a:t>
            </a:r>
          </a:p>
          <a:p>
            <a:pPr>
              <a:defRPr sz="950">
                <a:solidFill>
                  <a:srgbClr val="334155"/>
                </a:solidFill>
                <a:latin typeface="Calibri"/>
              </a:defRPr>
            </a:pPr>
            <a:r>
              <a:t>Multinomial Softmax</a:t>
            </a:r>
          </a:p>
          <a:p>
            <a:pPr>
              <a:spcAft>
                <a:spcPts val="400"/>
              </a:spcAft>
              <a:defRPr sz="900">
                <a:solidFill>
                  <a:srgbClr val="94A3B8"/>
                </a:solidFill>
                <a:latin typeface="Calibri"/>
              </a:defRPr>
            </a:pPr>
            <a:r>
              <a:t>L2 Regularized Logits</a:t>
            </a:r>
          </a:p>
          <a:p>
            <a:pPr>
              <a:defRPr sz="950" b="1">
                <a:solidFill>
                  <a:srgbClr val="9333EA"/>
                </a:solidFill>
                <a:latin typeface="Calibri"/>
              </a:defRPr>
            </a:pPr>
            <a:r>
              <a:t>Output: P_LR(c|x) ∈ R^40</a:t>
            </a:r>
          </a:p>
        </p:txBody>
      </p:sp>
      <p:sp>
        <p:nvSpPr>
          <p:cNvPr id="11" name="Rounded Rectangle 10"/>
          <p:cNvSpPr/>
          <p:nvPr/>
        </p:nvSpPr>
        <p:spPr>
          <a:xfrm>
            <a:off x="9043416" y="2240280"/>
            <a:ext cx="2651760" cy="150876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2563EB"/>
                </a:solidFill>
                <a:latin typeface="Calibri"/>
              </a:defRPr>
            </a:pPr>
            <a:r>
              <a:t>MODEL 4: Multinomial NB</a:t>
            </a:r>
          </a:p>
          <a:p>
            <a:pPr>
              <a:defRPr sz="950">
                <a:solidFill>
                  <a:srgbClr val="334155"/>
                </a:solidFill>
                <a:latin typeface="Calibri"/>
              </a:defRPr>
            </a:pPr>
            <a:r>
              <a:t>Naïve Bayes Estimator</a:t>
            </a:r>
          </a:p>
          <a:p>
            <a:pPr>
              <a:spcAft>
                <a:spcPts val="400"/>
              </a:spcAft>
              <a:defRPr sz="900">
                <a:solidFill>
                  <a:srgbClr val="94A3B8"/>
                </a:solidFill>
                <a:latin typeface="Calibri"/>
              </a:defRPr>
            </a:pPr>
            <a:r>
              <a:t>Laplace Smoothed Prior</a:t>
            </a:r>
          </a:p>
          <a:p>
            <a:pPr>
              <a:defRPr sz="950" b="1">
                <a:solidFill>
                  <a:srgbClr val="2563EB"/>
                </a:solidFill>
                <a:latin typeface="Calibri"/>
              </a:defRPr>
            </a:pPr>
            <a:r>
              <a:t>Output: P_MNB(c|x) ∈ R^40</a:t>
            </a:r>
          </a:p>
        </p:txBody>
      </p:sp>
      <p:sp>
        <p:nvSpPr>
          <p:cNvPr id="12" name="Rounded Rectangle 11"/>
          <p:cNvSpPr/>
          <p:nvPr/>
        </p:nvSpPr>
        <p:spPr>
          <a:xfrm>
            <a:off x="457200" y="3931920"/>
            <a:ext cx="11247120" cy="13716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spcAft>
                <a:spcPts val="300"/>
              </a:spcAft>
              <a:defRPr sz="1100" b="1">
                <a:solidFill>
                  <a:srgbClr val="D97706"/>
                </a:solidFill>
                <a:latin typeface="Calibri"/>
              </a:defRPr>
            </a:pPr>
            <a:r>
              <a:t>STAGE 2: SOFT VOTING CONSENSUS &amp; PROBABILITY AGGREGATION</a:t>
            </a:r>
          </a:p>
          <a:p>
            <a:pPr>
              <a:spcAft>
                <a:spcPts val="300"/>
              </a:spcAft>
              <a:defRPr sz="1100" b="1">
                <a:solidFill>
                  <a:srgbClr val="0F172A"/>
                </a:solidFill>
                <a:latin typeface="Cambria"/>
              </a:defRPr>
            </a:pPr>
            <a:r>
              <a:t>Formula: P_Ensemble(c | x) = 1/4 · [ P_SVM(c | x) + P_RF(c | x) + P_LR(c | x) + P_MNB(c | x) ]   for all 40 categories c ∈ {1..40}</a:t>
            </a:r>
          </a:p>
          <a:p>
            <a:pPr>
              <a:spcAft>
                <a:spcPts val="300"/>
              </a:spcAft>
              <a:defRPr sz="1100" b="1">
                <a:solidFill>
                  <a:srgbClr val="0E7C86"/>
                </a:solidFill>
                <a:latin typeface="Cambria"/>
              </a:defRPr>
            </a:pPr>
            <a:r>
              <a:t>Decision Rule: Predicted Medical Specialty c* = argmax_c P_Ensemble(c | x)   with Confidence Score = max_c P_Ensemble(c | x) · 100%</a:t>
            </a:r>
          </a:p>
          <a:p>
            <a:pPr>
              <a:defRPr sz="950">
                <a:solidFill>
                  <a:srgbClr val="334155"/>
                </a:solidFill>
                <a:latin typeface="Calibri"/>
              </a:defRPr>
            </a:pPr>
            <a:r>
              <a:t>Why Soft Voting? Averages confident probability outputs rather than simple discrete votes; mitigates individual estimator errors and smooths noise.</a:t>
            </a:r>
          </a:p>
        </p:txBody>
      </p:sp>
      <p:sp>
        <p:nvSpPr>
          <p:cNvPr id="13" name="Rounded Rectangle 12"/>
          <p:cNvSpPr/>
          <p:nvPr/>
        </p:nvSpPr>
        <p:spPr>
          <a:xfrm>
            <a:off x="457200" y="5440680"/>
            <a:ext cx="11247120" cy="86868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defRPr sz="1100" b="1">
                <a:solidFill>
                  <a:srgbClr val="38BDF8"/>
                </a:solidFill>
                <a:latin typeface="Calibri"/>
              </a:defRPr>
            </a:pPr>
            <a:r>
              <a:t>FINAL SYSTEM PREDICTION OUTPUT (STAGE 3)</a:t>
            </a:r>
          </a:p>
          <a:p>
            <a:pPr>
              <a:defRPr sz="1000">
                <a:solidFill>
                  <a:srgbClr val="FFFFFF"/>
                </a:solidFill>
                <a:latin typeface="Calibri"/>
              </a:defRPr>
            </a:pPr>
            <a:r>
              <a:t>• Primary Prediction: Assigned Medical Specialty Class (e.g., 'Cardiovascular / Pulmonary')</a:t>
            </a:r>
            <a:br/>
            <a:r>
              <a:t>• Confidence Estimate: Aggregated ensemble probability score (%) verifying clinical prediction certainty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16 of 19</a:t>
            </a:r>
          </a:p>
        </p:txBody>
      </p:sp>
      <p:sp>
        <p:nvSpPr>
          <p:cNvPr id="8" name="Shape 6"/>
          <p:cNvSpPr/>
          <p:nvPr/>
        </p:nvSpPr>
        <p:spPr>
          <a:xfrm>
            <a:off x="457200" y="1481328"/>
            <a:ext cx="11274552" cy="4937760"/>
          </a:xfrm>
          <a:prstGeom prst="roundRect">
            <a:avLst>
              <a:gd name="adj" fmla="val 1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12.png">    </p:cNvPr>
          <p:cNvPicPr>
            <a:picLocks noChangeAspect="1"/>
          </p:cNvPicPr>
          <p:nvPr/>
        </p:nvPicPr>
        <p:blipFill>
          <a:blip r:embed="rId1"/>
          <a:stretch>
            <a:fillRect/>
          </a:stretch>
        </p:blipFill>
        <p:spPr>
          <a:xfrm>
            <a:off x="3511753" y="1627632"/>
            <a:ext cx="5168189" cy="4114800"/>
          </a:xfrm>
          <a:prstGeom prst="rect">
            <a:avLst/>
          </a:prstGeom>
        </p:spPr>
      </p:pic>
      <p:sp>
        <p:nvSpPr>
          <p:cNvPr id="10" name="Text 7"/>
          <p:cNvSpPr txBox="1"/>
          <p:nvPr/>
        </p:nvSpPr>
        <p:spPr>
          <a:xfrm>
            <a:off x="777240" y="5797296"/>
            <a:ext cx="10607040" cy="457200"/>
          </a:xfrm>
          <a:prstGeom prst="rect">
            <a:avLst/>
          </a:prstGeom>
          <a:noFill/>
          <a:ln/>
        </p:spPr>
        <p:txBody>
          <a:bodyPr wrap="square" lIns="0" tIns="0" rIns="0" bIns="0" rtlCol="0" anchor="t"/>
          <a:lstStyle/>
          <a:p>
            <a:pPr algn="ctr" indent="0" marL="0">
              <a:lnSpc>
                <a:spcPct val="110000"/>
              </a:lnSpc>
              <a:buNone/>
            </a:pPr>
            <a:r>
              <a:rPr lang="en-US" sz="950" i="1" dirty="0">
                <a:solidFill>
                  <a:srgbClr val="5B6472"/>
                </a:solidFill>
                <a:latin typeface="Calibri" pitchFamily="34" charset="0"/>
                <a:ea typeface="Calibri" pitchFamily="34" charset="-122"/>
                <a:cs typeface="Calibri" pitchFamily="34" charset="-120"/>
              </a:rPr>
              <a:t>Three-stage pipeline: Data Preparation &amp; Partitioning → Model Building &amp; Ensemble → Deployment. TF-IDF is fit strictly on training data; the Flask deployment stage reuses the saved preprocessing + TF-IDF + ensemble pipeline.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t>CURRENT PROGRESS (PHASE 1 / SPRINT RELEASE I)</a:t>
            </a:r>
          </a:p>
          <a:p>
            <a:pPr>
              <a:spcAft>
                <a:spcPts val="300"/>
              </a:spcAft>
            </a:pPr>
            <a:r>
              <a:rPr sz="1000" b="1">
                <a:solidFill>
                  <a:srgbClr val="0B1F3A"/>
                </a:solidFill>
                <a:latin typeface="Calibri"/>
              </a:rPr>
              <a:t>✓ Literature Review &amp; Paper Benchmarking: </a:t>
            </a:r>
            <a:r>
              <a:rPr sz="950" b="0">
                <a:solidFill>
                  <a:srgbClr val="334155"/>
                </a:solidFill>
                <a:latin typeface="Calibri"/>
              </a:rPr>
              <a:t>Surveyed clinical NLP literature (Omar et al., Zhang et al., Blanchard et al.), establishing preprocessing standards.</a:t>
            </a:r>
          </a:p>
          <a:p>
            <a:pPr>
              <a:spcAft>
                <a:spcPts val="300"/>
              </a:spcAft>
            </a:pPr>
            <a:r>
              <a:rPr sz="1000" b="1">
                <a:solidFill>
                  <a:srgbClr val="0B1F3A"/>
                </a:solidFill>
                <a:latin typeface="Calibri"/>
              </a:rPr>
              <a:t>✓ Dataset Acquisition &amp; Cleaning Audit: </a:t>
            </a:r>
            <a:r>
              <a:rPr sz="950" b="0">
                <a:solidFill>
                  <a:srgbClr val="334155"/>
                </a:solidFill>
                <a:latin typeface="Calibri"/>
              </a:rPr>
              <a:t>Acquired Kaggle MTSamples (4,999 cases); identified and removed 33 empty transcription records.</a:t>
            </a:r>
          </a:p>
          <a:p>
            <a:pPr>
              <a:spcAft>
                <a:spcPts val="300"/>
              </a:spcAft>
            </a:pPr>
            <a:r>
              <a:rPr sz="1000" b="1">
                <a:solidFill>
                  <a:srgbClr val="0B1F3A"/>
                </a:solidFill>
                <a:latin typeface="Calibri"/>
              </a:rPr>
              <a:t>✓ Exploratory Data Analysis &amp; Visualization: </a:t>
            </a:r>
            <a:r>
              <a:rPr sz="950" b="0">
                <a:solidFill>
                  <a:srgbClr val="334155"/>
                </a:solidFill>
                <a:latin typeface="Calibri"/>
              </a:rPr>
              <a:t>Executed 6 statistical distributions covering missing values, token lengths, and specialty frequencies.</a:t>
            </a:r>
          </a:p>
          <a:p>
            <a:pPr>
              <a:spcAft>
                <a:spcPts val="300"/>
              </a:spcAft>
            </a:pPr>
            <a:r>
              <a:rPr sz="1000" b="1">
                <a:solidFill>
                  <a:srgbClr val="0B1F3A"/>
                </a:solidFill>
                <a:latin typeface="Calibri"/>
              </a:rPr>
              <a:t>✓ Class Imbalance Characterization: </a:t>
            </a:r>
            <a:r>
              <a:rPr sz="950" b="0">
                <a:solidFill>
                  <a:srgbClr val="334155"/>
                </a:solidFill>
                <a:latin typeface="Calibri"/>
              </a:rPr>
              <a:t>Audited extreme long-tail class skew across 40 medical specialties; formulated stratified sampling strategy.</a:t>
            </a:r>
          </a:p>
          <a:p>
            <a:pPr>
              <a:spcAft>
                <a:spcPts val="300"/>
              </a:spcAft>
            </a:pPr>
            <a:r>
              <a:rPr sz="1000" b="1">
                <a:solidFill>
                  <a:srgbClr val="0B1F3A"/>
                </a:solidFill>
                <a:latin typeface="Calibri"/>
              </a:rPr>
              <a:t>✓ NLP Cleaning Pipeline Design: </a:t>
            </a:r>
            <a:r>
              <a:rPr sz="950" b="0">
                <a:solidFill>
                  <a:srgbClr val="334155"/>
                </a:solidFill>
                <a:latin typeface="Calibri"/>
              </a:rPr>
              <a:t>Finalized sequence: Cleaning, Lowercasing, Alphanumeric Filtering, Stop-word Removal, and Lemmatization.</a:t>
            </a:r>
          </a:p>
          <a:p>
            <a:pPr>
              <a:spcAft>
                <a:spcPts val="300"/>
              </a:spcAft>
            </a:pPr>
            <a:r>
              <a:rPr sz="1000" b="1">
                <a:solidFill>
                  <a:srgbClr val="0B1F3A"/>
                </a:solidFill>
                <a:latin typeface="Calibri"/>
              </a:rPr>
              <a:t>✓ TF-IDF Architecture Formulation: </a:t>
            </a:r>
            <a:r>
              <a:rPr sz="950" b="0">
                <a:solidFill>
                  <a:srgbClr val="334155"/>
                </a:solidFill>
                <a:latin typeface="Calibri"/>
              </a:rPr>
              <a:t>Configured unigram/bigram tokenization with sublinear TF scaling and Euclidean L2 normalization.</a:t>
            </a:r>
          </a:p>
          <a:p>
            <a:pPr>
              <a:spcAft>
                <a:spcPts val="300"/>
              </a:spcAft>
            </a:pPr>
            <a:r>
              <a:rPr sz="1000" b="1">
                <a:solidFill>
                  <a:srgbClr val="0B1F3A"/>
                </a:solidFill>
                <a:latin typeface="Calibri"/>
              </a:rPr>
              <a:t>✓ Model &amp; Ensemble Formulation: </a:t>
            </a:r>
            <a:r>
              <a:rPr sz="950" b="0">
                <a:solidFill>
                  <a:srgbClr val="334155"/>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t>PLANNED NEXT STEPS (PHASE 2 / SPRINT RELEASE II &amp; III)</a:t>
            </a:r>
          </a:p>
          <a:p>
            <a:pPr>
              <a:spcAft>
                <a:spcPts val="300"/>
              </a:spcAft>
            </a:pPr>
            <a:r>
              <a:rPr sz="1000" b="1">
                <a:solidFill>
                  <a:srgbClr val="0B1F3A"/>
                </a:solidFill>
                <a:latin typeface="Calibri"/>
              </a:rPr>
              <a:t>→ Full Text Preprocessing Implementation: </a:t>
            </a:r>
            <a:r>
              <a:rPr sz="950" b="0">
                <a:solidFill>
                  <a:srgbClr val="334155"/>
                </a:solidFill>
                <a:latin typeface="Calibri"/>
              </a:rPr>
              <a:t>Execute the 8-step cleaning module across 4,966 records to produce normalized narrative corpus.</a:t>
            </a:r>
          </a:p>
          <a:p>
            <a:pPr>
              <a:spcAft>
                <a:spcPts val="300"/>
              </a:spcAft>
            </a:pPr>
            <a:r>
              <a:rPr sz="1000" b="1">
                <a:solidFill>
                  <a:srgbClr val="0B1F3A"/>
                </a:solidFill>
                <a:latin typeface="Calibri"/>
              </a:rPr>
              <a:t>→ TF-IDF Feature Matrix Generation: </a:t>
            </a:r>
            <a:r>
              <a:rPr sz="950" b="0">
                <a:solidFill>
                  <a:srgbClr val="334155"/>
                </a:solidFill>
                <a:latin typeface="Calibri"/>
              </a:rPr>
              <a:t>Fit vectorizer strictly on training partition (80:20 split) to eliminate data leakage; transform test set.</a:t>
            </a:r>
          </a:p>
          <a:p>
            <a:pPr>
              <a:spcAft>
                <a:spcPts val="300"/>
              </a:spcAft>
            </a:pPr>
            <a:r>
              <a:rPr sz="1000" b="1">
                <a:solidFill>
                  <a:srgbClr val="0B1F3A"/>
                </a:solidFill>
                <a:latin typeface="Calibri"/>
              </a:rPr>
              <a:t>→ Candidate Model Training &amp; Optimization: </a:t>
            </a:r>
            <a:r>
              <a:rPr sz="950" b="0">
                <a:solidFill>
                  <a:srgbClr val="334155"/>
                </a:solidFill>
                <a:latin typeface="Calibri"/>
              </a:rPr>
              <a:t>Train SVM, Random Forest, Logistic Regression, and Multinomial Naive Bayes classifiers.</a:t>
            </a:r>
          </a:p>
          <a:p>
            <a:pPr>
              <a:spcAft>
                <a:spcPts val="300"/>
              </a:spcAft>
            </a:pPr>
            <a:r>
              <a:rPr sz="1000" b="1">
                <a:solidFill>
                  <a:srgbClr val="0B1F3A"/>
                </a:solidFill>
                <a:latin typeface="Calibri"/>
              </a:rPr>
              <a:t>→ Soft Voting Ensemble Development: </a:t>
            </a:r>
            <a:r>
              <a:rPr sz="950" b="0">
                <a:solidFill>
                  <a:srgbClr val="334155"/>
                </a:solidFill>
                <a:latin typeface="Calibri"/>
              </a:rPr>
              <a:t>Implement weighted/soft probability aggregation combining decision outputs across all base estimators.</a:t>
            </a:r>
          </a:p>
          <a:p>
            <a:pPr>
              <a:spcAft>
                <a:spcPts val="300"/>
              </a:spcAft>
            </a:pPr>
            <a:r>
              <a:rPr sz="1000" b="1">
                <a:solidFill>
                  <a:srgbClr val="0B1F3A"/>
                </a:solidFill>
                <a:latin typeface="Calibri"/>
              </a:rPr>
              <a:t>→ Multi-Class Performance Evaluation: </a:t>
            </a:r>
            <a:r>
              <a:rPr sz="950" b="0">
                <a:solidFill>
                  <a:srgbClr val="334155"/>
                </a:solidFill>
                <a:latin typeface="Calibri"/>
              </a:rPr>
              <a:t>Benchmark multi-class Macro/Weighted Precision, Recall, F1-score, and cross-class Confusion Matrices.</a:t>
            </a:r>
          </a:p>
          <a:p>
            <a:pPr>
              <a:spcAft>
                <a:spcPts val="300"/>
              </a:spcAft>
            </a:pPr>
            <a:r>
              <a:rPr sz="1000" b="1">
                <a:solidFill>
                  <a:srgbClr val="0B1F3A"/>
                </a:solidFill>
                <a:latin typeface="Calibri"/>
              </a:rPr>
              <a:t>→ Pipeline Serialization &amp; Web Deployment: </a:t>
            </a:r>
            <a:r>
              <a:rPr sz="950" b="0">
                <a:solidFill>
                  <a:srgbClr val="334155"/>
                </a:solidFill>
                <a:latin typeface="Calibri"/>
              </a:rPr>
              <a:t>Serialize end-to-end pipeline with Joblib; construct interactive clinician dashboard using Flask.</a:t>
            </a:r>
          </a:p>
          <a:p>
            <a:pPr>
              <a:spcAft>
                <a:spcPts val="300"/>
              </a:spcAft>
            </a:pPr>
            <a:r>
              <a:rPr sz="1000" b="1">
                <a:solidFill>
                  <a:srgbClr val="0B1F3A"/>
                </a:solidFill>
                <a:latin typeface="Calibri"/>
              </a:rPr>
              <a:t>→ Validation &amp; Clinical Usability Testing: </a:t>
            </a:r>
            <a:r>
              <a:rPr sz="950" b="0">
                <a:solidFill>
                  <a:srgbClr val="334155"/>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t>PHASE 1: FOUNDATION &amp; SPRINT RELEASE I</a:t>
            </a:r>
          </a:p>
          <a:p>
            <a:pPr>
              <a:spcAft>
                <a:spcPts val="300"/>
              </a:spcAft>
            </a:pPr>
            <a:r>
              <a:rPr sz="950" b="1">
                <a:solidFill>
                  <a:srgbClr val="16A34A"/>
                </a:solidFill>
                <a:latin typeface="Calibri"/>
              </a:rPr>
              <a:t>✓  [17.07.2026]  Project Proposal &amp; Synopsis Approval by Guide
</a:t>
            </a:r>
            <a:r>
              <a:rPr sz="850" b="0">
                <a:solidFill>
                  <a:srgbClr val="334155"/>
                </a:solidFill>
                <a:latin typeface="Calibri"/>
              </a:rPr>
              <a:t>    Formal approval of project scope, objectives, and feasibility by faculty guide.</a:t>
            </a:r>
          </a:p>
          <a:p>
            <a:pPr>
              <a:spcAft>
                <a:spcPts val="300"/>
              </a:spcAft>
            </a:pPr>
            <a:r>
              <a:rPr sz="950" b="1">
                <a:solidFill>
                  <a:srgbClr val="16A34A"/>
                </a:solidFill>
                <a:latin typeface="Calibri"/>
              </a:rPr>
              <a:t>✓  [20.07.2026 – 21.07.2026]  Project Proposal Presentation
</a:t>
            </a:r>
            <a:r>
              <a:rPr sz="850" b="0">
                <a:solidFill>
                  <a:srgbClr val="334155"/>
                </a:solidFill>
                <a:latin typeface="Calibri"/>
              </a:rPr>
              <a:t>    Presented proposal before Department Project Approval Committee.</a:t>
            </a:r>
          </a:p>
          <a:p>
            <a:pPr>
              <a:spcAft>
                <a:spcPts val="300"/>
              </a:spcAft>
            </a:pPr>
            <a:r>
              <a:rPr sz="950" b="1">
                <a:solidFill>
                  <a:srgbClr val="16A34A"/>
                </a:solidFill>
                <a:latin typeface="Calibri"/>
              </a:rPr>
              <a:t>✓  [Weeks 1–2]  Dataset Collection &amp; Exploratory Data Analysis
</a:t>
            </a:r>
            <a:r>
              <a:rPr sz="850" b="0">
                <a:solidFill>
                  <a:srgbClr val="334155"/>
                </a:solidFill>
                <a:latin typeface="Calibri"/>
              </a:rPr>
              <a:t>    Acquired Kaggle MTSamples (4,999 records); audited nulls and generated 6 EDA plots.</a:t>
            </a:r>
          </a:p>
          <a:p>
            <a:pPr>
              <a:spcAft>
                <a:spcPts val="300"/>
              </a:spcAft>
            </a:pPr>
            <a:r>
              <a:rPr sz="950" b="1">
                <a:solidFill>
                  <a:srgbClr val="16A34A"/>
                </a:solidFill>
                <a:latin typeface="Calibri"/>
              </a:rPr>
              <a:t>✓  [Weeks 3–4]  Clinical Text Preprocessing Pipeline
</a:t>
            </a:r>
            <a:r>
              <a:rPr sz="850" b="0">
                <a:solidFill>
                  <a:srgbClr val="334155"/>
                </a:solidFill>
                <a:latin typeface="Calibri"/>
              </a:rPr>
              <a:t>    Designed 5-step sequence: Cleaning, Lowercasing, Tokenization, Stop-words, Lemmatization.</a:t>
            </a:r>
          </a:p>
          <a:p>
            <a:pPr>
              <a:spcAft>
                <a:spcPts val="300"/>
              </a:spcAft>
            </a:pPr>
            <a:r>
              <a:rPr sz="950" b="1">
                <a:solidFill>
                  <a:srgbClr val="16A34A"/>
                </a:solidFill>
                <a:latin typeface="Calibri"/>
              </a:rPr>
              <a:t>✓  [Week 5]  TF-IDF Vectorization Architecture
</a:t>
            </a:r>
            <a:r>
              <a:rPr sz="850" b="0">
                <a:solidFill>
                  <a:srgbClr val="334155"/>
                </a:solidFill>
                <a:latin typeface="Calibri"/>
              </a:rPr>
              <a:t>    Formulated unigram/bigram tokenization with sublinear scaling and sparse matrix layout.</a:t>
            </a:r>
          </a:p>
          <a:p>
            <a:pPr>
              <a:spcAft>
                <a:spcPts val="300"/>
              </a:spcAft>
            </a:pPr>
            <a:r>
              <a:rPr sz="950" b="1">
                <a:solidFill>
                  <a:srgbClr val="D97706"/>
                </a:solidFill>
                <a:latin typeface="Calibri"/>
              </a:rPr>
              <a:t>★  [08.09.2026]  First Project Presentation ★
</a:t>
            </a:r>
            <a:r>
              <a:rPr sz="850" b="0">
                <a:solidFill>
                  <a:srgbClr val="334155"/>
                </a:solidFill>
                <a:latin typeface="Calibri"/>
              </a:rPr>
              <a:t>    Current Milestone — Phase 1 Faculty Review &amp; Initial Progress Defense.</a:t>
            </a:r>
          </a:p>
          <a:p>
            <a:pPr>
              <a:spcAft>
                <a:spcPts val="300"/>
              </a:spcAft>
            </a:pPr>
            <a:r>
              <a:rPr sz="950" b="1">
                <a:solidFill>
                  <a:srgbClr val="D97706"/>
                </a:solidFill>
                <a:latin typeface="Calibri"/>
              </a:rPr>
              <a:t>★  [09.09.2026]  Sprint Release I ★
</a:t>
            </a:r>
            <a:r>
              <a:rPr sz="850" b="0">
                <a:solidFill>
                  <a:srgbClr val="334155"/>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t>PHASES 2 &amp; 3: MODEL BUILDING, ENSEMBLE &amp; DEPLOYMENT</a:t>
            </a:r>
          </a:p>
          <a:p>
            <a:pPr>
              <a:spcAft>
                <a:spcPts val="200"/>
              </a:spcAft>
            </a:pPr>
            <a:r>
              <a:rPr sz="919" b="1">
                <a:solidFill>
                  <a:srgbClr val="2563EB"/>
                </a:solidFill>
                <a:latin typeface="Calibri"/>
              </a:rPr>
              <a:t>→  [Week 6]  Candidate Model Training &amp; Baseline Evaluation
</a:t>
            </a:r>
            <a:r>
              <a:rPr sz="819" b="0">
                <a:solidFill>
                  <a:srgbClr val="334155"/>
                </a:solidFill>
                <a:latin typeface="Calibri"/>
              </a:rPr>
              <a:t>    Train SVM, Random Forest, Logistic Regression, and Multinomial Naive Bayes.</a:t>
            </a:r>
          </a:p>
          <a:p>
            <a:pPr>
              <a:spcAft>
                <a:spcPts val="200"/>
              </a:spcAft>
            </a:pPr>
            <a:r>
              <a:rPr sz="919" b="1">
                <a:solidFill>
                  <a:srgbClr val="D97706"/>
                </a:solidFill>
                <a:latin typeface="Calibri"/>
              </a:rPr>
              <a:t>★  [18.09.2026]  Sprint Release II ★
</a:t>
            </a:r>
            <a:r>
              <a:rPr sz="819" b="0">
                <a:solidFill>
                  <a:srgbClr val="334155"/>
                </a:solidFill>
                <a:latin typeface="Calibri"/>
              </a:rPr>
              <a:t>    Milestone release: Trained baseline classifiers and preliminary metrics.</a:t>
            </a:r>
          </a:p>
          <a:p>
            <a:pPr>
              <a:spcAft>
                <a:spcPts val="200"/>
              </a:spcAft>
            </a:pPr>
            <a:r>
              <a:rPr sz="919" b="1">
                <a:solidFill>
                  <a:srgbClr val="2563EB"/>
                </a:solidFill>
                <a:latin typeface="Calibri"/>
              </a:rPr>
              <a:t>→  [Week 7]  Hyperparameter Tuning &amp; Model Comparison
</a:t>
            </a:r>
            <a:r>
              <a:rPr sz="819" b="0">
                <a:solidFill>
                  <a:srgbClr val="334155"/>
                </a:solidFill>
                <a:latin typeface="Calibri"/>
              </a:rPr>
              <a:t>    Systematic tuning and comparative performance profiling across candidate estimators.</a:t>
            </a:r>
          </a:p>
          <a:p>
            <a:pPr>
              <a:spcAft>
                <a:spcPts val="200"/>
              </a:spcAft>
            </a:pPr>
            <a:r>
              <a:rPr sz="919" b="1">
                <a:solidFill>
                  <a:srgbClr val="2563EB"/>
                </a:solidFill>
                <a:latin typeface="Calibri"/>
              </a:rPr>
              <a:t>→  [Week 8]  Soft Voting Ensemble Implementation
</a:t>
            </a:r>
            <a:r>
              <a:rPr sz="819" b="0">
                <a:solidFill>
                  <a:srgbClr val="334155"/>
                </a:solidFill>
                <a:latin typeface="Calibri"/>
              </a:rPr>
              <a:t>    Construct soft voting ensemble; aggregate consensus probability distributions.</a:t>
            </a:r>
          </a:p>
          <a:p>
            <a:pPr>
              <a:spcAft>
                <a:spcPts val="200"/>
              </a:spcAft>
            </a:pPr>
            <a:r>
              <a:rPr sz="919" b="1">
                <a:solidFill>
                  <a:srgbClr val="D97706"/>
                </a:solidFill>
                <a:latin typeface="Calibri"/>
              </a:rPr>
              <a:t>★  [29.09.2026 – 30.09.2026]  Interim Project Presentation ★
</a:t>
            </a:r>
            <a:r>
              <a:rPr sz="819" b="0">
                <a:solidFill>
                  <a:srgbClr val="334155"/>
                </a:solidFill>
                <a:latin typeface="Calibri"/>
              </a:rPr>
              <a:t>    Progress review and working model demonstration before faculty committee.</a:t>
            </a:r>
          </a:p>
          <a:p>
            <a:pPr>
              <a:spcAft>
                <a:spcPts val="200"/>
              </a:spcAft>
            </a:pPr>
            <a:r>
              <a:rPr sz="919" b="1">
                <a:solidFill>
                  <a:srgbClr val="2563EB"/>
                </a:solidFill>
                <a:latin typeface="Calibri"/>
              </a:rPr>
              <a:t>→  [Week 9]  Flask Web Integration &amp; Serialization
</a:t>
            </a:r>
            <a:r>
              <a:rPr sz="819" b="0">
                <a:solidFill>
                  <a:srgbClr val="334155"/>
                </a:solidFill>
                <a:latin typeface="Calibri"/>
              </a:rPr>
              <a:t>    Serialize pipeline with Joblib; build interactive clinician UI for live inference.</a:t>
            </a:r>
          </a:p>
          <a:p>
            <a:pPr>
              <a:spcAft>
                <a:spcPts val="200"/>
              </a:spcAft>
            </a:pPr>
            <a:r>
              <a:rPr sz="919" b="1">
                <a:solidFill>
                  <a:srgbClr val="D97706"/>
                </a:solidFill>
                <a:latin typeface="Calibri"/>
              </a:rPr>
              <a:t>★  [09.10.2026]  Sprint Release III ★
</a:t>
            </a:r>
            <a:r>
              <a:rPr sz="819" b="0">
                <a:solidFill>
                  <a:srgbClr val="334155"/>
                </a:solidFill>
                <a:latin typeface="Calibri"/>
              </a:rPr>
              <a:t>    Integrated system release: Flask web application and serialized ensemble.</a:t>
            </a:r>
          </a:p>
          <a:p>
            <a:pPr>
              <a:spcAft>
                <a:spcPts val="200"/>
              </a:spcAft>
            </a:pPr>
            <a:r>
              <a:rPr sz="919" b="1">
                <a:solidFill>
                  <a:srgbClr val="2563EB"/>
                </a:solidFill>
                <a:latin typeface="Calibri"/>
              </a:rPr>
              <a:t>→  [Weeks 10–11]  Evaluation &amp; System Testing
</a:t>
            </a:r>
            <a:r>
              <a:rPr sz="819" b="0">
                <a:solidFill>
                  <a:srgbClr val="334155"/>
                </a:solidFill>
                <a:latin typeface="Calibri"/>
              </a:rPr>
              <a:t>    Multi-class metrics (Macro F1, Recall), confusion matrix analysis, and validation.</a:t>
            </a:r>
          </a:p>
          <a:p>
            <a:pPr>
              <a:spcAft>
                <a:spcPts val="200"/>
              </a:spcAft>
            </a:pPr>
            <a:r>
              <a:rPr sz="919" b="1">
                <a:solidFill>
                  <a:srgbClr val="D97706"/>
                </a:solidFill>
                <a:latin typeface="Calibri"/>
              </a:rPr>
              <a:t>★  [22.10.2026 – 23.10.2026]  Final Project Presentation ★
</a:t>
            </a:r>
            <a:r>
              <a:rPr sz="819" b="0">
                <a:solidFill>
                  <a:srgbClr val="334155"/>
                </a:solidFill>
                <a:latin typeface="Calibri"/>
              </a:rPr>
              <a:t>    Comprehensive final project defense before the examination board.</a:t>
            </a:r>
          </a:p>
          <a:p>
            <a:pPr>
              <a:spcAft>
                <a:spcPts val="200"/>
              </a:spcAft>
            </a:pPr>
            <a:r>
              <a:rPr sz="919" b="1">
                <a:solidFill>
                  <a:srgbClr val="D97706"/>
                </a:solidFill>
                <a:latin typeface="Calibri"/>
              </a:rPr>
              <a:t>★  [30.10.2026]  Final Report Submission ★
</a:t>
            </a:r>
            <a:r>
              <a:rPr sz="819" b="0">
                <a:solidFill>
                  <a:srgbClr val="334155"/>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