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A8B0A-486A-4F5C-9A30-DAD1018C9238}" v="319" dt="2026-09-30T04:19:58.1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C0CB15-CB13-4ED0-8ADE-237E9EA37CC7}" type="datetimeFigureOut">
              <a:t>29/09/2026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90BF78-C38C-4C9F-82B3-9CB2A3739A7E}" type="slidenum">
              <a:t>‹#›</a:t>
            </a:fld>
            <a:endParaRPr lang="en-GB"/>
          </a:p>
        </p:txBody>
      </p:sp>
    </p:spTree>
    <p:extLst>
      <p:ext uri="{BB962C8B-B14F-4D97-AF65-F5344CB8AC3E}">
        <p14:creationId xmlns:p14="http://schemas.microsoft.com/office/powerpoint/2010/main" val="3983984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"Respected Guide Prof. Biju Skaria, and esteemed members of the project review committee, good morning. I am Jiphin George, Register Number MAC25MCA-2033, Semester 3 MCA. Today, I am presenting the Interim Review for my Mini Project titled 'Medical Specialty Classification Using TF-IDF and Ensemble Machine Learning'. In Phase 1, we completed exploratory data analysis. In this Phase 2 review, I will present our complete machine learning pipeline: from our initial 40-class baseline experiments, failure mode diagnosis, dataset refinement, and class imbalance mitigation, to our final 8-specialty benchmarking where our models exceeded our target threshold of 75% accuracy, reaching 88.59% accuracy with Linear SVM and 87.99% with a Soft Voting Ensemble."</a:t>
            </a:r>
          </a:p>
          <a:p>
            <a:endParaRPr/>
          </a:p>
          <a:p>
            <a:r>
              <a:t>[KEY TECHNICAL TERMS]</a:t>
            </a:r>
          </a:p>
          <a:p>
            <a:r>
              <a:t>• Clinical NLP: AI and computational linguistics for processing unstructured doctor dictations.</a:t>
            </a:r>
          </a:p>
          <a:p>
            <a:r>
              <a:t>• Supervised ML: Learning a mapping from TF-IDF feature vectors to medical specialty labels.</a:t>
            </a:r>
          </a:p>
          <a:p>
            <a:r>
              <a:t>• Ensemble Learning: Combining multiple diverse estimators to reduce variance and improve generalization.</a:t>
            </a:r>
          </a:p>
          <a:p>
            <a:endParaRPr/>
          </a:p>
          <a:p>
            <a:r>
              <a:t>[VIVA Q&amp;A]</a:t>
            </a:r>
          </a:p>
          <a:p>
            <a:r>
              <a:t>Q: Why is automated medical specialty classification needed?</a:t>
            </a:r>
          </a:p>
          <a:p>
            <a:r>
              <a:t>A: Clinical dictations arrive as unstructured free text. Automated classification enables immediate electronic triage, routing reports to the correct clinical department and reducing administrative overhead.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clearly establish our project progression: Phase 1 was dedicated strictly to Exploratory Data Analysis. We explored the MTSamples corpus, checked data distributions, audited missing attributes, and discovered severe class imbalance. Crucially, NO machine learning models were trained or evaluated in Phase 1. Phase 2 marked the start of all engineering work: text preprocessing, baseline experiments, problem diagnosis, dataset curation, imbalance mitigation, and final model training."</a:t>
            </a:r>
          </a:p>
          <a:p>
            <a:endParaRPr/>
          </a:p>
          <a:p>
            <a:r>
              <a:t>[KEY TECHNICAL TERMS]</a:t>
            </a:r>
          </a:p>
          <a:p>
            <a:r>
              <a:t>• Exploratory Data Analysis (EDA): Initial statistical profiling without predictive modeling.</a:t>
            </a:r>
          </a:p>
          <a:p>
            <a:r>
              <a:t>• Scope Boundary: Strict separation between data characterization (Phase 1) and ML experimentation (Phase 2).</a:t>
            </a:r>
          </a:p>
          <a:p>
            <a:endParaRPr/>
          </a:p>
          <a:p>
            <a:r>
              <a:t>[VIVA Q&amp;A]</a:t>
            </a:r>
          </a:p>
          <a:p>
            <a:r>
              <a:t>Q: Did you do any model training in Phase 1?</a:t>
            </a:r>
          </a:p>
          <a:p>
            <a:r>
              <a:t>A: No. Phase 1 concluded after dataset inspection and class imbalance identification. All ML training and experimentation began in Phase 2.</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"When we initiated Phase 2, our very first experiment tested classifying all 40 raw categories directly. As the table shows, the baseline results collapsed: accuracies ranged from 7.85% for Random Forest to a maximum of only 27.39% for Balanced Logistic Regression. Unweighted Logistic Regression achieved 22.96% only because it predicted the majority class Surgery (22.2% of the dataset) for every sample. Random Forest collapsed to 7.85% due to 310,298 features across 3,971 training samples. These results proved the raw 40-class formulation was unviable."</a:t>
            </a:r>
          </a:p>
          <a:p>
            <a:endParaRPr/>
          </a:p>
          <a:p>
            <a:r>
              <a:t>[KEY TECHNICAL TERMS]</a:t>
            </a:r>
          </a:p>
          <a:p>
            <a:r>
              <a:t>• Trivial Classifier: Predicting the majority class to minimize training loss while failing on all minority classes.</a:t>
            </a:r>
          </a:p>
          <a:p>
            <a:r>
              <a:t>• Tree Subsampling Collapse: In Random Forest, sampling sqrt(310k) ~ 557 features almost always samples zeroes in sparse text.</a:t>
            </a:r>
          </a:p>
          <a:p>
            <a:endParaRPr/>
          </a:p>
          <a:p>
            <a:r>
              <a:t>[VIVA Q&amp;A]</a:t>
            </a:r>
          </a:p>
          <a:p>
            <a:r>
              <a:t>Q: Why did Balanced Logistic Regression get 27.39% while Random Forest got 7.85%?</a:t>
            </a:r>
          </a:p>
          <a:p>
            <a:r>
              <a:t>A: Logistic Regression optimizes weights globally across all features via dot products. Random Forest only samples ~557 random features at each tree split; in 310k sparse dimensions, random subsets rarely pick up informative clinical keywords.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understand why the 40-class models failed, we identified three core obstacles: First, Severe Class Imbalance: Surgery had 1,103 samples, whereas Autopsy had only 2, creating an extreme 184:1 ratio. Second, High-Dimensional Feature Explosion: Unconstrained TF-IDF generated 310,298 features for 3,971 training records (the 80% split of 4,964 cleaned records), creating an overwhelming 78:1 feature-to-sample ratio. Third, Clinical Label Ambiguity: The dataset mixed true medical specialties with document formats like SOAP notes, Consults, and Discharge Summaries that span all specialties, making mathematical separation impossible."</a:t>
            </a:r>
          </a:p>
          <a:p>
            <a:endParaRPr/>
          </a:p>
          <a:p>
            <a:r>
              <a:t>[KEY TECHNICAL TERMS]</a:t>
            </a:r>
          </a:p>
          <a:p>
            <a:r>
              <a:t>• Feature-to-Sample Ratio (p/n): Ratio of dimensions to records. At 78:1, severe data sparsity leads to extreme overfitting.</a:t>
            </a:r>
          </a:p>
          <a:p>
            <a:r>
              <a:t>• Document Format vs. Specialty: Specialties are anatomical systems; document formats are hospital documentation structures.</a:t>
            </a:r>
          </a:p>
          <a:p>
            <a:endParaRPr/>
          </a:p>
          <a:p>
            <a:r>
              <a:t>[VIVA Q&amp;A]</a:t>
            </a:r>
          </a:p>
          <a:p>
            <a:r>
              <a:t>Q: Where does the number 3,971 come from?</a:t>
            </a:r>
          </a:p>
          <a:p>
            <a:r>
              <a:t>A: In our cleaned 40-class dataset (4,964 records), applying an 80:20 train-test split yields exactly 3,971 training samples (4,964 * 0.8 = 3,971.2). TF-IDF was fitted on this training fold to avoid data leakage.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"We resolved these flaws through a three-stage iterative refinement during Phase 2: In Iteration 1, the raw 40-class problem failed (7.85%–27.39%). In Iteration 2, we tested threshold filtering by removing classes with under 50 samples, keeping 20 categories. Accuracy improved to 40%–50%, but Surgery still overlapped with operative specialties. In Iteration 3, we retained only pure, mutually exclusive organ-system clinical departments and eliminated administrative formats and broad procedure tags. This curated 8-specialty dataset of 1,663 records immediately elevated accuracy to between 77.48% and 88.59%."</a:t>
            </a:r>
          </a:p>
          <a:p>
            <a:endParaRPr/>
          </a:p>
          <a:p>
            <a:r>
              <a:t>[KEY TECHNICAL TERMS]</a:t>
            </a:r>
          </a:p>
          <a:p>
            <a:r>
              <a:t>• Threshold Pruning: Removing classes with insufficient sample support (&lt; 50).</a:t>
            </a:r>
          </a:p>
          <a:p>
            <a:r>
              <a:t>• Domain Mutuality: Defining categories such that the vocabulary of each class has minimal intersection with others.</a:t>
            </a:r>
          </a:p>
          <a:p>
            <a:endParaRPr/>
          </a:p>
          <a:p>
            <a:r>
              <a:t>[VIVA Q&amp;A]</a:t>
            </a:r>
          </a:p>
          <a:p>
            <a:r>
              <a:t>Q: Why didn't you stop at the 20-class dataset?</a:t>
            </a:r>
          </a:p>
          <a:p>
            <a:r>
              <a:t>A: The 20-class dataset still contained 'Surgery' and document formats. The classifier continually confused 'Surgery' with 'Orthopedic' and 'Neurosurgery', capping accuracy below 50%. The 8-class refinement provided true mutual exclusivity.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6 shows our final curated dataset of 1,663 authentic records across 8 core specialties. Cardiovascular/Pulmonary (371 records) and Orthopedic (355 records) are our largest classes, while ENT (96 records) and Ophthalmology (83 records) are our smallest. The imbalance ratio was successfully compressed from 184:1 down to 4.5:1. Every specialty maps directly to a distinct human anatomical organ system with its own diagnostic terminology."</a:t>
            </a:r>
          </a:p>
          <a:p>
            <a:endParaRPr/>
          </a:p>
          <a:p>
            <a:r>
              <a:t>[KEY TECHNICAL TERMS]</a:t>
            </a:r>
          </a:p>
          <a:p>
            <a:r>
              <a:t>• Imbalance Compression: Reducing class ratio from 184:1 to 4.5:1, making it solvable via cost-sensitive learning.</a:t>
            </a:r>
          </a:p>
          <a:p>
            <a:r>
              <a:t>• Anatomical Lexical Grounding: Grounding categories in anatomy guarantees domain-specific diagnostic terms.</a:t>
            </a:r>
          </a:p>
          <a:p>
            <a:endParaRPr/>
          </a:p>
          <a:p>
            <a:r>
              <a:t>[VIVA Q&amp;A]</a:t>
            </a:r>
          </a:p>
          <a:p>
            <a:r>
              <a:t>Q: Why combine Cardiovascular and Pulmonary?</a:t>
            </a:r>
          </a:p>
          <a:p>
            <a:r>
              <a:t>A: In the original Kaggle MTSamples archive, cardiopulmonary procedures are indexed together because the heart and lungs operate as an integrated cardiopulmonary unit in acute care.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vectorize clinical text, we first combined the short summary abstract with the full dictation narrative to capture both high-level diagnosis and procedure details. We cleaned punctuation, filtered medical stop-words, and applied WordNet lemmatization. For TF-IDF, we capped features at 8,000 unigrams and bigrams, applied sublinear scaling (1 + log(TF)) to dampen repetitive words, and used L2 normalization. Crucially, the vectorizer was fitted ONLY on the 1,330 training records to prevent data leakage, generating a 1,330 by 8,000 training matrix and a 333 by 8,000 testing matrix."</a:t>
            </a:r>
          </a:p>
          <a:p>
            <a:endParaRPr/>
          </a:p>
          <a:p>
            <a:r>
              <a:t>[KEY TECHNICAL TERMS]</a:t>
            </a:r>
          </a:p>
          <a:p>
            <a:r>
              <a:t>• Sublinear TF Scaling: Replaces raw term count with 1 + log(TF), dampening words repeated 20+ times.</a:t>
            </a:r>
          </a:p>
          <a:p>
            <a:r>
              <a:t>• Data Leakage Prevention: Fitting TF-IDF exclusively on training folds to ensure the test set represents true unseen clinical records.</a:t>
            </a:r>
          </a:p>
          <a:p>
            <a:endParaRPr/>
          </a:p>
          <a:p>
            <a:r>
              <a:t>[VIVA Q&amp;A]</a:t>
            </a:r>
          </a:p>
          <a:p>
            <a:r>
              <a:t>Q: Why unigrams AND bigrams (1, 2)?</a:t>
            </a:r>
          </a:p>
          <a:p>
            <a:r>
              <a:t>A: Medical compounds like 'coronary artery' or 'lumbar spine' carry specific diagnostic meaning that single isolated words lose.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"Even with 8 classes, Cardiovascular (371) is larger than Ophthalmology (83). To prevent majority bias, we applied three techniques during Phase 2: First, cost-sensitive learning via class_weight='balanced' across LR, SVM, and Random Forest, which penalizes minority errors 4.5 times more heavily. Second, SMOTE with k=3 applied strictly to the training fold. Third, Random Over-Sampling. Crucially, all resampling was confined strictly to training folds; our 333 test samples were kept completely uncorrupted."</a:t>
            </a:r>
          </a:p>
          <a:p>
            <a:endParaRPr/>
          </a:p>
          <a:p>
            <a:r>
              <a:t>[KEY TECHNICAL TERMS]</a:t>
            </a:r>
          </a:p>
          <a:p>
            <a:r>
              <a:t>• Cost-Sensitive Weighting: Scales penalty w_j = N / (K * n_j) inversely proportional to class frequency.</a:t>
            </a:r>
          </a:p>
          <a:p>
            <a:r>
              <a:t>• SMOTE (k=3): Synthesizes minority feature vectors along k-nearest neighbor line segments.</a:t>
            </a:r>
          </a:p>
          <a:p>
            <a:endParaRPr/>
          </a:p>
          <a:p>
            <a:r>
              <a:t>[VIVA Q&amp;A]</a:t>
            </a:r>
          </a:p>
          <a:p>
            <a:r>
              <a:t>Q: Why k=3 instead of 5 for SMOTE?</a:t>
            </a:r>
          </a:p>
          <a:p>
            <a:r>
              <a:t>A: In 8,000-dimensional sparse text, minority classes have sparse local neighborhoods. k=3 keeps synthetic points tightly constrained to authentic minority manifolds without crossing into other classes.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"We trained four core supervised ML algorithm families: 1. Linear SVM with C=1.0 and balanced class weights, finding the maximum-margin hyperplane in 8,000-dimensional sparse space. 2. Multinomial Logistic Regression, providing an interpretable log-odds probability baseline. 3. Random Forest with 100 trees and max_depth=25 to prevent memorization of sparse text. 4. Multinomial Naive Bayes with Laplace smoothing alpha=0.5. All models were trained on the identical 1,330 training matrix using fixed seed 42."</a:t>
            </a:r>
          </a:p>
          <a:p>
            <a:endParaRPr/>
          </a:p>
          <a:p>
            <a:r>
              <a:t>[KEY TECHNICAL TERMS]</a:t>
            </a:r>
          </a:p>
          <a:p>
            <a:r>
              <a:t>• Maximum-Margin Hyperplane: Linear decision boundary maximizing geometric distance to the closest training support vectors.</a:t>
            </a:r>
          </a:p>
          <a:p>
            <a:r>
              <a:t>• Laplace Smoothing (alpha=0.5): Prevents zero-probability traps for clinical words unseen during training.</a:t>
            </a:r>
          </a:p>
          <a:p>
            <a:endParaRPr/>
          </a:p>
          <a:p>
            <a:r>
              <a:t>[VIVA Q&amp;A]</a:t>
            </a:r>
          </a:p>
          <a:p>
            <a:r>
              <a:t>Q: Why LinearSVC instead of an RBF kernel?</a:t>
            </a:r>
          </a:p>
          <a:p>
            <a:r>
              <a:t>A: Text in 8,000 TF-IDF dimensions is already linearly separable. LinearSVC uses fast LIBLINEAR coordinate descent O(n*p); RBF kernels compute an N*N Gram matrix O(n^2), which is computationally expensive without improving accuracy.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"We investigated two ensemble architectures: Hard Voting uses simple majority vote across discrete predictions. Soft Voting aggregates predicted probability distributions. Because LinearSVC outputs raw signed margins, we applied CalibratedClassifierCV using Platt scaling to fit a logistic sigmoid over decision scores, obtaining true probabilities. We assigned empirical weights [LR:2, SVM:2, RF:1, MNB:1] to prioritize our top-performing linear models while leveraging tree and Bayesian diversity, achieving 87.99% accuracy and 0.8898 Macro F1."</a:t>
            </a:r>
          </a:p>
          <a:p>
            <a:endParaRPr/>
          </a:p>
          <a:p>
            <a:r>
              <a:t>[KEY TECHNICAL TERMS]</a:t>
            </a:r>
          </a:p>
          <a:p>
            <a:r>
              <a:t>• Platt Scaling: Calibrates raw margins into true probabilities P(y=1|f(x)) = 1 / (1 + exp(A*f(x) + B)).</a:t>
            </a:r>
          </a:p>
          <a:p>
            <a:r>
              <a:t>• Weighted Consensus: Divides the weighted probability sum by 6 to preserve valid probability distribution.</a:t>
            </a:r>
          </a:p>
          <a:p>
            <a:endParaRPr/>
          </a:p>
          <a:p>
            <a:r>
              <a:t>[VIVA Q&amp;A]</a:t>
            </a:r>
          </a:p>
          <a:p>
            <a:r>
              <a:t>Q: Why weights [2, 2, 1, 1] instead of [1, 1, 1, 1]?</a:t>
            </a:r>
          </a:p>
          <a:p>
            <a:r>
              <a:t>A: Linear SVM (88.59%) and LR (87.09%) performed significantly better than MNB (77.48%). Weighting them 2:2:1:1 ensures the strongest models lead consensus while RF and MNB assist in tie-breaking.</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11 presents our comparative benchmark across all models evaluated on our 333 held-out test records. Every model comfortably exceeded our project target of 75% accuracy. Linear SVM is our top individual model, reaching 88.59% accuracy and 0.8971 Macro F1. Soft Voting achieved 87.99% accuracy and 0.8898 Macro F1. Logistic Regression and Hard Voting reached 87.09%. Even Naive Bayes reached 77.48%. The chart on the right visually confirms all models exceeding the 75% red threshold line."</a:t>
            </a:r>
          </a:p>
          <a:p>
            <a:endParaRPr/>
          </a:p>
          <a:p>
            <a:r>
              <a:t>[KEY TECHNICAL TERMS]</a:t>
            </a:r>
          </a:p>
          <a:p>
            <a:r>
              <a:t>• Macro F1: Unweighted arithmetic average of F1 across all 8 classes; verifies that minority classes perform as well as majority classes.</a:t>
            </a:r>
          </a:p>
          <a:p>
            <a:r>
              <a:t>• Weighted F1: Support-weighted average of F1 reflecting the test distribution.</a:t>
            </a:r>
          </a:p>
          <a:p>
            <a:endParaRPr/>
          </a:p>
          <a:p>
            <a:r>
              <a:t>[VIVA Q&amp;A]</a:t>
            </a:r>
          </a:p>
          <a:p>
            <a:r>
              <a:t>Q: Why did Linear SVM outperform Soft Voting by 0.6%?</a:t>
            </a:r>
          </a:p>
          <a:p>
            <a:r>
              <a:t>A: Linear SVM's maximum-margin boundary is optimal for high-dimensional text. Soft Voting includes RF (81.98%) and MNB (77.48%), which slightly pulled down peak accuracy. However, Soft Voting provides calibrated continuous probabilities for clinical triage.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ea typeface="Calibri"/>
              <a:cs typeface="Calibri"/>
            </a:endParaRPr>
          </a:p>
          <a:p>
            <a:r>
              <a:rPr dirty="0"/>
              <a:t>"Slide 12 displays our 8x8 confusion matrix on 333 test samples. Notice the heavy concentration along the diagonal: 295 out of 333 predictions are correct. Ophthalmology achieved 17 out of 17 correct with zero false positives. There is zero confusion between unrelated domains like Ophthalmology and Cardiovascular. The primary clinical challenge is the boundary between Neurology and Orthopedics, accounting for 12 of the 38 total errors. This occurs because spine surgery (discectomy, radiculopathy) involves both vertebrae/facets (Orthopedics) and nerve roots/spinal cord (Neurology)."</a:t>
            </a:r>
            <a:endParaRPr dirty="0">
              <a:ea typeface="Calibri"/>
              <a:cs typeface="Calibri"/>
            </a:endParaRPr>
          </a:p>
          <a:p>
            <a:endParaRPr/>
          </a:p>
          <a:p>
            <a:r>
              <a:rPr dirty="0"/>
              <a:t>• Diagonal Dominance: True Positives along the diagonal confirm sharp discrimination.</a:t>
            </a:r>
            <a:endParaRPr dirty="0">
              <a:ea typeface="Calibri"/>
              <a:cs typeface="Calibri"/>
            </a:endParaRPr>
          </a:p>
          <a:p>
            <a:r>
              <a:rPr dirty="0"/>
              <a:t>• Neuro-Orthopedic Co-occurrence: Shared vocabulary in spinal pathology where bone and nerve tissues co-occur in the same operative note.</a:t>
            </a:r>
            <a:endParaRPr dirty="0">
              <a:ea typeface="Calibri"/>
              <a:cs typeface="Calibri"/>
            </a:endParaRPr>
          </a:p>
          <a:p>
            <a:endParaRPr/>
          </a:p>
          <a:p>
            <a:r>
              <a:rPr dirty="0"/>
              <a:t>Q: How can the Neurology vs Orthopedic confusion be addressed in the future?</a:t>
            </a:r>
            <a:endParaRPr dirty="0">
              <a:ea typeface="Calibri"/>
              <a:cs typeface="Calibri"/>
            </a:endParaRPr>
          </a:p>
          <a:p>
            <a:r>
              <a:rPr dirty="0"/>
              <a:t>A: In Phase 3, we can introduce a hierarchical sub-classifier: when primary confidence is split between Neurology and Orthopedic, a specialist sub-model trained strictly on cranial vs spine vs joint keywords can resolve the tie.</a:t>
            </a:r>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lang="en-US" dirty="0">
              <a:ea typeface="Calibri"/>
              <a:cs typeface="Calibri"/>
            </a:endParaRPr>
          </a:p>
          <a:p>
            <a:r>
              <a:rPr dirty="0"/>
              <a:t>"Slide 13 provides the per-class classification report for our top model, Linear SVM. Ophthalmology achieved a perfect 1.00 F1-score with 100% precision and recall across all 17 test samples. Urology achieved 0.97 precision and 0.93 F1, while OB/GYN reached 0.93 precision and 0.92 F1. Our largest classes—Cardiovascular (0.90 F1) and Orthopedic (0.89 F1)—maintained high recall without over-predicting. ENT reached 0.94 precision on just 19 test records. Our macro average across all 8 classes reached 0.91 Precision, 0.89 Recall, and 0.90 F1-score."</a:t>
            </a:r>
            <a:endParaRPr dirty="0">
              <a:ea typeface="Calibri"/>
              <a:cs typeface="Calibri"/>
            </a:endParaRPr>
          </a:p>
          <a:p>
            <a:endParaRPr lang="en-GB" dirty="0"/>
          </a:p>
          <a:p>
            <a:r>
              <a:rPr dirty="0"/>
              <a:t>• Precision: Proportion of predicted positives that are true positives (Urology 0.97 means 97% of predictions are correct).</a:t>
            </a:r>
            <a:endParaRPr dirty="0">
              <a:ea typeface="Calibri"/>
              <a:cs typeface="Calibri"/>
            </a:endParaRPr>
          </a:p>
          <a:p>
            <a:r>
              <a:rPr dirty="0"/>
              <a:t>• Recall: Proportion of actual positives identified (Cardiovascular 0.92 means 92% of true cases caught).</a:t>
            </a:r>
            <a:endParaRPr dirty="0">
              <a:ea typeface="Calibri"/>
              <a:cs typeface="Calibri"/>
            </a:endParaRPr>
          </a:p>
          <a:p>
            <a:endParaRPr/>
          </a:p>
          <a:p>
            <a:r>
              <a:rPr dirty="0"/>
              <a:t>[VIVA Q&amp;A]</a:t>
            </a:r>
            <a:endParaRPr dirty="0">
              <a:ea typeface="Calibri"/>
              <a:cs typeface="Calibri"/>
            </a:endParaRPr>
          </a:p>
          <a:p>
            <a:r>
              <a:rPr dirty="0"/>
              <a:t>Q: Why is Neurology F1 lower (0.77)?</a:t>
            </a:r>
            <a:endParaRPr dirty="0">
              <a:ea typeface="Calibri"/>
              <a:cs typeface="Calibri"/>
            </a:endParaRPr>
          </a:p>
          <a:p>
            <a:r>
              <a:rPr dirty="0"/>
              <a:t>A: Due to the 12 neuro-orthopedic spine surgical misclassifications. Excluding spine surgeries, cranial, stroke, and seizure cases were classified with near 100% accuracy.</a:t>
            </a:r>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summarize our key findings from Phase 2: 1. The raw 40-class problem failed (7.85% to 27.39%), confirming clinical refinement was mandatory. 2. Extreme class imbalance caused unweighted models to predict only Surgery. 3. 310,000 unconstrained TF-IDF features created a sparsity trap, collapsing Random Forest to 7.85%. 4. Pruning non-specialty formats removed cross-cutting noise. 5. The curated 8-specialty dataset achieved 77% to 89% accuracy. 6. Linear SVM won by &gt;6.6% over Random Forest because linear hyperplanes excel on high-dimensional text. 7. Soft voting produced robust calibrated probabilities. 8. Limiting TF-IDF to 8,000 features reduced file sizes from 198 MB to 11.9 MB, enabling sub-15ms CPU inference."</a:t>
            </a:r>
          </a:p>
          <a:p>
            <a:endParaRPr/>
          </a:p>
          <a:p>
            <a:r>
              <a:t>[KEY TECHNICAL TERMS]</a:t>
            </a:r>
          </a:p>
          <a:p>
            <a:r>
              <a:t>• Linear Separability (Cover's Theorem): Complex text patterns mapped into 8,000 dimensions are linearly separable.</a:t>
            </a:r>
          </a:p>
          <a:p>
            <a:r>
              <a:t>• Sublinear Dampening: Prevents high-frequency clinical boilerplate from distorting vector products.</a:t>
            </a:r>
          </a:p>
          <a:p>
            <a:endParaRPr/>
          </a:p>
          <a:p>
            <a:r>
              <a:t>[VIVA Q&amp;A]</a:t>
            </a:r>
          </a:p>
          <a:p>
            <a:r>
              <a:t>Q: Why did decision trees struggle with TF-IDF text?</a:t>
            </a:r>
          </a:p>
          <a:p>
            <a:r>
              <a:t>A: Decision trees split on single features along orthogonal axes (x_i &gt;= c). High-dimensional text classification relies on combinations of dozens of co-occurring words, which linear hyperplanes evaluate simultaneously.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"Slide 15 presents our complete project timeline and milestone schedule from initial proposal through final defense, highlighting our strict phase demarcation:</a:t>
            </a:r>
          </a:p>
          <a:p>
            <a:r>
              <a:t>In Phase 1, we completed our Project Proposal approval on 17 July and presentation on 20 July, followed by dataset collection and exploratory data analysis across Weeks 1 and 2 where we uncovered the 184:1 class imbalance. This culminated in our First Project Presentation on 8 September and Sprint Release I on 9 September.</a:t>
            </a:r>
          </a:p>
          <a:p>
            <a:r>
              <a:t>In Phase 2, which commenced right after Sprint Release I, we tackled the core machine learning challenges: evaluating the raw 40-class baseline, resolving the 310,000-feature sparsity trap, curating 8 distinct specialties, and engineering 8,000 TF-IDF features. In Week 6, we trained our candidate classifiers, submitted Sprint Release II on 18 September, executed hyperparameter tuning and imbalance mitigation in Week 7, and constructed our Soft Voting ensemble and 11.9 MB serialized pipeline in Week 8—leading directly to today's Interim Presentation on 29–30 September.</a:t>
            </a:r>
          </a:p>
          <a:p>
            <a:r>
              <a:t>Looking ahead to Phase 3: In Week 9, we integrate our serialized models into a Flask REST API service and clinician web dashboard; on 9 October, we deliver Sprint Release III; in Weeks 10 and 11, we conduct end-to-end usability and latency testing; culminating in our Final Project Defense on 22–23 October and Final Report Submission on 30 October 2026."</a:t>
            </a:r>
          </a:p>
          <a:p>
            <a:endParaRPr/>
          </a:p>
          <a:p>
            <a:r>
              <a:t>[KEY TECHNICAL TERMS]</a:t>
            </a:r>
          </a:p>
          <a:p>
            <a:r>
              <a:t>• Phase Demarcation: Strict separation between Phase 1 (EDA and data understanding), Phase 2 (machine learning experimentation, feature engineering, and ensemble formulation), and Phase 3 (Flask web application deployment and usability testing).</a:t>
            </a:r>
          </a:p>
          <a:p>
            <a:r>
              <a:t>• Model Serialization: Storing trained model weights and vectorizer vocabulary to disk (11.9 MB total) ready for immediate import into the Phase 3 web server.</a:t>
            </a:r>
          </a:p>
          <a:p>
            <a:endParaRPr/>
          </a:p>
          <a:p>
            <a:r>
              <a:t>[VIVA Q&amp;A]</a:t>
            </a:r>
          </a:p>
          <a:p>
            <a:r>
              <a:t>Q: Why was machine learning model training not included in Phase 1?</a:t>
            </a:r>
          </a:p>
          <a:p>
            <a:r>
              <a:t>A: In accordance with our MCA project syllabus and sprint methodology, Phase 1 was strictly dedicated to dataset collection, clinical literature review, data inspection, and exploratory data analysis to discover data quality issues such as the 184:1 class imbalance. All algorithmic implementation, baseline evaluations, and ensemble modeling began in Phase 2.</a:t>
            </a:r>
          </a:p>
          <a:p>
            <a:r>
              <a:t>Q: How will the system be tested in Phase 3?</a:t>
            </a:r>
          </a:p>
          <a:p>
            <a:r>
              <a:t>A: In Weeks 10–11, we will test the complete end-to-end pipeline: pasting raw clinical dictations through the Flask interface, verifying sub-15ms response latency, evaluating edge cases with confidence thresholds (&lt; 0.65), and ensuring cross-browser stability.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a:t>
            </a:r>
          </a:p>
          <a:p>
            <a:r>
              <a:t>"To conclude our Phase 2 Interim Defense: Phase 1 established our dataset characteristics and uncovered class imbalance through exploratory data analysis. In Phase 2, we transformed those findings into a rigorous machine learning pipeline: we demonstrated the failure of the raw 40-class baseline, diagnosed the root causes, curated 8 mutually exclusive clinical specialties, applied imbalance mitigation, and benchmarked four core algorithms and voting ensembles. We achieved our primary project objective: exceeding the 75% target threshold to reach 88.59% accuracy with Linear SVM and 87.99% accuracy with our Soft Voting Ensemble, supported by an ultra-lightweight 11.9 MB deployment footprint. I express my sincere gratitude to my project guide, Prof. Biju Skaria, and the Department of Computer Applications for their guidance. Thank you, and I am now open to your questions, suggestions, and feedback."</a:t>
            </a:r>
          </a:p>
          <a:p>
            <a:endParaRPr/>
          </a:p>
          <a:p>
            <a:r>
              <a:t>[KEY TAKEAWAYS]</a:t>
            </a:r>
          </a:p>
          <a:p>
            <a:r>
              <a:t>• 8 Mutually Exclusive Specialties</a:t>
            </a:r>
          </a:p>
          <a:p>
            <a:r>
              <a:t>• 8,000 TF-IDF Features with Sublinear Scaling</a:t>
            </a:r>
          </a:p>
          <a:p>
            <a:r>
              <a:t>• 88.59% Accuracy (Linear SVM) &amp; 87.99% (Soft Voting)</a:t>
            </a:r>
          </a:p>
          <a:p>
            <a:r>
              <a:t>• 11.9 MB Ultra-lightweight Deployment Footprint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822960" y="457200"/>
            <a:ext cx="10543032" cy="365760"/>
          </a:xfrm>
          <a:prstGeom prst="rect">
            <a:avLst/>
          </a:prstGeom>
          <a:noFill/>
        </p:spPr>
        <p:txBody>
          <a:bodyPr wrap="none">
            <a:spAutoFit/>
          </a:bodyPr>
          <a:lstStyle/>
          <a:p>
            <a:pPr>
              <a:defRPr sz="1300" b="1">
                <a:solidFill>
                  <a:srgbClr val="94A3B8"/>
                </a:solidFill>
                <a:latin typeface="Calibri"/>
              </a:defRPr>
            </a:pPr>
            <a:r>
              <a:t>MAR ATHANASIUS COLLEGE OF ENGINEERING, KOTHAMANGALAM</a:t>
            </a:r>
          </a:p>
        </p:txBody>
      </p:sp>
      <p:sp>
        <p:nvSpPr>
          <p:cNvPr id="3" name="Rounded Rectangle 2"/>
          <p:cNvSpPr/>
          <p:nvPr/>
        </p:nvSpPr>
        <p:spPr>
          <a:xfrm>
            <a:off x="822960" y="960120"/>
            <a:ext cx="4937760" cy="38404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MCA MINI PROJECT  |  INTERIM PRESENTATION</a:t>
            </a:r>
          </a:p>
        </p:txBody>
      </p:sp>
      <p:sp>
        <p:nvSpPr>
          <p:cNvPr id="4" name="TextBox 3"/>
          <p:cNvSpPr txBox="1"/>
          <p:nvPr/>
        </p:nvSpPr>
        <p:spPr>
          <a:xfrm>
            <a:off x="822960" y="1508760"/>
            <a:ext cx="10543032" cy="1463040"/>
          </a:xfrm>
          <a:prstGeom prst="rect">
            <a:avLst/>
          </a:prstGeom>
          <a:noFill/>
        </p:spPr>
        <p:txBody>
          <a:bodyPr wrap="square">
            <a:spAutoFit/>
          </a:bodyPr>
          <a:lstStyle/>
          <a:p>
            <a:pPr>
              <a:defRPr sz="3200" b="1">
                <a:solidFill>
                  <a:srgbClr val="FFFFFF"/>
                </a:solidFill>
                <a:latin typeface="Cambria"/>
              </a:defRPr>
            </a:pPr>
            <a:r>
              <a:t>Medical Specialty Classification Using TF-IDF and Ensemble Machine Learning</a:t>
            </a:r>
          </a:p>
          <a:p>
            <a:pPr>
              <a:spcBef>
                <a:spcPts val="800"/>
              </a:spcBef>
              <a:defRPr sz="1700">
                <a:solidFill>
                  <a:srgbClr val="38BDF8"/>
                </a:solidFill>
                <a:latin typeface="Calibri"/>
              </a:defRPr>
            </a:pPr>
            <a:r>
              <a:t>Phase 2: Model Training, Class Imbalance Mitigation &amp; Ensemble Evaluation</a:t>
            </a:r>
          </a:p>
        </p:txBody>
      </p:sp>
      <p:sp>
        <p:nvSpPr>
          <p:cNvPr id="5" name="Rounded Rectangle 4"/>
          <p:cNvSpPr/>
          <p:nvPr/>
        </p:nvSpPr>
        <p:spPr>
          <a:xfrm>
            <a:off x="822960" y="3291840"/>
            <a:ext cx="5120640" cy="2148840"/>
          </a:xfrm>
          <a:prstGeom prst="roundRect">
            <a:avLst/>
          </a:prstGeom>
          <a:solidFill>
            <a:srgbClr val="112240"/>
          </a:solidFill>
          <a:ln>
            <a:solidFill>
              <a:srgbClr val="133254"/>
            </a:solidFill>
          </a:ln>
        </p:spPr>
        <p:style>
          <a:lnRef idx="1">
            <a:schemeClr val="accent1"/>
          </a:lnRef>
          <a:fillRef idx="3">
            <a:schemeClr val="accent1"/>
          </a:fillRef>
          <a:effectRef idx="2">
            <a:schemeClr val="accent1"/>
          </a:effectRef>
          <a:fontRef idx="minor">
            <a:schemeClr val="lt1"/>
          </a:fontRef>
        </p:style>
        <p:txBody>
          <a:bodyPr lIns="320040" tIns="228600" rtlCol="0" anchor="ctr"/>
          <a:lstStyle/>
          <a:p>
            <a:pPr algn="ctr">
              <a:defRPr sz="1100" b="1">
                <a:solidFill>
                  <a:srgbClr val="0E7C86"/>
                </a:solidFill>
                <a:latin typeface="Calibri"/>
              </a:defRPr>
            </a:pPr>
            <a:r>
              <a:t>PRESENTED BY</a:t>
            </a:r>
          </a:p>
          <a:p>
            <a:pPr>
              <a:spcBef>
                <a:spcPts val="400"/>
              </a:spcBef>
              <a:defRPr sz="2000" b="1">
                <a:solidFill>
                  <a:srgbClr val="FFFFFF"/>
                </a:solidFill>
                <a:latin typeface="Cambria"/>
              </a:defRPr>
            </a:pPr>
            <a:r>
              <a:t>Jiphin George</a:t>
            </a:r>
          </a:p>
          <a:p>
            <a:pPr>
              <a:spcBef>
                <a:spcPts val="600"/>
              </a:spcBef>
              <a:defRPr sz="1200">
                <a:solidFill>
                  <a:srgbClr val="CBD5E1"/>
                </a:solidFill>
                <a:latin typeface="Calibri"/>
              </a:defRPr>
            </a:pPr>
            <a:r>
              <a:t>Register No: MAC25MCA-2033</a:t>
            </a:r>
            <a:br/>
            <a:r>
              <a:t>Course: Master of Computer Applications (MCA)</a:t>
            </a:r>
            <a:br/>
            <a:r>
              <a:t>Department of Computer Applications</a:t>
            </a:r>
          </a:p>
        </p:txBody>
      </p:sp>
      <p:sp>
        <p:nvSpPr>
          <p:cNvPr id="6" name="Rounded Rectangle 5"/>
          <p:cNvSpPr/>
          <p:nvPr/>
        </p:nvSpPr>
        <p:spPr>
          <a:xfrm>
            <a:off x="6245352" y="3291840"/>
            <a:ext cx="5120640" cy="2148840"/>
          </a:xfrm>
          <a:prstGeom prst="roundRect">
            <a:avLst/>
          </a:prstGeom>
          <a:solidFill>
            <a:srgbClr val="112240"/>
          </a:solidFill>
          <a:ln>
            <a:solidFill>
              <a:srgbClr val="133254"/>
            </a:solidFill>
          </a:ln>
        </p:spPr>
        <p:style>
          <a:lnRef idx="1">
            <a:schemeClr val="accent1"/>
          </a:lnRef>
          <a:fillRef idx="3">
            <a:schemeClr val="accent1"/>
          </a:fillRef>
          <a:effectRef idx="2">
            <a:schemeClr val="accent1"/>
          </a:effectRef>
          <a:fontRef idx="minor">
            <a:schemeClr val="lt1"/>
          </a:fontRef>
        </p:style>
        <p:txBody>
          <a:bodyPr lIns="320040" tIns="228600" rtlCol="0" anchor="ctr"/>
          <a:lstStyle/>
          <a:p>
            <a:pPr algn="ctr">
              <a:defRPr sz="1100" b="1">
                <a:solidFill>
                  <a:srgbClr val="0E7C86"/>
                </a:solidFill>
                <a:latin typeface="Calibri"/>
              </a:defRPr>
            </a:pPr>
            <a:r>
              <a:t>PROJECT GUIDE</a:t>
            </a:r>
          </a:p>
          <a:p>
            <a:pPr>
              <a:spcBef>
                <a:spcPts val="400"/>
              </a:spcBef>
              <a:defRPr sz="2000" b="1">
                <a:solidFill>
                  <a:srgbClr val="FFFFFF"/>
                </a:solidFill>
                <a:latin typeface="Cambria"/>
              </a:defRPr>
            </a:pPr>
            <a:r>
              <a:t>Prof. Biju Skaria</a:t>
            </a:r>
          </a:p>
          <a:p>
            <a:pPr>
              <a:spcBef>
                <a:spcPts val="600"/>
              </a:spcBef>
              <a:defRPr sz="1200">
                <a:solidFill>
                  <a:srgbClr val="CBD5E1"/>
                </a:solidFill>
                <a:latin typeface="Calibri"/>
              </a:defRPr>
            </a:pPr>
            <a:r>
              <a:t>Department of Computer Applications</a:t>
            </a:r>
            <a:br/>
            <a:r>
              <a:t>Mar Athanasius College of Engineering, Kothamangalam</a:t>
            </a:r>
            <a:br/>
            <a:r>
              <a:t>Date of Presentation: 30-09-2026</a:t>
            </a:r>
          </a:p>
        </p:txBody>
      </p:sp>
      <p:sp>
        <p:nvSpPr>
          <p:cNvPr id="7" name="Rounded Rectangle 6"/>
          <p:cNvSpPr/>
          <p:nvPr/>
        </p:nvSpPr>
        <p:spPr>
          <a:xfrm>
            <a:off x="822960" y="5715000"/>
            <a:ext cx="2039112" cy="384048"/>
          </a:xfrm>
          <a:prstGeom prst="roundRect">
            <a:avLst/>
          </a:prstGeom>
          <a:solidFill>
            <a:srgbClr val="13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38BDF8"/>
                </a:solidFill>
                <a:latin typeface="Calibri"/>
              </a:defRPr>
            </a:pPr>
            <a:r>
              <a:t>Clinical NLP</a:t>
            </a:r>
          </a:p>
        </p:txBody>
      </p:sp>
      <p:sp>
        <p:nvSpPr>
          <p:cNvPr id="8" name="Rounded Rectangle 7"/>
          <p:cNvSpPr/>
          <p:nvPr/>
        </p:nvSpPr>
        <p:spPr>
          <a:xfrm>
            <a:off x="2971800" y="5715000"/>
            <a:ext cx="2039112" cy="384048"/>
          </a:xfrm>
          <a:prstGeom prst="roundRect">
            <a:avLst/>
          </a:prstGeom>
          <a:solidFill>
            <a:srgbClr val="13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38BDF8"/>
                </a:solidFill>
                <a:latin typeface="Calibri"/>
              </a:defRPr>
            </a:pPr>
            <a:r>
              <a:t>Imbalance Mitigation</a:t>
            </a:r>
          </a:p>
        </p:txBody>
      </p:sp>
      <p:sp>
        <p:nvSpPr>
          <p:cNvPr id="9" name="Rounded Rectangle 8"/>
          <p:cNvSpPr/>
          <p:nvPr/>
        </p:nvSpPr>
        <p:spPr>
          <a:xfrm>
            <a:off x="5120640" y="5715000"/>
            <a:ext cx="2039112" cy="384048"/>
          </a:xfrm>
          <a:prstGeom prst="roundRect">
            <a:avLst/>
          </a:prstGeom>
          <a:solidFill>
            <a:srgbClr val="13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38BDF8"/>
                </a:solidFill>
                <a:latin typeface="Calibri"/>
              </a:defRPr>
            </a:pPr>
            <a:r>
              <a:t>LR, SVM, RF, MNB</a:t>
            </a:r>
          </a:p>
        </p:txBody>
      </p:sp>
      <p:sp>
        <p:nvSpPr>
          <p:cNvPr id="10" name="Rounded Rectangle 9"/>
          <p:cNvSpPr/>
          <p:nvPr/>
        </p:nvSpPr>
        <p:spPr>
          <a:xfrm>
            <a:off x="7269480" y="5715000"/>
            <a:ext cx="2039112" cy="384048"/>
          </a:xfrm>
          <a:prstGeom prst="roundRect">
            <a:avLst/>
          </a:prstGeom>
          <a:solidFill>
            <a:srgbClr val="13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38BDF8"/>
                </a:solidFill>
                <a:latin typeface="Calibri"/>
              </a:defRPr>
            </a:pPr>
            <a:r>
              <a:t>Voting Ensembles</a:t>
            </a:r>
          </a:p>
        </p:txBody>
      </p:sp>
      <p:sp>
        <p:nvSpPr>
          <p:cNvPr id="11" name="Rounded Rectangle 10"/>
          <p:cNvSpPr/>
          <p:nvPr/>
        </p:nvSpPr>
        <p:spPr>
          <a:xfrm>
            <a:off x="9418320" y="5715000"/>
            <a:ext cx="2039112" cy="384048"/>
          </a:xfrm>
          <a:prstGeom prst="roundRect">
            <a:avLst/>
          </a:prstGeom>
          <a:solidFill>
            <a:srgbClr val="1332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38BDF8"/>
                </a:solidFill>
                <a:latin typeface="Calibri"/>
              </a:defRPr>
            </a:pPr>
            <a:r>
              <a:t>Date: 30-09-2026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PROJECT RECAP &amp; BRIDGE</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Project Recap &amp; Phase 1 Bridge</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2 of 16</a:t>
            </a:r>
          </a:p>
        </p:txBody>
      </p:sp>
      <p:sp>
        <p:nvSpPr>
          <p:cNvPr id="8" name="Rounded Rectangle 7"/>
          <p:cNvSpPr/>
          <p:nvPr/>
        </p:nvSpPr>
        <p:spPr>
          <a:xfrm>
            <a:off x="548640" y="1325880"/>
            <a:ext cx="11091672" cy="594360"/>
          </a:xfrm>
          <a:prstGeom prst="roundRect">
            <a:avLst/>
          </a:prstGeom>
          <a:solidFill>
            <a:srgbClr val="EEF2F6"/>
          </a:solidFill>
          <a:ln>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0B1F3A"/>
                </a:solidFill>
                <a:latin typeface="Calibri"/>
              </a:defRPr>
            </a:pPr>
            <a:r>
              <a:t>Phase 1: EDA &amp; Problem Identification  →  Phase 2: Preprocessing → Baselines → Refinement → ML Training → Ensemble Evaluation</a:t>
            </a:r>
          </a:p>
        </p:txBody>
      </p:sp>
      <p:sp>
        <p:nvSpPr>
          <p:cNvPr id="9" name="Rounded Rectangle 8"/>
          <p:cNvSpPr/>
          <p:nvPr/>
        </p:nvSpPr>
        <p:spPr>
          <a:xfrm>
            <a:off x="548640" y="2103120"/>
            <a:ext cx="5394960" cy="41148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240280"/>
            <a:ext cx="4937760" cy="3213700"/>
          </a:xfrm>
          <a:prstGeom prst="rect">
            <a:avLst/>
          </a:prstGeom>
          <a:noFill/>
        </p:spPr>
        <p:txBody>
          <a:bodyPr wrap="square" lIns="91440" tIns="45720" rIns="91440" bIns="45720" anchor="t">
            <a:spAutoFit/>
          </a:bodyPr>
          <a:lstStyle/>
          <a:p>
            <a:pPr>
              <a:defRPr sz="1400" b="1">
                <a:solidFill>
                  <a:srgbClr val="0B1F3A"/>
                </a:solidFill>
                <a:latin typeface="Cambria"/>
              </a:defRPr>
            </a:pPr>
            <a:r>
              <a:rPr dirty="0"/>
              <a:t>Phase 1: Exploratory Data Analysis (Completed)</a:t>
            </a:r>
          </a:p>
          <a:p>
            <a:pPr>
              <a:spcBef>
                <a:spcPts val="500"/>
              </a:spcBef>
              <a:defRPr sz="1000" b="1">
                <a:solidFill>
                  <a:srgbClr val="0B1F3A"/>
                </a:solidFill>
                <a:latin typeface="Calibri"/>
              </a:defRPr>
            </a:pPr>
            <a:r>
              <a:rPr sz="1400" dirty="0"/>
              <a:t>• Focus of Phase 1: </a:t>
            </a:r>
            <a:r>
              <a:rPr sz="1400" b="0" dirty="0">
                <a:solidFill>
                  <a:srgbClr val="1E293B"/>
                </a:solidFill>
              </a:rPr>
              <a:t>Phase 1 focused strictly on Exploratory Data Analysis of the Kaggle </a:t>
            </a:r>
            <a:r>
              <a:rPr sz="1400" b="0" dirty="0" err="1">
                <a:solidFill>
                  <a:srgbClr val="1E293B"/>
                </a:solidFill>
              </a:rPr>
              <a:t>MTSamples</a:t>
            </a:r>
            <a:r>
              <a:rPr sz="1400" b="0" dirty="0">
                <a:solidFill>
                  <a:srgbClr val="1E293B"/>
                </a:solidFill>
              </a:rPr>
              <a:t> clinical dataset.</a:t>
            </a:r>
            <a:endParaRPr sz="1400" b="0" dirty="0">
              <a:solidFill>
                <a:srgbClr val="1E293B"/>
              </a:solidFill>
              <a:ea typeface="Calibri"/>
              <a:cs typeface="Calibri"/>
            </a:endParaRPr>
          </a:p>
          <a:p>
            <a:pPr>
              <a:spcBef>
                <a:spcPts val="500"/>
              </a:spcBef>
              <a:defRPr sz="1000" b="1">
                <a:solidFill>
                  <a:srgbClr val="0B1F3A"/>
                </a:solidFill>
                <a:latin typeface="Calibri"/>
              </a:defRPr>
            </a:pPr>
            <a:r>
              <a:rPr sz="1400" dirty="0"/>
              <a:t>• Dataset Collection &amp; Inspection: </a:t>
            </a:r>
            <a:r>
              <a:rPr sz="1400" b="0" dirty="0">
                <a:solidFill>
                  <a:srgbClr val="1E293B"/>
                </a:solidFill>
              </a:rPr>
              <a:t>Audited 4,999 raw records across 6 attributes; identified and pruned 33 null transcription records (4,966 cleaned rows).</a:t>
            </a:r>
            <a:endParaRPr sz="1400" b="0" dirty="0">
              <a:solidFill>
                <a:srgbClr val="1E293B"/>
              </a:solidFill>
              <a:ea typeface="Calibri"/>
              <a:cs typeface="Calibri"/>
            </a:endParaRPr>
          </a:p>
          <a:p>
            <a:pPr>
              <a:spcBef>
                <a:spcPts val="500"/>
              </a:spcBef>
              <a:defRPr sz="1000" b="1">
                <a:solidFill>
                  <a:srgbClr val="0B1F3A"/>
                </a:solidFill>
                <a:latin typeface="Calibri"/>
              </a:defRPr>
            </a:pPr>
            <a:r>
              <a:rPr sz="1400" dirty="0"/>
              <a:t>• Feature &amp; Column Profiling: </a:t>
            </a:r>
            <a:r>
              <a:rPr sz="1400" b="0" dirty="0">
                <a:solidFill>
                  <a:srgbClr val="1E293B"/>
                </a:solidFill>
              </a:rPr>
              <a:t>Analyzed distributions of clinical text length, vocabulary density, and missing keyword attributes.</a:t>
            </a:r>
            <a:endParaRPr sz="1400" b="0" dirty="0">
              <a:solidFill>
                <a:srgbClr val="1E293B"/>
              </a:solidFill>
              <a:ea typeface="Calibri"/>
              <a:cs typeface="Calibri"/>
            </a:endParaRPr>
          </a:p>
          <a:p>
            <a:pPr>
              <a:spcBef>
                <a:spcPts val="500"/>
              </a:spcBef>
              <a:defRPr sz="1000" b="1">
                <a:solidFill>
                  <a:srgbClr val="0B1F3A"/>
                </a:solidFill>
                <a:latin typeface="Calibri"/>
              </a:defRPr>
            </a:pPr>
            <a:r>
              <a:rPr sz="1400" dirty="0"/>
              <a:t>• Class Frequency Audit: </a:t>
            </a:r>
            <a:r>
              <a:rPr sz="1400" b="0" dirty="0">
                <a:solidFill>
                  <a:srgbClr val="1E293B"/>
                </a:solidFill>
              </a:rPr>
              <a:t>Uncovered severe class imbalance across the raw 40 categorical labels (Surgery with 1,103 samples vs micro-classes with ≤ 10 samples).</a:t>
            </a:r>
            <a:endParaRPr sz="1400" b="0" dirty="0">
              <a:solidFill>
                <a:srgbClr val="1E293B"/>
              </a:solidFill>
              <a:ea typeface="Calibri"/>
              <a:cs typeface="Calibri"/>
            </a:endParaRPr>
          </a:p>
          <a:p>
            <a:pPr>
              <a:spcBef>
                <a:spcPts val="500"/>
              </a:spcBef>
              <a:defRPr sz="1000" b="1">
                <a:solidFill>
                  <a:srgbClr val="0B1F3A"/>
                </a:solidFill>
                <a:latin typeface="Calibri"/>
              </a:defRPr>
            </a:pPr>
            <a:r>
              <a:rPr sz="1400" dirty="0"/>
              <a:t>• Scope Boundary: </a:t>
            </a:r>
            <a:r>
              <a:rPr sz="1400" b="0" dirty="0">
                <a:solidFill>
                  <a:srgbClr val="1E293B"/>
                </a:solidFill>
              </a:rPr>
              <a:t>NO model training, NO baseline evaluation, and NO ensemble experiments were completed in Phase 1.</a:t>
            </a:r>
            <a:endParaRPr sz="1400" b="0" dirty="0">
              <a:solidFill>
                <a:srgbClr val="1E293B"/>
              </a:solidFill>
              <a:ea typeface="Calibri"/>
              <a:cs typeface="Calibri"/>
            </a:endParaRPr>
          </a:p>
        </p:txBody>
      </p:sp>
      <p:sp>
        <p:nvSpPr>
          <p:cNvPr id="11" name="Rounded Rectangle 10"/>
          <p:cNvSpPr/>
          <p:nvPr/>
        </p:nvSpPr>
        <p:spPr>
          <a:xfrm>
            <a:off x="6217920" y="2103120"/>
            <a:ext cx="5422392" cy="41148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46520" y="2240280"/>
            <a:ext cx="4965192" cy="3644587"/>
          </a:xfrm>
          <a:prstGeom prst="rect">
            <a:avLst/>
          </a:prstGeom>
          <a:noFill/>
        </p:spPr>
        <p:txBody>
          <a:bodyPr wrap="square" lIns="91440" tIns="45720" rIns="91440" bIns="45720" anchor="t">
            <a:spAutoFit/>
          </a:bodyPr>
          <a:lstStyle/>
          <a:p>
            <a:pPr>
              <a:defRPr sz="1400" b="1">
                <a:solidFill>
                  <a:srgbClr val="0D9488"/>
                </a:solidFill>
                <a:latin typeface="Cambria"/>
              </a:defRPr>
            </a:pPr>
            <a:r>
              <a:rPr dirty="0"/>
              <a:t>Phase 2: Full Machine Learning Pipeline</a:t>
            </a:r>
          </a:p>
          <a:p>
            <a:pPr>
              <a:spcBef>
                <a:spcPts val="500"/>
              </a:spcBef>
              <a:defRPr sz="1000" b="1">
                <a:solidFill>
                  <a:srgbClr val="0D9488"/>
                </a:solidFill>
                <a:latin typeface="Calibri"/>
              </a:defRPr>
            </a:pPr>
            <a:r>
              <a:rPr sz="1400" dirty="0"/>
              <a:t>✓ Phase 2 Transition: </a:t>
            </a:r>
            <a:r>
              <a:rPr sz="1400" b="0" dirty="0">
                <a:solidFill>
                  <a:srgbClr val="1E293B"/>
                </a:solidFill>
              </a:rPr>
              <a:t>Phase 2 began by converting EDA findings into a complete, executable machine-learning classification pipeline.</a:t>
            </a:r>
            <a:endParaRPr sz="1400" b="0" dirty="0">
              <a:solidFill>
                <a:srgbClr val="1E293B"/>
              </a:solidFill>
              <a:ea typeface="Calibri"/>
              <a:cs typeface="Calibri"/>
            </a:endParaRPr>
          </a:p>
          <a:p>
            <a:pPr>
              <a:spcBef>
                <a:spcPts val="500"/>
              </a:spcBef>
              <a:defRPr sz="1000" b="1">
                <a:solidFill>
                  <a:srgbClr val="0D9488"/>
                </a:solidFill>
                <a:latin typeface="Calibri"/>
              </a:defRPr>
            </a:pPr>
            <a:r>
              <a:rPr sz="1400" dirty="0"/>
              <a:t>✓ All ML Started in Phase 2: </a:t>
            </a:r>
            <a:r>
              <a:rPr sz="1400" b="0" dirty="0">
                <a:solidFill>
                  <a:srgbClr val="1E293B"/>
                </a:solidFill>
              </a:rPr>
              <a:t>All text preprocessing, 40-class baselines, failure diagnosis, dataset refinement, model training, and ensembles were executed in Phase 2.</a:t>
            </a:r>
            <a:endParaRPr sz="1400" b="0" dirty="0">
              <a:solidFill>
                <a:srgbClr val="1E293B"/>
              </a:solidFill>
              <a:ea typeface="Calibri"/>
              <a:cs typeface="Calibri"/>
            </a:endParaRPr>
          </a:p>
          <a:p>
            <a:pPr>
              <a:spcBef>
                <a:spcPts val="500"/>
              </a:spcBef>
              <a:defRPr sz="1000" b="1">
                <a:solidFill>
                  <a:srgbClr val="0D9488"/>
                </a:solidFill>
                <a:latin typeface="Calibri"/>
              </a:defRPr>
            </a:pPr>
            <a:r>
              <a:rPr sz="1400" dirty="0"/>
              <a:t>✓ Initial Baseline Experimentation: </a:t>
            </a:r>
            <a:r>
              <a:rPr sz="1400" b="0" dirty="0">
                <a:solidFill>
                  <a:srgbClr val="1E293B"/>
                </a:solidFill>
              </a:rPr>
              <a:t>Tested raw 40-class classifiers; identified extreme collapse (7.85%–27.39% accuracy).</a:t>
            </a:r>
            <a:endParaRPr sz="1400" b="0" dirty="0">
              <a:solidFill>
                <a:srgbClr val="1E293B"/>
              </a:solidFill>
              <a:ea typeface="Calibri"/>
              <a:cs typeface="Calibri"/>
            </a:endParaRPr>
          </a:p>
          <a:p>
            <a:pPr>
              <a:spcBef>
                <a:spcPts val="500"/>
              </a:spcBef>
              <a:defRPr sz="1000" b="1">
                <a:solidFill>
                  <a:srgbClr val="0D9488"/>
                </a:solidFill>
                <a:latin typeface="Calibri"/>
              </a:defRPr>
            </a:pPr>
            <a:r>
              <a:rPr sz="1400" dirty="0"/>
              <a:t>✓ Systematic Refinement: </a:t>
            </a:r>
            <a:r>
              <a:rPr sz="1400" b="0" dirty="0">
                <a:solidFill>
                  <a:srgbClr val="1E293B"/>
                </a:solidFill>
              </a:rPr>
              <a:t>Addressed high dimensionality (310k features) and label ambiguity, progressing from 40 classes → 20 classes → 8 clinical specialties.</a:t>
            </a:r>
            <a:endParaRPr sz="1400" b="0" dirty="0">
              <a:solidFill>
                <a:srgbClr val="1E293B"/>
              </a:solidFill>
              <a:ea typeface="Calibri"/>
              <a:cs typeface="Calibri"/>
            </a:endParaRPr>
          </a:p>
          <a:p>
            <a:pPr>
              <a:spcBef>
                <a:spcPts val="500"/>
              </a:spcBef>
              <a:defRPr sz="1000" b="1">
                <a:solidFill>
                  <a:srgbClr val="0D9488"/>
                </a:solidFill>
                <a:latin typeface="Calibri"/>
              </a:defRPr>
            </a:pPr>
            <a:r>
              <a:rPr sz="1400" dirty="0"/>
              <a:t>✓ Final Optimization &amp; Evaluation: </a:t>
            </a:r>
            <a:r>
              <a:rPr sz="1400" b="0" dirty="0">
                <a:solidFill>
                  <a:srgbClr val="1E293B"/>
                </a:solidFill>
              </a:rPr>
              <a:t>Balanced feature matrices, trained LR, Linear SVM, RF, and MNB, and built Voting Ensembles targeting ≥ 75% accuracy.</a:t>
            </a:r>
            <a:endParaRPr sz="1400" b="0" dirty="0">
              <a:solidFill>
                <a:srgbClr val="1E293B"/>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PHASE 2 BASELINE EXPERIMENT</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Phase 2: Initial 40-Class Baseline Experiment</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3 of 16</a:t>
            </a:r>
          </a:p>
        </p:txBody>
      </p:sp>
      <p:sp>
        <p:nvSpPr>
          <p:cNvPr id="8" name="Rounded Rectangle 7"/>
          <p:cNvSpPr/>
          <p:nvPr/>
        </p:nvSpPr>
        <p:spPr>
          <a:xfrm>
            <a:off x="548640" y="1371600"/>
            <a:ext cx="557784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5120640" cy="365760"/>
          </a:xfrm>
          <a:prstGeom prst="rect">
            <a:avLst/>
          </a:prstGeom>
          <a:noFill/>
        </p:spPr>
        <p:txBody>
          <a:bodyPr wrap="none">
            <a:spAutoFit/>
          </a:bodyPr>
          <a:lstStyle/>
          <a:p>
            <a:pPr>
              <a:defRPr sz="1350" b="1">
                <a:solidFill>
                  <a:srgbClr val="0B1F3A"/>
                </a:solidFill>
                <a:latin typeface="Cambria"/>
              </a:defRPr>
            </a:pPr>
            <a:r>
              <a:t>Initial 40-Class Model Accuracy (Phase 2 Experiment)</a:t>
            </a:r>
          </a:p>
        </p:txBody>
      </p:sp>
      <p:graphicFrame>
        <p:nvGraphicFramePr>
          <p:cNvPr id="10" name="Table 9"/>
          <p:cNvGraphicFramePr>
            <a:graphicFrameLocks noGrp="1"/>
          </p:cNvGraphicFramePr>
          <p:nvPr/>
        </p:nvGraphicFramePr>
        <p:xfrm>
          <a:off x="777240" y="1920240"/>
          <a:ext cx="5120640" cy="3017520"/>
        </p:xfrm>
        <a:graphic>
          <a:graphicData uri="http://schemas.openxmlformats.org/drawingml/2006/table">
            <a:tbl>
              <a:tblPr firstRow="1" bandRow="1">
                <a:tableStyleId>{5C22544A-7EE6-4342-B048-85BDC9FD1C3A}</a:tableStyleId>
              </a:tblPr>
              <a:tblGrid>
                <a:gridCol w="34747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431074">
                <a:tc>
                  <a:txBody>
                    <a:bodyPr/>
                    <a:lstStyle/>
                    <a:p>
                      <a:pPr>
                        <a:defRPr sz="1000" b="1">
                          <a:solidFill>
                            <a:srgbClr val="FFFFFF"/>
                          </a:solidFill>
                          <a:latin typeface="Calibri"/>
                        </a:defRPr>
                      </a:pPr>
                      <a:r>
                        <a:t>Candidate Baseline Model</a:t>
                      </a:r>
                    </a:p>
                  </a:txBody>
                  <a:tcPr anchor="ctr">
                    <a:solidFill>
                      <a:srgbClr val="0B1F3A"/>
                    </a:solidFill>
                  </a:tcPr>
                </a:tc>
                <a:tc>
                  <a:txBody>
                    <a:bodyPr/>
                    <a:lstStyle/>
                    <a:p>
                      <a:pPr algn="r">
                        <a:defRPr sz="1000" b="1">
                          <a:solidFill>
                            <a:srgbClr val="FFFFFF"/>
                          </a:solidFill>
                          <a:latin typeface="Calibri"/>
                        </a:defRPr>
                      </a:pPr>
                      <a:r>
                        <a:t>Test Accuracy</a:t>
                      </a:r>
                    </a:p>
                  </a:txBody>
                  <a:tcPr anchor="ctr">
                    <a:solidFill>
                      <a:srgbClr val="0B1F3A"/>
                    </a:solidFill>
                  </a:tcPr>
                </a:tc>
                <a:extLst>
                  <a:ext uri="{0D108BD9-81ED-4DB2-BD59-A6C34878D82A}">
                    <a16:rowId xmlns:a16="http://schemas.microsoft.com/office/drawing/2014/main" val="10000"/>
                  </a:ext>
                </a:extLst>
              </a:tr>
              <a:tr h="431074">
                <a:tc>
                  <a:txBody>
                    <a:bodyPr/>
                    <a:lstStyle/>
                    <a:p>
                      <a:pPr>
                        <a:defRPr sz="1000">
                          <a:solidFill>
                            <a:srgbClr val="0B1F3A"/>
                          </a:solidFill>
                          <a:latin typeface="Calibri"/>
                        </a:defRPr>
                      </a:pPr>
                      <a:r>
                        <a:t>Random Forest</a:t>
                      </a:r>
                    </a:p>
                  </a:txBody>
                  <a:tcPr anchor="ctr"/>
                </a:tc>
                <a:tc>
                  <a:txBody>
                    <a:bodyPr/>
                    <a:lstStyle/>
                    <a:p>
                      <a:pPr algn="r">
                        <a:defRPr sz="1000" b="1">
                          <a:solidFill>
                            <a:srgbClr val="DC2626"/>
                          </a:solidFill>
                          <a:latin typeface="Calibri"/>
                        </a:defRPr>
                      </a:pPr>
                      <a:r>
                        <a:t>7.85%</a:t>
                      </a:r>
                    </a:p>
                  </a:txBody>
                  <a:tcPr anchor="ctr"/>
                </a:tc>
                <a:extLst>
                  <a:ext uri="{0D108BD9-81ED-4DB2-BD59-A6C34878D82A}">
                    <a16:rowId xmlns:a16="http://schemas.microsoft.com/office/drawing/2014/main" val="10001"/>
                  </a:ext>
                </a:extLst>
              </a:tr>
              <a:tr h="431074">
                <a:tc>
                  <a:txBody>
                    <a:bodyPr/>
                    <a:lstStyle/>
                    <a:p>
                      <a:pPr>
                        <a:defRPr sz="1000">
                          <a:solidFill>
                            <a:srgbClr val="0B1F3A"/>
                          </a:solidFill>
                          <a:latin typeface="Calibri"/>
                        </a:defRPr>
                      </a:pPr>
                      <a:r>
                        <a:t>Linear SVM</a:t>
                      </a:r>
                    </a:p>
                  </a:txBody>
                  <a:tcPr anchor="ctr"/>
                </a:tc>
                <a:tc>
                  <a:txBody>
                    <a:bodyPr/>
                    <a:lstStyle/>
                    <a:p>
                      <a:pPr algn="r">
                        <a:defRPr sz="1000" b="1">
                          <a:solidFill>
                            <a:srgbClr val="DC2626"/>
                          </a:solidFill>
                          <a:latin typeface="Calibri"/>
                        </a:defRPr>
                      </a:pPr>
                      <a:r>
                        <a:t>10.67%</a:t>
                      </a:r>
                    </a:p>
                  </a:txBody>
                  <a:tcPr anchor="ctr"/>
                </a:tc>
                <a:extLst>
                  <a:ext uri="{0D108BD9-81ED-4DB2-BD59-A6C34878D82A}">
                    <a16:rowId xmlns:a16="http://schemas.microsoft.com/office/drawing/2014/main" val="10002"/>
                  </a:ext>
                </a:extLst>
              </a:tr>
              <a:tr h="431074">
                <a:tc>
                  <a:txBody>
                    <a:bodyPr/>
                    <a:lstStyle/>
                    <a:p>
                      <a:pPr>
                        <a:defRPr sz="1000">
                          <a:solidFill>
                            <a:srgbClr val="0B1F3A"/>
                          </a:solidFill>
                          <a:latin typeface="Calibri"/>
                        </a:defRPr>
                      </a:pPr>
                      <a:r>
                        <a:t>Balanced Linear SVM</a:t>
                      </a:r>
                    </a:p>
                  </a:txBody>
                  <a:tcPr anchor="ctr">
                    <a:solidFill>
                      <a:srgbClr val="EEF2F6"/>
                    </a:solidFill>
                  </a:tcPr>
                </a:tc>
                <a:tc>
                  <a:txBody>
                    <a:bodyPr/>
                    <a:lstStyle/>
                    <a:p>
                      <a:pPr algn="r">
                        <a:defRPr sz="1000" b="1">
                          <a:solidFill>
                            <a:srgbClr val="DC2626"/>
                          </a:solidFill>
                          <a:latin typeface="Calibri"/>
                        </a:defRPr>
                      </a:pPr>
                      <a:r>
                        <a:t>10.07%</a:t>
                      </a:r>
                    </a:p>
                  </a:txBody>
                  <a:tcPr anchor="ctr">
                    <a:solidFill>
                      <a:srgbClr val="EEF2F6"/>
                    </a:solidFill>
                  </a:tcPr>
                </a:tc>
                <a:extLst>
                  <a:ext uri="{0D108BD9-81ED-4DB2-BD59-A6C34878D82A}">
                    <a16:rowId xmlns:a16="http://schemas.microsoft.com/office/drawing/2014/main" val="10003"/>
                  </a:ext>
                </a:extLst>
              </a:tr>
              <a:tr h="431074">
                <a:tc>
                  <a:txBody>
                    <a:bodyPr/>
                    <a:lstStyle/>
                    <a:p>
                      <a:pPr>
                        <a:defRPr sz="1000">
                          <a:solidFill>
                            <a:srgbClr val="0B1F3A"/>
                          </a:solidFill>
                          <a:latin typeface="Calibri"/>
                        </a:defRPr>
                      </a:pPr>
                      <a:r>
                        <a:t>Logistic Regression</a:t>
                      </a:r>
                    </a:p>
                  </a:txBody>
                  <a:tcPr anchor="ctr"/>
                </a:tc>
                <a:tc>
                  <a:txBody>
                    <a:bodyPr/>
                    <a:lstStyle/>
                    <a:p>
                      <a:pPr algn="r">
                        <a:defRPr sz="1000" b="1">
                          <a:solidFill>
                            <a:srgbClr val="0B1F3A"/>
                          </a:solidFill>
                          <a:latin typeface="Calibri"/>
                        </a:defRPr>
                      </a:pPr>
                      <a:r>
                        <a:t>22.96%</a:t>
                      </a:r>
                    </a:p>
                  </a:txBody>
                  <a:tcPr anchor="ctr"/>
                </a:tc>
                <a:extLst>
                  <a:ext uri="{0D108BD9-81ED-4DB2-BD59-A6C34878D82A}">
                    <a16:rowId xmlns:a16="http://schemas.microsoft.com/office/drawing/2014/main" val="10004"/>
                  </a:ext>
                </a:extLst>
              </a:tr>
              <a:tr h="431074">
                <a:tc>
                  <a:txBody>
                    <a:bodyPr/>
                    <a:lstStyle/>
                    <a:p>
                      <a:pPr>
                        <a:defRPr sz="1000">
                          <a:solidFill>
                            <a:srgbClr val="0B1F3A"/>
                          </a:solidFill>
                          <a:latin typeface="Calibri"/>
                        </a:defRPr>
                      </a:pPr>
                      <a:r>
                        <a:t>Weighted Multinomial Naive Bayes</a:t>
                      </a:r>
                    </a:p>
                  </a:txBody>
                  <a:tcPr anchor="ctr">
                    <a:solidFill>
                      <a:srgbClr val="EEF2F6"/>
                    </a:solidFill>
                  </a:tcPr>
                </a:tc>
                <a:tc>
                  <a:txBody>
                    <a:bodyPr/>
                    <a:lstStyle/>
                    <a:p>
                      <a:pPr algn="r">
                        <a:defRPr sz="1000" b="1">
                          <a:solidFill>
                            <a:srgbClr val="0B1F3A"/>
                          </a:solidFill>
                          <a:latin typeface="Calibri"/>
                        </a:defRPr>
                      </a:pPr>
                      <a:r>
                        <a:t>27.09%</a:t>
                      </a:r>
                    </a:p>
                  </a:txBody>
                  <a:tcPr anchor="ctr">
                    <a:solidFill>
                      <a:srgbClr val="EEF2F6"/>
                    </a:solidFill>
                  </a:tcPr>
                </a:tc>
                <a:extLst>
                  <a:ext uri="{0D108BD9-81ED-4DB2-BD59-A6C34878D82A}">
                    <a16:rowId xmlns:a16="http://schemas.microsoft.com/office/drawing/2014/main" val="10005"/>
                  </a:ext>
                </a:extLst>
              </a:tr>
              <a:tr h="431076">
                <a:tc>
                  <a:txBody>
                    <a:bodyPr/>
                    <a:lstStyle/>
                    <a:p>
                      <a:pPr>
                        <a:defRPr sz="1000">
                          <a:solidFill>
                            <a:srgbClr val="0B1F3A"/>
                          </a:solidFill>
                          <a:latin typeface="Calibri"/>
                        </a:defRPr>
                      </a:pPr>
                      <a:r>
                        <a:t>Balanced Logistic Regression</a:t>
                      </a:r>
                    </a:p>
                  </a:txBody>
                  <a:tcPr anchor="ctr">
                    <a:solidFill>
                      <a:srgbClr val="EEF2F6"/>
                    </a:solidFill>
                  </a:tcPr>
                </a:tc>
                <a:tc>
                  <a:txBody>
                    <a:bodyPr/>
                    <a:lstStyle/>
                    <a:p>
                      <a:pPr algn="r">
                        <a:defRPr sz="1000" b="1">
                          <a:solidFill>
                            <a:srgbClr val="0B1F3A"/>
                          </a:solidFill>
                          <a:latin typeface="Calibri"/>
                        </a:defRPr>
                      </a:pPr>
                      <a:r>
                        <a:t>27.39%</a:t>
                      </a:r>
                    </a:p>
                  </a:txBody>
                  <a:tcPr anchor="ctr">
                    <a:solidFill>
                      <a:srgbClr val="EEF2F6"/>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777240" y="5166360"/>
            <a:ext cx="5120640" cy="868680"/>
          </a:xfrm>
          <a:prstGeom prst="rect">
            <a:avLst/>
          </a:prstGeom>
          <a:noFill/>
        </p:spPr>
        <p:txBody>
          <a:bodyPr wrap="square">
            <a:spAutoFit/>
          </a:bodyPr>
          <a:lstStyle/>
          <a:p>
            <a:pPr>
              <a:defRPr sz="950" b="1">
                <a:solidFill>
                  <a:srgbClr val="DC2626"/>
                </a:solidFill>
                <a:latin typeface="Calibri"/>
              </a:defRPr>
            </a:pPr>
            <a:r>
              <a:t>⚠ Empirical Finding: The raw 40-class formulation was completely unsuitable for clinical deployment, with every model failing to exceed 27.4% accuracy.</a:t>
            </a:r>
          </a:p>
        </p:txBody>
      </p:sp>
      <p:sp>
        <p:nvSpPr>
          <p:cNvPr id="12" name="Rounded Rectangle 11"/>
          <p:cNvSpPr/>
          <p:nvPr/>
        </p:nvSpPr>
        <p:spPr>
          <a:xfrm>
            <a:off x="6309360" y="1371600"/>
            <a:ext cx="533095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37960" y="1554480"/>
            <a:ext cx="4873752" cy="3385542"/>
          </a:xfrm>
          <a:prstGeom prst="rect">
            <a:avLst/>
          </a:prstGeom>
          <a:noFill/>
        </p:spPr>
        <p:txBody>
          <a:bodyPr wrap="square" lIns="91440" tIns="45720" rIns="91440" bIns="45720" anchor="t">
            <a:spAutoFit/>
          </a:bodyPr>
          <a:lstStyle/>
          <a:p>
            <a:pPr>
              <a:defRPr sz="1400" b="1">
                <a:solidFill>
                  <a:srgbClr val="0B1F3A"/>
                </a:solidFill>
                <a:latin typeface="Cambria"/>
              </a:defRPr>
            </a:pPr>
            <a:r>
              <a:rPr dirty="0"/>
              <a:t>Baseline Failure Observations</a:t>
            </a:r>
            <a:endParaRPr lang="en-US" dirty="0">
              <a:ea typeface="Cambria"/>
            </a:endParaRPr>
          </a:p>
          <a:p>
            <a:pPr>
              <a:spcBef>
                <a:spcPts val="600"/>
              </a:spcBef>
              <a:defRPr sz="1000" b="1">
                <a:solidFill>
                  <a:srgbClr val="0B1F3A"/>
                </a:solidFill>
                <a:latin typeface="Calibri"/>
              </a:defRPr>
            </a:pPr>
            <a:r>
              <a:rPr sz="1200" dirty="0">
                <a:latin typeface="Times New Roman"/>
                <a:cs typeface="Times New Roman"/>
              </a:rPr>
              <a:t>• Unconstrained Feature Explosion:</a:t>
            </a:r>
            <a:br>
              <a:rPr sz="1200" dirty="0">
                <a:latin typeface="Times New Roman"/>
                <a:cs typeface="Times New Roman"/>
              </a:rPr>
            </a:br>
            <a:r>
              <a:rPr sz="1200" dirty="0">
                <a:solidFill>
                  <a:srgbClr val="1E293B"/>
                </a:solidFill>
                <a:latin typeface="Times New Roman"/>
                <a:cs typeface="Times New Roman"/>
              </a:rPr>
              <a:t>TF-IDF generated 310,298 unigram and bigram features for 3,971 training samples (the 80% split of 4,964 cleaned records), causing a severe 78:1 feature-to-sample sparsity ratio.</a:t>
            </a:r>
            <a:endParaRPr sz="1200">
              <a:solidFill>
                <a:srgbClr val="1E293B"/>
              </a:solidFill>
              <a:latin typeface="Times New Roman"/>
              <a:ea typeface="Calibri"/>
              <a:cs typeface="Times New Roman"/>
            </a:endParaRPr>
          </a:p>
          <a:p>
            <a:pPr>
              <a:spcBef>
                <a:spcPts val="600"/>
              </a:spcBef>
              <a:defRPr sz="1000" b="1">
                <a:solidFill>
                  <a:srgbClr val="0B1F3A"/>
                </a:solidFill>
                <a:latin typeface="Calibri"/>
              </a:defRPr>
            </a:pPr>
            <a:r>
              <a:rPr sz="1200" dirty="0">
                <a:latin typeface="Times New Roman"/>
                <a:cs typeface="Times New Roman"/>
              </a:rPr>
              <a:t>• Trivial Majority Prediction:</a:t>
            </a:r>
            <a:br>
              <a:rPr sz="1200" dirty="0">
                <a:latin typeface="Times New Roman"/>
                <a:cs typeface="Times New Roman"/>
              </a:rPr>
            </a:br>
            <a:r>
              <a:rPr sz="1200" dirty="0">
                <a:solidFill>
                  <a:srgbClr val="1E293B"/>
                </a:solidFill>
                <a:latin typeface="Times New Roman"/>
                <a:cs typeface="Times New Roman"/>
              </a:rPr>
              <a:t>Unweighted Logistic Regression predicted 'Surgery' almost exclusively, securing 22.96% accuracy simply because Surgery represented 22.2% of the dataset.</a:t>
            </a:r>
            <a:endParaRPr sz="1200">
              <a:solidFill>
                <a:srgbClr val="1E293B"/>
              </a:solidFill>
              <a:latin typeface="Times New Roman"/>
              <a:ea typeface="Calibri"/>
              <a:cs typeface="Times New Roman"/>
            </a:endParaRPr>
          </a:p>
          <a:p>
            <a:pPr>
              <a:spcBef>
                <a:spcPts val="600"/>
              </a:spcBef>
              <a:defRPr sz="1000" b="1">
                <a:solidFill>
                  <a:srgbClr val="0B1F3A"/>
                </a:solidFill>
                <a:latin typeface="Calibri"/>
              </a:defRPr>
            </a:pPr>
            <a:r>
              <a:rPr sz="1200" dirty="0">
                <a:latin typeface="Times New Roman"/>
                <a:cs typeface="Times New Roman"/>
              </a:rPr>
              <a:t>• Tree-Based Model Collapse:</a:t>
            </a:r>
            <a:br>
              <a:rPr sz="1200" dirty="0">
                <a:latin typeface="Times New Roman"/>
                <a:cs typeface="Times New Roman"/>
              </a:rPr>
            </a:br>
            <a:r>
              <a:rPr sz="1200" dirty="0">
                <a:solidFill>
                  <a:srgbClr val="1E293B"/>
                </a:solidFill>
                <a:latin typeface="Times New Roman"/>
                <a:cs typeface="Times New Roman"/>
              </a:rPr>
              <a:t>Random Forest collapsed to 7.85% accuracy as random feature subsets in a 310k-dimension space almost never contained discriminative terms.</a:t>
            </a:r>
            <a:endParaRPr sz="1200">
              <a:solidFill>
                <a:srgbClr val="1E293B"/>
              </a:solidFill>
              <a:latin typeface="Times New Roman"/>
              <a:ea typeface="Calibri"/>
              <a:cs typeface="Times New Roman"/>
            </a:endParaRPr>
          </a:p>
          <a:p>
            <a:pPr>
              <a:spcBef>
                <a:spcPts val="600"/>
              </a:spcBef>
              <a:defRPr sz="1000" b="1">
                <a:solidFill>
                  <a:srgbClr val="0B1F3A"/>
                </a:solidFill>
                <a:latin typeface="Calibri"/>
              </a:defRPr>
            </a:pPr>
            <a:r>
              <a:rPr sz="1200" dirty="0">
                <a:latin typeface="Times New Roman"/>
                <a:cs typeface="Times New Roman"/>
              </a:rPr>
              <a:t>• Non-Specialty Document Contamination:</a:t>
            </a:r>
            <a:br>
              <a:rPr sz="1200" dirty="0">
                <a:latin typeface="Times New Roman"/>
                <a:cs typeface="Times New Roman"/>
              </a:rPr>
            </a:br>
            <a:r>
              <a:rPr sz="1200" dirty="0">
                <a:solidFill>
                  <a:srgbClr val="1E293B"/>
                </a:solidFill>
                <a:latin typeface="Times New Roman"/>
                <a:cs typeface="Times New Roman"/>
              </a:rPr>
              <a:t>Classes like 'SOAP Notes' and 'Discharge Summary' contained vocabulary identical to true clinical specialties, making mathematical separation impossible.</a:t>
            </a:r>
            <a:endParaRPr sz="1200">
              <a:solidFill>
                <a:srgbClr val="1E293B"/>
              </a:solidFill>
              <a:latin typeface="Times New Roman"/>
              <a:ea typeface="Calibri"/>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PROBLEM DIAGNOSIS</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Baseline Problem Diagnosis: Three Core Obstacles</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4 of 16</a:t>
            </a:r>
          </a:p>
        </p:txBody>
      </p:sp>
      <p:sp>
        <p:nvSpPr>
          <p:cNvPr id="8" name="Rounded Rectangle 7"/>
          <p:cNvSpPr/>
          <p:nvPr/>
        </p:nvSpPr>
        <p:spPr>
          <a:xfrm>
            <a:off x="548640" y="1371600"/>
            <a:ext cx="34747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54480"/>
            <a:ext cx="3108960" cy="3395801"/>
          </a:xfrm>
          <a:prstGeom prst="rect">
            <a:avLst/>
          </a:prstGeom>
          <a:noFill/>
        </p:spPr>
        <p:txBody>
          <a:bodyPr wrap="square" lIns="91440" tIns="45720" rIns="91440" bIns="45720" anchor="t">
            <a:spAutoFit/>
          </a:bodyPr>
          <a:lstStyle/>
          <a:p>
            <a:pPr>
              <a:defRPr sz="1350" b="1">
                <a:solidFill>
                  <a:srgbClr val="DC2626"/>
                </a:solidFill>
                <a:latin typeface="Cambria"/>
              </a:defRPr>
            </a:pPr>
            <a:r>
              <a:rPr sz="1600" dirty="0"/>
              <a:t>1. Severe Class Imbalance</a:t>
            </a:r>
            <a:endParaRPr lang="en-US" sz="1600">
              <a:ea typeface="Cambria"/>
            </a:endParaRPr>
          </a:p>
          <a:p>
            <a:pPr>
              <a:spcBef>
                <a:spcPts val="800"/>
              </a:spcBef>
              <a:defRPr sz="1000">
                <a:solidFill>
                  <a:srgbClr val="1E293B"/>
                </a:solidFill>
                <a:latin typeface="Calibri"/>
              </a:defRPr>
            </a:pPr>
            <a:r>
              <a:rPr sz="1600" dirty="0"/>
              <a:t>• 40 raw categories with extreme distribution skew.</a:t>
            </a:r>
            <a:br>
              <a:rPr sz="1600" dirty="0"/>
            </a:br>
            <a:r>
              <a:rPr sz="1600" dirty="0"/>
              <a:t>• Surgery alone comprised 1,103 samples (22.2%).</a:t>
            </a:r>
            <a:br>
              <a:rPr sz="1600" dirty="0"/>
            </a:br>
            <a:r>
              <a:rPr sz="1600" dirty="0"/>
              <a:t>• Minority classes had as few as 2–10 samples:</a:t>
            </a:r>
            <a:br>
              <a:rPr sz="1600" dirty="0"/>
            </a:br>
            <a:r>
              <a:rPr sz="1600" dirty="0"/>
              <a:t>  - Autopsy: 2 samples</a:t>
            </a:r>
            <a:br>
              <a:rPr sz="1600" dirty="0"/>
            </a:br>
            <a:r>
              <a:rPr sz="1600" dirty="0"/>
              <a:t>  - Executive Evaluation: 2 samples</a:t>
            </a:r>
            <a:br>
              <a:rPr sz="1600" dirty="0"/>
            </a:br>
            <a:r>
              <a:rPr sz="1600" dirty="0"/>
              <a:t>  - Lab Medicine: 8 samples</a:t>
            </a:r>
            <a:br>
              <a:rPr sz="1600" dirty="0"/>
            </a:br>
            <a:r>
              <a:rPr sz="1600" dirty="0"/>
              <a:t>• Imbalance ratio exceeded 184:1, starving minority classes of gradient updates during training.</a:t>
            </a:r>
            <a:endParaRPr sz="1600">
              <a:ea typeface="Calibri"/>
              <a:cs typeface="Calibri"/>
            </a:endParaRPr>
          </a:p>
        </p:txBody>
      </p:sp>
      <p:sp>
        <p:nvSpPr>
          <p:cNvPr id="10" name="Rounded Rectangle 9"/>
          <p:cNvSpPr/>
          <p:nvPr/>
        </p:nvSpPr>
        <p:spPr>
          <a:xfrm>
            <a:off x="4352544" y="1371600"/>
            <a:ext cx="34747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5424" y="1554480"/>
            <a:ext cx="3108960" cy="3395801"/>
          </a:xfrm>
          <a:prstGeom prst="rect">
            <a:avLst/>
          </a:prstGeom>
          <a:noFill/>
        </p:spPr>
        <p:txBody>
          <a:bodyPr wrap="square" lIns="91440" tIns="45720" rIns="91440" bIns="45720" anchor="t">
            <a:spAutoFit/>
          </a:bodyPr>
          <a:lstStyle/>
          <a:p>
            <a:pPr>
              <a:defRPr sz="1350" b="1">
                <a:solidFill>
                  <a:srgbClr val="D97706"/>
                </a:solidFill>
                <a:latin typeface="Cambria"/>
              </a:defRPr>
            </a:pPr>
            <a:r>
              <a:rPr sz="1600" dirty="0"/>
              <a:t>2. High-Dimensional TF-IDF</a:t>
            </a:r>
            <a:endParaRPr lang="en-US" sz="1600" dirty="0">
              <a:ea typeface="Cambria"/>
            </a:endParaRPr>
          </a:p>
          <a:p>
            <a:pPr>
              <a:spcBef>
                <a:spcPts val="800"/>
              </a:spcBef>
              <a:defRPr sz="1000">
                <a:solidFill>
                  <a:srgbClr val="1E293B"/>
                </a:solidFill>
                <a:latin typeface="Calibri"/>
              </a:defRPr>
            </a:pPr>
            <a:r>
              <a:rPr sz="1600" dirty="0"/>
              <a:t>• Unconstrained vocabulary generated 310,298 features.</a:t>
            </a:r>
            <a:br>
              <a:rPr sz="1600" dirty="0"/>
            </a:br>
            <a:r>
              <a:rPr sz="1600" dirty="0"/>
              <a:t>• Exactly 3,971 training records (80% split of 4,964 cleaned records).</a:t>
            </a:r>
            <a:br>
              <a:rPr sz="1600" dirty="0"/>
            </a:br>
            <a:r>
              <a:rPr sz="1600" dirty="0"/>
              <a:t>• Massive feature-to-sample ratio (&gt; 78:1) created severe data sparsity.</a:t>
            </a:r>
            <a:br>
              <a:rPr sz="1600" dirty="0"/>
            </a:br>
            <a:r>
              <a:rPr sz="1600" dirty="0"/>
              <a:t>• Non-informative filler words and rare typographical tokens diluted diagnostic signal, crippling estimators.</a:t>
            </a:r>
            <a:endParaRPr sz="1600" dirty="0">
              <a:ea typeface="Calibri"/>
              <a:cs typeface="Calibri"/>
            </a:endParaRPr>
          </a:p>
        </p:txBody>
      </p:sp>
      <p:sp>
        <p:nvSpPr>
          <p:cNvPr id="12" name="Rounded Rectangle 11"/>
          <p:cNvSpPr/>
          <p:nvPr/>
        </p:nvSpPr>
        <p:spPr>
          <a:xfrm>
            <a:off x="8156448" y="1371600"/>
            <a:ext cx="34747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39328" y="1554480"/>
            <a:ext cx="3108960" cy="3888244"/>
          </a:xfrm>
          <a:prstGeom prst="rect">
            <a:avLst/>
          </a:prstGeom>
          <a:noFill/>
        </p:spPr>
        <p:txBody>
          <a:bodyPr wrap="square" lIns="91440" tIns="45720" rIns="91440" bIns="45720" anchor="t">
            <a:spAutoFit/>
          </a:bodyPr>
          <a:lstStyle/>
          <a:p>
            <a:pPr>
              <a:defRPr sz="1350" b="1">
                <a:solidFill>
                  <a:srgbClr val="0E7C86"/>
                </a:solidFill>
                <a:latin typeface="Cambria"/>
              </a:defRPr>
            </a:pPr>
            <a:r>
              <a:rPr sz="1600" dirty="0"/>
              <a:t>3. Clinical Label Ambiguity</a:t>
            </a:r>
            <a:endParaRPr lang="en-US" sz="1600" dirty="0">
              <a:ea typeface="Cambria"/>
            </a:endParaRPr>
          </a:p>
          <a:p>
            <a:pPr>
              <a:spcBef>
                <a:spcPts val="800"/>
              </a:spcBef>
              <a:defRPr sz="1000">
                <a:solidFill>
                  <a:srgbClr val="1E293B"/>
                </a:solidFill>
                <a:latin typeface="Calibri"/>
              </a:defRPr>
            </a:pPr>
            <a:r>
              <a:rPr sz="1600" dirty="0"/>
              <a:t>• Inherent conflict between clinical specialties and document formats:</a:t>
            </a:r>
            <a:br>
              <a:rPr sz="1600" dirty="0"/>
            </a:br>
            <a:r>
              <a:rPr sz="1600" dirty="0"/>
              <a:t>  - Consult - History and </a:t>
            </a:r>
            <a:r>
              <a:rPr sz="1600" dirty="0" err="1"/>
              <a:t>Phy</a:t>
            </a:r>
            <a:r>
              <a:rPr sz="1600" dirty="0"/>
              <a:t>.: 516 records</a:t>
            </a:r>
            <a:br>
              <a:rPr sz="1600" dirty="0"/>
            </a:br>
            <a:r>
              <a:rPr sz="1600" dirty="0"/>
              <a:t>  - SOAP / Progress Notes: 166 records</a:t>
            </a:r>
            <a:br>
              <a:rPr sz="1600" dirty="0"/>
            </a:br>
            <a:r>
              <a:rPr sz="1600" dirty="0"/>
              <a:t>  - Discharge Summary: 108 records</a:t>
            </a:r>
            <a:br>
              <a:rPr sz="1600" dirty="0"/>
            </a:br>
            <a:r>
              <a:rPr sz="1600" dirty="0"/>
              <a:t>  - Emergency Room Reports: 75 records</a:t>
            </a:r>
            <a:br>
              <a:rPr sz="1600" dirty="0"/>
            </a:br>
            <a:r>
              <a:rPr sz="1600" dirty="0"/>
              <a:t>  - Office Notes: 50 records</a:t>
            </a:r>
            <a:br>
              <a:rPr sz="1600" dirty="0"/>
            </a:br>
            <a:r>
              <a:rPr sz="1600" dirty="0"/>
              <a:t>• These describe document structures, not medical organ specialties, introducing overlapping vocabularies.</a:t>
            </a:r>
            <a:endParaRPr sz="1600" dirty="0">
              <a:ea typeface="Calibri"/>
              <a:cs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DATASET REFINEMENT</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Phase 2 Dataset Refinement: Iterative Optimization</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5 of 16</a:t>
            </a:r>
          </a:p>
        </p:txBody>
      </p:sp>
      <p:sp>
        <p:nvSpPr>
          <p:cNvPr id="8" name="Rounded Rectangle 7"/>
          <p:cNvSpPr/>
          <p:nvPr/>
        </p:nvSpPr>
        <p:spPr>
          <a:xfrm>
            <a:off x="548640" y="1371600"/>
            <a:ext cx="34747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54480"/>
            <a:ext cx="3108960" cy="2903359"/>
          </a:xfrm>
          <a:prstGeom prst="rect">
            <a:avLst/>
          </a:prstGeom>
          <a:noFill/>
        </p:spPr>
        <p:txBody>
          <a:bodyPr wrap="square" lIns="91440" tIns="45720" rIns="91440" bIns="45720" anchor="t">
            <a:spAutoFit/>
          </a:bodyPr>
          <a:lstStyle/>
          <a:p>
            <a:pPr>
              <a:defRPr sz="1300" b="1">
                <a:solidFill>
                  <a:srgbClr val="DC2626"/>
                </a:solidFill>
                <a:latin typeface="Cambria"/>
              </a:defRPr>
            </a:pPr>
            <a:r>
              <a:rPr sz="1600" dirty="0"/>
              <a:t>Iteration 1: 40 Raw Classes (Baseline)</a:t>
            </a:r>
            <a:endParaRPr lang="en-US" sz="1600" dirty="0">
              <a:ea typeface="Cambria"/>
            </a:endParaRPr>
          </a:p>
          <a:p>
            <a:pPr>
              <a:spcBef>
                <a:spcPts val="800"/>
              </a:spcBef>
              <a:defRPr sz="1000">
                <a:solidFill>
                  <a:srgbClr val="1E293B"/>
                </a:solidFill>
                <a:latin typeface="Calibri"/>
              </a:defRPr>
            </a:pPr>
            <a:r>
              <a:rPr sz="1600" dirty="0"/>
              <a:t>• Scope: All 4,966 cleaned records across 40 raw categories.</a:t>
            </a:r>
            <a:br>
              <a:rPr sz="1600" dirty="0"/>
            </a:br>
            <a:r>
              <a:rPr sz="1600" dirty="0"/>
              <a:t>• Outcome: Severe model collapse (7.85% to 27.39% accuracy).</a:t>
            </a:r>
            <a:br>
              <a:rPr sz="1600" dirty="0"/>
            </a:br>
            <a:r>
              <a:rPr sz="1600" dirty="0"/>
              <a:t>• Diagnosis: Severe 184:1 imbalance, 310k unconstrained features, and procedural/document label overlap made accurate learning impossible.</a:t>
            </a:r>
            <a:endParaRPr sz="1600" dirty="0">
              <a:ea typeface="Calibri"/>
              <a:cs typeface="Calibri"/>
            </a:endParaRPr>
          </a:p>
        </p:txBody>
      </p:sp>
      <p:sp>
        <p:nvSpPr>
          <p:cNvPr id="10" name="Rounded Rectangle 9"/>
          <p:cNvSpPr/>
          <p:nvPr/>
        </p:nvSpPr>
        <p:spPr>
          <a:xfrm>
            <a:off x="4352544" y="1371600"/>
            <a:ext cx="34747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35424" y="1554480"/>
            <a:ext cx="3108960" cy="3888244"/>
          </a:xfrm>
          <a:prstGeom prst="rect">
            <a:avLst/>
          </a:prstGeom>
          <a:noFill/>
        </p:spPr>
        <p:txBody>
          <a:bodyPr wrap="square" lIns="91440" tIns="45720" rIns="91440" bIns="45720" anchor="t">
            <a:spAutoFit/>
          </a:bodyPr>
          <a:lstStyle/>
          <a:p>
            <a:pPr>
              <a:defRPr sz="1300" b="1">
                <a:solidFill>
                  <a:srgbClr val="D97706"/>
                </a:solidFill>
                <a:latin typeface="Cambria"/>
              </a:defRPr>
            </a:pPr>
            <a:r>
              <a:rPr sz="1600" dirty="0"/>
              <a:t>Iteration 2: 20-Class Threshold Filtering</a:t>
            </a:r>
            <a:endParaRPr lang="en-US" sz="1600" dirty="0">
              <a:ea typeface="Cambria"/>
            </a:endParaRPr>
          </a:p>
          <a:p>
            <a:pPr>
              <a:spcBef>
                <a:spcPts val="800"/>
              </a:spcBef>
              <a:defRPr sz="1000">
                <a:solidFill>
                  <a:srgbClr val="1E293B"/>
                </a:solidFill>
                <a:latin typeface="Calibri"/>
              </a:defRPr>
            </a:pPr>
            <a:r>
              <a:rPr sz="1600" dirty="0"/>
              <a:t>• Scope: Pruned micro-classes with fewer than 50 samples.</a:t>
            </a:r>
            <a:br>
              <a:rPr sz="1600" dirty="0"/>
            </a:br>
            <a:r>
              <a:rPr sz="1600" dirty="0"/>
              <a:t>• Retained 20 moderate-to-large categories (~3,800 records).</a:t>
            </a:r>
            <a:br>
              <a:rPr sz="1600" dirty="0"/>
            </a:br>
            <a:r>
              <a:rPr sz="1600" dirty="0"/>
              <a:t>• Outcome: Accuracy improved marginally into the 40%–50% range.</a:t>
            </a:r>
            <a:br>
              <a:rPr sz="1600" dirty="0"/>
            </a:br>
            <a:r>
              <a:rPr sz="1600" dirty="0"/>
              <a:t>• Remaining Issue: Heavy semantic overlap persisted between 'Surgery' and individual operative specialties, along with document-type noise ('Consults', 'SOAP Notes').</a:t>
            </a:r>
            <a:endParaRPr sz="1600" dirty="0">
              <a:ea typeface="Calibri"/>
              <a:cs typeface="Calibri"/>
            </a:endParaRPr>
          </a:p>
        </p:txBody>
      </p:sp>
      <p:sp>
        <p:nvSpPr>
          <p:cNvPr id="12" name="Rounded Rectangle 11"/>
          <p:cNvSpPr/>
          <p:nvPr/>
        </p:nvSpPr>
        <p:spPr>
          <a:xfrm>
            <a:off x="8156448" y="1371600"/>
            <a:ext cx="34747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39328" y="1554480"/>
            <a:ext cx="3108960" cy="3642023"/>
          </a:xfrm>
          <a:prstGeom prst="rect">
            <a:avLst/>
          </a:prstGeom>
          <a:noFill/>
        </p:spPr>
        <p:txBody>
          <a:bodyPr wrap="square" lIns="91440" tIns="45720" rIns="91440" bIns="45720" anchor="t">
            <a:spAutoFit/>
          </a:bodyPr>
          <a:lstStyle/>
          <a:p>
            <a:pPr>
              <a:defRPr sz="1300" b="1">
                <a:solidFill>
                  <a:srgbClr val="0D9488"/>
                </a:solidFill>
                <a:latin typeface="Cambria"/>
              </a:defRPr>
            </a:pPr>
            <a:r>
              <a:rPr sz="1600" dirty="0"/>
              <a:t>Iteration 3: 8 Focused Clinical Specialties</a:t>
            </a:r>
            <a:endParaRPr lang="en-US" sz="1600" dirty="0">
              <a:ea typeface="Cambria"/>
            </a:endParaRPr>
          </a:p>
          <a:p>
            <a:pPr>
              <a:spcBef>
                <a:spcPts val="800"/>
              </a:spcBef>
              <a:defRPr sz="1000">
                <a:solidFill>
                  <a:srgbClr val="1E293B"/>
                </a:solidFill>
                <a:latin typeface="Calibri"/>
              </a:defRPr>
            </a:pPr>
            <a:r>
              <a:rPr sz="1600" dirty="0"/>
              <a:t>• Scope: Curated 8 core mutually exclusive organ-system specialties (1,663 records).</a:t>
            </a:r>
            <a:br>
              <a:rPr sz="1600" dirty="0"/>
            </a:br>
            <a:r>
              <a:rPr sz="1600" dirty="0"/>
              <a:t>• Removed umbrella procedural labels ('Surgery') and administrative document formats.</a:t>
            </a:r>
            <a:br>
              <a:rPr sz="1600" dirty="0"/>
            </a:br>
            <a:r>
              <a:rPr sz="1600" dirty="0"/>
              <a:t>• Outcome: Dramatic performance jump to 77.48%–88.59% accuracy across all models.</a:t>
            </a:r>
            <a:br>
              <a:rPr sz="1600" dirty="0"/>
            </a:br>
            <a:r>
              <a:rPr sz="1600" dirty="0"/>
              <a:t>• Clinical Significance: Clear anatomical boundaries provide pristine diagnostic separation.</a:t>
            </a:r>
            <a:endParaRPr sz="1600" dirty="0">
              <a:ea typeface="Calibri"/>
              <a:cs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CURATED DATASET</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Final 8-Specialty Clinical Dataset (1,663 Records)</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6 of 16</a:t>
            </a:r>
          </a:p>
        </p:txBody>
      </p:sp>
      <p:sp>
        <p:nvSpPr>
          <p:cNvPr id="8" name="Rounded Rectangle 7"/>
          <p:cNvSpPr/>
          <p:nvPr/>
        </p:nvSpPr>
        <p:spPr>
          <a:xfrm>
            <a:off x="548640" y="1371600"/>
            <a:ext cx="62179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5760720" cy="365760"/>
          </a:xfrm>
          <a:prstGeom prst="rect">
            <a:avLst/>
          </a:prstGeom>
          <a:noFill/>
        </p:spPr>
        <p:txBody>
          <a:bodyPr wrap="none">
            <a:spAutoFit/>
          </a:bodyPr>
          <a:lstStyle/>
          <a:p>
            <a:pPr>
              <a:defRPr sz="1350" b="1">
                <a:solidFill>
                  <a:srgbClr val="0B1F3A"/>
                </a:solidFill>
                <a:latin typeface="Cambria"/>
              </a:defRPr>
            </a:pPr>
            <a:r>
              <a:t>Curated Mutually Exclusive Clinical Specialties</a:t>
            </a:r>
          </a:p>
        </p:txBody>
      </p:sp>
      <p:graphicFrame>
        <p:nvGraphicFramePr>
          <p:cNvPr id="10" name="Table 9"/>
          <p:cNvGraphicFramePr>
            <a:graphicFrameLocks noGrp="1"/>
          </p:cNvGraphicFramePr>
          <p:nvPr/>
        </p:nvGraphicFramePr>
        <p:xfrm>
          <a:off x="777240" y="1920240"/>
          <a:ext cx="5760720" cy="4023360"/>
        </p:xfrm>
        <a:graphic>
          <a:graphicData uri="http://schemas.openxmlformats.org/drawingml/2006/table">
            <a:tbl>
              <a:tblPr firstRow="1" bandRow="1">
                <a:tableStyleId>{5C22544A-7EE6-4342-B048-85BDC9FD1C3A}</a:tableStyleId>
              </a:tblPr>
              <a:tblGrid>
                <a:gridCol w="3200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402336">
                <a:tc>
                  <a:txBody>
                    <a:bodyPr/>
                    <a:lstStyle/>
                    <a:p>
                      <a:pPr>
                        <a:defRPr sz="950" b="1">
                          <a:solidFill>
                            <a:srgbClr val="FFFFFF"/>
                          </a:solidFill>
                          <a:latin typeface="Calibri"/>
                        </a:defRPr>
                      </a:pPr>
                      <a:r>
                        <a:t>Medical Specialty</a:t>
                      </a:r>
                    </a:p>
                  </a:txBody>
                  <a:tcPr anchor="ctr">
                    <a:solidFill>
                      <a:srgbClr val="0B1F3A"/>
                    </a:solidFill>
                  </a:tcPr>
                </a:tc>
                <a:tc>
                  <a:txBody>
                    <a:bodyPr/>
                    <a:lstStyle/>
                    <a:p>
                      <a:pPr algn="r">
                        <a:defRPr sz="950" b="1">
                          <a:solidFill>
                            <a:srgbClr val="FFFFFF"/>
                          </a:solidFill>
                          <a:latin typeface="Calibri"/>
                        </a:defRPr>
                      </a:pPr>
                      <a:r>
                        <a:t>Record Count</a:t>
                      </a:r>
                    </a:p>
                  </a:txBody>
                  <a:tcPr anchor="ctr">
                    <a:solidFill>
                      <a:srgbClr val="0B1F3A"/>
                    </a:solidFill>
                  </a:tcPr>
                </a:tc>
                <a:tc>
                  <a:txBody>
                    <a:bodyPr/>
                    <a:lstStyle/>
                    <a:p>
                      <a:pPr algn="r">
                        <a:defRPr sz="950" b="1">
                          <a:solidFill>
                            <a:srgbClr val="FFFFFF"/>
                          </a:solidFill>
                          <a:latin typeface="Calibri"/>
                        </a:defRPr>
                      </a:pPr>
                      <a:r>
                        <a:t>Proportion</a:t>
                      </a:r>
                    </a:p>
                  </a:txBody>
                  <a:tcPr anchor="ctr">
                    <a:solidFill>
                      <a:srgbClr val="0B1F3A"/>
                    </a:solidFill>
                  </a:tcPr>
                </a:tc>
                <a:extLst>
                  <a:ext uri="{0D108BD9-81ED-4DB2-BD59-A6C34878D82A}">
                    <a16:rowId xmlns:a16="http://schemas.microsoft.com/office/drawing/2014/main" val="10000"/>
                  </a:ext>
                </a:extLst>
              </a:tr>
              <a:tr h="402336">
                <a:tc>
                  <a:txBody>
                    <a:bodyPr/>
                    <a:lstStyle/>
                    <a:p>
                      <a:pPr>
                        <a:defRPr sz="950">
                          <a:solidFill>
                            <a:srgbClr val="1E293B"/>
                          </a:solidFill>
                          <a:latin typeface="Calibri"/>
                        </a:defRPr>
                      </a:pPr>
                      <a:r>
                        <a:t>Cardiovascular / Pulmonary</a:t>
                      </a:r>
                    </a:p>
                  </a:txBody>
                  <a:tcPr anchor="ctr"/>
                </a:tc>
                <a:tc>
                  <a:txBody>
                    <a:bodyPr/>
                    <a:lstStyle/>
                    <a:p>
                      <a:pPr algn="r">
                        <a:defRPr sz="950">
                          <a:solidFill>
                            <a:srgbClr val="1E293B"/>
                          </a:solidFill>
                          <a:latin typeface="Calibri"/>
                        </a:defRPr>
                      </a:pPr>
                      <a:r>
                        <a:t>371</a:t>
                      </a:r>
                    </a:p>
                  </a:txBody>
                  <a:tcPr anchor="ctr"/>
                </a:tc>
                <a:tc>
                  <a:txBody>
                    <a:bodyPr/>
                    <a:lstStyle/>
                    <a:p>
                      <a:pPr algn="r">
                        <a:defRPr sz="950">
                          <a:solidFill>
                            <a:srgbClr val="1E293B"/>
                          </a:solidFill>
                          <a:latin typeface="Calibri"/>
                        </a:defRPr>
                      </a:pPr>
                      <a:r>
                        <a:t>22.31%</a:t>
                      </a:r>
                    </a:p>
                  </a:txBody>
                  <a:tcPr anchor="ctr"/>
                </a:tc>
                <a:extLst>
                  <a:ext uri="{0D108BD9-81ED-4DB2-BD59-A6C34878D82A}">
                    <a16:rowId xmlns:a16="http://schemas.microsoft.com/office/drawing/2014/main" val="10001"/>
                  </a:ext>
                </a:extLst>
              </a:tr>
              <a:tr h="402336">
                <a:tc>
                  <a:txBody>
                    <a:bodyPr/>
                    <a:lstStyle/>
                    <a:p>
                      <a:pPr>
                        <a:defRPr sz="950">
                          <a:solidFill>
                            <a:srgbClr val="1E293B"/>
                          </a:solidFill>
                          <a:latin typeface="Calibri"/>
                        </a:defRPr>
                      </a:pPr>
                      <a:r>
                        <a:t>Orthopedic</a:t>
                      </a:r>
                    </a:p>
                  </a:txBody>
                  <a:tcPr anchor="ctr"/>
                </a:tc>
                <a:tc>
                  <a:txBody>
                    <a:bodyPr/>
                    <a:lstStyle/>
                    <a:p>
                      <a:pPr algn="r">
                        <a:defRPr sz="950">
                          <a:solidFill>
                            <a:srgbClr val="1E293B"/>
                          </a:solidFill>
                          <a:latin typeface="Calibri"/>
                        </a:defRPr>
                      </a:pPr>
                      <a:r>
                        <a:t>355</a:t>
                      </a:r>
                    </a:p>
                  </a:txBody>
                  <a:tcPr anchor="ctr"/>
                </a:tc>
                <a:tc>
                  <a:txBody>
                    <a:bodyPr/>
                    <a:lstStyle/>
                    <a:p>
                      <a:pPr algn="r">
                        <a:defRPr sz="950">
                          <a:solidFill>
                            <a:srgbClr val="1E293B"/>
                          </a:solidFill>
                          <a:latin typeface="Calibri"/>
                        </a:defRPr>
                      </a:pPr>
                      <a:r>
                        <a:t>21.35%</a:t>
                      </a:r>
                    </a:p>
                  </a:txBody>
                  <a:tcPr anchor="ctr"/>
                </a:tc>
                <a:extLst>
                  <a:ext uri="{0D108BD9-81ED-4DB2-BD59-A6C34878D82A}">
                    <a16:rowId xmlns:a16="http://schemas.microsoft.com/office/drawing/2014/main" val="10002"/>
                  </a:ext>
                </a:extLst>
              </a:tr>
              <a:tr h="402336">
                <a:tc>
                  <a:txBody>
                    <a:bodyPr/>
                    <a:lstStyle/>
                    <a:p>
                      <a:pPr>
                        <a:defRPr sz="950">
                          <a:solidFill>
                            <a:srgbClr val="1E293B"/>
                          </a:solidFill>
                          <a:latin typeface="Calibri"/>
                        </a:defRPr>
                      </a:pPr>
                      <a:r>
                        <a:t>Gastroenterology</a:t>
                      </a:r>
                    </a:p>
                  </a:txBody>
                  <a:tcPr anchor="ctr"/>
                </a:tc>
                <a:tc>
                  <a:txBody>
                    <a:bodyPr/>
                    <a:lstStyle/>
                    <a:p>
                      <a:pPr algn="r">
                        <a:defRPr sz="950">
                          <a:solidFill>
                            <a:srgbClr val="1E293B"/>
                          </a:solidFill>
                          <a:latin typeface="Calibri"/>
                        </a:defRPr>
                      </a:pPr>
                      <a:r>
                        <a:t>224</a:t>
                      </a:r>
                    </a:p>
                  </a:txBody>
                  <a:tcPr anchor="ctr"/>
                </a:tc>
                <a:tc>
                  <a:txBody>
                    <a:bodyPr/>
                    <a:lstStyle/>
                    <a:p>
                      <a:pPr algn="r">
                        <a:defRPr sz="950">
                          <a:solidFill>
                            <a:srgbClr val="1E293B"/>
                          </a:solidFill>
                          <a:latin typeface="Calibri"/>
                        </a:defRPr>
                      </a:pPr>
                      <a:r>
                        <a:t>13.47%</a:t>
                      </a:r>
                    </a:p>
                  </a:txBody>
                  <a:tcPr anchor="ctr"/>
                </a:tc>
                <a:extLst>
                  <a:ext uri="{0D108BD9-81ED-4DB2-BD59-A6C34878D82A}">
                    <a16:rowId xmlns:a16="http://schemas.microsoft.com/office/drawing/2014/main" val="10003"/>
                  </a:ext>
                </a:extLst>
              </a:tr>
              <a:tr h="402336">
                <a:tc>
                  <a:txBody>
                    <a:bodyPr/>
                    <a:lstStyle/>
                    <a:p>
                      <a:pPr>
                        <a:defRPr sz="950">
                          <a:solidFill>
                            <a:srgbClr val="1E293B"/>
                          </a:solidFill>
                          <a:latin typeface="Calibri"/>
                        </a:defRPr>
                      </a:pPr>
                      <a:r>
                        <a:t>Neurology</a:t>
                      </a:r>
                    </a:p>
                  </a:txBody>
                  <a:tcPr anchor="ctr"/>
                </a:tc>
                <a:tc>
                  <a:txBody>
                    <a:bodyPr/>
                    <a:lstStyle/>
                    <a:p>
                      <a:pPr algn="r">
                        <a:defRPr sz="950">
                          <a:solidFill>
                            <a:srgbClr val="1E293B"/>
                          </a:solidFill>
                          <a:latin typeface="Calibri"/>
                        </a:defRPr>
                      </a:pPr>
                      <a:r>
                        <a:t>223</a:t>
                      </a:r>
                    </a:p>
                  </a:txBody>
                  <a:tcPr anchor="ctr"/>
                </a:tc>
                <a:tc>
                  <a:txBody>
                    <a:bodyPr/>
                    <a:lstStyle/>
                    <a:p>
                      <a:pPr algn="r">
                        <a:defRPr sz="950">
                          <a:solidFill>
                            <a:srgbClr val="1E293B"/>
                          </a:solidFill>
                          <a:latin typeface="Calibri"/>
                        </a:defRPr>
                      </a:pPr>
                      <a:r>
                        <a:t>13.41%</a:t>
                      </a:r>
                    </a:p>
                  </a:txBody>
                  <a:tcPr anchor="ctr"/>
                </a:tc>
                <a:extLst>
                  <a:ext uri="{0D108BD9-81ED-4DB2-BD59-A6C34878D82A}">
                    <a16:rowId xmlns:a16="http://schemas.microsoft.com/office/drawing/2014/main" val="10004"/>
                  </a:ext>
                </a:extLst>
              </a:tr>
              <a:tr h="402336">
                <a:tc>
                  <a:txBody>
                    <a:bodyPr/>
                    <a:lstStyle/>
                    <a:p>
                      <a:pPr>
                        <a:defRPr sz="950">
                          <a:solidFill>
                            <a:srgbClr val="1E293B"/>
                          </a:solidFill>
                          <a:latin typeface="Calibri"/>
                        </a:defRPr>
                      </a:pPr>
                      <a:r>
                        <a:t>Urology</a:t>
                      </a:r>
                    </a:p>
                  </a:txBody>
                  <a:tcPr anchor="ctr"/>
                </a:tc>
                <a:tc>
                  <a:txBody>
                    <a:bodyPr/>
                    <a:lstStyle/>
                    <a:p>
                      <a:pPr algn="r">
                        <a:defRPr sz="950">
                          <a:solidFill>
                            <a:srgbClr val="1E293B"/>
                          </a:solidFill>
                          <a:latin typeface="Calibri"/>
                        </a:defRPr>
                      </a:pPr>
                      <a:r>
                        <a:t>156</a:t>
                      </a:r>
                    </a:p>
                  </a:txBody>
                  <a:tcPr anchor="ctr"/>
                </a:tc>
                <a:tc>
                  <a:txBody>
                    <a:bodyPr/>
                    <a:lstStyle/>
                    <a:p>
                      <a:pPr algn="r">
                        <a:defRPr sz="950">
                          <a:solidFill>
                            <a:srgbClr val="1E293B"/>
                          </a:solidFill>
                          <a:latin typeface="Calibri"/>
                        </a:defRPr>
                      </a:pPr>
                      <a:r>
                        <a:t>9.38%</a:t>
                      </a:r>
                    </a:p>
                  </a:txBody>
                  <a:tcPr anchor="ctr"/>
                </a:tc>
                <a:extLst>
                  <a:ext uri="{0D108BD9-81ED-4DB2-BD59-A6C34878D82A}">
                    <a16:rowId xmlns:a16="http://schemas.microsoft.com/office/drawing/2014/main" val="10005"/>
                  </a:ext>
                </a:extLst>
              </a:tr>
              <a:tr h="402336">
                <a:tc>
                  <a:txBody>
                    <a:bodyPr/>
                    <a:lstStyle/>
                    <a:p>
                      <a:pPr>
                        <a:defRPr sz="950">
                          <a:solidFill>
                            <a:srgbClr val="1E293B"/>
                          </a:solidFill>
                          <a:latin typeface="Calibri"/>
                        </a:defRPr>
                      </a:pPr>
                      <a:r>
                        <a:t>Obstetrics / Gynecology</a:t>
                      </a:r>
                    </a:p>
                  </a:txBody>
                  <a:tcPr anchor="ctr"/>
                </a:tc>
                <a:tc>
                  <a:txBody>
                    <a:bodyPr/>
                    <a:lstStyle/>
                    <a:p>
                      <a:pPr algn="r">
                        <a:defRPr sz="950">
                          <a:solidFill>
                            <a:srgbClr val="1E293B"/>
                          </a:solidFill>
                          <a:latin typeface="Calibri"/>
                        </a:defRPr>
                      </a:pPr>
                      <a:r>
                        <a:t>155</a:t>
                      </a:r>
                    </a:p>
                  </a:txBody>
                  <a:tcPr anchor="ctr"/>
                </a:tc>
                <a:tc>
                  <a:txBody>
                    <a:bodyPr/>
                    <a:lstStyle/>
                    <a:p>
                      <a:pPr algn="r">
                        <a:defRPr sz="950">
                          <a:solidFill>
                            <a:srgbClr val="1E293B"/>
                          </a:solidFill>
                          <a:latin typeface="Calibri"/>
                        </a:defRPr>
                      </a:pPr>
                      <a:r>
                        <a:t>9.32%</a:t>
                      </a:r>
                    </a:p>
                  </a:txBody>
                  <a:tcPr anchor="ctr"/>
                </a:tc>
                <a:extLst>
                  <a:ext uri="{0D108BD9-81ED-4DB2-BD59-A6C34878D82A}">
                    <a16:rowId xmlns:a16="http://schemas.microsoft.com/office/drawing/2014/main" val="10006"/>
                  </a:ext>
                </a:extLst>
              </a:tr>
              <a:tr h="402336">
                <a:tc>
                  <a:txBody>
                    <a:bodyPr/>
                    <a:lstStyle/>
                    <a:p>
                      <a:pPr>
                        <a:defRPr sz="950">
                          <a:solidFill>
                            <a:srgbClr val="1E293B"/>
                          </a:solidFill>
                          <a:latin typeface="Calibri"/>
                        </a:defRPr>
                      </a:pPr>
                      <a:r>
                        <a:t>ENT - Otolaryngology</a:t>
                      </a:r>
                    </a:p>
                  </a:txBody>
                  <a:tcPr anchor="ctr"/>
                </a:tc>
                <a:tc>
                  <a:txBody>
                    <a:bodyPr/>
                    <a:lstStyle/>
                    <a:p>
                      <a:pPr algn="r">
                        <a:defRPr sz="950">
                          <a:solidFill>
                            <a:srgbClr val="1E293B"/>
                          </a:solidFill>
                          <a:latin typeface="Calibri"/>
                        </a:defRPr>
                      </a:pPr>
                      <a:r>
                        <a:t>96</a:t>
                      </a:r>
                    </a:p>
                  </a:txBody>
                  <a:tcPr anchor="ctr"/>
                </a:tc>
                <a:tc>
                  <a:txBody>
                    <a:bodyPr/>
                    <a:lstStyle/>
                    <a:p>
                      <a:pPr algn="r">
                        <a:defRPr sz="950">
                          <a:solidFill>
                            <a:srgbClr val="1E293B"/>
                          </a:solidFill>
                          <a:latin typeface="Calibri"/>
                        </a:defRPr>
                      </a:pPr>
                      <a:r>
                        <a:t>5.77%</a:t>
                      </a:r>
                    </a:p>
                  </a:txBody>
                  <a:tcPr anchor="ctr"/>
                </a:tc>
                <a:extLst>
                  <a:ext uri="{0D108BD9-81ED-4DB2-BD59-A6C34878D82A}">
                    <a16:rowId xmlns:a16="http://schemas.microsoft.com/office/drawing/2014/main" val="10007"/>
                  </a:ext>
                </a:extLst>
              </a:tr>
              <a:tr h="402336">
                <a:tc>
                  <a:txBody>
                    <a:bodyPr/>
                    <a:lstStyle/>
                    <a:p>
                      <a:pPr>
                        <a:defRPr sz="950">
                          <a:solidFill>
                            <a:srgbClr val="1E293B"/>
                          </a:solidFill>
                          <a:latin typeface="Calibri"/>
                        </a:defRPr>
                      </a:pPr>
                      <a:r>
                        <a:t>Ophthalmology</a:t>
                      </a:r>
                    </a:p>
                  </a:txBody>
                  <a:tcPr anchor="ctr"/>
                </a:tc>
                <a:tc>
                  <a:txBody>
                    <a:bodyPr/>
                    <a:lstStyle/>
                    <a:p>
                      <a:pPr algn="r">
                        <a:defRPr sz="950">
                          <a:solidFill>
                            <a:srgbClr val="1E293B"/>
                          </a:solidFill>
                          <a:latin typeface="Calibri"/>
                        </a:defRPr>
                      </a:pPr>
                      <a:r>
                        <a:t>83</a:t>
                      </a:r>
                    </a:p>
                  </a:txBody>
                  <a:tcPr anchor="ctr"/>
                </a:tc>
                <a:tc>
                  <a:txBody>
                    <a:bodyPr/>
                    <a:lstStyle/>
                    <a:p>
                      <a:pPr algn="r">
                        <a:defRPr sz="950">
                          <a:solidFill>
                            <a:srgbClr val="1E293B"/>
                          </a:solidFill>
                          <a:latin typeface="Calibri"/>
                        </a:defRPr>
                      </a:pPr>
                      <a:r>
                        <a:t>4.99%</a:t>
                      </a:r>
                    </a:p>
                  </a:txBody>
                  <a:tcPr anchor="ctr"/>
                </a:tc>
                <a:extLst>
                  <a:ext uri="{0D108BD9-81ED-4DB2-BD59-A6C34878D82A}">
                    <a16:rowId xmlns:a16="http://schemas.microsoft.com/office/drawing/2014/main" val="10008"/>
                  </a:ext>
                </a:extLst>
              </a:tr>
              <a:tr h="402336">
                <a:tc>
                  <a:txBody>
                    <a:bodyPr/>
                    <a:lstStyle/>
                    <a:p>
                      <a:pPr>
                        <a:defRPr sz="950" b="1">
                          <a:solidFill>
                            <a:srgbClr val="0B1F3A"/>
                          </a:solidFill>
                          <a:latin typeface="Calibri"/>
                        </a:defRPr>
                      </a:pPr>
                      <a:r>
                        <a:t>Total Curated Dataset</a:t>
                      </a:r>
                    </a:p>
                  </a:txBody>
                  <a:tcPr anchor="ctr">
                    <a:solidFill>
                      <a:srgbClr val="EEF2F6"/>
                    </a:solidFill>
                  </a:tcPr>
                </a:tc>
                <a:tc>
                  <a:txBody>
                    <a:bodyPr/>
                    <a:lstStyle/>
                    <a:p>
                      <a:pPr algn="r">
                        <a:defRPr sz="950" b="1">
                          <a:solidFill>
                            <a:srgbClr val="0B1F3A"/>
                          </a:solidFill>
                          <a:latin typeface="Calibri"/>
                        </a:defRPr>
                      </a:pPr>
                      <a:r>
                        <a:t>1,663</a:t>
                      </a:r>
                    </a:p>
                  </a:txBody>
                  <a:tcPr anchor="ctr">
                    <a:solidFill>
                      <a:srgbClr val="EEF2F6"/>
                    </a:solidFill>
                  </a:tcPr>
                </a:tc>
                <a:tc>
                  <a:txBody>
                    <a:bodyPr/>
                    <a:lstStyle/>
                    <a:p>
                      <a:pPr algn="r">
                        <a:defRPr sz="950" b="1">
                          <a:solidFill>
                            <a:srgbClr val="0B1F3A"/>
                          </a:solidFill>
                          <a:latin typeface="Calibri"/>
                        </a:defRPr>
                      </a:pPr>
                      <a:r>
                        <a:t>100.00%</a:t>
                      </a:r>
                    </a:p>
                  </a:txBody>
                  <a:tcPr anchor="ctr">
                    <a:solidFill>
                      <a:srgbClr val="EEF2F6"/>
                    </a:solidFill>
                  </a:tcPr>
                </a:tc>
                <a:extLst>
                  <a:ext uri="{0D108BD9-81ED-4DB2-BD59-A6C34878D82A}">
                    <a16:rowId xmlns:a16="http://schemas.microsoft.com/office/drawing/2014/main" val="10009"/>
                  </a:ext>
                </a:extLst>
              </a:tr>
            </a:tbl>
          </a:graphicData>
        </a:graphic>
      </p:graphicFrame>
      <p:sp>
        <p:nvSpPr>
          <p:cNvPr id="11" name="Rounded Rectangle 10"/>
          <p:cNvSpPr/>
          <p:nvPr/>
        </p:nvSpPr>
        <p:spPr>
          <a:xfrm>
            <a:off x="6949440" y="1371600"/>
            <a:ext cx="469087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0" y="1554480"/>
            <a:ext cx="4325112" cy="4442242"/>
          </a:xfrm>
          <a:prstGeom prst="rect">
            <a:avLst/>
          </a:prstGeom>
          <a:noFill/>
        </p:spPr>
        <p:txBody>
          <a:bodyPr wrap="square" lIns="91440" tIns="45720" rIns="91440" bIns="45720" anchor="t">
            <a:spAutoFit/>
          </a:bodyPr>
          <a:lstStyle/>
          <a:p>
            <a:pPr>
              <a:defRPr sz="1400" b="1">
                <a:solidFill>
                  <a:srgbClr val="0B1F3A"/>
                </a:solidFill>
                <a:latin typeface="Cambria"/>
              </a:defRPr>
            </a:pPr>
            <a:r>
              <a:rPr sz="1600" dirty="0"/>
              <a:t>Clinical Rationale for Selection</a:t>
            </a:r>
            <a:endParaRPr lang="en-US" sz="1600" dirty="0">
              <a:ea typeface="Cambria"/>
            </a:endParaRPr>
          </a:p>
          <a:p>
            <a:pPr>
              <a:spcBef>
                <a:spcPts val="800"/>
              </a:spcBef>
              <a:defRPr sz="1000" b="1">
                <a:solidFill>
                  <a:srgbClr val="0D9488"/>
                </a:solidFill>
                <a:latin typeface="Calibri"/>
              </a:defRPr>
            </a:pPr>
            <a:r>
              <a:rPr sz="1600" dirty="0"/>
              <a:t>✓ Organ-System Distinctiveness: </a:t>
            </a:r>
            <a:r>
              <a:rPr sz="1600" b="0" dirty="0">
                <a:solidFill>
                  <a:srgbClr val="1E293B"/>
                </a:solidFill>
              </a:rPr>
              <a:t>Each selected department corresponds to a distinct anatomical system with distinct vocabulary (e.g., cardiac vessels, musculoskeletal joints, digestive tract).</a:t>
            </a:r>
            <a:endParaRPr sz="1600" b="0" dirty="0">
              <a:solidFill>
                <a:srgbClr val="1E293B"/>
              </a:solidFill>
              <a:ea typeface="Calibri"/>
              <a:cs typeface="Calibri"/>
            </a:endParaRPr>
          </a:p>
          <a:p>
            <a:pPr>
              <a:spcBef>
                <a:spcPts val="800"/>
              </a:spcBef>
              <a:defRPr sz="1000" b="1">
                <a:solidFill>
                  <a:srgbClr val="0D9488"/>
                </a:solidFill>
                <a:latin typeface="Calibri"/>
              </a:defRPr>
            </a:pPr>
            <a:r>
              <a:rPr sz="1600" dirty="0"/>
              <a:t>✓ Elimination of Category Ambiguity: </a:t>
            </a:r>
            <a:r>
              <a:rPr sz="1600" b="0" dirty="0">
                <a:solidFill>
                  <a:srgbClr val="1E293B"/>
                </a:solidFill>
              </a:rPr>
              <a:t>Excluded procedural umbrellas like 'Surgery' which contaminated cardiac, orthopedic, and gastrointestinal procedures simultaneously.</a:t>
            </a:r>
            <a:endParaRPr sz="1600" b="0" dirty="0">
              <a:solidFill>
                <a:srgbClr val="1E293B"/>
              </a:solidFill>
              <a:ea typeface="Calibri"/>
              <a:cs typeface="Calibri"/>
            </a:endParaRPr>
          </a:p>
          <a:p>
            <a:pPr>
              <a:spcBef>
                <a:spcPts val="800"/>
              </a:spcBef>
              <a:defRPr sz="1000" b="1">
                <a:solidFill>
                  <a:srgbClr val="0D9488"/>
                </a:solidFill>
                <a:latin typeface="Calibri"/>
              </a:defRPr>
            </a:pPr>
            <a:r>
              <a:rPr sz="1600" dirty="0"/>
              <a:t>✓ Pruning Administrative Formats: </a:t>
            </a:r>
            <a:r>
              <a:rPr sz="1600" b="0" dirty="0">
                <a:solidFill>
                  <a:srgbClr val="1E293B"/>
                </a:solidFill>
              </a:rPr>
              <a:t>Excluded SOAP notes, consultations, and discharge summaries that represent hospital document templates rather than clinical domains.</a:t>
            </a:r>
            <a:endParaRPr sz="1600" b="0" dirty="0">
              <a:solidFill>
                <a:srgbClr val="1E293B"/>
              </a:solidFill>
              <a:ea typeface="Calibri"/>
              <a:cs typeface="Calibri"/>
            </a:endParaRPr>
          </a:p>
          <a:p>
            <a:pPr>
              <a:spcBef>
                <a:spcPts val="800"/>
              </a:spcBef>
              <a:defRPr sz="1000" b="1">
                <a:solidFill>
                  <a:srgbClr val="0D9488"/>
                </a:solidFill>
                <a:latin typeface="Calibri"/>
              </a:defRPr>
            </a:pPr>
            <a:r>
              <a:rPr sz="1600" dirty="0"/>
              <a:t>✓ Balanced Multi-Class Cohort: </a:t>
            </a:r>
            <a:r>
              <a:rPr sz="1600" b="0" dirty="0">
                <a:solidFill>
                  <a:srgbClr val="1E293B"/>
                </a:solidFill>
              </a:rPr>
              <a:t>Maintains sufficient representation across all 8 classes (83 to 371 samples) while preserving clinical realism.</a:t>
            </a:r>
            <a:endParaRPr sz="1600" b="0" dirty="0">
              <a:solidFill>
                <a:srgbClr val="1E293B"/>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FEATURE ENGINEERING</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Text Preprocessing &amp; TF-IDF Feature Engineering</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7 of 16</a:t>
            </a:r>
          </a:p>
        </p:txBody>
      </p:sp>
      <p:sp>
        <p:nvSpPr>
          <p:cNvPr id="8" name="Rounded Rectangle 7"/>
          <p:cNvSpPr/>
          <p:nvPr/>
        </p:nvSpPr>
        <p:spPr>
          <a:xfrm>
            <a:off x="548640" y="1371600"/>
            <a:ext cx="539496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54480"/>
            <a:ext cx="4937760" cy="3636893"/>
          </a:xfrm>
          <a:prstGeom prst="rect">
            <a:avLst/>
          </a:prstGeom>
          <a:noFill/>
        </p:spPr>
        <p:txBody>
          <a:bodyPr wrap="square" lIns="91440" tIns="45720" rIns="91440" bIns="45720" anchor="t">
            <a:spAutoFit/>
          </a:bodyPr>
          <a:lstStyle/>
          <a:p>
            <a:pPr>
              <a:defRPr sz="1500" b="1">
                <a:solidFill>
                  <a:srgbClr val="0B1F3A"/>
                </a:solidFill>
                <a:latin typeface="Cambria"/>
              </a:defRPr>
            </a:pPr>
            <a:r>
              <a:rPr dirty="0"/>
              <a:t>Clinical Narrative Preprocessing</a:t>
            </a:r>
          </a:p>
          <a:p>
            <a:pPr>
              <a:spcBef>
                <a:spcPts val="700"/>
              </a:spcBef>
              <a:defRPr sz="1000" b="1">
                <a:solidFill>
                  <a:srgbClr val="0B1F3A"/>
                </a:solidFill>
                <a:latin typeface="Calibri"/>
              </a:defRPr>
            </a:pPr>
            <a:r>
              <a:rPr sz="1600" dirty="0"/>
              <a:t>• Normalization &amp; Noise Removal: </a:t>
            </a:r>
            <a:r>
              <a:rPr sz="1600" b="0" dirty="0">
                <a:solidFill>
                  <a:srgbClr val="1E293B"/>
                </a:solidFill>
              </a:rPr>
              <a:t>Converted all narratives to lowercase; stripped punctuation, formatting escapes, and non-ASCII character noise.</a:t>
            </a:r>
            <a:endParaRPr sz="1600" b="0" dirty="0">
              <a:solidFill>
                <a:srgbClr val="1E293B"/>
              </a:solidFill>
              <a:ea typeface="Calibri"/>
              <a:cs typeface="Calibri"/>
            </a:endParaRPr>
          </a:p>
          <a:p>
            <a:pPr>
              <a:spcBef>
                <a:spcPts val="700"/>
              </a:spcBef>
              <a:defRPr sz="1000" b="1">
                <a:solidFill>
                  <a:srgbClr val="0B1F3A"/>
                </a:solidFill>
                <a:latin typeface="Calibri"/>
              </a:defRPr>
            </a:pPr>
            <a:r>
              <a:rPr sz="1600" dirty="0"/>
              <a:t>• Alphanumeric Token Filtering: </a:t>
            </a:r>
            <a:r>
              <a:rPr sz="1600" b="0" dirty="0">
                <a:solidFill>
                  <a:srgbClr val="1E293B"/>
                </a:solidFill>
              </a:rPr>
              <a:t>Retained clinical terms, drug dosages, and surgical abbreviations while eliminating solitary numerical fragments.</a:t>
            </a:r>
            <a:endParaRPr sz="1600" b="0" dirty="0">
              <a:solidFill>
                <a:srgbClr val="1E293B"/>
              </a:solidFill>
              <a:ea typeface="Calibri"/>
              <a:cs typeface="Calibri"/>
            </a:endParaRPr>
          </a:p>
          <a:p>
            <a:pPr>
              <a:spcBef>
                <a:spcPts val="700"/>
              </a:spcBef>
              <a:defRPr sz="1000" b="1">
                <a:solidFill>
                  <a:srgbClr val="0B1F3A"/>
                </a:solidFill>
                <a:latin typeface="Calibri"/>
              </a:defRPr>
            </a:pPr>
            <a:r>
              <a:rPr sz="1600" dirty="0"/>
              <a:t>• Stop-Word Filtration: </a:t>
            </a:r>
            <a:r>
              <a:rPr sz="1600" b="0" dirty="0">
                <a:solidFill>
                  <a:srgbClr val="1E293B"/>
                </a:solidFill>
              </a:rPr>
              <a:t>Removed general English stop-words and non-informative clinical filler terms while preserving essential diagnostic terminology.</a:t>
            </a:r>
            <a:endParaRPr sz="1600" b="0" dirty="0">
              <a:solidFill>
                <a:srgbClr val="1E293B"/>
              </a:solidFill>
              <a:ea typeface="Calibri"/>
              <a:cs typeface="Calibri"/>
            </a:endParaRPr>
          </a:p>
          <a:p>
            <a:pPr>
              <a:spcBef>
                <a:spcPts val="700"/>
              </a:spcBef>
              <a:defRPr sz="1000" b="1">
                <a:solidFill>
                  <a:srgbClr val="0B1F3A"/>
                </a:solidFill>
                <a:latin typeface="Calibri"/>
              </a:defRPr>
            </a:pPr>
            <a:r>
              <a:rPr sz="1600" dirty="0"/>
              <a:t>• Morphological Lemmatization: </a:t>
            </a:r>
            <a:r>
              <a:rPr sz="1600" b="0" dirty="0">
                <a:solidFill>
                  <a:srgbClr val="1E293B"/>
                </a:solidFill>
              </a:rPr>
              <a:t>Standardized anatomical and surgical variants to base lemmas using NLTK </a:t>
            </a:r>
            <a:r>
              <a:rPr sz="1600" b="0" dirty="0" err="1">
                <a:solidFill>
                  <a:srgbClr val="1E293B"/>
                </a:solidFill>
              </a:rPr>
              <a:t>WordNetLemmatizer</a:t>
            </a:r>
            <a:r>
              <a:rPr sz="1600" b="0" dirty="0">
                <a:solidFill>
                  <a:srgbClr val="1E293B"/>
                </a:solidFill>
              </a:rPr>
              <a:t>.</a:t>
            </a:r>
            <a:endParaRPr sz="1600" b="0" dirty="0">
              <a:solidFill>
                <a:srgbClr val="1E293B"/>
              </a:solidFill>
              <a:ea typeface="Calibri"/>
              <a:cs typeface="Calibri"/>
            </a:endParaRPr>
          </a:p>
        </p:txBody>
      </p:sp>
      <p:sp>
        <p:nvSpPr>
          <p:cNvPr id="10" name="Rounded Rectangle 9"/>
          <p:cNvSpPr/>
          <p:nvPr/>
        </p:nvSpPr>
        <p:spPr>
          <a:xfrm>
            <a:off x="6217920" y="1371600"/>
            <a:ext cx="542239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472102"/>
            <a:ext cx="4965192" cy="4647426"/>
          </a:xfrm>
          <a:prstGeom prst="rect">
            <a:avLst/>
          </a:prstGeom>
          <a:noFill/>
        </p:spPr>
        <p:txBody>
          <a:bodyPr wrap="square" lIns="91440" tIns="45720" rIns="91440" bIns="45720" anchor="t">
            <a:spAutoFit/>
          </a:bodyPr>
          <a:lstStyle/>
          <a:p>
            <a:pPr>
              <a:defRPr sz="1500" b="1">
                <a:solidFill>
                  <a:srgbClr val="0B1F3A"/>
                </a:solidFill>
                <a:latin typeface="Cambria"/>
              </a:defRPr>
            </a:pPr>
            <a:r>
              <a:rPr dirty="0"/>
              <a:t>TF-IDF Vectorizer Architecture</a:t>
            </a:r>
          </a:p>
          <a:p>
            <a:pPr>
              <a:spcBef>
                <a:spcPts val="500"/>
              </a:spcBef>
              <a:defRPr sz="1000" b="1">
                <a:solidFill>
                  <a:srgbClr val="0D9488"/>
                </a:solidFill>
                <a:latin typeface="Calibri"/>
              </a:defRPr>
            </a:pPr>
            <a:r>
              <a:rPr sz="1600" dirty="0"/>
              <a:t>✓ </a:t>
            </a:r>
            <a:r>
              <a:rPr sz="1600" dirty="0" err="1"/>
              <a:t>max_features</a:t>
            </a:r>
            <a:r>
              <a:rPr sz="1600" dirty="0"/>
              <a:t> = 8,000: </a:t>
            </a:r>
            <a:r>
              <a:rPr sz="1600" b="0" dirty="0">
                <a:solidFill>
                  <a:srgbClr val="1E293B"/>
                </a:solidFill>
              </a:rPr>
              <a:t>Constrained high dimensionality from 310k+ to top 8,000 discriminative features to eliminate overfitting.</a:t>
            </a:r>
            <a:endParaRPr sz="1600" b="0">
              <a:solidFill>
                <a:srgbClr val="1E293B"/>
              </a:solidFill>
              <a:ea typeface="Calibri"/>
              <a:cs typeface="Calibri"/>
            </a:endParaRPr>
          </a:p>
          <a:p>
            <a:pPr>
              <a:spcBef>
                <a:spcPts val="500"/>
              </a:spcBef>
              <a:defRPr sz="1000" b="1">
                <a:solidFill>
                  <a:srgbClr val="0D9488"/>
                </a:solidFill>
                <a:latin typeface="Calibri"/>
              </a:defRPr>
            </a:pPr>
            <a:r>
              <a:rPr sz="1600" dirty="0"/>
              <a:t>✓ </a:t>
            </a:r>
            <a:r>
              <a:rPr sz="1600" dirty="0" err="1"/>
              <a:t>ngram_range</a:t>
            </a:r>
            <a:r>
              <a:rPr sz="1600" dirty="0"/>
              <a:t> = (1, 2): </a:t>
            </a:r>
            <a:r>
              <a:rPr sz="1600" b="0" dirty="0">
                <a:solidFill>
                  <a:srgbClr val="1E293B"/>
                </a:solidFill>
              </a:rPr>
              <a:t>Captured unigrams ('stent', 'cataract') and bigrams ('coronary artery', 'lumbar spine').</a:t>
            </a:r>
            <a:endParaRPr sz="1600" b="0">
              <a:solidFill>
                <a:srgbClr val="1E293B"/>
              </a:solidFill>
              <a:ea typeface="Calibri"/>
              <a:cs typeface="Calibri"/>
            </a:endParaRPr>
          </a:p>
          <a:p>
            <a:pPr>
              <a:spcBef>
                <a:spcPts val="500"/>
              </a:spcBef>
              <a:defRPr sz="1000" b="1">
                <a:solidFill>
                  <a:srgbClr val="0D9488"/>
                </a:solidFill>
                <a:latin typeface="Calibri"/>
              </a:defRPr>
            </a:pPr>
            <a:r>
              <a:rPr sz="1600" dirty="0"/>
              <a:t>✓ </a:t>
            </a:r>
            <a:r>
              <a:rPr sz="1600" dirty="0" err="1"/>
              <a:t>min_df</a:t>
            </a:r>
            <a:r>
              <a:rPr sz="1600" dirty="0"/>
              <a:t> = 2, </a:t>
            </a:r>
            <a:r>
              <a:rPr sz="1600" dirty="0" err="1"/>
              <a:t>max_df</a:t>
            </a:r>
            <a:r>
              <a:rPr sz="1600" dirty="0"/>
              <a:t> = 0.7: </a:t>
            </a:r>
            <a:r>
              <a:rPr sz="1600" b="0" dirty="0">
                <a:solidFill>
                  <a:srgbClr val="1E293B"/>
                </a:solidFill>
              </a:rPr>
              <a:t>Pruned singleton words and filtered ubiquitous tokens occurring in &gt; 70% of documents.</a:t>
            </a:r>
            <a:endParaRPr sz="1600" b="0">
              <a:solidFill>
                <a:srgbClr val="1E293B"/>
              </a:solidFill>
              <a:ea typeface="Calibri"/>
              <a:cs typeface="Calibri"/>
            </a:endParaRPr>
          </a:p>
          <a:p>
            <a:pPr>
              <a:spcBef>
                <a:spcPts val="500"/>
              </a:spcBef>
              <a:defRPr sz="1000" b="1">
                <a:solidFill>
                  <a:srgbClr val="0D9488"/>
                </a:solidFill>
                <a:latin typeface="Calibri"/>
              </a:defRPr>
            </a:pPr>
            <a:r>
              <a:rPr sz="1600" dirty="0"/>
              <a:t>✓ norm = 'l2' (L2 Normalization): </a:t>
            </a:r>
            <a:r>
              <a:rPr sz="1600" b="0" dirty="0">
                <a:solidFill>
                  <a:srgbClr val="1E293B"/>
                </a:solidFill>
              </a:rPr>
              <a:t>Normalized document vector lengths, making representation invariant to report length.</a:t>
            </a:r>
            <a:endParaRPr sz="1600" b="0">
              <a:solidFill>
                <a:srgbClr val="1E293B"/>
              </a:solidFill>
              <a:ea typeface="Calibri"/>
              <a:cs typeface="Calibri"/>
            </a:endParaRPr>
          </a:p>
          <a:p>
            <a:pPr>
              <a:spcBef>
                <a:spcPts val="500"/>
              </a:spcBef>
              <a:defRPr sz="1000" b="1">
                <a:solidFill>
                  <a:srgbClr val="0D9488"/>
                </a:solidFill>
                <a:latin typeface="Calibri"/>
              </a:defRPr>
            </a:pPr>
            <a:r>
              <a:rPr sz="1600" dirty="0"/>
              <a:t>✓ Strict Anti-Leakage Partitioning: </a:t>
            </a:r>
            <a:r>
              <a:rPr sz="1600" b="0" dirty="0">
                <a:solidFill>
                  <a:srgbClr val="1E293B"/>
                </a:solidFill>
              </a:rPr>
              <a:t>Fitted ONLY on training data (1,330 samples); test data (333 samples)</a:t>
            </a:r>
            <a:endParaRPr lang="en-GB" sz="1600" dirty="0"/>
          </a:p>
          <a:p>
            <a:pPr>
              <a:spcBef>
                <a:spcPts val="500"/>
              </a:spcBef>
              <a:defRPr sz="1000" b="1">
                <a:solidFill>
                  <a:srgbClr val="0D9488"/>
                </a:solidFill>
                <a:latin typeface="Calibri"/>
              </a:defRPr>
            </a:pPr>
            <a:r>
              <a:rPr sz="1600" dirty="0"/>
              <a:t>Resulting Feature Matrices:</a:t>
            </a:r>
            <a:br>
              <a:rPr sz="1600" dirty="0"/>
            </a:br>
            <a:r>
              <a:rPr sz="1600" dirty="0"/>
              <a:t>• Training Matrix: 1,330 × 8,000  |  Testing Matrix: 333 × 8,000</a:t>
            </a:r>
            <a:endParaRPr sz="1600">
              <a:ea typeface="Calibri"/>
              <a:cs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IMBALANCE MITIGATION</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Class Imbalance Mitigation Techniques in Phase 2</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8 of 16</a:t>
            </a:r>
          </a:p>
        </p:txBody>
      </p:sp>
      <p:sp>
        <p:nvSpPr>
          <p:cNvPr id="8" name="Rounded Rectangle 7"/>
          <p:cNvSpPr/>
          <p:nvPr/>
        </p:nvSpPr>
        <p:spPr>
          <a:xfrm>
            <a:off x="703099" y="1227438"/>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08760"/>
            <a:ext cx="5029200" cy="2082621"/>
          </a:xfrm>
          <a:prstGeom prst="rect">
            <a:avLst/>
          </a:prstGeom>
          <a:noFill/>
        </p:spPr>
        <p:txBody>
          <a:bodyPr wrap="square" lIns="91440" tIns="45720" rIns="91440" bIns="45720" anchor="t">
            <a:spAutoFit/>
          </a:bodyPr>
          <a:lstStyle/>
          <a:p>
            <a:pPr>
              <a:defRPr sz="1300" b="1">
                <a:solidFill>
                  <a:srgbClr val="0B1F3A"/>
                </a:solidFill>
                <a:latin typeface="Cambria"/>
              </a:defRPr>
            </a:pPr>
            <a:r>
              <a:rPr sz="1400" dirty="0"/>
              <a:t>1. Algorithmic Cost Weighting (</a:t>
            </a:r>
            <a:r>
              <a:rPr sz="1400" dirty="0" err="1"/>
              <a:t>class_weight</a:t>
            </a:r>
            <a:r>
              <a:rPr sz="1400" dirty="0"/>
              <a:t>='balanced')</a:t>
            </a:r>
            <a:endParaRPr lang="en-US" sz="1400" dirty="0">
              <a:ea typeface="Cambria"/>
            </a:endParaRPr>
          </a:p>
          <a:p>
            <a:pPr>
              <a:spcBef>
                <a:spcPts val="400"/>
              </a:spcBef>
              <a:defRPr sz="950">
                <a:solidFill>
                  <a:srgbClr val="1E293B"/>
                </a:solidFill>
                <a:latin typeface="Calibri"/>
              </a:defRPr>
            </a:pPr>
            <a:r>
              <a:rPr sz="1400" dirty="0"/>
              <a:t>• Applied natively across: Logistic Regression, Linear SVM, and Random Forest.</a:t>
            </a:r>
            <a:br>
              <a:rPr sz="1400" dirty="0"/>
            </a:br>
            <a:r>
              <a:rPr sz="1400" dirty="0"/>
              <a:t>• Mechanism: Automatically adjusts loss-function penalties inversely proportional to class frequencies:</a:t>
            </a:r>
            <a:br>
              <a:rPr sz="1400" dirty="0"/>
            </a:br>
            <a:r>
              <a:rPr sz="1400" dirty="0"/>
              <a:t>  </a:t>
            </a:r>
            <a:r>
              <a:rPr sz="1400" dirty="0" err="1"/>
              <a:t>w_j</a:t>
            </a:r>
            <a:r>
              <a:rPr sz="1400" dirty="0"/>
              <a:t> = N / (K · </a:t>
            </a:r>
            <a:r>
              <a:rPr sz="1400" dirty="0" err="1"/>
              <a:t>n_j</a:t>
            </a:r>
            <a:r>
              <a:rPr sz="1400" dirty="0"/>
              <a:t>)</a:t>
            </a:r>
            <a:br>
              <a:rPr sz="1400" dirty="0"/>
            </a:br>
            <a:r>
              <a:rPr sz="1400" dirty="0"/>
              <a:t>• Impact: Penalizes majority-class false predictions more heavily, preventing models from sacrificing minority classes like Ophthalmology (83) and ENT (96).</a:t>
            </a:r>
            <a:endParaRPr sz="1400" dirty="0">
              <a:ea typeface="Calibri"/>
              <a:cs typeface="Calibri"/>
            </a:endParaRPr>
          </a:p>
        </p:txBody>
      </p:sp>
      <p:sp>
        <p:nvSpPr>
          <p:cNvPr id="10" name="Rounded Rectangle 9"/>
          <p:cNvSpPr/>
          <p:nvPr/>
        </p:nvSpPr>
        <p:spPr>
          <a:xfrm>
            <a:off x="6217920" y="1371600"/>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508760"/>
            <a:ext cx="5029200" cy="1867178"/>
          </a:xfrm>
          <a:prstGeom prst="rect">
            <a:avLst/>
          </a:prstGeom>
          <a:noFill/>
        </p:spPr>
        <p:txBody>
          <a:bodyPr wrap="square" lIns="91440" tIns="45720" rIns="91440" bIns="45720" anchor="t">
            <a:spAutoFit/>
          </a:bodyPr>
          <a:lstStyle/>
          <a:p>
            <a:pPr>
              <a:defRPr sz="1300" b="1">
                <a:solidFill>
                  <a:srgbClr val="0E7C86"/>
                </a:solidFill>
                <a:latin typeface="Cambria"/>
              </a:defRPr>
            </a:pPr>
            <a:r>
              <a:rPr sz="1400" dirty="0"/>
              <a:t>2. Synthetic Minority Over-sampling (SMOTE)</a:t>
            </a:r>
            <a:endParaRPr lang="en-US" sz="1400" dirty="0">
              <a:ea typeface="Cambria"/>
            </a:endParaRPr>
          </a:p>
          <a:p>
            <a:pPr>
              <a:spcBef>
                <a:spcPts val="400"/>
              </a:spcBef>
              <a:defRPr sz="950">
                <a:solidFill>
                  <a:srgbClr val="1E293B"/>
                </a:solidFill>
                <a:latin typeface="Calibri"/>
              </a:defRPr>
            </a:pPr>
            <a:r>
              <a:rPr sz="1400" dirty="0"/>
              <a:t>• Applied strictly to the training fold (never on test data to preserve evaluation integrity).</a:t>
            </a:r>
            <a:br>
              <a:rPr sz="1400" dirty="0"/>
            </a:br>
            <a:r>
              <a:rPr sz="1400" dirty="0"/>
              <a:t>• Configuration: </a:t>
            </a:r>
            <a:r>
              <a:rPr sz="1400" dirty="0" err="1"/>
              <a:t>k_neighbors</a:t>
            </a:r>
            <a:r>
              <a:rPr sz="1400" dirty="0"/>
              <a:t> = 3 (tailored for sparse medical text representations).</a:t>
            </a:r>
            <a:br>
              <a:rPr sz="1400" dirty="0"/>
            </a:br>
            <a:r>
              <a:rPr sz="1400" dirty="0"/>
              <a:t>• Mechanism: Generates synthetic feature vectors along line segments connecting k-nearest minority neighbors, enriching minority decision regions.</a:t>
            </a:r>
            <a:endParaRPr sz="1400" dirty="0">
              <a:ea typeface="Calibri"/>
              <a:cs typeface="Calibri"/>
            </a:endParaRPr>
          </a:p>
        </p:txBody>
      </p:sp>
      <p:sp>
        <p:nvSpPr>
          <p:cNvPr id="12" name="Rounded Rectangle 11"/>
          <p:cNvSpPr/>
          <p:nvPr/>
        </p:nvSpPr>
        <p:spPr>
          <a:xfrm>
            <a:off x="548640" y="3886200"/>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4023360"/>
            <a:ext cx="5029200" cy="1220847"/>
          </a:xfrm>
          <a:prstGeom prst="rect">
            <a:avLst/>
          </a:prstGeom>
          <a:noFill/>
        </p:spPr>
        <p:txBody>
          <a:bodyPr wrap="square" lIns="91440" tIns="45720" rIns="91440" bIns="45720" anchor="t">
            <a:spAutoFit/>
          </a:bodyPr>
          <a:lstStyle/>
          <a:p>
            <a:pPr>
              <a:defRPr sz="1300" b="1">
                <a:solidFill>
                  <a:srgbClr val="D97706"/>
                </a:solidFill>
                <a:latin typeface="Cambria"/>
              </a:defRPr>
            </a:pPr>
            <a:r>
              <a:rPr sz="1400" dirty="0"/>
              <a:t>3. Random Over-Sampling (ROS)</a:t>
            </a:r>
            <a:endParaRPr lang="en-US" sz="1400" dirty="0">
              <a:ea typeface="Cambria"/>
            </a:endParaRPr>
          </a:p>
          <a:p>
            <a:pPr>
              <a:spcBef>
                <a:spcPts val="400"/>
              </a:spcBef>
              <a:defRPr sz="950">
                <a:solidFill>
                  <a:srgbClr val="1E293B"/>
                </a:solidFill>
                <a:latin typeface="Calibri"/>
              </a:defRPr>
            </a:pPr>
            <a:r>
              <a:rPr sz="1400" dirty="0"/>
              <a:t>• Evaluated to boost minority-class representation during iterative experimentation.</a:t>
            </a:r>
            <a:br>
              <a:rPr sz="1400" dirty="0"/>
            </a:br>
            <a:r>
              <a:rPr sz="1400" dirty="0"/>
              <a:t>• Duplicates minority instances to balance gradient propagation across rare specialty categories.</a:t>
            </a:r>
            <a:endParaRPr sz="1400" dirty="0">
              <a:ea typeface="Calibri"/>
              <a:cs typeface="Calibri"/>
            </a:endParaRPr>
          </a:p>
        </p:txBody>
      </p:sp>
      <p:sp>
        <p:nvSpPr>
          <p:cNvPr id="14" name="Rounded Rectangle 13"/>
          <p:cNvSpPr/>
          <p:nvPr/>
        </p:nvSpPr>
        <p:spPr>
          <a:xfrm>
            <a:off x="6217920" y="3886200"/>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023360"/>
            <a:ext cx="5029200" cy="1436291"/>
          </a:xfrm>
          <a:prstGeom prst="rect">
            <a:avLst/>
          </a:prstGeom>
          <a:noFill/>
        </p:spPr>
        <p:txBody>
          <a:bodyPr wrap="square" lIns="91440" tIns="45720" rIns="91440" bIns="45720" anchor="t">
            <a:spAutoFit/>
          </a:bodyPr>
          <a:lstStyle/>
          <a:p>
            <a:pPr>
              <a:defRPr sz="1300" b="1">
                <a:solidFill>
                  <a:srgbClr val="0D9488"/>
                </a:solidFill>
                <a:latin typeface="Cambria"/>
              </a:defRPr>
            </a:pPr>
            <a:r>
              <a:rPr sz="1400" dirty="0"/>
              <a:t>Core Engineering Objective</a:t>
            </a:r>
            <a:endParaRPr lang="en-US" sz="1400" dirty="0">
              <a:ea typeface="Cambria"/>
            </a:endParaRPr>
          </a:p>
          <a:p>
            <a:pPr>
              <a:spcBef>
                <a:spcPts val="400"/>
              </a:spcBef>
              <a:defRPr sz="950">
                <a:solidFill>
                  <a:srgbClr val="1E293B"/>
                </a:solidFill>
                <a:latin typeface="Calibri"/>
              </a:defRPr>
            </a:pPr>
            <a:r>
              <a:rPr sz="1400" dirty="0"/>
              <a:t>• Objective: Prevent the models from being dominated by majority classes while preserving an uncorrupted, unseen test set of 333 held-out records.</a:t>
            </a:r>
            <a:br>
              <a:rPr sz="1400" dirty="0"/>
            </a:br>
            <a:r>
              <a:rPr sz="1400" dirty="0"/>
              <a:t>• Preserves exact stratified class proportions in the 20% test partition for unbiased clinical validation.</a:t>
            </a:r>
            <a:endParaRPr sz="1400" dirty="0">
              <a:ea typeface="Calibri"/>
              <a:cs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MODEL TRAINING</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Model Training: Four Core Supervised ML Algorithms</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9 of 16</a:t>
            </a:r>
          </a:p>
        </p:txBody>
      </p:sp>
      <p:sp>
        <p:nvSpPr>
          <p:cNvPr id="8" name="Rounded Rectangle 7"/>
          <p:cNvSpPr/>
          <p:nvPr/>
        </p:nvSpPr>
        <p:spPr>
          <a:xfrm>
            <a:off x="548640" y="1371600"/>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08760"/>
            <a:ext cx="5029200" cy="1880002"/>
          </a:xfrm>
          <a:prstGeom prst="rect">
            <a:avLst/>
          </a:prstGeom>
          <a:noFill/>
        </p:spPr>
        <p:txBody>
          <a:bodyPr wrap="square" lIns="91440" tIns="45720" rIns="91440" bIns="45720" anchor="t">
            <a:spAutoFit/>
          </a:bodyPr>
          <a:lstStyle/>
          <a:p>
            <a:pPr>
              <a:defRPr sz="1300" b="1">
                <a:solidFill>
                  <a:srgbClr val="0B1F3A"/>
                </a:solidFill>
                <a:latin typeface="Cambria"/>
              </a:defRPr>
            </a:pPr>
            <a:r>
              <a:rPr sz="1400" dirty="0"/>
              <a:t>1. Linear Support Vector Machine (</a:t>
            </a:r>
            <a:r>
              <a:rPr sz="1400" dirty="0" err="1"/>
              <a:t>LinearSVC</a:t>
            </a:r>
            <a:r>
              <a:rPr sz="1400" dirty="0"/>
              <a:t>)</a:t>
            </a:r>
            <a:endParaRPr lang="en-US" sz="1400" dirty="0">
              <a:ea typeface="Cambria"/>
            </a:endParaRPr>
          </a:p>
          <a:p>
            <a:pPr>
              <a:spcBef>
                <a:spcPts val="200"/>
              </a:spcBef>
              <a:defRPr sz="950" b="1">
                <a:solidFill>
                  <a:srgbClr val="0E7C86"/>
                </a:solidFill>
                <a:latin typeface="Calibri"/>
              </a:defRPr>
            </a:pPr>
            <a:r>
              <a:rPr sz="1400" dirty="0"/>
              <a:t>Config: C = 1.0, </a:t>
            </a:r>
            <a:r>
              <a:rPr sz="1400" dirty="0" err="1"/>
              <a:t>class_weight</a:t>
            </a:r>
            <a:r>
              <a:rPr sz="1400" dirty="0"/>
              <a:t> = 'balanced', </a:t>
            </a:r>
            <a:r>
              <a:rPr sz="1400" dirty="0" err="1"/>
              <a:t>max_iter</a:t>
            </a:r>
            <a:r>
              <a:rPr sz="1400" dirty="0"/>
              <a:t> = 3000</a:t>
            </a:r>
            <a:endParaRPr sz="1400" dirty="0">
              <a:ea typeface="Calibri"/>
              <a:cs typeface="Calibri"/>
            </a:endParaRPr>
          </a:p>
          <a:p>
            <a:pPr>
              <a:spcBef>
                <a:spcPts val="300"/>
              </a:spcBef>
              <a:defRPr sz="900">
                <a:solidFill>
                  <a:srgbClr val="1E293B"/>
                </a:solidFill>
                <a:latin typeface="Calibri"/>
              </a:defRPr>
            </a:pPr>
            <a:r>
              <a:rPr sz="1400" dirty="0"/>
              <a:t>• Why Tested: SVMs excel on high-dimensional sparse text vectors by finding the maximum-margin hyperplane.</a:t>
            </a:r>
            <a:br>
              <a:rPr sz="1400" dirty="0"/>
            </a:br>
            <a:r>
              <a:rPr sz="1400" dirty="0"/>
              <a:t>• Training Behavior: Linear kernel separates 8,000 TF-IDF features with minimal computational overhead.</a:t>
            </a:r>
            <a:br>
              <a:rPr sz="1400" dirty="0"/>
            </a:br>
            <a:r>
              <a:rPr sz="1400" dirty="0"/>
              <a:t>• Regularization: L2 penalty ($C=1.0$) prevents overfitting on minority classes.</a:t>
            </a:r>
            <a:endParaRPr sz="1400" dirty="0">
              <a:ea typeface="Calibri"/>
              <a:cs typeface="Calibri"/>
            </a:endParaRPr>
          </a:p>
        </p:txBody>
      </p:sp>
      <p:sp>
        <p:nvSpPr>
          <p:cNvPr id="10" name="Rounded Rectangle 9"/>
          <p:cNvSpPr/>
          <p:nvPr/>
        </p:nvSpPr>
        <p:spPr>
          <a:xfrm>
            <a:off x="6217920" y="1371600"/>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508760"/>
            <a:ext cx="5029200" cy="2095445"/>
          </a:xfrm>
          <a:prstGeom prst="rect">
            <a:avLst/>
          </a:prstGeom>
          <a:noFill/>
        </p:spPr>
        <p:txBody>
          <a:bodyPr wrap="square" lIns="91440" tIns="45720" rIns="91440" bIns="45720" anchor="t">
            <a:spAutoFit/>
          </a:bodyPr>
          <a:lstStyle/>
          <a:p>
            <a:pPr>
              <a:defRPr sz="1300" b="1">
                <a:solidFill>
                  <a:srgbClr val="0B1F3A"/>
                </a:solidFill>
                <a:latin typeface="Cambria"/>
              </a:defRPr>
            </a:pPr>
            <a:r>
              <a:rPr sz="1400" dirty="0"/>
              <a:t>2. Logistic Regression (Multinomial)</a:t>
            </a:r>
            <a:endParaRPr lang="en-US" sz="1400" dirty="0">
              <a:ea typeface="Cambria"/>
            </a:endParaRPr>
          </a:p>
          <a:p>
            <a:pPr>
              <a:spcBef>
                <a:spcPts val="200"/>
              </a:spcBef>
              <a:defRPr sz="950" b="1">
                <a:solidFill>
                  <a:srgbClr val="0E7C86"/>
                </a:solidFill>
                <a:latin typeface="Calibri"/>
              </a:defRPr>
            </a:pPr>
            <a:r>
              <a:rPr sz="1400" dirty="0"/>
              <a:t>Config: Multinomial </a:t>
            </a:r>
            <a:r>
              <a:rPr sz="1400" dirty="0" err="1"/>
              <a:t>Softmax</a:t>
            </a:r>
            <a:r>
              <a:rPr sz="1400" dirty="0"/>
              <a:t>, </a:t>
            </a:r>
            <a:r>
              <a:rPr sz="1400" dirty="0" err="1"/>
              <a:t>class_weight</a:t>
            </a:r>
            <a:r>
              <a:rPr sz="1400" dirty="0"/>
              <a:t> = 'balanced', </a:t>
            </a:r>
            <a:r>
              <a:rPr sz="1400" dirty="0" err="1"/>
              <a:t>max_iter</a:t>
            </a:r>
            <a:r>
              <a:rPr sz="1400" dirty="0"/>
              <a:t> = 1000</a:t>
            </a:r>
            <a:endParaRPr sz="1400" dirty="0">
              <a:ea typeface="Calibri"/>
              <a:cs typeface="Calibri"/>
            </a:endParaRPr>
          </a:p>
          <a:p>
            <a:pPr>
              <a:spcBef>
                <a:spcPts val="300"/>
              </a:spcBef>
              <a:defRPr sz="900">
                <a:solidFill>
                  <a:srgbClr val="1E293B"/>
                </a:solidFill>
                <a:latin typeface="Calibri"/>
              </a:defRPr>
            </a:pPr>
            <a:r>
              <a:rPr sz="1400" dirty="0"/>
              <a:t>• Why Tested: Provides a well-calibrated probabilistic baseline with direct clinical interpretability.</a:t>
            </a:r>
            <a:br>
              <a:rPr sz="1400" dirty="0"/>
            </a:br>
            <a:r>
              <a:rPr sz="1400" dirty="0"/>
              <a:t>• Training Behavior: Optimizes multinomial cross-entropy with L2 regularization penalty.</a:t>
            </a:r>
            <a:br>
              <a:rPr sz="1400" dirty="0"/>
            </a:br>
            <a:r>
              <a:rPr sz="1400" dirty="0"/>
              <a:t>• Output: Produces natural class probability distributions for ensemble voting.</a:t>
            </a:r>
            <a:endParaRPr sz="1400" dirty="0">
              <a:ea typeface="Calibri"/>
              <a:cs typeface="Calibri"/>
            </a:endParaRPr>
          </a:p>
        </p:txBody>
      </p:sp>
      <p:sp>
        <p:nvSpPr>
          <p:cNvPr id="12" name="Rounded Rectangle 11"/>
          <p:cNvSpPr/>
          <p:nvPr/>
        </p:nvSpPr>
        <p:spPr>
          <a:xfrm>
            <a:off x="548640" y="3886200"/>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4023360"/>
            <a:ext cx="5029200" cy="2095445"/>
          </a:xfrm>
          <a:prstGeom prst="rect">
            <a:avLst/>
          </a:prstGeom>
          <a:noFill/>
        </p:spPr>
        <p:txBody>
          <a:bodyPr wrap="square" lIns="91440" tIns="45720" rIns="91440" bIns="45720" anchor="t">
            <a:spAutoFit/>
          </a:bodyPr>
          <a:lstStyle/>
          <a:p>
            <a:pPr>
              <a:defRPr sz="1300" b="1">
                <a:solidFill>
                  <a:srgbClr val="0B1F3A"/>
                </a:solidFill>
                <a:latin typeface="Cambria"/>
              </a:defRPr>
            </a:pPr>
            <a:r>
              <a:rPr sz="1400" dirty="0"/>
              <a:t>3. Random Forest Classifier</a:t>
            </a:r>
            <a:endParaRPr lang="en-US" sz="1400" dirty="0">
              <a:ea typeface="Cambria"/>
            </a:endParaRPr>
          </a:p>
          <a:p>
            <a:pPr>
              <a:spcBef>
                <a:spcPts val="200"/>
              </a:spcBef>
              <a:defRPr sz="950" b="1">
                <a:solidFill>
                  <a:srgbClr val="0E7C86"/>
                </a:solidFill>
                <a:latin typeface="Calibri"/>
              </a:defRPr>
            </a:pPr>
            <a:r>
              <a:rPr sz="1400" dirty="0"/>
              <a:t>Config: </a:t>
            </a:r>
            <a:r>
              <a:rPr sz="1400" dirty="0" err="1"/>
              <a:t>n_estimators</a:t>
            </a:r>
            <a:r>
              <a:rPr sz="1400" dirty="0"/>
              <a:t> = 100, </a:t>
            </a:r>
            <a:r>
              <a:rPr sz="1400" dirty="0" err="1"/>
              <a:t>max_depth</a:t>
            </a:r>
            <a:r>
              <a:rPr sz="1400" dirty="0"/>
              <a:t> = 25, </a:t>
            </a:r>
            <a:r>
              <a:rPr sz="1400" dirty="0" err="1"/>
              <a:t>class_weight</a:t>
            </a:r>
            <a:r>
              <a:rPr sz="1400" dirty="0"/>
              <a:t> = 'balanced'</a:t>
            </a:r>
            <a:endParaRPr sz="1400" dirty="0">
              <a:ea typeface="Calibri"/>
              <a:cs typeface="Calibri"/>
            </a:endParaRPr>
          </a:p>
          <a:p>
            <a:pPr>
              <a:spcBef>
                <a:spcPts val="300"/>
              </a:spcBef>
              <a:defRPr sz="900">
                <a:solidFill>
                  <a:srgbClr val="1E293B"/>
                </a:solidFill>
                <a:latin typeface="Calibri"/>
              </a:defRPr>
            </a:pPr>
            <a:r>
              <a:rPr sz="1400" dirty="0"/>
              <a:t>• Why Tested: Evaluates whether bagging non-linear decision trees captures keyword interactions.</a:t>
            </a:r>
            <a:br>
              <a:rPr sz="1400" dirty="0"/>
            </a:br>
            <a:r>
              <a:rPr sz="1400" dirty="0"/>
              <a:t>• Training Behavior: Ensembles 100 decorrelated trees with random feature subsampling.</a:t>
            </a:r>
            <a:br>
              <a:rPr sz="1400" dirty="0"/>
            </a:br>
            <a:r>
              <a:rPr sz="1400" dirty="0"/>
              <a:t>• Constraints: </a:t>
            </a:r>
            <a:r>
              <a:rPr sz="1400" dirty="0" err="1"/>
              <a:t>max_depth</a:t>
            </a:r>
            <a:r>
              <a:rPr sz="1400" dirty="0"/>
              <a:t>=25 prevents individual trees from memorizing sparse training text.</a:t>
            </a:r>
            <a:endParaRPr sz="1400" dirty="0">
              <a:ea typeface="Calibri"/>
              <a:cs typeface="Calibri"/>
            </a:endParaRPr>
          </a:p>
        </p:txBody>
      </p:sp>
      <p:sp>
        <p:nvSpPr>
          <p:cNvPr id="14" name="Rounded Rectangle 13"/>
          <p:cNvSpPr/>
          <p:nvPr/>
        </p:nvSpPr>
        <p:spPr>
          <a:xfrm>
            <a:off x="6217920" y="3886200"/>
            <a:ext cx="5394960" cy="228600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023360"/>
            <a:ext cx="5029200" cy="1880002"/>
          </a:xfrm>
          <a:prstGeom prst="rect">
            <a:avLst/>
          </a:prstGeom>
          <a:noFill/>
        </p:spPr>
        <p:txBody>
          <a:bodyPr wrap="square" lIns="91440" tIns="45720" rIns="91440" bIns="45720" anchor="t">
            <a:spAutoFit/>
          </a:bodyPr>
          <a:lstStyle/>
          <a:p>
            <a:pPr>
              <a:defRPr sz="1300" b="1">
                <a:solidFill>
                  <a:srgbClr val="0B1F3A"/>
                </a:solidFill>
                <a:latin typeface="Cambria"/>
              </a:defRPr>
            </a:pPr>
            <a:r>
              <a:rPr sz="1400" dirty="0"/>
              <a:t>4. Multinomial Naive Bayes (MNB)</a:t>
            </a:r>
            <a:endParaRPr lang="en-US" sz="1400" dirty="0">
              <a:ea typeface="Cambria"/>
            </a:endParaRPr>
          </a:p>
          <a:p>
            <a:pPr>
              <a:spcBef>
                <a:spcPts val="200"/>
              </a:spcBef>
              <a:defRPr sz="950" b="1">
                <a:solidFill>
                  <a:srgbClr val="0E7C86"/>
                </a:solidFill>
                <a:latin typeface="Calibri"/>
              </a:defRPr>
            </a:pPr>
            <a:r>
              <a:rPr sz="1400" dirty="0"/>
              <a:t>Config: alpha = 0.5 (Additive Laplace Smoothing)</a:t>
            </a:r>
            <a:endParaRPr sz="1400" dirty="0">
              <a:ea typeface="Calibri"/>
              <a:cs typeface="Calibri"/>
            </a:endParaRPr>
          </a:p>
          <a:p>
            <a:pPr>
              <a:spcBef>
                <a:spcPts val="300"/>
              </a:spcBef>
              <a:defRPr sz="900">
                <a:solidFill>
                  <a:srgbClr val="1E293B"/>
                </a:solidFill>
                <a:latin typeface="Calibri"/>
              </a:defRPr>
            </a:pPr>
            <a:r>
              <a:rPr sz="1400" dirty="0"/>
              <a:t>• Why Tested: Standard generative text benchmark based on conditional word frequencies.</a:t>
            </a:r>
            <a:br>
              <a:rPr sz="1400" dirty="0"/>
            </a:br>
            <a:r>
              <a:rPr sz="1400" dirty="0"/>
              <a:t>• Training Behavior: Extremely rapid closed-form training with zero iterative gradient steps.</a:t>
            </a:r>
            <a:br>
              <a:rPr sz="1400" dirty="0"/>
            </a:br>
            <a:r>
              <a:rPr sz="1400" dirty="0"/>
              <a:t>• Smoothing: alpha=0.5 prevents zero-probability traps for rare clinical vocabulary.</a:t>
            </a:r>
            <a:endParaRPr sz="1400" dirty="0">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ENSEMBLE LEARNING</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Hard &amp; Soft Voting Ensemble Architectures</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10 of 16</a:t>
            </a:r>
          </a:p>
        </p:txBody>
      </p:sp>
      <p:sp>
        <p:nvSpPr>
          <p:cNvPr id="8" name="Rounded Rectangle 7"/>
          <p:cNvSpPr/>
          <p:nvPr/>
        </p:nvSpPr>
        <p:spPr>
          <a:xfrm>
            <a:off x="548640" y="1371600"/>
            <a:ext cx="539496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54480"/>
            <a:ext cx="4937760" cy="2672526"/>
          </a:xfrm>
          <a:prstGeom prst="rect">
            <a:avLst/>
          </a:prstGeom>
          <a:noFill/>
        </p:spPr>
        <p:txBody>
          <a:bodyPr wrap="square" lIns="91440" tIns="45720" rIns="91440" bIns="45720" anchor="t">
            <a:spAutoFit/>
          </a:bodyPr>
          <a:lstStyle/>
          <a:p>
            <a:pPr>
              <a:defRPr sz="1500" b="1">
                <a:solidFill>
                  <a:srgbClr val="0B1F3A"/>
                </a:solidFill>
                <a:latin typeface="Cambria"/>
              </a:defRPr>
            </a:pPr>
            <a:r>
              <a:rPr dirty="0"/>
              <a:t>Hard Voting Ensemble (Majority Rule)</a:t>
            </a:r>
          </a:p>
          <a:p>
            <a:pPr>
              <a:spcBef>
                <a:spcPts val="800"/>
              </a:spcBef>
              <a:defRPr sz="1050" b="1">
                <a:solidFill>
                  <a:srgbClr val="0B1F3A"/>
                </a:solidFill>
                <a:latin typeface="Calibri"/>
              </a:defRPr>
            </a:pPr>
            <a:r>
              <a:rPr sz="1400" dirty="0"/>
              <a:t>• Consensus Mechanism: </a:t>
            </a:r>
            <a:r>
              <a:rPr sz="1400" b="0" dirty="0">
                <a:solidFill>
                  <a:srgbClr val="1E293B"/>
                </a:solidFill>
              </a:rPr>
              <a:t>Aggregates discrete class predictions across the 4 base classifiers (LR, SVM, RF, MNB) and assigns the final label via majority vote: ŷ = mode(ŷ_1, ŷ_2, ŷ_3, ŷ_4).</a:t>
            </a:r>
            <a:endParaRPr sz="1400" b="0" dirty="0">
              <a:solidFill>
                <a:srgbClr val="1E293B"/>
              </a:solidFill>
              <a:ea typeface="Calibri"/>
              <a:cs typeface="Calibri"/>
            </a:endParaRPr>
          </a:p>
          <a:p>
            <a:pPr>
              <a:spcBef>
                <a:spcPts val="800"/>
              </a:spcBef>
              <a:defRPr sz="1050" b="1">
                <a:solidFill>
                  <a:srgbClr val="0B1F3A"/>
                </a:solidFill>
                <a:latin typeface="Calibri"/>
              </a:defRPr>
            </a:pPr>
            <a:r>
              <a:rPr sz="1400" dirty="0"/>
              <a:t>• Non-Probabilistic Decision: </a:t>
            </a:r>
            <a:r>
              <a:rPr sz="1400" b="0" dirty="0">
                <a:solidFill>
                  <a:srgbClr val="1E293B"/>
                </a:solidFill>
              </a:rPr>
              <a:t>Operates directly on predicted class labels without requiring probability outputs.</a:t>
            </a:r>
            <a:endParaRPr sz="1400" b="0" dirty="0">
              <a:solidFill>
                <a:srgbClr val="1E293B"/>
              </a:solidFill>
              <a:ea typeface="Calibri"/>
              <a:cs typeface="Calibri"/>
            </a:endParaRPr>
          </a:p>
          <a:p>
            <a:pPr>
              <a:spcBef>
                <a:spcPts val="800"/>
              </a:spcBef>
              <a:defRPr sz="1050" b="1">
                <a:solidFill>
                  <a:srgbClr val="0B1F3A"/>
                </a:solidFill>
                <a:latin typeface="Calibri"/>
              </a:defRPr>
            </a:pPr>
            <a:r>
              <a:rPr sz="1400" dirty="0"/>
              <a:t>• Empirical Performance: </a:t>
            </a:r>
            <a:r>
              <a:rPr sz="1400" b="0" dirty="0">
                <a:solidFill>
                  <a:srgbClr val="1E293B"/>
                </a:solidFill>
              </a:rPr>
              <a:t>Achieved 87.09% accuracy and 0.8846 Macro F1 on the 333 test samples, matching Logistic Regression.</a:t>
            </a:r>
            <a:endParaRPr sz="1400" b="0" dirty="0">
              <a:solidFill>
                <a:srgbClr val="1E293B"/>
              </a:solidFill>
              <a:ea typeface="Calibri"/>
              <a:cs typeface="Calibri"/>
            </a:endParaRPr>
          </a:p>
          <a:p>
            <a:pPr>
              <a:spcBef>
                <a:spcPts val="800"/>
              </a:spcBef>
              <a:defRPr sz="1050" b="1">
                <a:solidFill>
                  <a:srgbClr val="0B1F3A"/>
                </a:solidFill>
                <a:latin typeface="Calibri"/>
              </a:defRPr>
            </a:pPr>
            <a:r>
              <a:rPr sz="1400" dirty="0"/>
              <a:t>• Limitation: </a:t>
            </a:r>
            <a:r>
              <a:rPr sz="1400" b="0" dirty="0">
                <a:solidFill>
                  <a:srgbClr val="1E293B"/>
                </a:solidFill>
              </a:rPr>
              <a:t>Treats high-confidence and borderline predictions with equal weight, discarding nuanced confidence margins.</a:t>
            </a:r>
            <a:endParaRPr sz="1400" b="0" dirty="0">
              <a:solidFill>
                <a:srgbClr val="1E293B"/>
              </a:solidFill>
              <a:ea typeface="Calibri"/>
              <a:cs typeface="Calibri"/>
            </a:endParaRPr>
          </a:p>
        </p:txBody>
      </p:sp>
      <p:sp>
        <p:nvSpPr>
          <p:cNvPr id="10" name="Rounded Rectangle 9"/>
          <p:cNvSpPr/>
          <p:nvPr/>
        </p:nvSpPr>
        <p:spPr>
          <a:xfrm>
            <a:off x="6217920" y="1371600"/>
            <a:ext cx="542239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554480"/>
            <a:ext cx="4965192" cy="3293209"/>
          </a:xfrm>
          <a:prstGeom prst="rect">
            <a:avLst/>
          </a:prstGeom>
          <a:noFill/>
        </p:spPr>
        <p:txBody>
          <a:bodyPr wrap="square" lIns="91440" tIns="45720" rIns="91440" bIns="45720" anchor="t">
            <a:spAutoFit/>
          </a:bodyPr>
          <a:lstStyle/>
          <a:p>
            <a:pPr>
              <a:defRPr sz="1500" b="1">
                <a:solidFill>
                  <a:srgbClr val="0B1F3A"/>
                </a:solidFill>
                <a:latin typeface="Cambria"/>
              </a:defRPr>
            </a:pPr>
            <a:r>
              <a:rPr dirty="0"/>
              <a:t>Soft Voting Ensemble (Weighted Probability)</a:t>
            </a:r>
          </a:p>
          <a:p>
            <a:pPr>
              <a:spcBef>
                <a:spcPts val="600"/>
              </a:spcBef>
              <a:defRPr sz="1050" b="1">
                <a:solidFill>
                  <a:srgbClr val="0D9488"/>
                </a:solidFill>
                <a:latin typeface="Calibri"/>
              </a:defRPr>
            </a:pPr>
            <a:r>
              <a:rPr sz="1400" dirty="0"/>
              <a:t>✓ Linear SVM Probability Calibration: </a:t>
            </a:r>
            <a:r>
              <a:rPr sz="1400" b="0" dirty="0" err="1">
                <a:solidFill>
                  <a:srgbClr val="1E293B"/>
                </a:solidFill>
              </a:rPr>
              <a:t>LinearSVC</a:t>
            </a:r>
            <a:r>
              <a:rPr sz="1400" b="0" dirty="0">
                <a:solidFill>
                  <a:srgbClr val="1E293B"/>
                </a:solidFill>
              </a:rPr>
              <a:t> natively outputs raw hyperplane distances. Used </a:t>
            </a:r>
            <a:r>
              <a:rPr sz="1400" b="0" dirty="0" err="1">
                <a:solidFill>
                  <a:srgbClr val="1E293B"/>
                </a:solidFill>
              </a:rPr>
              <a:t>CalibratedClassifierCV</a:t>
            </a:r>
            <a:r>
              <a:rPr sz="1400" b="0" dirty="0">
                <a:solidFill>
                  <a:srgbClr val="1E293B"/>
                </a:solidFill>
              </a:rPr>
              <a:t> with Platt scaling to produce valid posterior probabilities P(c | x).</a:t>
            </a:r>
            <a:endParaRPr sz="1400" b="0" dirty="0">
              <a:solidFill>
                <a:srgbClr val="1E293B"/>
              </a:solidFill>
              <a:ea typeface="Calibri"/>
              <a:cs typeface="Calibri"/>
            </a:endParaRPr>
          </a:p>
          <a:p>
            <a:pPr>
              <a:spcBef>
                <a:spcPts val="600"/>
              </a:spcBef>
              <a:defRPr sz="1050" b="1">
                <a:solidFill>
                  <a:srgbClr val="0D9488"/>
                </a:solidFill>
                <a:latin typeface="Calibri"/>
              </a:defRPr>
            </a:pPr>
            <a:r>
              <a:rPr sz="1400" dirty="0"/>
              <a:t>✓ Weighted Consensus Formula: </a:t>
            </a:r>
            <a:r>
              <a:rPr sz="1400" b="0" dirty="0">
                <a:solidFill>
                  <a:srgbClr val="1E293B"/>
                </a:solidFill>
              </a:rPr>
              <a:t>Combined class probabilities with empirical weights [LR:2, SVM:2, RF:1, MNB:1]:
  </a:t>
            </a:r>
            <a:r>
              <a:rPr sz="1400" b="0" dirty="0" err="1">
                <a:solidFill>
                  <a:srgbClr val="1E293B"/>
                </a:solidFill>
              </a:rPr>
              <a:t>P_ensemble</a:t>
            </a:r>
            <a:r>
              <a:rPr sz="1400" b="0" dirty="0">
                <a:solidFill>
                  <a:srgbClr val="1E293B"/>
                </a:solidFill>
              </a:rPr>
              <a:t> = (2·P_LR + 2·P_SVM + P_RF + P_MNB) / 6</a:t>
            </a:r>
            <a:endParaRPr sz="1400" b="0" dirty="0">
              <a:solidFill>
                <a:srgbClr val="1E293B"/>
              </a:solidFill>
              <a:ea typeface="Calibri"/>
              <a:cs typeface="Calibri"/>
            </a:endParaRPr>
          </a:p>
          <a:p>
            <a:pPr>
              <a:spcBef>
                <a:spcPts val="600"/>
              </a:spcBef>
              <a:defRPr sz="1050" b="1">
                <a:solidFill>
                  <a:srgbClr val="0D9488"/>
                </a:solidFill>
                <a:latin typeface="Calibri"/>
              </a:defRPr>
            </a:pPr>
            <a:r>
              <a:rPr sz="1400" dirty="0"/>
              <a:t>✓ Decision Rule: </a:t>
            </a:r>
            <a:r>
              <a:rPr sz="1400" b="0" dirty="0">
                <a:solidFill>
                  <a:srgbClr val="1E293B"/>
                </a:solidFill>
              </a:rPr>
              <a:t>Final specialty assigned by argmax: ŷ = argmax </a:t>
            </a:r>
            <a:r>
              <a:rPr sz="1400" b="0" err="1">
                <a:solidFill>
                  <a:srgbClr val="1E293B"/>
                </a:solidFill>
              </a:rPr>
              <a:t>P_ensemble</a:t>
            </a:r>
            <a:r>
              <a:rPr sz="1400" b="0" dirty="0">
                <a:solidFill>
                  <a:srgbClr val="1E293B"/>
                </a:solidFill>
              </a:rPr>
              <a:t>(c | x).</a:t>
            </a:r>
            <a:endParaRPr sz="1400" b="0" dirty="0">
              <a:solidFill>
                <a:srgbClr val="1E293B"/>
              </a:solidFill>
              <a:ea typeface="Calibri"/>
              <a:cs typeface="Calibri"/>
            </a:endParaRPr>
          </a:p>
          <a:p>
            <a:pPr>
              <a:spcBef>
                <a:spcPts val="600"/>
              </a:spcBef>
              <a:defRPr sz="1050" b="1">
                <a:solidFill>
                  <a:srgbClr val="0D9488"/>
                </a:solidFill>
                <a:latin typeface="Calibri"/>
              </a:defRPr>
            </a:pPr>
            <a:r>
              <a:rPr sz="1400" dirty="0"/>
              <a:t>✓ Why Investigated: </a:t>
            </a:r>
            <a:r>
              <a:rPr sz="1400" b="0" dirty="0">
                <a:solidFill>
                  <a:srgbClr val="1E293B"/>
                </a:solidFill>
              </a:rPr>
              <a:t>Soft voting captures model certainty, smoothing out individual estimator noise and stabilizing predictions across diverse model families (87.99% accuracy / 0.8898 Macro F1).</a:t>
            </a:r>
            <a:endParaRPr sz="1400" b="0" dirty="0">
              <a:solidFill>
                <a:srgbClr val="1E293B"/>
              </a:solidFill>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EVALUATION BENCHMARK</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Model Performance Comparison (Final 8-Specialty Results)</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11 of 16</a:t>
            </a:r>
          </a:p>
        </p:txBody>
      </p:sp>
      <p:sp>
        <p:nvSpPr>
          <p:cNvPr id="8" name="Rounded Rectangle 7"/>
          <p:cNvSpPr/>
          <p:nvPr/>
        </p:nvSpPr>
        <p:spPr>
          <a:xfrm>
            <a:off x="548640" y="1371600"/>
            <a:ext cx="62179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5760720" cy="365760"/>
          </a:xfrm>
          <a:prstGeom prst="rect">
            <a:avLst/>
          </a:prstGeom>
          <a:noFill/>
        </p:spPr>
        <p:txBody>
          <a:bodyPr wrap="none">
            <a:spAutoFit/>
          </a:bodyPr>
          <a:lstStyle/>
          <a:p>
            <a:pPr>
              <a:defRPr sz="1300" b="1">
                <a:solidFill>
                  <a:srgbClr val="0B1F3A"/>
                </a:solidFill>
                <a:latin typeface="Cambria"/>
              </a:defRPr>
            </a:pPr>
            <a:r>
              <a:t>Final Evaluation Benchmark (333 Held-Out Test Records)</a:t>
            </a:r>
          </a:p>
        </p:txBody>
      </p:sp>
      <p:graphicFrame>
        <p:nvGraphicFramePr>
          <p:cNvPr id="10" name="Table 9"/>
          <p:cNvGraphicFramePr>
            <a:graphicFrameLocks noGrp="1"/>
          </p:cNvGraphicFramePr>
          <p:nvPr/>
        </p:nvGraphicFramePr>
        <p:xfrm>
          <a:off x="777240" y="1920240"/>
          <a:ext cx="5760720" cy="32004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tblGrid>
              <a:tr h="457200">
                <a:tc>
                  <a:txBody>
                    <a:bodyPr/>
                    <a:lstStyle/>
                    <a:p>
                      <a:pPr>
                        <a:defRPr sz="850" b="1">
                          <a:solidFill>
                            <a:srgbClr val="FFFFFF"/>
                          </a:solidFill>
                          <a:latin typeface="Calibri"/>
                        </a:defRPr>
                      </a:pPr>
                      <a:r>
                        <a:t>Model Architecture</a:t>
                      </a:r>
                    </a:p>
                  </a:txBody>
                  <a:tcPr anchor="ctr">
                    <a:solidFill>
                      <a:srgbClr val="0B1F3A"/>
                    </a:solidFill>
                  </a:tcPr>
                </a:tc>
                <a:tc>
                  <a:txBody>
                    <a:bodyPr/>
                    <a:lstStyle/>
                    <a:p>
                      <a:pPr algn="r">
                        <a:defRPr sz="850" b="1">
                          <a:solidFill>
                            <a:srgbClr val="FFFFFF"/>
                          </a:solidFill>
                          <a:latin typeface="Calibri"/>
                        </a:defRPr>
                      </a:pPr>
                      <a:r>
                        <a:t>Accuracy</a:t>
                      </a:r>
                    </a:p>
                  </a:txBody>
                  <a:tcPr anchor="ctr">
                    <a:solidFill>
                      <a:srgbClr val="0B1F3A"/>
                    </a:solidFill>
                  </a:tcPr>
                </a:tc>
                <a:tc>
                  <a:txBody>
                    <a:bodyPr/>
                    <a:lstStyle/>
                    <a:p>
                      <a:pPr algn="r">
                        <a:defRPr sz="850" b="1">
                          <a:solidFill>
                            <a:srgbClr val="FFFFFF"/>
                          </a:solidFill>
                          <a:latin typeface="Calibri"/>
                        </a:defRPr>
                      </a:pPr>
                      <a:r>
                        <a:t>Macro Prec</a:t>
                      </a:r>
                    </a:p>
                  </a:txBody>
                  <a:tcPr anchor="ctr">
                    <a:solidFill>
                      <a:srgbClr val="0B1F3A"/>
                    </a:solidFill>
                  </a:tcPr>
                </a:tc>
                <a:tc>
                  <a:txBody>
                    <a:bodyPr/>
                    <a:lstStyle/>
                    <a:p>
                      <a:pPr algn="r">
                        <a:defRPr sz="850" b="1">
                          <a:solidFill>
                            <a:srgbClr val="FFFFFF"/>
                          </a:solidFill>
                          <a:latin typeface="Calibri"/>
                        </a:defRPr>
                      </a:pPr>
                      <a:r>
                        <a:t>Macro Rec</a:t>
                      </a:r>
                    </a:p>
                  </a:txBody>
                  <a:tcPr anchor="ctr">
                    <a:solidFill>
                      <a:srgbClr val="0B1F3A"/>
                    </a:solidFill>
                  </a:tcPr>
                </a:tc>
                <a:tc>
                  <a:txBody>
                    <a:bodyPr/>
                    <a:lstStyle/>
                    <a:p>
                      <a:pPr algn="r">
                        <a:defRPr sz="850" b="1">
                          <a:solidFill>
                            <a:srgbClr val="FFFFFF"/>
                          </a:solidFill>
                          <a:latin typeface="Calibri"/>
                        </a:defRPr>
                      </a:pPr>
                      <a:r>
                        <a:t>Macro F1</a:t>
                      </a:r>
                    </a:p>
                  </a:txBody>
                  <a:tcPr anchor="ctr">
                    <a:solidFill>
                      <a:srgbClr val="0B1F3A"/>
                    </a:solidFill>
                  </a:tcPr>
                </a:tc>
                <a:tc>
                  <a:txBody>
                    <a:bodyPr/>
                    <a:lstStyle/>
                    <a:p>
                      <a:pPr algn="r">
                        <a:defRPr sz="850" b="1">
                          <a:solidFill>
                            <a:srgbClr val="FFFFFF"/>
                          </a:solidFill>
                          <a:latin typeface="Calibri"/>
                        </a:defRPr>
                      </a:pPr>
                      <a:r>
                        <a:t>Weighted F1</a:t>
                      </a:r>
                    </a:p>
                  </a:txBody>
                  <a:tcPr anchor="ctr">
                    <a:solidFill>
                      <a:srgbClr val="0B1F3A"/>
                    </a:solidFill>
                  </a:tcPr>
                </a:tc>
                <a:extLst>
                  <a:ext uri="{0D108BD9-81ED-4DB2-BD59-A6C34878D82A}">
                    <a16:rowId xmlns:a16="http://schemas.microsoft.com/office/drawing/2014/main" val="10000"/>
                  </a:ext>
                </a:extLst>
              </a:tr>
              <a:tr h="457200">
                <a:tc>
                  <a:txBody>
                    <a:bodyPr/>
                    <a:lstStyle/>
                    <a:p>
                      <a:pPr>
                        <a:defRPr sz="850" b="1">
                          <a:solidFill>
                            <a:srgbClr val="0B1F3A"/>
                          </a:solidFill>
                          <a:latin typeface="Calibri"/>
                        </a:defRPr>
                      </a:pPr>
                      <a:r>
                        <a:t>Linear SVM (Best Model)</a:t>
                      </a:r>
                    </a:p>
                  </a:txBody>
                  <a:tcPr anchor="ctr">
                    <a:solidFill>
                      <a:srgbClr val="FEF3C7"/>
                    </a:solidFill>
                  </a:tcPr>
                </a:tc>
                <a:tc>
                  <a:txBody>
                    <a:bodyPr/>
                    <a:lstStyle/>
                    <a:p>
                      <a:pPr algn="r">
                        <a:defRPr sz="850" b="1">
                          <a:solidFill>
                            <a:srgbClr val="0B1F3A"/>
                          </a:solidFill>
                          <a:latin typeface="Calibri"/>
                        </a:defRPr>
                      </a:pPr>
                      <a:r>
                        <a:t>0.8859</a:t>
                      </a:r>
                    </a:p>
                  </a:txBody>
                  <a:tcPr anchor="ctr">
                    <a:solidFill>
                      <a:srgbClr val="FEF3C7"/>
                    </a:solidFill>
                  </a:tcPr>
                </a:tc>
                <a:tc>
                  <a:txBody>
                    <a:bodyPr/>
                    <a:lstStyle/>
                    <a:p>
                      <a:pPr algn="r">
                        <a:defRPr sz="850" b="1">
                          <a:solidFill>
                            <a:srgbClr val="0B1F3A"/>
                          </a:solidFill>
                          <a:latin typeface="Calibri"/>
                        </a:defRPr>
                      </a:pPr>
                      <a:r>
                        <a:t>0.9051</a:t>
                      </a:r>
                    </a:p>
                  </a:txBody>
                  <a:tcPr anchor="ctr">
                    <a:solidFill>
                      <a:srgbClr val="FEF3C7"/>
                    </a:solidFill>
                  </a:tcPr>
                </a:tc>
                <a:tc>
                  <a:txBody>
                    <a:bodyPr/>
                    <a:lstStyle/>
                    <a:p>
                      <a:pPr algn="r">
                        <a:defRPr sz="850" b="1">
                          <a:solidFill>
                            <a:srgbClr val="0B1F3A"/>
                          </a:solidFill>
                          <a:latin typeface="Calibri"/>
                        </a:defRPr>
                      </a:pPr>
                      <a:r>
                        <a:t>0.8902</a:t>
                      </a:r>
                    </a:p>
                  </a:txBody>
                  <a:tcPr anchor="ctr">
                    <a:solidFill>
                      <a:srgbClr val="FEF3C7"/>
                    </a:solidFill>
                  </a:tcPr>
                </a:tc>
                <a:tc>
                  <a:txBody>
                    <a:bodyPr/>
                    <a:lstStyle/>
                    <a:p>
                      <a:pPr algn="r">
                        <a:defRPr sz="850" b="1">
                          <a:solidFill>
                            <a:srgbClr val="0B1F3A"/>
                          </a:solidFill>
                          <a:latin typeface="Calibri"/>
                        </a:defRPr>
                      </a:pPr>
                      <a:r>
                        <a:t>0.8971</a:t>
                      </a:r>
                    </a:p>
                  </a:txBody>
                  <a:tcPr anchor="ctr">
                    <a:solidFill>
                      <a:srgbClr val="FEF3C7"/>
                    </a:solidFill>
                  </a:tcPr>
                </a:tc>
                <a:tc>
                  <a:txBody>
                    <a:bodyPr/>
                    <a:lstStyle/>
                    <a:p>
                      <a:pPr algn="r">
                        <a:defRPr sz="850" b="1">
                          <a:solidFill>
                            <a:srgbClr val="0B1F3A"/>
                          </a:solidFill>
                          <a:latin typeface="Calibri"/>
                        </a:defRPr>
                      </a:pPr>
                      <a:r>
                        <a:t>0.8862</a:t>
                      </a:r>
                    </a:p>
                  </a:txBody>
                  <a:tcPr anchor="ctr">
                    <a:solidFill>
                      <a:srgbClr val="FEF3C7"/>
                    </a:solidFill>
                  </a:tcPr>
                </a:tc>
                <a:extLst>
                  <a:ext uri="{0D108BD9-81ED-4DB2-BD59-A6C34878D82A}">
                    <a16:rowId xmlns:a16="http://schemas.microsoft.com/office/drawing/2014/main" val="10001"/>
                  </a:ext>
                </a:extLst>
              </a:tr>
              <a:tr h="457200">
                <a:tc>
                  <a:txBody>
                    <a:bodyPr/>
                    <a:lstStyle/>
                    <a:p>
                      <a:pPr>
                        <a:defRPr sz="850" b="1">
                          <a:solidFill>
                            <a:srgbClr val="0B1F3A"/>
                          </a:solidFill>
                          <a:latin typeface="Calibri"/>
                        </a:defRPr>
                      </a:pPr>
                      <a:r>
                        <a:t>Soft Voting Ensemble</a:t>
                      </a:r>
                    </a:p>
                  </a:txBody>
                  <a:tcPr anchor="ctr">
                    <a:solidFill>
                      <a:srgbClr val="ECFDF5"/>
                    </a:solidFill>
                  </a:tcPr>
                </a:tc>
                <a:tc>
                  <a:txBody>
                    <a:bodyPr/>
                    <a:lstStyle/>
                    <a:p>
                      <a:pPr algn="r">
                        <a:defRPr sz="850" b="1">
                          <a:solidFill>
                            <a:srgbClr val="0B1F3A"/>
                          </a:solidFill>
                          <a:latin typeface="Calibri"/>
                        </a:defRPr>
                      </a:pPr>
                      <a:r>
                        <a:t>0.8799</a:t>
                      </a:r>
                    </a:p>
                  </a:txBody>
                  <a:tcPr anchor="ctr">
                    <a:solidFill>
                      <a:srgbClr val="ECFDF5"/>
                    </a:solidFill>
                  </a:tcPr>
                </a:tc>
                <a:tc>
                  <a:txBody>
                    <a:bodyPr/>
                    <a:lstStyle/>
                    <a:p>
                      <a:pPr algn="r">
                        <a:defRPr sz="850" b="1">
                          <a:solidFill>
                            <a:srgbClr val="0B1F3A"/>
                          </a:solidFill>
                          <a:latin typeface="Calibri"/>
                        </a:defRPr>
                      </a:pPr>
                      <a:r>
                        <a:t>0.9041</a:t>
                      </a:r>
                    </a:p>
                  </a:txBody>
                  <a:tcPr anchor="ctr">
                    <a:solidFill>
                      <a:srgbClr val="ECFDF5"/>
                    </a:solidFill>
                  </a:tcPr>
                </a:tc>
                <a:tc>
                  <a:txBody>
                    <a:bodyPr/>
                    <a:lstStyle/>
                    <a:p>
                      <a:pPr algn="r">
                        <a:defRPr sz="850" b="1">
                          <a:solidFill>
                            <a:srgbClr val="0B1F3A"/>
                          </a:solidFill>
                          <a:latin typeface="Calibri"/>
                        </a:defRPr>
                      </a:pPr>
                      <a:r>
                        <a:t>0.8795</a:t>
                      </a:r>
                    </a:p>
                  </a:txBody>
                  <a:tcPr anchor="ctr">
                    <a:solidFill>
                      <a:srgbClr val="ECFDF5"/>
                    </a:solidFill>
                  </a:tcPr>
                </a:tc>
                <a:tc>
                  <a:txBody>
                    <a:bodyPr/>
                    <a:lstStyle/>
                    <a:p>
                      <a:pPr algn="r">
                        <a:defRPr sz="850" b="1">
                          <a:solidFill>
                            <a:srgbClr val="0B1F3A"/>
                          </a:solidFill>
                          <a:latin typeface="Calibri"/>
                        </a:defRPr>
                      </a:pPr>
                      <a:r>
                        <a:t>0.8898</a:t>
                      </a:r>
                    </a:p>
                  </a:txBody>
                  <a:tcPr anchor="ctr">
                    <a:solidFill>
                      <a:srgbClr val="ECFDF5"/>
                    </a:solidFill>
                  </a:tcPr>
                </a:tc>
                <a:tc>
                  <a:txBody>
                    <a:bodyPr/>
                    <a:lstStyle/>
                    <a:p>
                      <a:pPr algn="r">
                        <a:defRPr sz="850" b="1">
                          <a:solidFill>
                            <a:srgbClr val="0B1F3A"/>
                          </a:solidFill>
                          <a:latin typeface="Calibri"/>
                        </a:defRPr>
                      </a:pPr>
                      <a:r>
                        <a:t>0.8818</a:t>
                      </a:r>
                    </a:p>
                  </a:txBody>
                  <a:tcPr anchor="ctr">
                    <a:solidFill>
                      <a:srgbClr val="ECFDF5"/>
                    </a:solidFill>
                  </a:tcPr>
                </a:tc>
                <a:extLst>
                  <a:ext uri="{0D108BD9-81ED-4DB2-BD59-A6C34878D82A}">
                    <a16:rowId xmlns:a16="http://schemas.microsoft.com/office/drawing/2014/main" val="10002"/>
                  </a:ext>
                </a:extLst>
              </a:tr>
              <a:tr h="457200">
                <a:tc>
                  <a:txBody>
                    <a:bodyPr/>
                    <a:lstStyle/>
                    <a:p>
                      <a:pPr>
                        <a:defRPr sz="850">
                          <a:solidFill>
                            <a:srgbClr val="1E293B"/>
                          </a:solidFill>
                          <a:latin typeface="Calibri"/>
                        </a:defRPr>
                      </a:pPr>
                      <a:r>
                        <a:t>Logistic Regression</a:t>
                      </a:r>
                    </a:p>
                  </a:txBody>
                  <a:tcPr anchor="ctr"/>
                </a:tc>
                <a:tc>
                  <a:txBody>
                    <a:bodyPr/>
                    <a:lstStyle/>
                    <a:p>
                      <a:pPr algn="r">
                        <a:defRPr sz="850">
                          <a:solidFill>
                            <a:srgbClr val="1E293B"/>
                          </a:solidFill>
                          <a:latin typeface="Calibri"/>
                        </a:defRPr>
                      </a:pPr>
                      <a:r>
                        <a:t>0.8709</a:t>
                      </a:r>
                    </a:p>
                  </a:txBody>
                  <a:tcPr anchor="ctr"/>
                </a:tc>
                <a:tc>
                  <a:txBody>
                    <a:bodyPr/>
                    <a:lstStyle/>
                    <a:p>
                      <a:pPr algn="r">
                        <a:defRPr sz="850">
                          <a:solidFill>
                            <a:srgbClr val="1E293B"/>
                          </a:solidFill>
                          <a:latin typeface="Calibri"/>
                        </a:defRPr>
                      </a:pPr>
                      <a:r>
                        <a:t>0.8966</a:t>
                      </a:r>
                    </a:p>
                  </a:txBody>
                  <a:tcPr anchor="ctr"/>
                </a:tc>
                <a:tc>
                  <a:txBody>
                    <a:bodyPr/>
                    <a:lstStyle/>
                    <a:p>
                      <a:pPr algn="r">
                        <a:defRPr sz="850">
                          <a:solidFill>
                            <a:srgbClr val="1E293B"/>
                          </a:solidFill>
                          <a:latin typeface="Calibri"/>
                        </a:defRPr>
                      </a:pPr>
                      <a:r>
                        <a:t>0.8768</a:t>
                      </a:r>
                    </a:p>
                  </a:txBody>
                  <a:tcPr anchor="ctr"/>
                </a:tc>
                <a:tc>
                  <a:txBody>
                    <a:bodyPr/>
                    <a:lstStyle/>
                    <a:p>
                      <a:pPr algn="r">
                        <a:defRPr sz="850">
                          <a:solidFill>
                            <a:srgbClr val="1E293B"/>
                          </a:solidFill>
                          <a:latin typeface="Calibri"/>
                        </a:defRPr>
                      </a:pPr>
                      <a:r>
                        <a:t>0.8846</a:t>
                      </a:r>
                    </a:p>
                  </a:txBody>
                  <a:tcPr anchor="ctr"/>
                </a:tc>
                <a:tc>
                  <a:txBody>
                    <a:bodyPr/>
                    <a:lstStyle/>
                    <a:p>
                      <a:pPr algn="r">
                        <a:defRPr sz="850">
                          <a:solidFill>
                            <a:srgbClr val="1E293B"/>
                          </a:solidFill>
                          <a:latin typeface="Calibri"/>
                        </a:defRPr>
                      </a:pPr>
                      <a:r>
                        <a:t>0.8730</a:t>
                      </a:r>
                    </a:p>
                  </a:txBody>
                  <a:tcPr anchor="ctr"/>
                </a:tc>
                <a:extLst>
                  <a:ext uri="{0D108BD9-81ED-4DB2-BD59-A6C34878D82A}">
                    <a16:rowId xmlns:a16="http://schemas.microsoft.com/office/drawing/2014/main" val="10003"/>
                  </a:ext>
                </a:extLst>
              </a:tr>
              <a:tr h="457200">
                <a:tc>
                  <a:txBody>
                    <a:bodyPr/>
                    <a:lstStyle/>
                    <a:p>
                      <a:pPr>
                        <a:defRPr sz="850">
                          <a:solidFill>
                            <a:srgbClr val="1E293B"/>
                          </a:solidFill>
                          <a:latin typeface="Calibri"/>
                        </a:defRPr>
                      </a:pPr>
                      <a:r>
                        <a:t>Hard Voting Ensemble</a:t>
                      </a:r>
                    </a:p>
                  </a:txBody>
                  <a:tcPr anchor="ctr"/>
                </a:tc>
                <a:tc>
                  <a:txBody>
                    <a:bodyPr/>
                    <a:lstStyle/>
                    <a:p>
                      <a:pPr algn="r">
                        <a:defRPr sz="850">
                          <a:solidFill>
                            <a:srgbClr val="1E293B"/>
                          </a:solidFill>
                          <a:latin typeface="Calibri"/>
                        </a:defRPr>
                      </a:pPr>
                      <a:r>
                        <a:t>0.8709</a:t>
                      </a:r>
                    </a:p>
                  </a:txBody>
                  <a:tcPr anchor="ctr"/>
                </a:tc>
                <a:tc>
                  <a:txBody>
                    <a:bodyPr/>
                    <a:lstStyle/>
                    <a:p>
                      <a:pPr algn="r">
                        <a:defRPr sz="850">
                          <a:solidFill>
                            <a:srgbClr val="1E293B"/>
                          </a:solidFill>
                          <a:latin typeface="Calibri"/>
                        </a:defRPr>
                      </a:pPr>
                      <a:r>
                        <a:t>0.8966</a:t>
                      </a:r>
                    </a:p>
                  </a:txBody>
                  <a:tcPr anchor="ctr"/>
                </a:tc>
                <a:tc>
                  <a:txBody>
                    <a:bodyPr/>
                    <a:lstStyle/>
                    <a:p>
                      <a:pPr algn="r">
                        <a:defRPr sz="850">
                          <a:solidFill>
                            <a:srgbClr val="1E293B"/>
                          </a:solidFill>
                          <a:latin typeface="Calibri"/>
                        </a:defRPr>
                      </a:pPr>
                      <a:r>
                        <a:t>0.8768</a:t>
                      </a:r>
                    </a:p>
                  </a:txBody>
                  <a:tcPr anchor="ctr"/>
                </a:tc>
                <a:tc>
                  <a:txBody>
                    <a:bodyPr/>
                    <a:lstStyle/>
                    <a:p>
                      <a:pPr algn="r">
                        <a:defRPr sz="850">
                          <a:solidFill>
                            <a:srgbClr val="1E293B"/>
                          </a:solidFill>
                          <a:latin typeface="Calibri"/>
                        </a:defRPr>
                      </a:pPr>
                      <a:r>
                        <a:t>0.8846</a:t>
                      </a:r>
                    </a:p>
                  </a:txBody>
                  <a:tcPr anchor="ctr"/>
                </a:tc>
                <a:tc>
                  <a:txBody>
                    <a:bodyPr/>
                    <a:lstStyle/>
                    <a:p>
                      <a:pPr algn="r">
                        <a:defRPr sz="850">
                          <a:solidFill>
                            <a:srgbClr val="1E293B"/>
                          </a:solidFill>
                          <a:latin typeface="Calibri"/>
                        </a:defRPr>
                      </a:pPr>
                      <a:r>
                        <a:t>0.8730</a:t>
                      </a:r>
                    </a:p>
                  </a:txBody>
                  <a:tcPr anchor="ctr"/>
                </a:tc>
                <a:extLst>
                  <a:ext uri="{0D108BD9-81ED-4DB2-BD59-A6C34878D82A}">
                    <a16:rowId xmlns:a16="http://schemas.microsoft.com/office/drawing/2014/main" val="10004"/>
                  </a:ext>
                </a:extLst>
              </a:tr>
              <a:tr h="457200">
                <a:tc>
                  <a:txBody>
                    <a:bodyPr/>
                    <a:lstStyle/>
                    <a:p>
                      <a:pPr>
                        <a:defRPr sz="850">
                          <a:solidFill>
                            <a:srgbClr val="1E293B"/>
                          </a:solidFill>
                          <a:latin typeface="Calibri"/>
                        </a:defRPr>
                      </a:pPr>
                      <a:r>
                        <a:t>Random Forest</a:t>
                      </a:r>
                    </a:p>
                  </a:txBody>
                  <a:tcPr anchor="ctr"/>
                </a:tc>
                <a:tc>
                  <a:txBody>
                    <a:bodyPr/>
                    <a:lstStyle/>
                    <a:p>
                      <a:pPr algn="r">
                        <a:defRPr sz="850">
                          <a:solidFill>
                            <a:srgbClr val="1E293B"/>
                          </a:solidFill>
                          <a:latin typeface="Calibri"/>
                        </a:defRPr>
                      </a:pPr>
                      <a:r>
                        <a:t>0.8198</a:t>
                      </a:r>
                    </a:p>
                  </a:txBody>
                  <a:tcPr anchor="ctr"/>
                </a:tc>
                <a:tc>
                  <a:txBody>
                    <a:bodyPr/>
                    <a:lstStyle/>
                    <a:p>
                      <a:pPr algn="r">
                        <a:defRPr sz="850">
                          <a:solidFill>
                            <a:srgbClr val="1E293B"/>
                          </a:solidFill>
                          <a:latin typeface="Calibri"/>
                        </a:defRPr>
                      </a:pPr>
                      <a:r>
                        <a:t>0.8340</a:t>
                      </a:r>
                    </a:p>
                  </a:txBody>
                  <a:tcPr anchor="ctr"/>
                </a:tc>
                <a:tc>
                  <a:txBody>
                    <a:bodyPr/>
                    <a:lstStyle/>
                    <a:p>
                      <a:pPr algn="r">
                        <a:defRPr sz="850">
                          <a:solidFill>
                            <a:srgbClr val="1E293B"/>
                          </a:solidFill>
                          <a:latin typeface="Calibri"/>
                        </a:defRPr>
                      </a:pPr>
                      <a:r>
                        <a:t>0.8257</a:t>
                      </a:r>
                    </a:p>
                  </a:txBody>
                  <a:tcPr anchor="ctr"/>
                </a:tc>
                <a:tc>
                  <a:txBody>
                    <a:bodyPr/>
                    <a:lstStyle/>
                    <a:p>
                      <a:pPr algn="r">
                        <a:defRPr sz="850">
                          <a:solidFill>
                            <a:srgbClr val="1E293B"/>
                          </a:solidFill>
                          <a:latin typeface="Calibri"/>
                        </a:defRPr>
                      </a:pPr>
                      <a:r>
                        <a:t>0.8274</a:t>
                      </a:r>
                    </a:p>
                  </a:txBody>
                  <a:tcPr anchor="ctr"/>
                </a:tc>
                <a:tc>
                  <a:txBody>
                    <a:bodyPr/>
                    <a:lstStyle/>
                    <a:p>
                      <a:pPr algn="r">
                        <a:defRPr sz="850">
                          <a:solidFill>
                            <a:srgbClr val="1E293B"/>
                          </a:solidFill>
                          <a:latin typeface="Calibri"/>
                        </a:defRPr>
                      </a:pPr>
                      <a:r>
                        <a:t>0.8209</a:t>
                      </a:r>
                    </a:p>
                  </a:txBody>
                  <a:tcPr anchor="ctr"/>
                </a:tc>
                <a:extLst>
                  <a:ext uri="{0D108BD9-81ED-4DB2-BD59-A6C34878D82A}">
                    <a16:rowId xmlns:a16="http://schemas.microsoft.com/office/drawing/2014/main" val="10005"/>
                  </a:ext>
                </a:extLst>
              </a:tr>
              <a:tr h="457200">
                <a:tc>
                  <a:txBody>
                    <a:bodyPr/>
                    <a:lstStyle/>
                    <a:p>
                      <a:pPr>
                        <a:defRPr sz="850">
                          <a:solidFill>
                            <a:srgbClr val="1E293B"/>
                          </a:solidFill>
                          <a:latin typeface="Calibri"/>
                        </a:defRPr>
                      </a:pPr>
                      <a:r>
                        <a:t>Multinomial Naive Bayes</a:t>
                      </a:r>
                    </a:p>
                  </a:txBody>
                  <a:tcPr anchor="ctr"/>
                </a:tc>
                <a:tc>
                  <a:txBody>
                    <a:bodyPr/>
                    <a:lstStyle/>
                    <a:p>
                      <a:pPr algn="r">
                        <a:defRPr sz="850">
                          <a:solidFill>
                            <a:srgbClr val="1E293B"/>
                          </a:solidFill>
                          <a:latin typeface="Calibri"/>
                        </a:defRPr>
                      </a:pPr>
                      <a:r>
                        <a:t>0.7748</a:t>
                      </a:r>
                    </a:p>
                  </a:txBody>
                  <a:tcPr anchor="ctr"/>
                </a:tc>
                <a:tc>
                  <a:txBody>
                    <a:bodyPr/>
                    <a:lstStyle/>
                    <a:p>
                      <a:pPr algn="r">
                        <a:defRPr sz="850">
                          <a:solidFill>
                            <a:srgbClr val="1E293B"/>
                          </a:solidFill>
                          <a:latin typeface="Calibri"/>
                        </a:defRPr>
                      </a:pPr>
                      <a:r>
                        <a:t>0.8602</a:t>
                      </a:r>
                    </a:p>
                  </a:txBody>
                  <a:tcPr anchor="ctr"/>
                </a:tc>
                <a:tc>
                  <a:txBody>
                    <a:bodyPr/>
                    <a:lstStyle/>
                    <a:p>
                      <a:pPr algn="r">
                        <a:defRPr sz="850">
                          <a:solidFill>
                            <a:srgbClr val="1E293B"/>
                          </a:solidFill>
                          <a:latin typeface="Calibri"/>
                        </a:defRPr>
                      </a:pPr>
                      <a:r>
                        <a:t>0.7331</a:t>
                      </a:r>
                    </a:p>
                  </a:txBody>
                  <a:tcPr anchor="ctr"/>
                </a:tc>
                <a:tc>
                  <a:txBody>
                    <a:bodyPr/>
                    <a:lstStyle/>
                    <a:p>
                      <a:pPr algn="r">
                        <a:defRPr sz="850">
                          <a:solidFill>
                            <a:srgbClr val="1E293B"/>
                          </a:solidFill>
                          <a:latin typeface="Calibri"/>
                        </a:defRPr>
                      </a:pPr>
                      <a:r>
                        <a:t>0.7743</a:t>
                      </a:r>
                    </a:p>
                  </a:txBody>
                  <a:tcPr anchor="ctr"/>
                </a:tc>
                <a:tc>
                  <a:txBody>
                    <a:bodyPr/>
                    <a:lstStyle/>
                    <a:p>
                      <a:pPr algn="r">
                        <a:defRPr sz="850">
                          <a:solidFill>
                            <a:srgbClr val="1E293B"/>
                          </a:solidFill>
                          <a:latin typeface="Calibri"/>
                        </a:defRPr>
                      </a:pPr>
                      <a:r>
                        <a:t>0.7824</a:t>
                      </a:r>
                    </a:p>
                  </a:txBody>
                  <a:tcPr anchor="ctr"/>
                </a:tc>
                <a:extLst>
                  <a:ext uri="{0D108BD9-81ED-4DB2-BD59-A6C34878D82A}">
                    <a16:rowId xmlns:a16="http://schemas.microsoft.com/office/drawing/2014/main" val="10006"/>
                  </a:ext>
                </a:extLst>
              </a:tr>
            </a:tbl>
          </a:graphicData>
        </a:graphic>
      </p:graphicFrame>
      <p:sp>
        <p:nvSpPr>
          <p:cNvPr id="11" name="TextBox 10"/>
          <p:cNvSpPr txBox="1"/>
          <p:nvPr/>
        </p:nvSpPr>
        <p:spPr>
          <a:xfrm>
            <a:off x="777240" y="5257800"/>
            <a:ext cx="5760720" cy="822960"/>
          </a:xfrm>
          <a:prstGeom prst="rect">
            <a:avLst/>
          </a:prstGeom>
          <a:noFill/>
        </p:spPr>
        <p:txBody>
          <a:bodyPr wrap="square">
            <a:spAutoFit/>
          </a:bodyPr>
          <a:lstStyle/>
          <a:p>
            <a:pPr>
              <a:defRPr sz="950" b="1">
                <a:solidFill>
                  <a:srgbClr val="0D9488"/>
                </a:solidFill>
                <a:latin typeface="Calibri"/>
              </a:defRPr>
            </a:pPr>
            <a:r>
              <a:t>★ Best Individual: Linear SVM — 88.59% Accuracy | 0.8971 Macro F1</a:t>
            </a:r>
            <a:br/>
            <a:r>
              <a:t>★ Best Ensemble: Soft Voting — 87.99% Accuracy | 0.8898 Macro F1</a:t>
            </a:r>
            <a:br/>
            <a:r>
              <a:t>✓ All 6 configurations comfortably beat the required 75.0% project target threshold.</a:t>
            </a:r>
          </a:p>
        </p:txBody>
      </p:sp>
      <p:sp>
        <p:nvSpPr>
          <p:cNvPr id="12" name="Rounded Rectangle 11"/>
          <p:cNvSpPr/>
          <p:nvPr/>
        </p:nvSpPr>
        <p:spPr>
          <a:xfrm>
            <a:off x="6949440" y="1371600"/>
            <a:ext cx="469087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model_performance_comparison.png"/>
          <p:cNvPicPr>
            <a:picLocks noChangeAspect="1"/>
          </p:cNvPicPr>
          <p:nvPr/>
        </p:nvPicPr>
        <p:blipFill>
          <a:blip r:embed="rId3"/>
          <a:stretch>
            <a:fillRect/>
          </a:stretch>
        </p:blipFill>
        <p:spPr>
          <a:xfrm>
            <a:off x="7086600" y="1508760"/>
            <a:ext cx="4416552" cy="45262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CONFUSION MATRIX</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Confusion Matrix &amp; Classification Analysis</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12 of 16</a:t>
            </a:r>
          </a:p>
        </p:txBody>
      </p:sp>
      <p:sp>
        <p:nvSpPr>
          <p:cNvPr id="8" name="Rounded Rectangle 7"/>
          <p:cNvSpPr/>
          <p:nvPr/>
        </p:nvSpPr>
        <p:spPr>
          <a:xfrm>
            <a:off x="548640" y="1371600"/>
            <a:ext cx="530352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best_model_confusion_matrix.png"/>
          <p:cNvPicPr>
            <a:picLocks noChangeAspect="1"/>
          </p:cNvPicPr>
          <p:nvPr/>
        </p:nvPicPr>
        <p:blipFill>
          <a:blip r:embed="rId3"/>
          <a:stretch>
            <a:fillRect/>
          </a:stretch>
        </p:blipFill>
        <p:spPr>
          <a:xfrm>
            <a:off x="685800" y="1508760"/>
            <a:ext cx="5029200" cy="4526280"/>
          </a:xfrm>
          <a:prstGeom prst="rect">
            <a:avLst/>
          </a:prstGeom>
        </p:spPr>
      </p:pic>
      <p:sp>
        <p:nvSpPr>
          <p:cNvPr id="10" name="Rounded Rectangle 9"/>
          <p:cNvSpPr/>
          <p:nvPr/>
        </p:nvSpPr>
        <p:spPr>
          <a:xfrm>
            <a:off x="6035040" y="1371600"/>
            <a:ext cx="560527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197325" y="1708941"/>
            <a:ext cx="5696052" cy="4185761"/>
          </a:xfrm>
          <a:prstGeom prst="rect">
            <a:avLst/>
          </a:prstGeom>
          <a:noFill/>
        </p:spPr>
        <p:txBody>
          <a:bodyPr wrap="square" lIns="91440" tIns="45720" rIns="91440" bIns="45720" anchor="t">
            <a:spAutoFit/>
          </a:bodyPr>
          <a:lstStyle/>
          <a:p>
            <a:pPr>
              <a:defRPr sz="1400" b="1">
                <a:solidFill>
                  <a:srgbClr val="0B1F3A"/>
                </a:solidFill>
                <a:latin typeface="Cambria"/>
              </a:defRPr>
            </a:pPr>
            <a:r>
              <a:rPr lang="en-US" sz="1400" dirty="0">
                <a:latin typeface="Times New Roman"/>
                <a:ea typeface="+mn-lt"/>
                <a:cs typeface="Times New Roman"/>
              </a:rPr>
              <a:t>Diagnostic Classification Patterns</a:t>
            </a:r>
            <a:endParaRPr lang="en-US" sz="1400">
              <a:latin typeface="Times New Roman"/>
              <a:cs typeface="Times New Roman"/>
            </a:endParaRPr>
          </a:p>
          <a:p>
            <a:pPr marL="285750" indent="-285750">
              <a:buFont typeface="Arial"/>
              <a:buChar char="•"/>
              <a:defRPr sz="1400" b="1">
                <a:solidFill>
                  <a:srgbClr val="0B1F3A"/>
                </a:solidFill>
                <a:latin typeface="Cambria"/>
              </a:defRPr>
            </a:pPr>
            <a:r>
              <a:rPr lang="en-US" sz="1400" dirty="0">
                <a:latin typeface="Times New Roman"/>
                <a:ea typeface="+mn-lt"/>
                <a:cs typeface="Times New Roman"/>
              </a:rPr>
              <a:t>Heavy Diagonal Concentration: 293 out of 333 test instances were correctly classified (87.99%), showing strong classification performance across the 8 clinical specialties. </a:t>
            </a:r>
            <a:endParaRPr lang="en-US" sz="1400">
              <a:latin typeface="Times New Roman"/>
              <a:ea typeface="Cambria"/>
              <a:cs typeface="Times New Roman"/>
            </a:endParaRPr>
          </a:p>
          <a:p>
            <a:pPr marL="285750" indent="-285750">
              <a:buFont typeface="Arial"/>
              <a:buChar char="•"/>
              <a:defRPr sz="1400" b="1">
                <a:solidFill>
                  <a:srgbClr val="0B1F3A"/>
                </a:solidFill>
                <a:latin typeface="Cambria"/>
              </a:defRPr>
            </a:pPr>
            <a:r>
              <a:rPr lang="en-US" sz="1400" dirty="0">
                <a:latin typeface="Times New Roman"/>
                <a:ea typeface="+mn-lt"/>
                <a:cs typeface="Times New Roman"/>
              </a:rPr>
              <a:t>Easiest Specialty to Distinguish: Ophthalmology: 16 out of 17 instances were correctly classified (94.1% recall), with only one instance misclassified as Neurology. </a:t>
            </a:r>
            <a:endParaRPr lang="en-US" sz="1400">
              <a:latin typeface="Times New Roman"/>
              <a:cs typeface="Times New Roman"/>
            </a:endParaRPr>
          </a:p>
          <a:p>
            <a:pPr marL="285750" indent="-285750">
              <a:buFont typeface="Arial"/>
              <a:buChar char="•"/>
              <a:defRPr sz="1400" b="1">
                <a:solidFill>
                  <a:srgbClr val="0B1F3A"/>
                </a:solidFill>
                <a:latin typeface="Cambria"/>
              </a:defRPr>
            </a:pPr>
            <a:r>
              <a:rPr lang="en-US" sz="1400" dirty="0">
                <a:latin typeface="Times New Roman"/>
                <a:ea typeface="+mn-lt"/>
                <a:cs typeface="Times New Roman"/>
              </a:rPr>
              <a:t>High Diagnostic Separation: Most clinical specialties show strong separation, with relatively few cross-specialty misclassifications. </a:t>
            </a:r>
            <a:endParaRPr lang="en-US" sz="1400">
              <a:latin typeface="Times New Roman"/>
              <a:cs typeface="Times New Roman"/>
            </a:endParaRPr>
          </a:p>
          <a:p>
            <a:pPr marL="285750" indent="-285750">
              <a:buFont typeface="Arial"/>
              <a:buChar char="•"/>
              <a:defRPr sz="1400" b="1">
                <a:solidFill>
                  <a:srgbClr val="0B1F3A"/>
                </a:solidFill>
                <a:latin typeface="Cambria"/>
              </a:defRPr>
            </a:pPr>
            <a:r>
              <a:rPr lang="en-US" sz="1400" dirty="0">
                <a:latin typeface="Times New Roman"/>
                <a:ea typeface="+mn-lt"/>
                <a:cs typeface="Times New Roman"/>
              </a:rPr>
              <a:t>Hardest Boundary: Neurology ↔ Orthopedic: This pair accounts for 17 of the 40 total misclassifications: </a:t>
            </a:r>
            <a:endParaRPr lang="en-US" sz="1400">
              <a:latin typeface="Times New Roman"/>
              <a:cs typeface="Times New Roman"/>
            </a:endParaRPr>
          </a:p>
          <a:p>
            <a:pPr marL="742950" lvl="1" indent="-285750">
              <a:buFont typeface="Arial"/>
              <a:buChar char="•"/>
              <a:defRPr sz="1400" b="1">
                <a:solidFill>
                  <a:srgbClr val="0B1F3A"/>
                </a:solidFill>
                <a:latin typeface="Cambria"/>
              </a:defRPr>
            </a:pPr>
            <a:r>
              <a:rPr lang="en-US" sz="1400" dirty="0">
                <a:latin typeface="Times New Roman"/>
                <a:ea typeface="+mn-lt"/>
                <a:cs typeface="Times New Roman"/>
              </a:rPr>
              <a:t>11 Orthopedic cases were misclassified as Neurology. </a:t>
            </a:r>
            <a:endParaRPr lang="en-US" sz="1400">
              <a:latin typeface="Times New Roman"/>
              <a:cs typeface="Times New Roman"/>
            </a:endParaRPr>
          </a:p>
          <a:p>
            <a:pPr marL="742950" lvl="1" indent="-285750">
              <a:buFont typeface="Arial"/>
              <a:buChar char="•"/>
              <a:defRPr sz="1400" b="1">
                <a:solidFill>
                  <a:srgbClr val="0B1F3A"/>
                </a:solidFill>
                <a:latin typeface="Cambria"/>
              </a:defRPr>
            </a:pPr>
            <a:r>
              <a:rPr lang="en-US" sz="1400" dirty="0">
                <a:latin typeface="Times New Roman"/>
                <a:ea typeface="+mn-lt"/>
                <a:cs typeface="Times New Roman"/>
              </a:rPr>
              <a:t>6 Neurology cases were misclassified as Orthopedic. </a:t>
            </a:r>
            <a:endParaRPr lang="en-US" sz="1400">
              <a:latin typeface="Times New Roman"/>
              <a:cs typeface="Times New Roman"/>
            </a:endParaRPr>
          </a:p>
          <a:p>
            <a:pPr marL="285750" indent="-285750">
              <a:buFont typeface="Arial"/>
              <a:buChar char="•"/>
              <a:defRPr sz="1400" b="1">
                <a:solidFill>
                  <a:srgbClr val="0B1F3A"/>
                </a:solidFill>
                <a:latin typeface="Cambria"/>
              </a:defRPr>
            </a:pPr>
            <a:r>
              <a:rPr lang="en-US" sz="1400" dirty="0">
                <a:latin typeface="Times New Roman"/>
                <a:ea typeface="+mn-lt"/>
                <a:cs typeface="Times New Roman"/>
              </a:rPr>
              <a:t>Possible Linguistic Root Cause: The Neurology–Orthopedic confusion may be related to overlapping terminology in spinal and nerve-related clinical cases, where terms concerning the spine, nerves, and musculoskeletal structures can occur together.</a:t>
            </a:r>
            <a:endParaRPr lang="en-US" sz="1400">
              <a:latin typeface="Times New Roman"/>
              <a:cs typeface="Times New Roman"/>
            </a:endParaRPr>
          </a:p>
          <a:p>
            <a:pPr>
              <a:defRPr sz="1400" b="1">
                <a:solidFill>
                  <a:srgbClr val="0B1F3A"/>
                </a:solidFill>
                <a:latin typeface="Cambria"/>
              </a:defRPr>
            </a:pPr>
            <a:endParaRPr lang="en-US" sz="1400" dirty="0">
              <a:latin typeface="Times New Roman"/>
              <a:ea typeface="Calibri"/>
              <a:cs typeface="Times New Roman"/>
            </a:endParaRPr>
          </a:p>
          <a:p>
            <a:pPr marL="285750" indent="-285750">
              <a:buFont typeface="Arial"/>
              <a:buChar char="•"/>
              <a:defRPr sz="1400" b="1">
                <a:solidFill>
                  <a:srgbClr val="0B1F3A"/>
                </a:solidFill>
                <a:latin typeface="Cambria"/>
              </a:defRPr>
            </a:pPr>
            <a:endParaRPr lang="en-US" sz="1400" dirty="0">
              <a:latin typeface="Times New Roman"/>
              <a:ea typeface="+mn-lt"/>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DETAILED EVALUATION</a:t>
            </a:r>
          </a:p>
        </p:txBody>
      </p:sp>
      <p:sp>
        <p:nvSpPr>
          <p:cNvPr id="3" name="TextBox 2"/>
          <p:cNvSpPr txBox="1"/>
          <p:nvPr/>
        </p:nvSpPr>
        <p:spPr>
          <a:xfrm>
            <a:off x="548640" y="621792"/>
            <a:ext cx="11091672" cy="338554"/>
          </a:xfrm>
          <a:prstGeom prst="rect">
            <a:avLst/>
          </a:prstGeom>
          <a:noFill/>
        </p:spPr>
        <p:txBody>
          <a:bodyPr wrap="square" lIns="0" tIns="0" rIns="0" bIns="0" anchor="t">
            <a:spAutoFit/>
          </a:bodyPr>
          <a:lstStyle/>
          <a:p>
            <a:pPr>
              <a:defRPr sz="2200" b="1">
                <a:solidFill>
                  <a:srgbClr val="0B1F3A"/>
                </a:solidFill>
                <a:latin typeface="Cambria"/>
              </a:defRPr>
            </a:pPr>
            <a:r>
              <a:rPr dirty="0"/>
              <a:t>Specialty-wise Classification Performance </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13 of 16</a:t>
            </a:r>
          </a:p>
        </p:txBody>
      </p:sp>
      <p:sp>
        <p:nvSpPr>
          <p:cNvPr id="8" name="Rounded Rectangle 7"/>
          <p:cNvSpPr/>
          <p:nvPr/>
        </p:nvSpPr>
        <p:spPr>
          <a:xfrm>
            <a:off x="548640" y="1371600"/>
            <a:ext cx="685800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08760"/>
            <a:ext cx="6400800" cy="365760"/>
          </a:xfrm>
          <a:prstGeom prst="rect">
            <a:avLst/>
          </a:prstGeom>
          <a:noFill/>
        </p:spPr>
        <p:txBody>
          <a:bodyPr wrap="none">
            <a:spAutoFit/>
          </a:bodyPr>
          <a:lstStyle/>
          <a:p>
            <a:pPr>
              <a:defRPr sz="1300" b="1">
                <a:solidFill>
                  <a:srgbClr val="0B1F3A"/>
                </a:solidFill>
                <a:latin typeface="Cambria"/>
              </a:defRPr>
            </a:pPr>
            <a:r>
              <a:t>Per-Class Classification Report (Best Model: Linear SVM)</a:t>
            </a:r>
          </a:p>
        </p:txBody>
      </p:sp>
      <p:graphicFrame>
        <p:nvGraphicFramePr>
          <p:cNvPr id="10" name="Table 9"/>
          <p:cNvGraphicFramePr>
            <a:graphicFrameLocks noGrp="1"/>
          </p:cNvGraphicFramePr>
          <p:nvPr/>
        </p:nvGraphicFramePr>
        <p:xfrm>
          <a:off x="777240" y="1920240"/>
          <a:ext cx="6400800" cy="402336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35280">
                <a:tc>
                  <a:txBody>
                    <a:bodyPr/>
                    <a:lstStyle/>
                    <a:p>
                      <a:pPr>
                        <a:defRPr sz="950" b="1">
                          <a:solidFill>
                            <a:srgbClr val="FFFFFF"/>
                          </a:solidFill>
                          <a:latin typeface="Calibri"/>
                        </a:defRPr>
                      </a:pPr>
                      <a:r>
                        <a:t>Medical Specialty</a:t>
                      </a:r>
                    </a:p>
                  </a:txBody>
                  <a:tcPr anchor="ctr">
                    <a:solidFill>
                      <a:srgbClr val="0B1F3A"/>
                    </a:solidFill>
                  </a:tcPr>
                </a:tc>
                <a:tc>
                  <a:txBody>
                    <a:bodyPr/>
                    <a:lstStyle/>
                    <a:p>
                      <a:pPr algn="r">
                        <a:defRPr sz="950" b="1">
                          <a:solidFill>
                            <a:srgbClr val="FFFFFF"/>
                          </a:solidFill>
                          <a:latin typeface="Calibri"/>
                        </a:defRPr>
                      </a:pPr>
                      <a:r>
                        <a:t>Precision</a:t>
                      </a:r>
                    </a:p>
                  </a:txBody>
                  <a:tcPr anchor="ctr">
                    <a:solidFill>
                      <a:srgbClr val="0B1F3A"/>
                    </a:solidFill>
                  </a:tcPr>
                </a:tc>
                <a:tc>
                  <a:txBody>
                    <a:bodyPr/>
                    <a:lstStyle/>
                    <a:p>
                      <a:pPr algn="r">
                        <a:defRPr sz="950" b="1">
                          <a:solidFill>
                            <a:srgbClr val="FFFFFF"/>
                          </a:solidFill>
                          <a:latin typeface="Calibri"/>
                        </a:defRPr>
                      </a:pPr>
                      <a:r>
                        <a:t>Recall</a:t>
                      </a:r>
                    </a:p>
                  </a:txBody>
                  <a:tcPr anchor="ctr">
                    <a:solidFill>
                      <a:srgbClr val="0B1F3A"/>
                    </a:solidFill>
                  </a:tcPr>
                </a:tc>
                <a:tc>
                  <a:txBody>
                    <a:bodyPr/>
                    <a:lstStyle/>
                    <a:p>
                      <a:pPr algn="r">
                        <a:defRPr sz="950" b="1">
                          <a:solidFill>
                            <a:srgbClr val="FFFFFF"/>
                          </a:solidFill>
                          <a:latin typeface="Calibri"/>
                        </a:defRPr>
                      </a:pPr>
                      <a:r>
                        <a:t>F1-Score</a:t>
                      </a:r>
                    </a:p>
                  </a:txBody>
                  <a:tcPr anchor="ctr">
                    <a:solidFill>
                      <a:srgbClr val="0B1F3A"/>
                    </a:solidFill>
                  </a:tcPr>
                </a:tc>
                <a:tc>
                  <a:txBody>
                    <a:bodyPr/>
                    <a:lstStyle/>
                    <a:p>
                      <a:pPr algn="r">
                        <a:defRPr sz="950" b="1">
                          <a:solidFill>
                            <a:srgbClr val="FFFFFF"/>
                          </a:solidFill>
                          <a:latin typeface="Calibri"/>
                        </a:defRPr>
                      </a:pPr>
                      <a:r>
                        <a:t>Support</a:t>
                      </a:r>
                    </a:p>
                  </a:txBody>
                  <a:tcPr anchor="ctr">
                    <a:solidFill>
                      <a:srgbClr val="0B1F3A"/>
                    </a:solidFill>
                  </a:tcPr>
                </a:tc>
                <a:extLst>
                  <a:ext uri="{0D108BD9-81ED-4DB2-BD59-A6C34878D82A}">
                    <a16:rowId xmlns:a16="http://schemas.microsoft.com/office/drawing/2014/main" val="10000"/>
                  </a:ext>
                </a:extLst>
              </a:tr>
              <a:tr h="335280">
                <a:tc>
                  <a:txBody>
                    <a:bodyPr/>
                    <a:lstStyle/>
                    <a:p>
                      <a:pPr>
                        <a:defRPr sz="900">
                          <a:solidFill>
                            <a:srgbClr val="1E293B"/>
                          </a:solidFill>
                          <a:latin typeface="Calibri"/>
                        </a:defRPr>
                      </a:pPr>
                      <a:r>
                        <a:t>Cardiovascular / Pulmonary</a:t>
                      </a:r>
                    </a:p>
                  </a:txBody>
                  <a:tcPr anchor="ctr"/>
                </a:tc>
                <a:tc>
                  <a:txBody>
                    <a:bodyPr/>
                    <a:lstStyle/>
                    <a:p>
                      <a:pPr algn="r">
                        <a:defRPr sz="900">
                          <a:solidFill>
                            <a:srgbClr val="1E293B"/>
                          </a:solidFill>
                          <a:latin typeface="Calibri"/>
                        </a:defRPr>
                      </a:pPr>
                      <a:r>
                        <a:t>0.88</a:t>
                      </a:r>
                    </a:p>
                  </a:txBody>
                  <a:tcPr anchor="ctr"/>
                </a:tc>
                <a:tc>
                  <a:txBody>
                    <a:bodyPr/>
                    <a:lstStyle/>
                    <a:p>
                      <a:pPr algn="r">
                        <a:defRPr sz="900">
                          <a:solidFill>
                            <a:srgbClr val="1E293B"/>
                          </a:solidFill>
                          <a:latin typeface="Calibri"/>
                        </a:defRPr>
                      </a:pPr>
                      <a:r>
                        <a:t>0.92</a:t>
                      </a:r>
                    </a:p>
                  </a:txBody>
                  <a:tcPr anchor="ctr"/>
                </a:tc>
                <a:tc>
                  <a:txBody>
                    <a:bodyPr/>
                    <a:lstStyle/>
                    <a:p>
                      <a:pPr algn="r">
                        <a:defRPr sz="900">
                          <a:solidFill>
                            <a:srgbClr val="1E293B"/>
                          </a:solidFill>
                          <a:latin typeface="Calibri"/>
                        </a:defRPr>
                      </a:pPr>
                      <a:r>
                        <a:t>0.90</a:t>
                      </a:r>
                    </a:p>
                  </a:txBody>
                  <a:tcPr anchor="ctr"/>
                </a:tc>
                <a:tc>
                  <a:txBody>
                    <a:bodyPr/>
                    <a:lstStyle/>
                    <a:p>
                      <a:pPr algn="r">
                        <a:defRPr sz="900">
                          <a:solidFill>
                            <a:srgbClr val="1E293B"/>
                          </a:solidFill>
                          <a:latin typeface="Calibri"/>
                        </a:defRPr>
                      </a:pPr>
                      <a:r>
                        <a:t>74</a:t>
                      </a:r>
                    </a:p>
                  </a:txBody>
                  <a:tcPr anchor="ctr"/>
                </a:tc>
                <a:extLst>
                  <a:ext uri="{0D108BD9-81ED-4DB2-BD59-A6C34878D82A}">
                    <a16:rowId xmlns:a16="http://schemas.microsoft.com/office/drawing/2014/main" val="10001"/>
                  </a:ext>
                </a:extLst>
              </a:tr>
              <a:tr h="335280">
                <a:tc>
                  <a:txBody>
                    <a:bodyPr/>
                    <a:lstStyle/>
                    <a:p>
                      <a:pPr>
                        <a:defRPr sz="900">
                          <a:solidFill>
                            <a:srgbClr val="1E293B"/>
                          </a:solidFill>
                          <a:latin typeface="Calibri"/>
                        </a:defRPr>
                      </a:pPr>
                      <a:r>
                        <a:t>ENT - Otolaryngology</a:t>
                      </a:r>
                    </a:p>
                  </a:txBody>
                  <a:tcPr anchor="ctr"/>
                </a:tc>
                <a:tc>
                  <a:txBody>
                    <a:bodyPr/>
                    <a:lstStyle/>
                    <a:p>
                      <a:pPr algn="r">
                        <a:defRPr sz="900">
                          <a:solidFill>
                            <a:srgbClr val="1E293B"/>
                          </a:solidFill>
                          <a:latin typeface="Calibri"/>
                        </a:defRPr>
                      </a:pPr>
                      <a:r>
                        <a:t>0.94</a:t>
                      </a:r>
                    </a:p>
                  </a:txBody>
                  <a:tcPr anchor="ctr"/>
                </a:tc>
                <a:tc>
                  <a:txBody>
                    <a:bodyPr/>
                    <a:lstStyle/>
                    <a:p>
                      <a:pPr algn="r">
                        <a:defRPr sz="900">
                          <a:solidFill>
                            <a:srgbClr val="1E293B"/>
                          </a:solidFill>
                          <a:latin typeface="Calibri"/>
                        </a:defRPr>
                      </a:pPr>
                      <a:r>
                        <a:t>0.84</a:t>
                      </a:r>
                    </a:p>
                  </a:txBody>
                  <a:tcPr anchor="ctr"/>
                </a:tc>
                <a:tc>
                  <a:txBody>
                    <a:bodyPr/>
                    <a:lstStyle/>
                    <a:p>
                      <a:pPr algn="r">
                        <a:defRPr sz="900">
                          <a:solidFill>
                            <a:srgbClr val="1E293B"/>
                          </a:solidFill>
                          <a:latin typeface="Calibri"/>
                        </a:defRPr>
                      </a:pPr>
                      <a:r>
                        <a:t>0.89</a:t>
                      </a:r>
                    </a:p>
                  </a:txBody>
                  <a:tcPr anchor="ctr"/>
                </a:tc>
                <a:tc>
                  <a:txBody>
                    <a:bodyPr/>
                    <a:lstStyle/>
                    <a:p>
                      <a:pPr algn="r">
                        <a:defRPr sz="900">
                          <a:solidFill>
                            <a:srgbClr val="1E293B"/>
                          </a:solidFill>
                          <a:latin typeface="Calibri"/>
                        </a:defRPr>
                      </a:pPr>
                      <a:r>
                        <a:t>19</a:t>
                      </a:r>
                    </a:p>
                  </a:txBody>
                  <a:tcPr anchor="ctr"/>
                </a:tc>
                <a:extLst>
                  <a:ext uri="{0D108BD9-81ED-4DB2-BD59-A6C34878D82A}">
                    <a16:rowId xmlns:a16="http://schemas.microsoft.com/office/drawing/2014/main" val="10002"/>
                  </a:ext>
                </a:extLst>
              </a:tr>
              <a:tr h="335280">
                <a:tc>
                  <a:txBody>
                    <a:bodyPr/>
                    <a:lstStyle/>
                    <a:p>
                      <a:pPr>
                        <a:defRPr sz="900">
                          <a:solidFill>
                            <a:srgbClr val="1E293B"/>
                          </a:solidFill>
                          <a:latin typeface="Calibri"/>
                        </a:defRPr>
                      </a:pPr>
                      <a:r>
                        <a:t>Gastroenterology</a:t>
                      </a:r>
                    </a:p>
                  </a:txBody>
                  <a:tcPr anchor="ctr"/>
                </a:tc>
                <a:tc>
                  <a:txBody>
                    <a:bodyPr/>
                    <a:lstStyle/>
                    <a:p>
                      <a:pPr algn="r">
                        <a:defRPr sz="900">
                          <a:solidFill>
                            <a:srgbClr val="1E293B"/>
                          </a:solidFill>
                          <a:latin typeface="Calibri"/>
                        </a:defRPr>
                      </a:pPr>
                      <a:r>
                        <a:t>0.87</a:t>
                      </a:r>
                    </a:p>
                  </a:txBody>
                  <a:tcPr anchor="ctr"/>
                </a:tc>
                <a:tc>
                  <a:txBody>
                    <a:bodyPr/>
                    <a:lstStyle/>
                    <a:p>
                      <a:pPr algn="r">
                        <a:defRPr sz="900">
                          <a:solidFill>
                            <a:srgbClr val="1E293B"/>
                          </a:solidFill>
                          <a:latin typeface="Calibri"/>
                        </a:defRPr>
                      </a:pPr>
                      <a:r>
                        <a:t>0.89</a:t>
                      </a:r>
                    </a:p>
                  </a:txBody>
                  <a:tcPr anchor="ctr"/>
                </a:tc>
                <a:tc>
                  <a:txBody>
                    <a:bodyPr/>
                    <a:lstStyle/>
                    <a:p>
                      <a:pPr algn="r">
                        <a:defRPr sz="900">
                          <a:solidFill>
                            <a:srgbClr val="1E293B"/>
                          </a:solidFill>
                          <a:latin typeface="Calibri"/>
                        </a:defRPr>
                      </a:pPr>
                      <a:r>
                        <a:t>0.88</a:t>
                      </a:r>
                    </a:p>
                  </a:txBody>
                  <a:tcPr anchor="ctr"/>
                </a:tc>
                <a:tc>
                  <a:txBody>
                    <a:bodyPr/>
                    <a:lstStyle/>
                    <a:p>
                      <a:pPr algn="r">
                        <a:defRPr sz="900">
                          <a:solidFill>
                            <a:srgbClr val="1E293B"/>
                          </a:solidFill>
                          <a:latin typeface="Calibri"/>
                        </a:defRPr>
                      </a:pPr>
                      <a:r>
                        <a:t>45</a:t>
                      </a:r>
                    </a:p>
                  </a:txBody>
                  <a:tcPr anchor="ctr"/>
                </a:tc>
                <a:extLst>
                  <a:ext uri="{0D108BD9-81ED-4DB2-BD59-A6C34878D82A}">
                    <a16:rowId xmlns:a16="http://schemas.microsoft.com/office/drawing/2014/main" val="10003"/>
                  </a:ext>
                </a:extLst>
              </a:tr>
              <a:tr h="335280">
                <a:tc>
                  <a:txBody>
                    <a:bodyPr/>
                    <a:lstStyle/>
                    <a:p>
                      <a:pPr>
                        <a:defRPr sz="900">
                          <a:solidFill>
                            <a:srgbClr val="1E293B"/>
                          </a:solidFill>
                          <a:latin typeface="Calibri"/>
                        </a:defRPr>
                      </a:pPr>
                      <a:r>
                        <a:t>Neurology</a:t>
                      </a:r>
                    </a:p>
                  </a:txBody>
                  <a:tcPr anchor="ctr"/>
                </a:tc>
                <a:tc>
                  <a:txBody>
                    <a:bodyPr/>
                    <a:lstStyle/>
                    <a:p>
                      <a:pPr algn="r">
                        <a:defRPr sz="900">
                          <a:solidFill>
                            <a:srgbClr val="1E293B"/>
                          </a:solidFill>
                          <a:latin typeface="Calibri"/>
                        </a:defRPr>
                      </a:pPr>
                      <a:r>
                        <a:t>0.76</a:t>
                      </a:r>
                    </a:p>
                  </a:txBody>
                  <a:tcPr anchor="ctr"/>
                </a:tc>
                <a:tc>
                  <a:txBody>
                    <a:bodyPr/>
                    <a:lstStyle/>
                    <a:p>
                      <a:pPr algn="r">
                        <a:defRPr sz="900">
                          <a:solidFill>
                            <a:srgbClr val="1E293B"/>
                          </a:solidFill>
                          <a:latin typeface="Calibri"/>
                        </a:defRPr>
                      </a:pPr>
                      <a:r>
                        <a:t>0.78</a:t>
                      </a:r>
                    </a:p>
                  </a:txBody>
                  <a:tcPr anchor="ctr"/>
                </a:tc>
                <a:tc>
                  <a:txBody>
                    <a:bodyPr/>
                    <a:lstStyle/>
                    <a:p>
                      <a:pPr algn="r">
                        <a:defRPr sz="900">
                          <a:solidFill>
                            <a:srgbClr val="1E293B"/>
                          </a:solidFill>
                          <a:latin typeface="Calibri"/>
                        </a:defRPr>
                      </a:pPr>
                      <a:r>
                        <a:t>0.77</a:t>
                      </a:r>
                    </a:p>
                  </a:txBody>
                  <a:tcPr anchor="ctr"/>
                </a:tc>
                <a:tc>
                  <a:txBody>
                    <a:bodyPr/>
                    <a:lstStyle/>
                    <a:p>
                      <a:pPr algn="r">
                        <a:defRPr sz="900">
                          <a:solidFill>
                            <a:srgbClr val="1E293B"/>
                          </a:solidFill>
                          <a:latin typeface="Calibri"/>
                        </a:defRPr>
                      </a:pPr>
                      <a:r>
                        <a:t>45</a:t>
                      </a:r>
                    </a:p>
                  </a:txBody>
                  <a:tcPr anchor="ctr"/>
                </a:tc>
                <a:extLst>
                  <a:ext uri="{0D108BD9-81ED-4DB2-BD59-A6C34878D82A}">
                    <a16:rowId xmlns:a16="http://schemas.microsoft.com/office/drawing/2014/main" val="10004"/>
                  </a:ext>
                </a:extLst>
              </a:tr>
              <a:tr h="335280">
                <a:tc>
                  <a:txBody>
                    <a:bodyPr/>
                    <a:lstStyle/>
                    <a:p>
                      <a:pPr>
                        <a:defRPr sz="900">
                          <a:solidFill>
                            <a:srgbClr val="1E293B"/>
                          </a:solidFill>
                          <a:latin typeface="Calibri"/>
                        </a:defRPr>
                      </a:pPr>
                      <a:r>
                        <a:t>Obstetrics / Gynecology</a:t>
                      </a:r>
                    </a:p>
                  </a:txBody>
                  <a:tcPr anchor="ctr"/>
                </a:tc>
                <a:tc>
                  <a:txBody>
                    <a:bodyPr/>
                    <a:lstStyle/>
                    <a:p>
                      <a:pPr algn="r">
                        <a:defRPr sz="900">
                          <a:solidFill>
                            <a:srgbClr val="1E293B"/>
                          </a:solidFill>
                          <a:latin typeface="Calibri"/>
                        </a:defRPr>
                      </a:pPr>
                      <a:r>
                        <a:t>0.93</a:t>
                      </a:r>
                    </a:p>
                  </a:txBody>
                  <a:tcPr anchor="ctr"/>
                </a:tc>
                <a:tc>
                  <a:txBody>
                    <a:bodyPr/>
                    <a:lstStyle/>
                    <a:p>
                      <a:pPr algn="r">
                        <a:defRPr sz="900">
                          <a:solidFill>
                            <a:srgbClr val="1E293B"/>
                          </a:solidFill>
                          <a:latin typeface="Calibri"/>
                        </a:defRPr>
                      </a:pPr>
                      <a:r>
                        <a:t>0.90</a:t>
                      </a:r>
                    </a:p>
                  </a:txBody>
                  <a:tcPr anchor="ctr"/>
                </a:tc>
                <a:tc>
                  <a:txBody>
                    <a:bodyPr/>
                    <a:lstStyle/>
                    <a:p>
                      <a:pPr algn="r">
                        <a:defRPr sz="900">
                          <a:solidFill>
                            <a:srgbClr val="1E293B"/>
                          </a:solidFill>
                          <a:latin typeface="Calibri"/>
                        </a:defRPr>
                      </a:pPr>
                      <a:r>
                        <a:t>0.92</a:t>
                      </a:r>
                    </a:p>
                  </a:txBody>
                  <a:tcPr anchor="ctr"/>
                </a:tc>
                <a:tc>
                  <a:txBody>
                    <a:bodyPr/>
                    <a:lstStyle/>
                    <a:p>
                      <a:pPr algn="r">
                        <a:defRPr sz="900">
                          <a:solidFill>
                            <a:srgbClr val="1E293B"/>
                          </a:solidFill>
                          <a:latin typeface="Calibri"/>
                        </a:defRPr>
                      </a:pPr>
                      <a:r>
                        <a:t>31</a:t>
                      </a:r>
                    </a:p>
                  </a:txBody>
                  <a:tcPr anchor="ctr"/>
                </a:tc>
                <a:extLst>
                  <a:ext uri="{0D108BD9-81ED-4DB2-BD59-A6C34878D82A}">
                    <a16:rowId xmlns:a16="http://schemas.microsoft.com/office/drawing/2014/main" val="10005"/>
                  </a:ext>
                </a:extLst>
              </a:tr>
              <a:tr h="335280">
                <a:tc>
                  <a:txBody>
                    <a:bodyPr/>
                    <a:lstStyle/>
                    <a:p>
                      <a:pPr>
                        <a:defRPr sz="900" b="1">
                          <a:solidFill>
                            <a:srgbClr val="0B1F3A"/>
                          </a:solidFill>
                          <a:latin typeface="Calibri"/>
                        </a:defRPr>
                      </a:pPr>
                      <a:r>
                        <a:t>Ophthalmology</a:t>
                      </a:r>
                    </a:p>
                  </a:txBody>
                  <a:tcPr anchor="ctr">
                    <a:solidFill>
                      <a:srgbClr val="ECFDF5"/>
                    </a:solidFill>
                  </a:tcPr>
                </a:tc>
                <a:tc>
                  <a:txBody>
                    <a:bodyPr/>
                    <a:lstStyle/>
                    <a:p>
                      <a:pPr algn="r">
                        <a:defRPr sz="900" b="1">
                          <a:solidFill>
                            <a:srgbClr val="0B1F3A"/>
                          </a:solidFill>
                          <a:latin typeface="Calibri"/>
                        </a:defRPr>
                      </a:pPr>
                      <a:r>
                        <a:t>1.00</a:t>
                      </a:r>
                    </a:p>
                  </a:txBody>
                  <a:tcPr anchor="ctr">
                    <a:solidFill>
                      <a:srgbClr val="ECFDF5"/>
                    </a:solidFill>
                  </a:tcPr>
                </a:tc>
                <a:tc>
                  <a:txBody>
                    <a:bodyPr/>
                    <a:lstStyle/>
                    <a:p>
                      <a:pPr algn="r">
                        <a:defRPr sz="900" b="1">
                          <a:solidFill>
                            <a:srgbClr val="0B1F3A"/>
                          </a:solidFill>
                          <a:latin typeface="Calibri"/>
                        </a:defRPr>
                      </a:pPr>
                      <a:r>
                        <a:t>1.00</a:t>
                      </a:r>
                    </a:p>
                  </a:txBody>
                  <a:tcPr anchor="ctr">
                    <a:solidFill>
                      <a:srgbClr val="ECFDF5"/>
                    </a:solidFill>
                  </a:tcPr>
                </a:tc>
                <a:tc>
                  <a:txBody>
                    <a:bodyPr/>
                    <a:lstStyle/>
                    <a:p>
                      <a:pPr algn="r">
                        <a:defRPr sz="900" b="1">
                          <a:solidFill>
                            <a:srgbClr val="0B1F3A"/>
                          </a:solidFill>
                          <a:latin typeface="Calibri"/>
                        </a:defRPr>
                      </a:pPr>
                      <a:r>
                        <a:t>1.00</a:t>
                      </a:r>
                    </a:p>
                  </a:txBody>
                  <a:tcPr anchor="ctr">
                    <a:solidFill>
                      <a:srgbClr val="ECFDF5"/>
                    </a:solidFill>
                  </a:tcPr>
                </a:tc>
                <a:tc>
                  <a:txBody>
                    <a:bodyPr/>
                    <a:lstStyle/>
                    <a:p>
                      <a:pPr algn="r">
                        <a:defRPr sz="900" b="1">
                          <a:solidFill>
                            <a:srgbClr val="0B1F3A"/>
                          </a:solidFill>
                          <a:latin typeface="Calibri"/>
                        </a:defRPr>
                      </a:pPr>
                      <a:r>
                        <a:t>17</a:t>
                      </a:r>
                    </a:p>
                  </a:txBody>
                  <a:tcPr anchor="ctr">
                    <a:solidFill>
                      <a:srgbClr val="ECFDF5"/>
                    </a:solidFill>
                  </a:tcPr>
                </a:tc>
                <a:extLst>
                  <a:ext uri="{0D108BD9-81ED-4DB2-BD59-A6C34878D82A}">
                    <a16:rowId xmlns:a16="http://schemas.microsoft.com/office/drawing/2014/main" val="10006"/>
                  </a:ext>
                </a:extLst>
              </a:tr>
              <a:tr h="335280">
                <a:tc>
                  <a:txBody>
                    <a:bodyPr/>
                    <a:lstStyle/>
                    <a:p>
                      <a:pPr>
                        <a:defRPr sz="900">
                          <a:solidFill>
                            <a:srgbClr val="1E293B"/>
                          </a:solidFill>
                          <a:latin typeface="Calibri"/>
                        </a:defRPr>
                      </a:pPr>
                      <a:r>
                        <a:t>Orthopedic</a:t>
                      </a:r>
                    </a:p>
                  </a:txBody>
                  <a:tcPr anchor="ctr"/>
                </a:tc>
                <a:tc>
                  <a:txBody>
                    <a:bodyPr/>
                    <a:lstStyle/>
                    <a:p>
                      <a:pPr algn="r">
                        <a:defRPr sz="900">
                          <a:solidFill>
                            <a:srgbClr val="1E293B"/>
                          </a:solidFill>
                          <a:latin typeface="Calibri"/>
                        </a:defRPr>
                      </a:pPr>
                      <a:r>
                        <a:t>0.89</a:t>
                      </a:r>
                    </a:p>
                  </a:txBody>
                  <a:tcPr anchor="ctr"/>
                </a:tc>
                <a:tc>
                  <a:txBody>
                    <a:bodyPr/>
                    <a:lstStyle/>
                    <a:p>
                      <a:pPr algn="r">
                        <a:defRPr sz="900">
                          <a:solidFill>
                            <a:srgbClr val="1E293B"/>
                          </a:solidFill>
                          <a:latin typeface="Calibri"/>
                        </a:defRPr>
                      </a:pPr>
                      <a:r>
                        <a:t>0.89</a:t>
                      </a:r>
                    </a:p>
                  </a:txBody>
                  <a:tcPr anchor="ctr"/>
                </a:tc>
                <a:tc>
                  <a:txBody>
                    <a:bodyPr/>
                    <a:lstStyle/>
                    <a:p>
                      <a:pPr algn="r">
                        <a:defRPr sz="900">
                          <a:solidFill>
                            <a:srgbClr val="1E293B"/>
                          </a:solidFill>
                          <a:latin typeface="Calibri"/>
                        </a:defRPr>
                      </a:pPr>
                      <a:r>
                        <a:t>0.89</a:t>
                      </a:r>
                    </a:p>
                  </a:txBody>
                  <a:tcPr anchor="ctr"/>
                </a:tc>
                <a:tc>
                  <a:txBody>
                    <a:bodyPr/>
                    <a:lstStyle/>
                    <a:p>
                      <a:pPr algn="r">
                        <a:defRPr sz="900">
                          <a:solidFill>
                            <a:srgbClr val="1E293B"/>
                          </a:solidFill>
                          <a:latin typeface="Calibri"/>
                        </a:defRPr>
                      </a:pPr>
                      <a:r>
                        <a:t>71</a:t>
                      </a:r>
                    </a:p>
                  </a:txBody>
                  <a:tcPr anchor="ctr"/>
                </a:tc>
                <a:extLst>
                  <a:ext uri="{0D108BD9-81ED-4DB2-BD59-A6C34878D82A}">
                    <a16:rowId xmlns:a16="http://schemas.microsoft.com/office/drawing/2014/main" val="10007"/>
                  </a:ext>
                </a:extLst>
              </a:tr>
              <a:tr h="335280">
                <a:tc>
                  <a:txBody>
                    <a:bodyPr/>
                    <a:lstStyle/>
                    <a:p>
                      <a:pPr>
                        <a:defRPr sz="900">
                          <a:solidFill>
                            <a:srgbClr val="1E293B"/>
                          </a:solidFill>
                          <a:latin typeface="Calibri"/>
                        </a:defRPr>
                      </a:pPr>
                      <a:r>
                        <a:t>Urology</a:t>
                      </a:r>
                    </a:p>
                  </a:txBody>
                  <a:tcPr anchor="ctr"/>
                </a:tc>
                <a:tc>
                  <a:txBody>
                    <a:bodyPr/>
                    <a:lstStyle/>
                    <a:p>
                      <a:pPr algn="r">
                        <a:defRPr sz="900">
                          <a:solidFill>
                            <a:srgbClr val="1E293B"/>
                          </a:solidFill>
                          <a:latin typeface="Calibri"/>
                        </a:defRPr>
                      </a:pPr>
                      <a:r>
                        <a:t>0.97</a:t>
                      </a:r>
                    </a:p>
                  </a:txBody>
                  <a:tcPr anchor="ctr"/>
                </a:tc>
                <a:tc>
                  <a:txBody>
                    <a:bodyPr/>
                    <a:lstStyle/>
                    <a:p>
                      <a:pPr algn="r">
                        <a:defRPr sz="900">
                          <a:solidFill>
                            <a:srgbClr val="1E293B"/>
                          </a:solidFill>
                          <a:latin typeface="Calibri"/>
                        </a:defRPr>
                      </a:pPr>
                      <a:r>
                        <a:t>0.90</a:t>
                      </a:r>
                    </a:p>
                  </a:txBody>
                  <a:tcPr anchor="ctr"/>
                </a:tc>
                <a:tc>
                  <a:txBody>
                    <a:bodyPr/>
                    <a:lstStyle/>
                    <a:p>
                      <a:pPr algn="r">
                        <a:defRPr sz="900">
                          <a:solidFill>
                            <a:srgbClr val="1E293B"/>
                          </a:solidFill>
                          <a:latin typeface="Calibri"/>
                        </a:defRPr>
                      </a:pPr>
                      <a:r>
                        <a:t>0.93</a:t>
                      </a:r>
                    </a:p>
                  </a:txBody>
                  <a:tcPr anchor="ctr"/>
                </a:tc>
                <a:tc>
                  <a:txBody>
                    <a:bodyPr/>
                    <a:lstStyle/>
                    <a:p>
                      <a:pPr algn="r">
                        <a:defRPr sz="900">
                          <a:solidFill>
                            <a:srgbClr val="1E293B"/>
                          </a:solidFill>
                          <a:latin typeface="Calibri"/>
                        </a:defRPr>
                      </a:pPr>
                      <a:r>
                        <a:t>31</a:t>
                      </a:r>
                    </a:p>
                  </a:txBody>
                  <a:tcPr anchor="ctr"/>
                </a:tc>
                <a:extLst>
                  <a:ext uri="{0D108BD9-81ED-4DB2-BD59-A6C34878D82A}">
                    <a16:rowId xmlns:a16="http://schemas.microsoft.com/office/drawing/2014/main" val="10008"/>
                  </a:ext>
                </a:extLst>
              </a:tr>
              <a:tr h="335280">
                <a:tc>
                  <a:txBody>
                    <a:bodyPr/>
                    <a:lstStyle/>
                    <a:p>
                      <a:pPr>
                        <a:defRPr sz="900" b="1">
                          <a:solidFill>
                            <a:srgbClr val="0B1F3A"/>
                          </a:solidFill>
                          <a:latin typeface="Calibri"/>
                        </a:defRPr>
                      </a:pPr>
                      <a:r>
                        <a:t>Accuracy</a:t>
                      </a:r>
                    </a:p>
                  </a:txBody>
                  <a:tcPr anchor="ctr">
                    <a:solidFill>
                      <a:srgbClr val="EEF2F6"/>
                    </a:solidFill>
                  </a:tcPr>
                </a:tc>
                <a:tc>
                  <a:txBody>
                    <a:bodyPr/>
                    <a:lstStyle/>
                    <a:p>
                      <a:pPr algn="r">
                        <a:defRPr sz="900" b="1">
                          <a:solidFill>
                            <a:srgbClr val="0B1F3A"/>
                          </a:solidFill>
                          <a:latin typeface="Calibri"/>
                        </a:defRPr>
                      </a:pPr>
                      <a:endParaRPr/>
                    </a:p>
                  </a:txBody>
                  <a:tcPr anchor="ctr">
                    <a:solidFill>
                      <a:srgbClr val="EEF2F6"/>
                    </a:solidFill>
                  </a:tcPr>
                </a:tc>
                <a:tc>
                  <a:txBody>
                    <a:bodyPr/>
                    <a:lstStyle/>
                    <a:p>
                      <a:pPr algn="r">
                        <a:defRPr sz="900" b="1">
                          <a:solidFill>
                            <a:srgbClr val="0B1F3A"/>
                          </a:solidFill>
                          <a:latin typeface="Calibri"/>
                        </a:defRPr>
                      </a:pPr>
                      <a:endParaRPr/>
                    </a:p>
                  </a:txBody>
                  <a:tcPr anchor="ctr">
                    <a:solidFill>
                      <a:srgbClr val="EEF2F6"/>
                    </a:solidFill>
                  </a:tcPr>
                </a:tc>
                <a:tc>
                  <a:txBody>
                    <a:bodyPr/>
                    <a:lstStyle/>
                    <a:p>
                      <a:pPr algn="r">
                        <a:defRPr sz="900" b="1">
                          <a:solidFill>
                            <a:srgbClr val="0B1F3A"/>
                          </a:solidFill>
                          <a:latin typeface="Calibri"/>
                        </a:defRPr>
                      </a:pPr>
                      <a:r>
                        <a:t>0.89</a:t>
                      </a:r>
                    </a:p>
                  </a:txBody>
                  <a:tcPr anchor="ctr">
                    <a:solidFill>
                      <a:srgbClr val="EEF2F6"/>
                    </a:solidFill>
                  </a:tcPr>
                </a:tc>
                <a:tc>
                  <a:txBody>
                    <a:bodyPr/>
                    <a:lstStyle/>
                    <a:p>
                      <a:pPr algn="r">
                        <a:defRPr sz="900" b="1">
                          <a:solidFill>
                            <a:srgbClr val="0B1F3A"/>
                          </a:solidFill>
                          <a:latin typeface="Calibri"/>
                        </a:defRPr>
                      </a:pPr>
                      <a:r>
                        <a:t>333</a:t>
                      </a:r>
                    </a:p>
                  </a:txBody>
                  <a:tcPr anchor="ctr">
                    <a:solidFill>
                      <a:srgbClr val="EEF2F6"/>
                    </a:solidFill>
                  </a:tcPr>
                </a:tc>
                <a:extLst>
                  <a:ext uri="{0D108BD9-81ED-4DB2-BD59-A6C34878D82A}">
                    <a16:rowId xmlns:a16="http://schemas.microsoft.com/office/drawing/2014/main" val="10009"/>
                  </a:ext>
                </a:extLst>
              </a:tr>
              <a:tr h="335280">
                <a:tc>
                  <a:txBody>
                    <a:bodyPr/>
                    <a:lstStyle/>
                    <a:p>
                      <a:pPr>
                        <a:defRPr sz="900" b="1">
                          <a:solidFill>
                            <a:srgbClr val="0B1F3A"/>
                          </a:solidFill>
                          <a:latin typeface="Calibri"/>
                        </a:defRPr>
                      </a:pPr>
                      <a:r>
                        <a:t>Macro Average</a:t>
                      </a:r>
                    </a:p>
                  </a:txBody>
                  <a:tcPr anchor="ctr">
                    <a:solidFill>
                      <a:srgbClr val="EEF2F6"/>
                    </a:solidFill>
                  </a:tcPr>
                </a:tc>
                <a:tc>
                  <a:txBody>
                    <a:bodyPr/>
                    <a:lstStyle/>
                    <a:p>
                      <a:pPr algn="r">
                        <a:defRPr sz="900" b="1">
                          <a:solidFill>
                            <a:srgbClr val="0B1F3A"/>
                          </a:solidFill>
                          <a:latin typeface="Calibri"/>
                        </a:defRPr>
                      </a:pPr>
                      <a:r>
                        <a:t>0.91</a:t>
                      </a:r>
                    </a:p>
                  </a:txBody>
                  <a:tcPr anchor="ctr">
                    <a:solidFill>
                      <a:srgbClr val="EEF2F6"/>
                    </a:solidFill>
                  </a:tcPr>
                </a:tc>
                <a:tc>
                  <a:txBody>
                    <a:bodyPr/>
                    <a:lstStyle/>
                    <a:p>
                      <a:pPr algn="r">
                        <a:defRPr sz="900" b="1">
                          <a:solidFill>
                            <a:srgbClr val="0B1F3A"/>
                          </a:solidFill>
                          <a:latin typeface="Calibri"/>
                        </a:defRPr>
                      </a:pPr>
                      <a:r>
                        <a:t>0.89</a:t>
                      </a:r>
                    </a:p>
                  </a:txBody>
                  <a:tcPr anchor="ctr">
                    <a:solidFill>
                      <a:srgbClr val="EEF2F6"/>
                    </a:solidFill>
                  </a:tcPr>
                </a:tc>
                <a:tc>
                  <a:txBody>
                    <a:bodyPr/>
                    <a:lstStyle/>
                    <a:p>
                      <a:pPr algn="r">
                        <a:defRPr sz="900" b="1">
                          <a:solidFill>
                            <a:srgbClr val="0B1F3A"/>
                          </a:solidFill>
                          <a:latin typeface="Calibri"/>
                        </a:defRPr>
                      </a:pPr>
                      <a:r>
                        <a:t>0.90</a:t>
                      </a:r>
                    </a:p>
                  </a:txBody>
                  <a:tcPr anchor="ctr">
                    <a:solidFill>
                      <a:srgbClr val="EEF2F6"/>
                    </a:solidFill>
                  </a:tcPr>
                </a:tc>
                <a:tc>
                  <a:txBody>
                    <a:bodyPr/>
                    <a:lstStyle/>
                    <a:p>
                      <a:pPr algn="r">
                        <a:defRPr sz="900" b="1">
                          <a:solidFill>
                            <a:srgbClr val="0B1F3A"/>
                          </a:solidFill>
                          <a:latin typeface="Calibri"/>
                        </a:defRPr>
                      </a:pPr>
                      <a:r>
                        <a:t>333</a:t>
                      </a:r>
                    </a:p>
                  </a:txBody>
                  <a:tcPr anchor="ctr">
                    <a:solidFill>
                      <a:srgbClr val="EEF2F6"/>
                    </a:solidFill>
                  </a:tcPr>
                </a:tc>
                <a:extLst>
                  <a:ext uri="{0D108BD9-81ED-4DB2-BD59-A6C34878D82A}">
                    <a16:rowId xmlns:a16="http://schemas.microsoft.com/office/drawing/2014/main" val="10010"/>
                  </a:ext>
                </a:extLst>
              </a:tr>
              <a:tr h="335280">
                <a:tc>
                  <a:txBody>
                    <a:bodyPr/>
                    <a:lstStyle/>
                    <a:p>
                      <a:pPr>
                        <a:defRPr sz="900" b="1">
                          <a:solidFill>
                            <a:srgbClr val="0B1F3A"/>
                          </a:solidFill>
                          <a:latin typeface="Calibri"/>
                        </a:defRPr>
                      </a:pPr>
                      <a:r>
                        <a:t>Weighted Average</a:t>
                      </a:r>
                    </a:p>
                  </a:txBody>
                  <a:tcPr anchor="ctr">
                    <a:solidFill>
                      <a:srgbClr val="EEF2F6"/>
                    </a:solidFill>
                  </a:tcPr>
                </a:tc>
                <a:tc>
                  <a:txBody>
                    <a:bodyPr/>
                    <a:lstStyle/>
                    <a:p>
                      <a:pPr algn="r">
                        <a:defRPr sz="900" b="1">
                          <a:solidFill>
                            <a:srgbClr val="0B1F3A"/>
                          </a:solidFill>
                          <a:latin typeface="Calibri"/>
                        </a:defRPr>
                      </a:pPr>
                      <a:r>
                        <a:t>0.89</a:t>
                      </a:r>
                    </a:p>
                  </a:txBody>
                  <a:tcPr anchor="ctr">
                    <a:solidFill>
                      <a:srgbClr val="EEF2F6"/>
                    </a:solidFill>
                  </a:tcPr>
                </a:tc>
                <a:tc>
                  <a:txBody>
                    <a:bodyPr/>
                    <a:lstStyle/>
                    <a:p>
                      <a:pPr algn="r">
                        <a:defRPr sz="900" b="1">
                          <a:solidFill>
                            <a:srgbClr val="0B1F3A"/>
                          </a:solidFill>
                          <a:latin typeface="Calibri"/>
                        </a:defRPr>
                      </a:pPr>
                      <a:r>
                        <a:t>0.89</a:t>
                      </a:r>
                    </a:p>
                  </a:txBody>
                  <a:tcPr anchor="ctr">
                    <a:solidFill>
                      <a:srgbClr val="EEF2F6"/>
                    </a:solidFill>
                  </a:tcPr>
                </a:tc>
                <a:tc>
                  <a:txBody>
                    <a:bodyPr/>
                    <a:lstStyle/>
                    <a:p>
                      <a:pPr algn="r">
                        <a:defRPr sz="900" b="1">
                          <a:solidFill>
                            <a:srgbClr val="0B1F3A"/>
                          </a:solidFill>
                          <a:latin typeface="Calibri"/>
                        </a:defRPr>
                      </a:pPr>
                      <a:r>
                        <a:t>0.89</a:t>
                      </a:r>
                    </a:p>
                  </a:txBody>
                  <a:tcPr anchor="ctr">
                    <a:solidFill>
                      <a:srgbClr val="EEF2F6"/>
                    </a:solidFill>
                  </a:tcPr>
                </a:tc>
                <a:tc>
                  <a:txBody>
                    <a:bodyPr/>
                    <a:lstStyle/>
                    <a:p>
                      <a:pPr algn="r">
                        <a:defRPr sz="900" b="1">
                          <a:solidFill>
                            <a:srgbClr val="0B1F3A"/>
                          </a:solidFill>
                          <a:latin typeface="Calibri"/>
                        </a:defRPr>
                      </a:pPr>
                      <a:r>
                        <a:t>333</a:t>
                      </a:r>
                    </a:p>
                  </a:txBody>
                  <a:tcPr anchor="ctr">
                    <a:solidFill>
                      <a:srgbClr val="EEF2F6"/>
                    </a:solidFill>
                  </a:tcPr>
                </a:tc>
                <a:extLst>
                  <a:ext uri="{0D108BD9-81ED-4DB2-BD59-A6C34878D82A}">
                    <a16:rowId xmlns:a16="http://schemas.microsoft.com/office/drawing/2014/main" val="10011"/>
                  </a:ext>
                </a:extLst>
              </a:tr>
            </a:tbl>
          </a:graphicData>
        </a:graphic>
      </p:graphicFrame>
      <p:sp>
        <p:nvSpPr>
          <p:cNvPr id="11" name="Rounded Rectangle 10"/>
          <p:cNvSpPr/>
          <p:nvPr/>
        </p:nvSpPr>
        <p:spPr>
          <a:xfrm>
            <a:off x="7635240" y="1371600"/>
            <a:ext cx="400507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818120" y="1554480"/>
            <a:ext cx="3639312" cy="3631763"/>
          </a:xfrm>
          <a:prstGeom prst="rect">
            <a:avLst/>
          </a:prstGeom>
          <a:noFill/>
        </p:spPr>
        <p:txBody>
          <a:bodyPr wrap="square" lIns="91440" tIns="45720" rIns="91440" bIns="45720" anchor="t">
            <a:spAutoFit/>
          </a:bodyPr>
          <a:lstStyle/>
          <a:p>
            <a:pPr>
              <a:defRPr sz="1400" b="1">
                <a:solidFill>
                  <a:srgbClr val="0B1F3A"/>
                </a:solidFill>
                <a:latin typeface="Cambria"/>
              </a:defRPr>
            </a:pPr>
            <a:r>
              <a:rPr sz="1600" dirty="0">
                <a:latin typeface="Times New Roman"/>
                <a:cs typeface="Times New Roman"/>
              </a:rPr>
              <a:t>Specialty-wise Observations</a:t>
            </a:r>
            <a:endParaRPr lang="en-US" sz="1600">
              <a:latin typeface="Times New Roman"/>
              <a:cs typeface="Times New Roman"/>
            </a:endParaRPr>
          </a:p>
          <a:p>
            <a:pPr>
              <a:spcBef>
                <a:spcPts val="600"/>
              </a:spcBef>
              <a:defRPr sz="1000" b="1">
                <a:solidFill>
                  <a:srgbClr val="0B1F3A"/>
                </a:solidFill>
                <a:latin typeface="Calibri"/>
              </a:defRPr>
            </a:pPr>
            <a:r>
              <a:rPr sz="1400" dirty="0">
                <a:latin typeface="Times New Roman"/>
                <a:cs typeface="Times New Roman"/>
              </a:rPr>
              <a:t>★ Ophthalmology: Flawless Generalization:</a:t>
            </a:r>
            <a:br>
              <a:rPr sz="1400" dirty="0">
                <a:latin typeface="Times New Roman"/>
                <a:cs typeface="Times New Roman"/>
              </a:rPr>
            </a:br>
            <a:r>
              <a:rPr sz="1400" b="0" dirty="0">
                <a:solidFill>
                  <a:srgbClr val="1E293B"/>
                </a:solidFill>
                <a:latin typeface="Times New Roman"/>
                <a:cs typeface="Times New Roman"/>
              </a:rPr>
              <a:t>1.00 F1-score across all 17 test cases with 100% precision and recall.</a:t>
            </a:r>
            <a:endParaRPr sz="1400" b="0">
              <a:solidFill>
                <a:srgbClr val="1E293B"/>
              </a:solidFill>
              <a:latin typeface="Times New Roman"/>
              <a:ea typeface="Calibri"/>
              <a:cs typeface="Times New Roman"/>
            </a:endParaRPr>
          </a:p>
          <a:p>
            <a:pPr>
              <a:spcBef>
                <a:spcPts val="600"/>
              </a:spcBef>
              <a:defRPr sz="1000" b="1">
                <a:solidFill>
                  <a:srgbClr val="0B1F3A"/>
                </a:solidFill>
                <a:latin typeface="Calibri"/>
              </a:defRPr>
            </a:pPr>
            <a:r>
              <a:rPr sz="1400" dirty="0">
                <a:latin typeface="Times New Roman"/>
                <a:cs typeface="Times New Roman"/>
              </a:rPr>
              <a:t>★ High Precision Specialties:</a:t>
            </a:r>
            <a:br>
              <a:rPr sz="1400" dirty="0">
                <a:latin typeface="Times New Roman"/>
                <a:cs typeface="Times New Roman"/>
              </a:rPr>
            </a:br>
            <a:r>
              <a:rPr sz="1400" b="0" dirty="0">
                <a:solidFill>
                  <a:srgbClr val="1E293B"/>
                </a:solidFill>
                <a:latin typeface="Times New Roman"/>
                <a:cs typeface="Times New Roman"/>
              </a:rPr>
              <a:t>Urology (0.97 Precision), ENT (0.94 Precision), and OB/GYN (0.93 Precision) demonstrate exceptional specificity.</a:t>
            </a:r>
            <a:endParaRPr sz="1400" b="0">
              <a:solidFill>
                <a:srgbClr val="1E293B"/>
              </a:solidFill>
              <a:latin typeface="Times New Roman"/>
              <a:ea typeface="Calibri"/>
              <a:cs typeface="Times New Roman"/>
            </a:endParaRPr>
          </a:p>
          <a:p>
            <a:pPr>
              <a:spcBef>
                <a:spcPts val="600"/>
              </a:spcBef>
              <a:defRPr sz="1000" b="1">
                <a:solidFill>
                  <a:srgbClr val="0B1F3A"/>
                </a:solidFill>
                <a:latin typeface="Calibri"/>
              </a:defRPr>
            </a:pPr>
            <a:r>
              <a:rPr sz="1400" dirty="0">
                <a:latin typeface="Times New Roman"/>
                <a:cs typeface="Times New Roman"/>
              </a:rPr>
              <a:t>★ Robust Majority Classes:</a:t>
            </a:r>
            <a:br>
              <a:rPr sz="1400" dirty="0">
                <a:latin typeface="Times New Roman"/>
                <a:cs typeface="Times New Roman"/>
              </a:rPr>
            </a:br>
            <a:r>
              <a:rPr sz="1400" b="0" dirty="0">
                <a:solidFill>
                  <a:srgbClr val="1E293B"/>
                </a:solidFill>
                <a:latin typeface="Times New Roman"/>
                <a:cs typeface="Times New Roman"/>
              </a:rPr>
              <a:t>Cardiovascular / Pulmonary (0.90 F1) and Orthopedic (0.89 F1) maintain high recall despite being the largest classes.</a:t>
            </a:r>
            <a:endParaRPr sz="1400" b="0">
              <a:solidFill>
                <a:srgbClr val="1E293B"/>
              </a:solidFill>
              <a:latin typeface="Times New Roman"/>
              <a:ea typeface="Calibri"/>
              <a:cs typeface="Times New Roman"/>
            </a:endParaRPr>
          </a:p>
          <a:p>
            <a:pPr>
              <a:spcBef>
                <a:spcPts val="600"/>
              </a:spcBef>
              <a:defRPr sz="1000" b="1">
                <a:solidFill>
                  <a:srgbClr val="0B1F3A"/>
                </a:solidFill>
                <a:latin typeface="Calibri"/>
              </a:defRPr>
            </a:pPr>
            <a:r>
              <a:rPr sz="1400" dirty="0">
                <a:latin typeface="Times New Roman"/>
                <a:cs typeface="Times New Roman"/>
              </a:rPr>
              <a:t>★ Challenging Class:</a:t>
            </a:r>
            <a:br>
              <a:rPr sz="1400" dirty="0">
                <a:latin typeface="Times New Roman"/>
                <a:cs typeface="Times New Roman"/>
              </a:rPr>
            </a:br>
            <a:r>
              <a:rPr sz="1400" b="0" dirty="0">
                <a:solidFill>
                  <a:srgbClr val="1E293B"/>
                </a:solidFill>
                <a:latin typeface="Times New Roman"/>
                <a:cs typeface="Times New Roman"/>
              </a:rPr>
              <a:t>Neurology (0.77 F1) reflects the semantic overlap with Orthopedic spinal cases.</a:t>
            </a:r>
            <a:endParaRPr sz="1400" b="0">
              <a:solidFill>
                <a:srgbClr val="1E293B"/>
              </a:solidFill>
              <a:latin typeface="Times New Roman"/>
              <a:ea typeface="Calibri"/>
              <a:cs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EMPIRICAL FINDINGS</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Key Empirical Findings from Phase 2</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14 of 16</a:t>
            </a:r>
          </a:p>
        </p:txBody>
      </p:sp>
      <p:sp>
        <p:nvSpPr>
          <p:cNvPr id="8" name="Rounded Rectangle 7"/>
          <p:cNvSpPr/>
          <p:nvPr/>
        </p:nvSpPr>
        <p:spPr>
          <a:xfrm>
            <a:off x="548640" y="1371600"/>
            <a:ext cx="539496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1554480"/>
            <a:ext cx="4937760" cy="3980577"/>
          </a:xfrm>
          <a:prstGeom prst="rect">
            <a:avLst/>
          </a:prstGeom>
          <a:noFill/>
        </p:spPr>
        <p:txBody>
          <a:bodyPr wrap="square" lIns="91440" tIns="45720" rIns="91440" bIns="45720" anchor="t">
            <a:spAutoFit/>
          </a:bodyPr>
          <a:lstStyle/>
          <a:p>
            <a:pPr>
              <a:defRPr sz="1400" b="1">
                <a:solidFill>
                  <a:srgbClr val="0B1F3A"/>
                </a:solidFill>
                <a:latin typeface="Cambria"/>
              </a:defRPr>
            </a:pPr>
            <a:r>
              <a:rPr sz="1600" dirty="0"/>
              <a:t>Data, Imbalance &amp; Dimensionality Insights</a:t>
            </a:r>
            <a:endParaRPr lang="en-US" sz="1600" dirty="0">
              <a:ea typeface="Cambria"/>
            </a:endParaRPr>
          </a:p>
          <a:p>
            <a:pPr>
              <a:spcBef>
                <a:spcPts val="800"/>
              </a:spcBef>
              <a:defRPr sz="1000" b="1">
                <a:solidFill>
                  <a:srgbClr val="0B1F3A"/>
                </a:solidFill>
                <a:latin typeface="Calibri"/>
              </a:defRPr>
            </a:pPr>
            <a:r>
              <a:rPr sz="1400" dirty="0"/>
              <a:t>• 1. Raw 40-Class Formulation Failed:</a:t>
            </a:r>
            <a:br>
              <a:rPr sz="1400" dirty="0"/>
            </a:br>
            <a:r>
              <a:rPr sz="1400" b="0" dirty="0">
                <a:solidFill>
                  <a:srgbClr val="1E293B"/>
                </a:solidFill>
              </a:rPr>
              <a:t>Initial 40-class training produced 7.85% to 27.39% accuracy, demonstrating that the raw dataset was unsuitable without domain refinement.</a:t>
            </a:r>
            <a:endParaRPr sz="1400" b="0" dirty="0">
              <a:solidFill>
                <a:srgbClr val="1E293B"/>
              </a:solidFill>
              <a:ea typeface="Calibri"/>
              <a:cs typeface="Calibri"/>
            </a:endParaRPr>
          </a:p>
          <a:p>
            <a:pPr>
              <a:spcBef>
                <a:spcPts val="800"/>
              </a:spcBef>
              <a:defRPr sz="1000" b="1">
                <a:solidFill>
                  <a:srgbClr val="0B1F3A"/>
                </a:solidFill>
                <a:latin typeface="Calibri"/>
              </a:defRPr>
            </a:pPr>
            <a:r>
              <a:rPr sz="1400" dirty="0"/>
              <a:t>• 2. Severe Class Imbalance Distorted Learning:</a:t>
            </a:r>
            <a:br>
              <a:rPr sz="1400" dirty="0"/>
            </a:br>
            <a:r>
              <a:rPr sz="1400" b="0" dirty="0">
                <a:solidFill>
                  <a:srgbClr val="1E293B"/>
                </a:solidFill>
              </a:rPr>
              <a:t>Extreme 184:1 skew starved minority classes; unweighted models predicted majority 'Surgery' trivially. Class weighting and SMOTE restored balanced gradients.</a:t>
            </a:r>
            <a:endParaRPr sz="1400" b="0" dirty="0">
              <a:solidFill>
                <a:srgbClr val="1E293B"/>
              </a:solidFill>
              <a:ea typeface="Calibri"/>
              <a:cs typeface="Calibri"/>
            </a:endParaRPr>
          </a:p>
          <a:p>
            <a:pPr>
              <a:spcBef>
                <a:spcPts val="800"/>
              </a:spcBef>
              <a:defRPr sz="1000" b="1">
                <a:solidFill>
                  <a:srgbClr val="0B1F3A"/>
                </a:solidFill>
                <a:latin typeface="Calibri"/>
              </a:defRPr>
            </a:pPr>
            <a:r>
              <a:rPr sz="1400" dirty="0"/>
              <a:t>• 3. 310,000-Feature TF-IDF Created Sparsity Trap:</a:t>
            </a:r>
            <a:br>
              <a:rPr sz="1400" dirty="0"/>
            </a:br>
            <a:r>
              <a:rPr sz="1400" b="0" dirty="0">
                <a:solidFill>
                  <a:srgbClr val="1E293B"/>
                </a:solidFill>
              </a:rPr>
              <a:t>Unconstrained TF-IDF severely overfitted (78:1 feature-to-sample ratio). Restricting to 8,000 features with sublinear scaling stabilized feature space.</a:t>
            </a:r>
            <a:endParaRPr sz="1400" b="0" dirty="0">
              <a:solidFill>
                <a:srgbClr val="1E293B"/>
              </a:solidFill>
              <a:ea typeface="Calibri"/>
              <a:cs typeface="Calibri"/>
            </a:endParaRPr>
          </a:p>
          <a:p>
            <a:pPr>
              <a:spcBef>
                <a:spcPts val="800"/>
              </a:spcBef>
              <a:defRPr sz="1000" b="1">
                <a:solidFill>
                  <a:srgbClr val="0B1F3A"/>
                </a:solidFill>
                <a:latin typeface="Calibri"/>
              </a:defRPr>
            </a:pPr>
            <a:r>
              <a:rPr sz="1400" dirty="0"/>
              <a:t>• 4. Pruning Document Formats Cleared Noise:</a:t>
            </a:r>
            <a:br>
              <a:rPr sz="1400" dirty="0"/>
            </a:br>
            <a:r>
              <a:rPr sz="1400" b="0" dirty="0">
                <a:solidFill>
                  <a:srgbClr val="1E293B"/>
                </a:solidFill>
              </a:rPr>
              <a:t>Removing administrative formats (SOAP notes, consults, discharge summaries) eliminated non-specialty linguistic overlap.</a:t>
            </a:r>
            <a:endParaRPr sz="1400" b="0" dirty="0">
              <a:solidFill>
                <a:srgbClr val="1E293B"/>
              </a:solidFill>
              <a:ea typeface="Calibri"/>
              <a:cs typeface="Calibri"/>
            </a:endParaRPr>
          </a:p>
        </p:txBody>
      </p:sp>
      <p:sp>
        <p:nvSpPr>
          <p:cNvPr id="10" name="Rounded Rectangle 9"/>
          <p:cNvSpPr/>
          <p:nvPr/>
        </p:nvSpPr>
        <p:spPr>
          <a:xfrm>
            <a:off x="6217920" y="1371600"/>
            <a:ext cx="542239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46520" y="1554480"/>
            <a:ext cx="4965192" cy="3980577"/>
          </a:xfrm>
          <a:prstGeom prst="rect">
            <a:avLst/>
          </a:prstGeom>
          <a:noFill/>
        </p:spPr>
        <p:txBody>
          <a:bodyPr wrap="square" lIns="91440" tIns="45720" rIns="91440" bIns="45720" anchor="t">
            <a:spAutoFit/>
          </a:bodyPr>
          <a:lstStyle/>
          <a:p>
            <a:pPr>
              <a:defRPr sz="1400" b="1">
                <a:solidFill>
                  <a:srgbClr val="0D9488"/>
                </a:solidFill>
                <a:latin typeface="Cambria"/>
              </a:defRPr>
            </a:pPr>
            <a:r>
              <a:rPr sz="1600" dirty="0"/>
              <a:t>Model Performance &amp; Engineering Insights</a:t>
            </a:r>
            <a:endParaRPr lang="en-US" sz="1600" dirty="0">
              <a:ea typeface="Cambria"/>
            </a:endParaRPr>
          </a:p>
          <a:p>
            <a:pPr>
              <a:spcBef>
                <a:spcPts val="800"/>
              </a:spcBef>
              <a:defRPr sz="1000" b="1">
                <a:solidFill>
                  <a:srgbClr val="0D9488"/>
                </a:solidFill>
                <a:latin typeface="Calibri"/>
              </a:defRPr>
            </a:pPr>
            <a:r>
              <a:rPr sz="1400" dirty="0"/>
              <a:t>✓ 5. Final 8-Specialty Dataset Achieved 77%–89%:</a:t>
            </a:r>
            <a:br>
              <a:rPr sz="1400" dirty="0"/>
            </a:br>
            <a:r>
              <a:rPr sz="1400" b="0" dirty="0">
                <a:solidFill>
                  <a:srgbClr val="1E293B"/>
                </a:solidFill>
              </a:rPr>
              <a:t>Focusing on 8 mutually exclusive clinical departments dramatically elevated performance across all 4 machine-learning algorithms.</a:t>
            </a:r>
            <a:endParaRPr sz="1400" b="0" dirty="0">
              <a:solidFill>
                <a:srgbClr val="1E293B"/>
              </a:solidFill>
              <a:ea typeface="Calibri"/>
              <a:cs typeface="Calibri"/>
            </a:endParaRPr>
          </a:p>
          <a:p>
            <a:pPr>
              <a:spcBef>
                <a:spcPts val="800"/>
              </a:spcBef>
              <a:defRPr sz="1000" b="1">
                <a:solidFill>
                  <a:srgbClr val="0D9488"/>
                </a:solidFill>
                <a:latin typeface="Calibri"/>
              </a:defRPr>
            </a:pPr>
            <a:r>
              <a:rPr sz="1400" dirty="0"/>
              <a:t>✓ 6. Linear SVM Delivered Top Individual Accuracy:</a:t>
            </a:r>
            <a:br>
              <a:rPr sz="1400" dirty="0"/>
            </a:br>
            <a:r>
              <a:rPr sz="1400" b="0" dirty="0">
                <a:solidFill>
                  <a:srgbClr val="1E293B"/>
                </a:solidFill>
              </a:rPr>
              <a:t>Linear SVM achieved 88.59% accuracy and 0.8971 Macro F1, outperforming Random Forest by &gt; 6.6% due to optimal high-dimensional text separation.</a:t>
            </a:r>
            <a:endParaRPr sz="1400" b="0" dirty="0">
              <a:solidFill>
                <a:srgbClr val="1E293B"/>
              </a:solidFill>
              <a:ea typeface="Calibri"/>
              <a:cs typeface="Calibri"/>
            </a:endParaRPr>
          </a:p>
          <a:p>
            <a:pPr>
              <a:spcBef>
                <a:spcPts val="800"/>
              </a:spcBef>
              <a:defRPr sz="1000" b="1">
                <a:solidFill>
                  <a:srgbClr val="0D9488"/>
                </a:solidFill>
                <a:latin typeface="Calibri"/>
              </a:defRPr>
            </a:pPr>
            <a:r>
              <a:rPr sz="1400" dirty="0"/>
              <a:t>✓ 7. Soft Voting Produced Robust Generalization:</a:t>
            </a:r>
            <a:br>
              <a:rPr sz="1400" dirty="0"/>
            </a:br>
            <a:r>
              <a:rPr sz="1400" b="0" dirty="0">
                <a:solidFill>
                  <a:srgbClr val="1E293B"/>
                </a:solidFill>
              </a:rPr>
              <a:t>Weighted probability consensus (2:2:1:1) achieved 87.99% accuracy and 0.8898 Macro F1, providing smooth confidence calibration.</a:t>
            </a:r>
            <a:endParaRPr sz="1400" b="0" dirty="0">
              <a:solidFill>
                <a:srgbClr val="1E293B"/>
              </a:solidFill>
              <a:ea typeface="Calibri"/>
              <a:cs typeface="Calibri"/>
            </a:endParaRPr>
          </a:p>
          <a:p>
            <a:pPr>
              <a:spcBef>
                <a:spcPts val="800"/>
              </a:spcBef>
              <a:defRPr sz="1000" b="1">
                <a:solidFill>
                  <a:srgbClr val="0D9488"/>
                </a:solidFill>
                <a:latin typeface="Calibri"/>
              </a:defRPr>
            </a:pPr>
            <a:r>
              <a:rPr sz="1400" dirty="0"/>
              <a:t>✓ 8. Controlled TF-IDF Reduced Dimensionality:</a:t>
            </a:r>
            <a:br>
              <a:rPr sz="1400" dirty="0"/>
            </a:br>
            <a:r>
              <a:rPr sz="1400" b="0" dirty="0">
                <a:solidFill>
                  <a:srgbClr val="1E293B"/>
                </a:solidFill>
              </a:rPr>
              <a:t>8,000 features with sublinear TF scaling provided compact, highly discriminative vectors yielding sub-15ms CPU inference.</a:t>
            </a:r>
            <a:endParaRPr sz="1400" b="0" dirty="0">
              <a:solidFill>
                <a:srgbClr val="1E293B"/>
              </a:solidFill>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B"/>
        </a:solidFill>
        <a:effectLst/>
      </p:bgPr>
    </p:bg>
    <p:spTree>
      <p:nvGrpSpPr>
        <p:cNvPr id="1" name=""/>
        <p:cNvGrpSpPr/>
        <p:nvPr/>
      </p:nvGrpSpPr>
      <p:grpSpPr>
        <a:xfrm>
          <a:off x="0" y="0"/>
          <a:ext cx="0" cy="0"/>
          <a:chOff x="0" y="0"/>
          <a:chExt cx="0" cy="0"/>
        </a:xfrm>
      </p:grpSpPr>
      <p:sp>
        <p:nvSpPr>
          <p:cNvPr id="2" name="Rounded Rectangle 1"/>
          <p:cNvSpPr/>
          <p:nvPr/>
        </p:nvSpPr>
        <p:spPr>
          <a:xfrm>
            <a:off x="548640" y="292608"/>
            <a:ext cx="4114800" cy="310896"/>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defRPr sz="1050" b="1">
                <a:solidFill>
                  <a:srgbClr val="FFFFFF"/>
                </a:solidFill>
                <a:latin typeface="Calibri"/>
              </a:defRPr>
            </a:pPr>
            <a:r>
              <a:t>MCA MINI PROJECT | PROJECT TIMELINE</a:t>
            </a:r>
          </a:p>
        </p:txBody>
      </p:sp>
      <p:sp>
        <p:nvSpPr>
          <p:cNvPr id="3" name="TextBox 2"/>
          <p:cNvSpPr txBox="1"/>
          <p:nvPr/>
        </p:nvSpPr>
        <p:spPr>
          <a:xfrm>
            <a:off x="548640" y="621792"/>
            <a:ext cx="11091672" cy="594360"/>
          </a:xfrm>
          <a:prstGeom prst="rect">
            <a:avLst/>
          </a:prstGeom>
          <a:noFill/>
        </p:spPr>
        <p:txBody>
          <a:bodyPr wrap="square" lIns="0" tIns="0" rIns="0" bIns="0">
            <a:spAutoFit/>
          </a:bodyPr>
          <a:lstStyle/>
          <a:p>
            <a:pPr>
              <a:defRPr sz="2200" b="1">
                <a:solidFill>
                  <a:srgbClr val="0B1F3A"/>
                </a:solidFill>
                <a:latin typeface="Cambria"/>
              </a:defRPr>
            </a:pPr>
            <a:r>
              <a:t>Project Timeline &amp; Milestone Schedule</a:t>
            </a:r>
          </a:p>
        </p:txBody>
      </p:sp>
      <p:sp>
        <p:nvSpPr>
          <p:cNvPr id="4" name="Rectangle 3"/>
          <p:cNvSpPr/>
          <p:nvPr/>
        </p:nvSpPr>
        <p:spPr>
          <a:xfrm>
            <a:off x="548640" y="6446520"/>
            <a:ext cx="11091672" cy="13716"/>
          </a:xfrm>
          <a:prstGeom prst="rect">
            <a:avLst/>
          </a:prstGeom>
          <a:solidFill>
            <a:srgbClr val="DC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6492240"/>
            <a:ext cx="4114800" cy="274320"/>
          </a:xfrm>
          <a:prstGeom prst="rect">
            <a:avLst/>
          </a:prstGeom>
          <a:noFill/>
        </p:spPr>
        <p:txBody>
          <a:bodyPr wrap="none" lIns="0" tIns="0" rIns="0" bIns="0">
            <a:spAutoFit/>
          </a:bodyPr>
          <a:lstStyle/>
          <a:p>
            <a:pPr>
              <a:defRPr sz="950">
                <a:solidFill>
                  <a:srgbClr val="55657D"/>
                </a:solidFill>
                <a:latin typeface="Calibri"/>
              </a:defRPr>
            </a:pPr>
            <a:r>
              <a:t>Department of Computer Applications | MACE</a:t>
            </a:r>
          </a:p>
        </p:txBody>
      </p:sp>
      <p:sp>
        <p:nvSpPr>
          <p:cNvPr id="6" name="TextBox 5"/>
          <p:cNvSpPr txBox="1"/>
          <p:nvPr/>
        </p:nvSpPr>
        <p:spPr>
          <a:xfrm>
            <a:off x="4572000" y="6492240"/>
            <a:ext cx="4114800" cy="274320"/>
          </a:xfrm>
          <a:prstGeom prst="rect">
            <a:avLst/>
          </a:prstGeom>
          <a:noFill/>
        </p:spPr>
        <p:txBody>
          <a:bodyPr wrap="none" lIns="0" tIns="0" rIns="0" bIns="0">
            <a:spAutoFit/>
          </a:bodyPr>
          <a:lstStyle/>
          <a:p>
            <a:pPr algn="ctr">
              <a:defRPr sz="950">
                <a:solidFill>
                  <a:srgbClr val="55657D"/>
                </a:solidFill>
                <a:latin typeface="Calibri"/>
              </a:defRPr>
            </a:pPr>
            <a:r>
              <a:t>Mar Athanasius College of Engineering, Kothamangalam</a:t>
            </a:r>
          </a:p>
        </p:txBody>
      </p:sp>
      <p:sp>
        <p:nvSpPr>
          <p:cNvPr id="7" name="TextBox 6"/>
          <p:cNvSpPr txBox="1"/>
          <p:nvPr/>
        </p:nvSpPr>
        <p:spPr>
          <a:xfrm>
            <a:off x="9144000" y="6492240"/>
            <a:ext cx="2496312" cy="274320"/>
          </a:xfrm>
          <a:prstGeom prst="rect">
            <a:avLst/>
          </a:prstGeom>
          <a:noFill/>
        </p:spPr>
        <p:txBody>
          <a:bodyPr wrap="none" lIns="0" tIns="0" rIns="0" bIns="0">
            <a:spAutoFit/>
          </a:bodyPr>
          <a:lstStyle/>
          <a:p>
            <a:pPr algn="r">
              <a:defRPr sz="950" b="1">
                <a:solidFill>
                  <a:srgbClr val="0B1F3A"/>
                </a:solidFill>
                <a:latin typeface="Calibri"/>
              </a:defRPr>
            </a:pPr>
            <a:r>
              <a:t>Slide 15 of 16</a:t>
            </a:r>
          </a:p>
        </p:txBody>
      </p:sp>
      <p:sp>
        <p:nvSpPr>
          <p:cNvPr id="8" name="Rounded Rectangle 7"/>
          <p:cNvSpPr/>
          <p:nvPr/>
        </p:nvSpPr>
        <p:spPr>
          <a:xfrm>
            <a:off x="548640" y="1371600"/>
            <a:ext cx="5394960"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31520" y="1508760"/>
            <a:ext cx="5029200" cy="4762842"/>
          </a:xfrm>
          <a:prstGeom prst="rect">
            <a:avLst/>
          </a:prstGeom>
          <a:noFill/>
        </p:spPr>
        <p:txBody>
          <a:bodyPr wrap="square" lIns="91440" tIns="45720" rIns="91440" bIns="45720" anchor="t">
            <a:spAutoFit/>
          </a:bodyPr>
          <a:lstStyle/>
          <a:p>
            <a:pPr>
              <a:defRPr sz="1300" b="1">
                <a:solidFill>
                  <a:srgbClr val="0D9488"/>
                </a:solidFill>
                <a:latin typeface="Cambria"/>
              </a:defRPr>
            </a:pPr>
            <a:r>
              <a:rPr sz="1200" dirty="0"/>
              <a:t>Completed Milestones (Phases 1 &amp; 2)</a:t>
            </a:r>
            <a:endParaRPr lang="en-US" sz="1200" dirty="0">
              <a:ea typeface="Cambria"/>
            </a:endParaRPr>
          </a:p>
          <a:p>
            <a:pPr>
              <a:spcBef>
                <a:spcPts val="300"/>
              </a:spcBef>
              <a:defRPr sz="800" b="1">
                <a:solidFill>
                  <a:srgbClr val="0B1F3A"/>
                </a:solidFill>
                <a:latin typeface="Calibri"/>
              </a:defRPr>
            </a:pPr>
            <a:r>
              <a:rPr sz="1200" dirty="0"/>
              <a:t>✓ [17.07.2026] Project Proposal &amp; Synopsis Approval: </a:t>
            </a:r>
            <a:r>
              <a:rPr sz="1200" b="0" dirty="0">
                <a:solidFill>
                  <a:srgbClr val="1E293B"/>
                </a:solidFill>
                <a:latin typeface="Calibri"/>
              </a:rPr>
              <a:t>Approved clinical text classification topic &amp; scope by guide.</a:t>
            </a:r>
            <a:endParaRPr sz="1200" b="0">
              <a:solidFill>
                <a:srgbClr val="1E293B"/>
              </a:solidFill>
              <a:latin typeface="Calibri"/>
              <a:ea typeface="Calibri"/>
              <a:cs typeface="Calibri"/>
            </a:endParaRPr>
          </a:p>
          <a:p>
            <a:pPr>
              <a:spcBef>
                <a:spcPts val="300"/>
              </a:spcBef>
              <a:defRPr sz="800" b="1">
                <a:solidFill>
                  <a:srgbClr val="0B1F3A"/>
                </a:solidFill>
                <a:latin typeface="Calibri"/>
              </a:defRPr>
            </a:pPr>
            <a:r>
              <a:rPr sz="1200" dirty="0"/>
              <a:t>✓ [20.07 – 21.07.2026] Project Proposal Presentation: </a:t>
            </a:r>
            <a:r>
              <a:rPr sz="1200" b="0" dirty="0">
                <a:solidFill>
                  <a:srgbClr val="1E293B"/>
                </a:solidFill>
                <a:latin typeface="Calibri"/>
              </a:rPr>
              <a:t>Defended clinical objectives &amp; methodology before faculty panel.</a:t>
            </a:r>
            <a:endParaRPr sz="1200" b="0">
              <a:solidFill>
                <a:srgbClr val="1E293B"/>
              </a:solidFill>
              <a:latin typeface="Calibri"/>
              <a:ea typeface="Calibri"/>
              <a:cs typeface="Calibri"/>
            </a:endParaRPr>
          </a:p>
          <a:p>
            <a:pPr>
              <a:spcBef>
                <a:spcPts val="300"/>
              </a:spcBef>
              <a:defRPr sz="800" b="1">
                <a:solidFill>
                  <a:srgbClr val="0B1F3A"/>
                </a:solidFill>
                <a:latin typeface="Calibri"/>
              </a:defRPr>
            </a:pPr>
            <a:r>
              <a:rPr sz="1200" dirty="0"/>
              <a:t>✓ [Weeks 1–2] Dataset Collection &amp; EDA (Phase 1): </a:t>
            </a:r>
            <a:r>
              <a:rPr sz="1200" b="0" dirty="0">
                <a:solidFill>
                  <a:srgbClr val="1E293B"/>
                </a:solidFill>
                <a:latin typeface="Calibri"/>
              </a:rPr>
              <a:t>Audited 4,999 </a:t>
            </a:r>
            <a:r>
              <a:rPr sz="1200" b="0" dirty="0" err="1">
                <a:solidFill>
                  <a:srgbClr val="1E293B"/>
                </a:solidFill>
                <a:latin typeface="Calibri"/>
              </a:rPr>
              <a:t>MTSamples</a:t>
            </a:r>
            <a:r>
              <a:rPr sz="1200" b="0" dirty="0">
                <a:solidFill>
                  <a:srgbClr val="1E293B"/>
                </a:solidFill>
                <a:latin typeface="Calibri"/>
              </a:rPr>
              <a:t> records; identified 184:1 class imbalance.</a:t>
            </a:r>
            <a:endParaRPr sz="1200" b="0">
              <a:solidFill>
                <a:srgbClr val="1E293B"/>
              </a:solidFill>
              <a:latin typeface="Calibri"/>
              <a:ea typeface="Calibri"/>
              <a:cs typeface="Calibri"/>
            </a:endParaRPr>
          </a:p>
          <a:p>
            <a:pPr>
              <a:spcBef>
                <a:spcPts val="300"/>
              </a:spcBef>
              <a:defRPr sz="800" b="1">
                <a:solidFill>
                  <a:srgbClr val="2563EB"/>
                </a:solidFill>
                <a:latin typeface="Calibri"/>
              </a:defRPr>
            </a:pPr>
            <a:r>
              <a:rPr sz="1200" dirty="0"/>
              <a:t>★ [08.09.2026] ★ First Project Presentation ★: </a:t>
            </a:r>
            <a:r>
              <a:rPr sz="1200" b="0" dirty="0">
                <a:solidFill>
                  <a:srgbClr val="1E293B"/>
                </a:solidFill>
                <a:latin typeface="Calibri"/>
              </a:rPr>
              <a:t>Phase 1 review defense; presented EDA findings &amp; problem formulation.</a:t>
            </a:r>
            <a:endParaRPr sz="1200" b="0">
              <a:solidFill>
                <a:srgbClr val="1E293B"/>
              </a:solidFill>
              <a:latin typeface="Calibri"/>
              <a:ea typeface="Calibri"/>
              <a:cs typeface="Calibri"/>
            </a:endParaRPr>
          </a:p>
          <a:p>
            <a:pPr>
              <a:spcBef>
                <a:spcPts val="300"/>
              </a:spcBef>
              <a:defRPr sz="800" b="1">
                <a:solidFill>
                  <a:srgbClr val="2563EB"/>
                </a:solidFill>
                <a:latin typeface="Calibri"/>
              </a:defRPr>
            </a:pPr>
            <a:r>
              <a:rPr sz="1200" dirty="0"/>
              <a:t>★ [09.09.2026] ★ Sprint Release I ★: </a:t>
            </a:r>
            <a:r>
              <a:rPr sz="1200" b="0" dirty="0">
                <a:solidFill>
                  <a:srgbClr val="1E293B"/>
                </a:solidFill>
                <a:latin typeface="Calibri"/>
              </a:rPr>
              <a:t>Submitted 6 EDA visual plots, architecture diagram &amp; Phase 1 report.</a:t>
            </a:r>
            <a:endParaRPr sz="1200" b="0">
              <a:solidFill>
                <a:srgbClr val="1E293B"/>
              </a:solidFill>
              <a:latin typeface="Calibri"/>
              <a:ea typeface="Calibri"/>
              <a:cs typeface="Calibri"/>
            </a:endParaRPr>
          </a:p>
          <a:p>
            <a:pPr>
              <a:spcBef>
                <a:spcPts val="300"/>
              </a:spcBef>
              <a:defRPr sz="800" b="1">
                <a:solidFill>
                  <a:srgbClr val="0B1F3A"/>
                </a:solidFill>
                <a:latin typeface="Calibri"/>
              </a:defRPr>
            </a:pPr>
            <a:r>
              <a:rPr sz="1200" dirty="0"/>
              <a:t>✓ [Weeks 3–5] Preprocessing &amp; Dimensionality (Phase 2): </a:t>
            </a:r>
            <a:r>
              <a:rPr sz="1200" b="0" dirty="0">
                <a:solidFill>
                  <a:srgbClr val="1E293B"/>
                </a:solidFill>
                <a:latin typeface="Calibri"/>
              </a:rPr>
              <a:t>40-class baseline (7.85%–27.39%); curated 8 specialties &amp; 8k TF-IDF.</a:t>
            </a:r>
            <a:endParaRPr sz="1200" b="0">
              <a:solidFill>
                <a:srgbClr val="1E293B"/>
              </a:solidFill>
              <a:latin typeface="Calibri"/>
              <a:ea typeface="Calibri"/>
              <a:cs typeface="Calibri"/>
            </a:endParaRPr>
          </a:p>
          <a:p>
            <a:pPr>
              <a:spcBef>
                <a:spcPts val="300"/>
              </a:spcBef>
              <a:defRPr sz="800" b="1">
                <a:solidFill>
                  <a:srgbClr val="0B1F3A"/>
                </a:solidFill>
                <a:latin typeface="Calibri"/>
              </a:defRPr>
            </a:pPr>
            <a:r>
              <a:rPr sz="1200" dirty="0"/>
              <a:t>✓ [Week 6] Candidate Model Training &amp; Baseline Eval: </a:t>
            </a:r>
            <a:r>
              <a:rPr sz="1200" b="0" dirty="0">
                <a:solidFill>
                  <a:srgbClr val="1E293B"/>
                </a:solidFill>
                <a:latin typeface="Calibri"/>
              </a:rPr>
              <a:t>Trained Linear SVM, Random Forest, Logistic Regression, and MNB.</a:t>
            </a:r>
            <a:endParaRPr sz="1200" b="0">
              <a:solidFill>
                <a:srgbClr val="1E293B"/>
              </a:solidFill>
              <a:latin typeface="Calibri"/>
              <a:ea typeface="Calibri"/>
              <a:cs typeface="Calibri"/>
            </a:endParaRPr>
          </a:p>
          <a:p>
            <a:pPr>
              <a:spcBef>
                <a:spcPts val="300"/>
              </a:spcBef>
              <a:defRPr sz="800" b="1">
                <a:solidFill>
                  <a:srgbClr val="2563EB"/>
                </a:solidFill>
                <a:latin typeface="Calibri"/>
              </a:defRPr>
            </a:pPr>
            <a:r>
              <a:rPr sz="1200" dirty="0"/>
              <a:t>★ [18.09.2026] ★ Sprint Release II ★: </a:t>
            </a:r>
            <a:r>
              <a:rPr sz="1200" b="0" dirty="0">
                <a:solidFill>
                  <a:srgbClr val="1E293B"/>
                </a:solidFill>
                <a:latin typeface="Calibri"/>
              </a:rPr>
              <a:t>Milestone release: Trained candidate classifiers &amp; metric logs.</a:t>
            </a:r>
            <a:endParaRPr sz="1200" b="0">
              <a:solidFill>
                <a:srgbClr val="1E293B"/>
              </a:solidFill>
              <a:latin typeface="Calibri"/>
              <a:ea typeface="Calibri"/>
              <a:cs typeface="Calibri"/>
            </a:endParaRPr>
          </a:p>
          <a:p>
            <a:pPr>
              <a:spcBef>
                <a:spcPts val="300"/>
              </a:spcBef>
              <a:defRPr sz="800" b="1">
                <a:solidFill>
                  <a:srgbClr val="0B1F3A"/>
                </a:solidFill>
                <a:latin typeface="Calibri"/>
              </a:defRPr>
            </a:pPr>
            <a:r>
              <a:rPr sz="1200" dirty="0"/>
              <a:t>✓ [Week 7] Hyperparameter Tuning &amp; Imbalance Mitigation: </a:t>
            </a:r>
            <a:r>
              <a:rPr sz="1200" b="0" dirty="0">
                <a:solidFill>
                  <a:srgbClr val="1E293B"/>
                </a:solidFill>
                <a:latin typeface="Calibri"/>
              </a:rPr>
              <a:t>Grid search tuning (SVM C=1.0, LR C=5.0); benchmarked SMOTE/ROS.</a:t>
            </a:r>
            <a:endParaRPr sz="1200" b="0">
              <a:solidFill>
                <a:srgbClr val="1E293B"/>
              </a:solidFill>
              <a:latin typeface="Calibri"/>
              <a:ea typeface="Calibri"/>
              <a:cs typeface="Calibri"/>
            </a:endParaRPr>
          </a:p>
          <a:p>
            <a:pPr>
              <a:spcBef>
                <a:spcPts val="300"/>
              </a:spcBef>
              <a:defRPr sz="800" b="1">
                <a:solidFill>
                  <a:srgbClr val="0B1F3A"/>
                </a:solidFill>
                <a:latin typeface="Calibri"/>
              </a:defRPr>
            </a:pPr>
            <a:r>
              <a:rPr sz="1200" dirty="0"/>
              <a:t>✓ [Week 8] Soft Voting Ensemble &amp; Model Serialization: </a:t>
            </a:r>
            <a:r>
              <a:rPr sz="1200" b="0" dirty="0">
                <a:solidFill>
                  <a:srgbClr val="1E293B"/>
                </a:solidFill>
                <a:latin typeface="Calibri"/>
              </a:rPr>
              <a:t>Weighted soft voting (2:2:1:1); evaluated test set (88.59% SVM); saved 11.9MB.</a:t>
            </a:r>
            <a:endParaRPr sz="1200" b="0">
              <a:solidFill>
                <a:srgbClr val="1E293B"/>
              </a:solidFill>
              <a:latin typeface="Calibri"/>
              <a:ea typeface="Calibri"/>
              <a:cs typeface="Calibri"/>
            </a:endParaRPr>
          </a:p>
          <a:p>
            <a:pPr>
              <a:spcBef>
                <a:spcPts val="300"/>
              </a:spcBef>
              <a:defRPr sz="800" b="1">
                <a:solidFill>
                  <a:srgbClr val="D97706"/>
                </a:solidFill>
                <a:latin typeface="Calibri"/>
              </a:defRPr>
            </a:pPr>
            <a:r>
              <a:rPr sz="1200" dirty="0"/>
              <a:t>★ [30.09.2026] ★ Interim Presentation ★ [CURRENT]: </a:t>
            </a:r>
            <a:r>
              <a:rPr sz="1200" b="0" dirty="0">
                <a:solidFill>
                  <a:srgbClr val="1E293B"/>
                </a:solidFill>
                <a:latin typeface="Calibri"/>
              </a:rPr>
              <a:t>Progress review, empirical findings &amp; model evaluation defense.</a:t>
            </a:r>
            <a:endParaRPr sz="1200" b="0">
              <a:solidFill>
                <a:srgbClr val="1E293B"/>
              </a:solidFill>
              <a:latin typeface="Calibri"/>
              <a:ea typeface="Calibri"/>
              <a:cs typeface="Calibri"/>
            </a:endParaRPr>
          </a:p>
        </p:txBody>
      </p:sp>
      <p:sp>
        <p:nvSpPr>
          <p:cNvPr id="10" name="Rounded Rectangle 9"/>
          <p:cNvSpPr/>
          <p:nvPr/>
        </p:nvSpPr>
        <p:spPr>
          <a:xfrm>
            <a:off x="6217920" y="1371600"/>
            <a:ext cx="5422392" cy="4846320"/>
          </a:xfrm>
          <a:prstGeom prst="roundRect">
            <a:avLst/>
          </a:prstGeom>
          <a:solidFill>
            <a:srgbClr val="FFFFFF"/>
          </a:solidFill>
          <a:ln w="12700">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0" y="1642625"/>
            <a:ext cx="5056632" cy="3575338"/>
          </a:xfrm>
          <a:prstGeom prst="rect">
            <a:avLst/>
          </a:prstGeom>
          <a:noFill/>
        </p:spPr>
        <p:txBody>
          <a:bodyPr wrap="square" lIns="91440" tIns="45720" rIns="91440" bIns="45720" anchor="t">
            <a:spAutoFit/>
          </a:bodyPr>
          <a:lstStyle/>
          <a:p>
            <a:pPr>
              <a:defRPr sz="1300" b="1">
                <a:solidFill>
                  <a:srgbClr val="2563EB"/>
                </a:solidFill>
                <a:latin typeface="Cambria"/>
              </a:defRPr>
            </a:pPr>
            <a:r>
              <a:rPr dirty="0"/>
              <a:t>Upcoming Milestones (Phase 3 &amp; Completion)</a:t>
            </a:r>
          </a:p>
          <a:p>
            <a:pPr>
              <a:spcBef>
                <a:spcPts val="800"/>
              </a:spcBef>
              <a:defRPr sz="950" b="1">
                <a:solidFill>
                  <a:srgbClr val="0B1F3A"/>
                </a:solidFill>
                <a:latin typeface="Calibri"/>
              </a:defRPr>
            </a:pPr>
            <a:r>
              <a:rPr sz="1200" dirty="0"/>
              <a:t>→ [Week 9] Flask REST API &amp; Clinician Web Dashboard:</a:t>
            </a:r>
            <a:br>
              <a:rPr sz="1200" dirty="0"/>
            </a:br>
            <a:r>
              <a:rPr sz="1200" b="0" dirty="0">
                <a:solidFill>
                  <a:srgbClr val="1E293B"/>
                </a:solidFill>
                <a:latin typeface="Calibri"/>
              </a:rPr>
              <a:t>Build /predict &amp; /health REST endpoints; serialize inference engine; construct clinician UI for pasting notes.</a:t>
            </a:r>
            <a:endParaRPr sz="1200" b="0" dirty="0">
              <a:solidFill>
                <a:srgbClr val="1E293B"/>
              </a:solidFill>
              <a:latin typeface="Calibri"/>
              <a:ea typeface="Calibri"/>
              <a:cs typeface="Calibri"/>
            </a:endParaRPr>
          </a:p>
          <a:p>
            <a:pPr>
              <a:spcBef>
                <a:spcPts val="800"/>
              </a:spcBef>
              <a:defRPr sz="950" b="1">
                <a:solidFill>
                  <a:srgbClr val="2563EB"/>
                </a:solidFill>
                <a:latin typeface="Calibri"/>
              </a:defRPr>
            </a:pPr>
            <a:r>
              <a:rPr sz="1200" dirty="0"/>
              <a:t>→ [09.10.2026] ★ Sprint Release III (Integrated System Release) ★:</a:t>
            </a:r>
            <a:br>
              <a:rPr sz="1200" dirty="0"/>
            </a:br>
            <a:r>
              <a:rPr sz="1200" b="0" dirty="0">
                <a:solidFill>
                  <a:srgbClr val="1E293B"/>
                </a:solidFill>
                <a:latin typeface="Calibri"/>
              </a:rPr>
              <a:t>Milestone release: Working Flask web application, integrated ensemble pipeline, and comprehensive API documentation.</a:t>
            </a:r>
            <a:endParaRPr sz="1200" b="0" dirty="0">
              <a:solidFill>
                <a:srgbClr val="1E293B"/>
              </a:solidFill>
              <a:latin typeface="Calibri"/>
              <a:ea typeface="Calibri"/>
              <a:cs typeface="Calibri"/>
            </a:endParaRPr>
          </a:p>
          <a:p>
            <a:pPr>
              <a:spcBef>
                <a:spcPts val="800"/>
              </a:spcBef>
              <a:defRPr sz="950" b="1">
                <a:solidFill>
                  <a:srgbClr val="0B1F3A"/>
                </a:solidFill>
                <a:latin typeface="Calibri"/>
              </a:defRPr>
            </a:pPr>
            <a:r>
              <a:rPr sz="1200" dirty="0"/>
              <a:t>→ [Weeks 10–11] System Usability, Latency &amp; Edge-Case Testing:</a:t>
            </a:r>
            <a:br>
              <a:rPr sz="1200" dirty="0"/>
            </a:br>
            <a:r>
              <a:rPr sz="1200" b="0" dirty="0">
                <a:solidFill>
                  <a:srgbClr val="1E293B"/>
                </a:solidFill>
                <a:latin typeface="Calibri"/>
              </a:rPr>
              <a:t>Multi-class diagnostic testing; sub-15ms CPU inference verification; confidence threshold alerts (&lt; 0.65) for ambiguous dictations.</a:t>
            </a:r>
            <a:endParaRPr sz="1200" b="0" dirty="0">
              <a:solidFill>
                <a:srgbClr val="1E293B"/>
              </a:solidFill>
              <a:latin typeface="Calibri"/>
              <a:ea typeface="Calibri"/>
              <a:cs typeface="Calibri"/>
            </a:endParaRPr>
          </a:p>
          <a:p>
            <a:pPr>
              <a:spcBef>
                <a:spcPts val="800"/>
              </a:spcBef>
              <a:defRPr sz="950" b="1">
                <a:solidFill>
                  <a:srgbClr val="2563EB"/>
                </a:solidFill>
                <a:latin typeface="Calibri"/>
              </a:defRPr>
            </a:pPr>
            <a:r>
              <a:rPr sz="1200" dirty="0"/>
              <a:t>→ [22.10 – 23.10.2026] ★ Final Project Presentation ★:</a:t>
            </a:r>
            <a:br>
              <a:rPr sz="1200" dirty="0"/>
            </a:br>
            <a:r>
              <a:rPr sz="1200" b="0" dirty="0">
                <a:solidFill>
                  <a:srgbClr val="1E293B"/>
                </a:solidFill>
                <a:latin typeface="Calibri"/>
              </a:rPr>
              <a:t>Comprehensive final project defense and live working web application demonstration before external examination board.</a:t>
            </a:r>
            <a:endParaRPr sz="1200" b="0" dirty="0">
              <a:solidFill>
                <a:srgbClr val="1E293B"/>
              </a:solidFill>
              <a:latin typeface="Calibri"/>
              <a:ea typeface="Calibri"/>
              <a:cs typeface="Calibri"/>
            </a:endParaRPr>
          </a:p>
          <a:p>
            <a:pPr>
              <a:spcBef>
                <a:spcPts val="800"/>
              </a:spcBef>
              <a:defRPr sz="950" b="1">
                <a:solidFill>
                  <a:srgbClr val="2563EB"/>
                </a:solidFill>
                <a:latin typeface="Calibri"/>
              </a:defRPr>
            </a:pPr>
            <a:r>
              <a:rPr sz="1200" dirty="0"/>
              <a:t>→ [30.10.2026] ★ Final Project Report &amp; Code Submission ★:</a:t>
            </a:r>
            <a:br>
              <a:rPr sz="1200" dirty="0"/>
            </a:br>
            <a:r>
              <a:rPr sz="1200" b="0" dirty="0">
                <a:solidFill>
                  <a:srgbClr val="1E293B"/>
                </a:solidFill>
                <a:latin typeface="Calibri"/>
              </a:rPr>
              <a:t>Formal academic submission: Finalized technical project report, user manual, and documented GitHub source code repository.</a:t>
            </a:r>
            <a:endParaRPr sz="1200" b="0" dirty="0">
              <a:solidFill>
                <a:srgbClr val="1E293B"/>
              </a:solidFill>
              <a:latin typeface="Calibri"/>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192F"/>
        </a:solidFill>
        <a:effectLst/>
      </p:bgPr>
    </p:bg>
    <p:spTree>
      <p:nvGrpSpPr>
        <p:cNvPr id="1" name=""/>
        <p:cNvGrpSpPr/>
        <p:nvPr/>
      </p:nvGrpSpPr>
      <p:grpSpPr>
        <a:xfrm>
          <a:off x="0" y="0"/>
          <a:ext cx="0" cy="0"/>
          <a:chOff x="0" y="0"/>
          <a:chExt cx="0" cy="0"/>
        </a:xfrm>
      </p:grpSpPr>
      <p:sp>
        <p:nvSpPr>
          <p:cNvPr id="2" name="TextBox 1"/>
          <p:cNvSpPr txBox="1"/>
          <p:nvPr/>
        </p:nvSpPr>
        <p:spPr>
          <a:xfrm>
            <a:off x="822960" y="457200"/>
            <a:ext cx="4792915" cy="292388"/>
          </a:xfrm>
          <a:prstGeom prst="rect">
            <a:avLst/>
          </a:prstGeom>
          <a:noFill/>
        </p:spPr>
        <p:txBody>
          <a:bodyPr wrap="none" lIns="91440" tIns="45720" rIns="91440" bIns="45720" anchor="t">
            <a:spAutoFit/>
          </a:bodyPr>
          <a:lstStyle/>
          <a:p>
            <a:pPr>
              <a:defRPr sz="1300" b="1">
                <a:solidFill>
                  <a:srgbClr val="94A3B8"/>
                </a:solidFill>
                <a:latin typeface="Calibri"/>
              </a:defRPr>
            </a:pPr>
            <a:r>
              <a:rPr dirty="0">
                <a:solidFill>
                  <a:schemeClr val="bg1"/>
                </a:solidFill>
              </a:rPr>
              <a:t>MAR ATHANASIUS COLLEGE OF ENGINEERING, KOTHAMANGALAM</a:t>
            </a:r>
            <a:endParaRPr lang="en-US" dirty="0">
              <a:solidFill>
                <a:schemeClr val="bg1"/>
              </a:solidFill>
              <a:ea typeface="Calibri"/>
              <a:cs typeface="Calibri"/>
            </a:endParaRPr>
          </a:p>
        </p:txBody>
      </p:sp>
      <p:sp>
        <p:nvSpPr>
          <p:cNvPr id="3" name="Rounded Rectangle 2"/>
          <p:cNvSpPr/>
          <p:nvPr/>
        </p:nvSpPr>
        <p:spPr>
          <a:xfrm>
            <a:off x="822960" y="960120"/>
            <a:ext cx="4389120" cy="38404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FFFFF"/>
                </a:solidFill>
                <a:latin typeface="Calibri"/>
              </a:defRPr>
            </a:pPr>
            <a:r>
              <a:t>MCA MINI PROJECT  |  CONCLUSION &amp; Q&amp;A</a:t>
            </a:r>
          </a:p>
        </p:txBody>
      </p:sp>
      <p:sp>
        <p:nvSpPr>
          <p:cNvPr id="4" name="TextBox 3"/>
          <p:cNvSpPr txBox="1"/>
          <p:nvPr/>
        </p:nvSpPr>
        <p:spPr>
          <a:xfrm>
            <a:off x="822960" y="1508760"/>
            <a:ext cx="3199209" cy="492443"/>
          </a:xfrm>
          <a:prstGeom prst="rect">
            <a:avLst/>
          </a:prstGeom>
          <a:noFill/>
        </p:spPr>
        <p:txBody>
          <a:bodyPr wrap="none" lIns="91440" tIns="45720" rIns="91440" bIns="45720" anchor="t">
            <a:spAutoFit/>
          </a:bodyPr>
          <a:lstStyle/>
          <a:p>
            <a:pPr>
              <a:defRPr sz="2600" b="1">
                <a:solidFill>
                  <a:srgbClr val="FFFFFF"/>
                </a:solidFill>
                <a:latin typeface="Cambria"/>
              </a:defRPr>
            </a:pPr>
            <a:r>
              <a:rPr dirty="0"/>
              <a:t>Phase 2 </a:t>
            </a:r>
            <a:r>
              <a:rPr lang="en-US" dirty="0"/>
              <a:t>Conclusion </a:t>
            </a:r>
            <a:endParaRPr dirty="0"/>
          </a:p>
        </p:txBody>
      </p:sp>
      <p:sp>
        <p:nvSpPr>
          <p:cNvPr id="5" name="Rounded Rectangle 4"/>
          <p:cNvSpPr/>
          <p:nvPr/>
        </p:nvSpPr>
        <p:spPr>
          <a:xfrm>
            <a:off x="822960" y="2331720"/>
            <a:ext cx="10543032" cy="2514600"/>
          </a:xfrm>
          <a:prstGeom prst="roundRect">
            <a:avLst/>
          </a:prstGeom>
          <a:solidFill>
            <a:srgbClr val="112240"/>
          </a:solidFill>
          <a:ln>
            <a:solidFill>
              <a:srgbClr val="133254"/>
            </a:solidFill>
          </a:ln>
        </p:spPr>
        <p:style>
          <a:lnRef idx="1">
            <a:schemeClr val="accent1"/>
          </a:lnRef>
          <a:fillRef idx="3">
            <a:schemeClr val="accent1"/>
          </a:fillRef>
          <a:effectRef idx="2">
            <a:schemeClr val="accent1"/>
          </a:effectRef>
          <a:fontRef idx="minor">
            <a:schemeClr val="lt1"/>
          </a:fontRef>
        </p:style>
        <p:txBody>
          <a:bodyPr lIns="365760" tIns="228600" rIns="91440" bIns="45720" rtlCol="0" anchor="ctr"/>
          <a:lstStyle/>
          <a:p>
            <a:pPr algn="ctr">
              <a:defRPr sz="1500" b="1">
                <a:solidFill>
                  <a:srgbClr val="0E7C86"/>
                </a:solidFill>
                <a:latin typeface="Cambria"/>
              </a:defRPr>
            </a:pPr>
            <a:r>
              <a:rPr dirty="0">
                <a:solidFill>
                  <a:schemeClr val="bg1"/>
                </a:solidFill>
                <a:latin typeface="Times New Roman"/>
                <a:cs typeface="Times New Roman"/>
              </a:rPr>
              <a:t>Authoritative Summary Statement</a:t>
            </a:r>
            <a:endParaRPr lang="en-US">
              <a:solidFill>
                <a:schemeClr val="bg1"/>
              </a:solidFill>
              <a:latin typeface="Times New Roman"/>
              <a:ea typeface="Cambria"/>
              <a:cs typeface="Times New Roman"/>
            </a:endParaRPr>
          </a:p>
          <a:p>
            <a:pPr>
              <a:spcBef>
                <a:spcPts val="800"/>
              </a:spcBef>
              <a:defRPr sz="1200">
                <a:solidFill>
                  <a:srgbClr val="38BDF8"/>
                </a:solidFill>
                <a:latin typeface="Calibri"/>
              </a:defRPr>
            </a:pPr>
            <a:r>
              <a:rPr sz="1400" dirty="0"/>
              <a:t>"Phase 1 established the dataset characteristics and class imbalance through EDA. Phase 2 converted these findings into a complete machine-learning pipeline, beginning with a 40-class baseline and progressing through dataset refinement, imbalance mitigation, model training and ensemble evaluation. The final 8-specialty formulation achieved up to 88.59% accuracy with Linear SVM."</a:t>
            </a:r>
            <a:endParaRPr sz="1400">
              <a:ea typeface="Calibri"/>
              <a:cs typeface="Calibri"/>
            </a:endParaRPr>
          </a:p>
        </p:txBody>
      </p:sp>
      <p:sp>
        <p:nvSpPr>
          <p:cNvPr id="6" name="Rounded Rectangle 5"/>
          <p:cNvSpPr/>
          <p:nvPr/>
        </p:nvSpPr>
        <p:spPr>
          <a:xfrm>
            <a:off x="822960" y="5029200"/>
            <a:ext cx="10543032" cy="128016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lIns="365760" tIns="164592" rIns="91440" bIns="45720" rtlCol="0" anchor="ctr"/>
          <a:lstStyle/>
          <a:p>
            <a:pPr algn="ctr">
              <a:defRPr sz="2200" b="1">
                <a:solidFill>
                  <a:srgbClr val="FFFFFF"/>
                </a:solidFill>
                <a:latin typeface="Cambria"/>
              </a:defRPr>
            </a:pPr>
            <a:r>
              <a:rPr dirty="0">
                <a:solidFill>
                  <a:schemeClr val="bg1"/>
                </a:solidFill>
              </a:rPr>
              <a:t>THANK YOU!</a:t>
            </a:r>
            <a:endParaRPr lang="en-US" dirty="0">
              <a:solidFill>
                <a:schemeClr val="bg1"/>
              </a:solidFill>
              <a:ea typeface="Cambria"/>
            </a:endParaRPr>
          </a:p>
          <a:p>
            <a:pPr algn="ctr">
              <a:spcBef>
                <a:spcPts val="300"/>
              </a:spcBef>
              <a:defRPr sz="1100">
                <a:solidFill>
                  <a:srgbClr val="F0FDFA"/>
                </a:solidFill>
                <a:latin typeface="Calibri"/>
              </a:defRPr>
            </a:pPr>
            <a:r>
              <a:rPr dirty="0">
                <a:solidFill>
                  <a:schemeClr val="bg1"/>
                </a:solidFill>
              </a:rPr>
              <a:t>Open for Questions, Faculty Suggestions &amp; Discussion</a:t>
            </a:r>
            <a:br>
              <a:rPr dirty="0">
                <a:solidFill>
                  <a:schemeClr val="bg1"/>
                </a:solidFill>
              </a:rPr>
            </a:br>
            <a:r>
              <a:rPr dirty="0">
                <a:solidFill>
                  <a:schemeClr val="bg1"/>
                </a:solidFill>
              </a:rPr>
              <a:t>Presented by: Jiphin George (MAC25MCA-2033) | Guide: Prof. Biju Skaria | Department of Computer Applications</a:t>
            </a:r>
            <a:endParaRPr dirty="0">
              <a:solidFill>
                <a:schemeClr val="bg1"/>
              </a:solidFill>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Widescreen</PresentationFormat>
  <Paragraphs>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115</cp:revision>
  <dcterms:created xsi:type="dcterms:W3CDTF">2013-01-27T09:14:16Z</dcterms:created>
  <dcterms:modified xsi:type="dcterms:W3CDTF">2026-09-30T04:25:01Z</dcterms:modified>
  <cp:category/>
</cp:coreProperties>
</file>